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embeddedFontLst>
    <p:embeddedFont>
      <p:font typeface="Google Sans Flex" panose="020B0503030502040204" pitchFamily="3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OeDR1zCLjFyjkW6tyZyZfzfbb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1036B6-43F4-4ACD-AB0D-61CEB253AA53}">
  <a:tblStyle styleId="{431036B6-43F4-4ACD-AB0D-61CEB253AA5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Open with the one-liner: a 20-second phone video becomes an underwriting-ready property risk file. We are in the BFSI track. Everything you will see is real output from our working prototype, built on Gemini, Gemma and Google Cloud.</a:t>
            </a:r>
            <a:endParaRPr/>
          </a:p>
        </p:txBody>
      </p:sp>
      <p:sp>
        <p:nvSpPr>
          <p:cNvPr id="21" name="Google Shape;2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are Team Xcore. Thanveer Ahamed leads Gen AI: the Gemini and Gemma reasoning, verification and the underwriting assistant. Janitha Prathapa leads vision AI: defect detection, depth, SLAM, the 3D model and the coverage map. Dinal Fernando is the solution architect for the Google Cloud deployment.</a:t>
            </a:r>
            <a:endParaRPr/>
          </a:p>
        </p:txBody>
      </p:sp>
      <p:sp>
        <p:nvSpPr>
          <p:cNvPr id="46" name="Google Shape;4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Property risk drives mortgages and home insurance, yet it is still judged from self-reported photos or slow site visits. Insurance fraud is estimated at $308.6B a year in the US alone, about $45B of it in property and casualty. Name the five pains: slow visits, unverifiable photos, no proof of coverage, subjective grading and collateral overvaluation.</a:t>
            </a:r>
            <a:endParaRPr/>
          </a:p>
        </p:txBody>
      </p:sp>
      <p:sp>
        <p:nvSpPr>
          <p:cNvPr id="74" name="Google Shape;7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inspection record serves five decision-makers: lenders get collateral condition and valuation impact, underwriters get perils and premium loading, claims teams get fraud-checked evidence, inspectors get an AI-drafted report, and owners get a transparent report. Everything is one JSON record behind a REST API, so each team's system can use it.</a:t>
            </a:r>
            <a:endParaRPr/>
          </a:p>
        </p:txBody>
      </p:sp>
      <p:sp>
        <p:nvSpPr>
          <p:cNvPr id="114" name="Google Shape;11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Show the live app. One walkthrough video gives defects, a grade, risk, perils, repair cost, valuation impact, premium loading, a decision with reasons and fraud flags. The same video gives the 3D model, floor plan and coverage map.</a:t>
            </a:r>
            <a:endParaRPr/>
          </a:p>
        </p:txBody>
      </p:sp>
      <p:sp>
        <p:nvSpPr>
          <p:cNvPr id="149" name="Google Shape;14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Four steps: capture, AI inspection, risk decision, act. A 20-second walkthrough takes about 10.6 minutes end to end on a laptop GPU. In the cloud a walkthrough costs about 85 cents: roughly 50 cents of L4 time on a Cloud Run Job plus about 35 cents of Gemini, and nothing while idle because the GPU Job only runs per video and the web service scales to zero.</a:t>
            </a:r>
            <a:endParaRPr/>
          </a:p>
        </p:txBody>
      </p:sp>
      <p:sp>
        <p:nvSpPr>
          <p:cNvPr id="190" name="Google Shape;19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Architecture: one container image, two Cloud Run resources. A CPU-only Cloud Run service serves the web UI and API, accepts uploads, dispatches jobs and shows progress. A Cloud Run Job with one NVIDIA L4 processes each uploaded video: Depth Anything 3 and OpenCV SLAM for the 3D map and coverage, LocateAnything and Gemma 4 for defect detection and verification, Gemini for scene, labels and summary. The GPU is billed only while a video is processing. A Cloud Storage bucket mounted on both holds uploads, job status and results. Gemini 3.8 Flash is called through the Gemini API with the key in Secret Manager: no Vertex AI, BigQuery or Pub/Sub. Deployment is one script through Cloud Build with a least-privilege service account. The diagram still shows the earlier single-service layout; the caption gives the deployed one.</a:t>
            </a:r>
            <a:endParaRPr/>
          </a:p>
        </p:txBody>
      </p:sp>
      <p:sp>
        <p:nvSpPr>
          <p:cNvPr id="229" name="Google Shape;22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Hybrid AI: Gemini for scene understanding, authenticity and explanations, LocateAnything for high-recall boxes, and Gemma 4 to verify each box on a full-resolution crop. Rules, not an LLM, make the final decision, so it is auditable. Switching two environment variables runs everything on Gemini.</a:t>
            </a:r>
            <a:endParaRPr/>
          </a:p>
        </p:txBody>
      </p:sp>
      <p:sp>
        <p:nvSpPr>
          <p:cNvPr id="285" name="Google Shape;28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Every AI keyframe chosen from the video runs through this pipeline. Pipeline detail: quality and integrity checks come first, then Gemini identifies the room and components, so we only search for relevant defects. LocateAnything proposes boxes and Gemma verifies each one. The rule engine then assigns Detected, Needs review or Not detected. These images are real outputs.</a:t>
            </a:r>
            <a:endParaRPr/>
          </a:p>
        </p:txBody>
      </p:sp>
      <p:sp>
        <p:nvSpPr>
          <p:cNvPr id="294" name="Google Shape;29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Scope: 18 visible defect types across 12 components in 8 room types: walls, ceilings, floors, tiles, grout, countertops, doors, locks, windows, trim and kitchen exhausts. Cracks and deformation get a structural note, and water damage and mold get a moisture note. Operation checks such as locks and windows are always manual. Furniture, cupboards and carpets are out of scope by design.</a:t>
            </a:r>
            <a:endParaRPr/>
          </a:p>
        </p:txBody>
      </p:sp>
      <p:sp>
        <p:nvSpPr>
          <p:cNvPr id="329" name="Google Shape;32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Explainability is what lets a bank or insurer adopt this. The condition score is a transparent formula, the grades are A to E, and there are six decision outcomes. The rules sit in YAML that the client owns. Gemini explains the decision but never changes it.</a:t>
            </a:r>
            <a:endParaRPr/>
          </a:p>
        </p:txBody>
      </p:sp>
      <p:sp>
        <p:nvSpPr>
          <p:cNvPr id="393" name="Google Shape;39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 name="Google Shape;43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Fraud: every AI keyframe is fingerprinted and compared with every property, so a recycled walkthrough is caught; in our own test a re-uploaded clip was flagged REFER: evidence integrity. Gemini checks each keyframe for screen recordings, renders and AI imagery, blurred frames are dropped, every finding is traceable to its frame and wall, and incomplete coverage triggers a REFER. Any high flag goes to a human.</a:t>
            </a:r>
            <a:endParaRPr/>
          </a:p>
        </p:txBody>
      </p:sp>
      <p:sp>
        <p:nvSpPr>
          <p:cNvPr id="436" name="Google Shape;43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phone video becomes a 3D digital twin: Depth Anything 3 for depth, OpenCV 5 SLAM for camera poses, and TSDF fusion for the surface, with walls, floor, ceiling and doors detected and objects named by Gemini. Outputs include GLB models, a floor plan and navigation maps.</a:t>
            </a:r>
            <a:endParaRPr/>
          </a:p>
        </p:txBody>
      </p:sp>
      <p:sp>
        <p:nvSpPr>
          <p:cNvPr id="479" name="Google Shape;47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6" name="Google Shape;51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our key differentiator. Every 10 cm of surface is checked against every frame, so we can prove what the AI actually inspected. Keyframes are picked by set cover and findings are pinned in 3D. Below 60% coverage the case is referred, with an exact list of what to film again.</a:t>
            </a:r>
            <a:endParaRPr/>
          </a:p>
        </p:txBody>
      </p:sp>
      <p:sp>
        <p:nvSpPr>
          <p:cNvPr id="517" name="Google Shape;51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Gemini acts as the underwriter's co-pilot. It writes a property analysis covering causes, an action plan, insurance and lending views and site-visit questions, and it answers questions grounded in this inspection's data, citing issue IDs. Guardrail: it explains but cannot change results.</a:t>
            </a:r>
            <a:endParaRPr/>
          </a:p>
        </p:txBody>
      </p:sp>
      <p:sp>
        <p:nvSpPr>
          <p:cNvPr id="545" name="Google Shape;54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UX: a portfolio dashboard with grade and decision distributions, video upload with a live 3D-scan progress view in Lite or Advanced mode, an interactive 3D viewer with Gemini Q&amp;A, reports in three formats and an OpenAPI interface.</a:t>
            </a:r>
            <a:endParaRPr/>
          </a:p>
        </p:txBody>
      </p:sp>
      <p:sp>
        <p:nvSpPr>
          <p:cNvPr id="565" name="Google Shape;56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1" name="Google Shape;58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Case study on a real home: a 19.6-second video, 197 SLAM frames, 15 AI keyframes, 24.5 square metres measured, and seven possible defects (door and window damage, a loose and a missing lock, a wall stain and possible mold) pinned in 3D for review. The grade is A, yet the decision is REFER because only 42.5% of surfaces were AI-inspected. The system is honest about what it did not see.</a:t>
            </a:r>
            <a:endParaRPr/>
          </a:p>
        </p:txBody>
      </p:sp>
      <p:sp>
        <p:nvSpPr>
          <p:cNvPr id="582" name="Google Shape;58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5" name="Google Shape;61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evaluation design compares four pipelines fairly: A is Gemini alone, B is LocateAnything plus Gemini, C is Gemma 4 plus Gemini without the localiser, and D, our pipeline, is Gemma 4 plus LocateAnything plus Gemini. The test set is 10 rooms, 5 living rooms and 5 bedrooms, including 2 clean controls, with 100 annotated regions. Everything is fixed in advance: the same images, schema, Gemini settings and decision rule. Our targets for D are at least 85% accuracy, at least 85% precision, recall and F1, at most one false alarm on the clean rooms, and a clear win over Gemini alone on every metric.</a:t>
            </a:r>
            <a:endParaRPr/>
          </a:p>
        </p:txBody>
      </p:sp>
      <p:sp>
        <p:nvSpPr>
          <p:cNvPr id="616" name="Google Shape;61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 explicit that the chart is a simulated example of the report, not a measured result. It shows the gain we expect: localisation and verification should cut both misses and false alarms, especially on clean rooms. Gemma 4 plus Gemini (C) helps, but it is still below D, because the localiser finds small defects that a full-image check misses. Next, we run this protocol on the shipped pipeline D and replace these values with measured ones.</a:t>
            </a:r>
            <a:endParaRPr/>
          </a:p>
        </p:txBody>
      </p:sp>
      <p:sp>
        <p:nvSpPr>
          <p:cNvPr id="660" name="Google Shape;66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9" name="Google Shape;66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was a real engineering journey: depth SLAM research, a hybrid OpenCV 5 SLAM, a Gaussian-splatting experiment and a production 3D pipeline, then the inspection AI and the Google Cloud version. In numbers: 18 defect types, 8 room types, 11 API endpoints, and deployment in one command.</a:t>
            </a:r>
            <a:endParaRPr/>
          </a:p>
        </p:txBody>
      </p:sp>
      <p:sp>
        <p:nvSpPr>
          <p:cNvPr id="670" name="Google Shape;67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Google technology: Gemini 3.8 Flash through the Gemini API, Gemma 4, a Cloud Run service plus an L4 Cloud Run Job, Cloud Storage, Secret Manager, Cloud Build, Artifact Registry and IAM are in the prototype. Next come Document AI for deeds and valuation reports, Vertex AI Search for policy wording, BigQuery ML for risk scoring and AlloyDB.</a:t>
            </a:r>
            <a:endParaRPr/>
          </a:p>
        </p:txBody>
      </p:sp>
      <p:sp>
        <p:nvSpPr>
          <p:cNvPr id="718" name="Google Shape;718;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Responsible AI: a human makes every final decision, the rules are explainable, everything is auditable, the wording is safe, the system is secure, and we respect licences. We tell clients that LocateAnything is non-commercial, and Gemini localisation is the drop-in swap.</a:t>
            </a:r>
            <a:endParaRPr/>
          </a:p>
        </p:txBody>
      </p:sp>
      <p:sp>
        <p:nvSpPr>
          <p:cNvPr id="776" name="Google Shape;77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Business model: a pay-per-inspection API, enterprise subscriptions and white-label tools for inspector firms. Unit economics: about 35 cents of Gemini per walkthrough plus about 50 cents of L4 time on a Cloud Run Job, so about 85 cents per walkthrough; idle cost is about $1.20 a month for image storage. Pricing per inspection would sit well below a physical visit, to be validated in pilots.</a:t>
            </a:r>
            <a:endParaRPr/>
          </a:p>
        </p:txBody>
      </p:sp>
      <p:sp>
        <p:nvSpPr>
          <p:cNvPr id="814" name="Google Shape;81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Go-to-market: start with housing finance and home insurance in APAC. Pilot alongside existing inspections, integrate through Pub/Sub, then scale through Google Cloud Marketplace and valuer networks. Close on the pitch line in the quote.</a:t>
            </a:r>
            <a:endParaRPr/>
          </a:p>
        </p:txBody>
      </p:sp>
      <p:sp>
        <p:nvSpPr>
          <p:cNvPr id="848" name="Google Shape;84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Roadmap: next, an inspection agent built with Gemini on Agent Platform (ADK) that guides capture live, reasons spatially over the 3D model and answers each stakeholder, with a person approving every decision. Later: agent hand-offs to loan and claims systems, Document AI and Vertex AI Search for deeds and policies, BigQuery ML risk scoring and before/after claim comparison in 3D.</a:t>
            </a:r>
            <a:endParaRPr/>
          </a:p>
        </p:txBody>
      </p:sp>
      <p:sp>
        <p:nvSpPr>
          <p:cNvPr id="872" name="Google Shape;87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Close: trustworthy property evidence for every loan and every policy. Minutes not days, fraud-resistant, explainable. Thank you, and we are happy to run a live demo.</a:t>
            </a:r>
            <a:endParaRPr/>
          </a:p>
        </p:txBody>
      </p:sp>
      <p:sp>
        <p:nvSpPr>
          <p:cNvPr id="890" name="Google Shape;89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ERO">
  <p:cSld name="HERO">
    <p:bg>
      <p:bgPr>
        <a:blipFill>
          <a:blip r:embed="rId2">
            <a:alphaModFix/>
          </a:blip>
          <a:stretch>
            <a:fillRect/>
          </a:stretch>
        </a:blip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29"/>
          <p:cNvSpPr/>
          <p:nvPr/>
        </p:nvSpPr>
        <p:spPr>
          <a:xfrm>
            <a:off x="548640" y="6446520"/>
            <a:ext cx="9144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000"/>
              <a:buFont typeface="Calibri"/>
              <a:buNone/>
            </a:pPr>
            <a:r>
              <a:rPr lang="en-US" sz="1000" b="0" i="0" u="none" strike="noStrike" cap="none">
                <a:solidFill>
                  <a:schemeClr val="dk2"/>
                </a:solidFill>
                <a:latin typeface="Google Sans Flex"/>
                <a:ea typeface="Google Sans Flex"/>
                <a:cs typeface="Google Sans Flex"/>
                <a:sym typeface="Google Sans Flex"/>
              </a:rPr>
              <a:t>Property Inspection AI  ·  Google Cloud AI Builder Cup 2026  ·  Intelligent Risk, Fraud &amp; Financial Experiences</a:t>
            </a:r>
            <a:endParaRPr sz="1000" b="0" i="0" u="none" strike="noStrike" cap="none">
              <a:solidFill>
                <a:schemeClr val="dk1"/>
              </a:solidFill>
              <a:latin typeface="Google Sans Flex"/>
              <a:ea typeface="Google Sans Flex"/>
              <a:cs typeface="Google Sans Flex"/>
              <a:sym typeface="Google Sans Flex"/>
            </a:endParaRPr>
          </a:p>
        </p:txBody>
      </p:sp>
      <p:sp>
        <p:nvSpPr>
          <p:cNvPr id="14" name="Google Shape;14;p29"/>
          <p:cNvSpPr txBox="1">
            <a:spLocks noGrp="1"/>
          </p:cNvSpPr>
          <p:nvPr>
            <p:ph type="body" idx="1"/>
          </p:nvPr>
        </p:nvSpPr>
        <p:spPr>
          <a:xfrm>
            <a:off x="548640" y="292608"/>
            <a:ext cx="11064240" cy="29260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accent2"/>
              </a:buClr>
              <a:buSzPts val="1200"/>
              <a:buFont typeface="Arial"/>
              <a:buNone/>
              <a:defRPr sz="1200" b="1" i="0" u="none" strike="noStrike" cap="none">
                <a:solidFill>
                  <a:schemeClr val="accent2"/>
                </a:solidFill>
                <a:latin typeface="Google Sans Flex"/>
                <a:ea typeface="Google Sans Flex"/>
                <a:cs typeface="Google Sans Flex"/>
                <a:sym typeface="Google Sans Flex"/>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Google Sans Flex"/>
                <a:ea typeface="Google Sans Flex"/>
                <a:cs typeface="Google Sans Flex"/>
                <a:sym typeface="Google Sans Flex"/>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Google Sans Flex"/>
                <a:ea typeface="Google Sans Flex"/>
                <a:cs typeface="Google Sans Flex"/>
                <a:sym typeface="Google Sans Flex"/>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Google Sans Flex"/>
                <a:ea typeface="Google Sans Flex"/>
                <a:cs typeface="Google Sans Flex"/>
                <a:sym typeface="Google Sans Flex"/>
              </a:defRPr>
            </a:lvl9pPr>
          </a:lstStyle>
          <a:p>
            <a:endParaRPr/>
          </a:p>
        </p:txBody>
      </p:sp>
      <p:sp>
        <p:nvSpPr>
          <p:cNvPr id="15" name="Google Shape;15;p29"/>
          <p:cNvSpPr txBox="1">
            <a:spLocks noGrp="1"/>
          </p:cNvSpPr>
          <p:nvPr>
            <p:ph type="title"/>
          </p:nvPr>
        </p:nvSpPr>
        <p:spPr>
          <a:xfrm>
            <a:off x="548640" y="585216"/>
            <a:ext cx="11064240" cy="7315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000"/>
              <a:buFont typeface="Arial"/>
              <a:buNone/>
              <a:defRPr sz="3000" b="1" i="0" u="none" strike="noStrike" cap="none">
                <a:solidFill>
                  <a:schemeClr val="dk1"/>
                </a:solidFill>
                <a:latin typeface="Google Sans Flex"/>
                <a:ea typeface="Google Sans Flex"/>
                <a:cs typeface="Google Sans Flex"/>
                <a:sym typeface="Google Sans Flex"/>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29"/>
          <p:cNvSpPr txBox="1">
            <a:spLocks noGrp="1"/>
          </p:cNvSpPr>
          <p:nvPr>
            <p:ph type="sldNum" idx="12"/>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chemeClr val="dk2"/>
                </a:solidFill>
                <a:latin typeface="Google Sans Flex"/>
                <a:ea typeface="Google Sans Flex"/>
                <a:cs typeface="Google Sans Flex"/>
                <a:sym typeface="Google Sans Flex"/>
              </a:defRPr>
            </a:lvl1pPr>
            <a:lvl2pPr marL="0" marR="0" lvl="1" indent="0" algn="r">
              <a:spcBef>
                <a:spcPts val="0"/>
              </a:spcBef>
              <a:buNone/>
              <a:defRPr sz="1000" b="0" i="0" u="none" strike="noStrike" cap="none">
                <a:solidFill>
                  <a:schemeClr val="dk2"/>
                </a:solidFill>
                <a:latin typeface="Google Sans Flex"/>
                <a:ea typeface="Google Sans Flex"/>
                <a:cs typeface="Google Sans Flex"/>
                <a:sym typeface="Google Sans Flex"/>
              </a:defRPr>
            </a:lvl2pPr>
            <a:lvl3pPr marL="0" marR="0" lvl="2" indent="0" algn="r">
              <a:spcBef>
                <a:spcPts val="0"/>
              </a:spcBef>
              <a:buNone/>
              <a:defRPr sz="1000" b="0" i="0" u="none" strike="noStrike" cap="none">
                <a:solidFill>
                  <a:schemeClr val="dk2"/>
                </a:solidFill>
                <a:latin typeface="Google Sans Flex"/>
                <a:ea typeface="Google Sans Flex"/>
                <a:cs typeface="Google Sans Flex"/>
                <a:sym typeface="Google Sans Flex"/>
              </a:defRPr>
            </a:lvl3pPr>
            <a:lvl4pPr marL="0" marR="0" lvl="3" indent="0" algn="r">
              <a:spcBef>
                <a:spcPts val="0"/>
              </a:spcBef>
              <a:buNone/>
              <a:defRPr sz="1000" b="0" i="0" u="none" strike="noStrike" cap="none">
                <a:solidFill>
                  <a:schemeClr val="dk2"/>
                </a:solidFill>
                <a:latin typeface="Google Sans Flex"/>
                <a:ea typeface="Google Sans Flex"/>
                <a:cs typeface="Google Sans Flex"/>
                <a:sym typeface="Google Sans Flex"/>
              </a:defRPr>
            </a:lvl4pPr>
            <a:lvl5pPr marL="0" marR="0" lvl="4" indent="0" algn="r">
              <a:spcBef>
                <a:spcPts val="0"/>
              </a:spcBef>
              <a:buNone/>
              <a:defRPr sz="1000" b="0" i="0" u="none" strike="noStrike" cap="none">
                <a:solidFill>
                  <a:schemeClr val="dk2"/>
                </a:solidFill>
                <a:latin typeface="Google Sans Flex"/>
                <a:ea typeface="Google Sans Flex"/>
                <a:cs typeface="Google Sans Flex"/>
                <a:sym typeface="Google Sans Flex"/>
              </a:defRPr>
            </a:lvl5pPr>
            <a:lvl6pPr marL="0" marR="0" lvl="5" indent="0" algn="r">
              <a:spcBef>
                <a:spcPts val="0"/>
              </a:spcBef>
              <a:buNone/>
              <a:defRPr sz="1000" b="0" i="0" u="none" strike="noStrike" cap="none">
                <a:solidFill>
                  <a:schemeClr val="dk2"/>
                </a:solidFill>
                <a:latin typeface="Google Sans Flex"/>
                <a:ea typeface="Google Sans Flex"/>
                <a:cs typeface="Google Sans Flex"/>
                <a:sym typeface="Google Sans Flex"/>
              </a:defRPr>
            </a:lvl6pPr>
            <a:lvl7pPr marL="0" marR="0" lvl="6" indent="0" algn="r">
              <a:spcBef>
                <a:spcPts val="0"/>
              </a:spcBef>
              <a:buNone/>
              <a:defRPr sz="1000" b="0" i="0" u="none" strike="noStrike" cap="none">
                <a:solidFill>
                  <a:schemeClr val="dk2"/>
                </a:solidFill>
                <a:latin typeface="Google Sans Flex"/>
                <a:ea typeface="Google Sans Flex"/>
                <a:cs typeface="Google Sans Flex"/>
                <a:sym typeface="Google Sans Flex"/>
              </a:defRPr>
            </a:lvl7pPr>
            <a:lvl8pPr marL="0" marR="0" lvl="7" indent="0" algn="r">
              <a:spcBef>
                <a:spcPts val="0"/>
              </a:spcBef>
              <a:buNone/>
              <a:defRPr sz="1000" b="0" i="0" u="none" strike="noStrike" cap="none">
                <a:solidFill>
                  <a:schemeClr val="dk2"/>
                </a:solidFill>
                <a:latin typeface="Google Sans Flex"/>
                <a:ea typeface="Google Sans Flex"/>
                <a:cs typeface="Google Sans Flex"/>
                <a:sym typeface="Google Sans Flex"/>
              </a:defRPr>
            </a:lvl8pPr>
            <a:lvl9pPr marL="0" marR="0" lvl="8" indent="0" algn="r">
              <a:spcBef>
                <a:spcPts val="0"/>
              </a:spcBef>
              <a:buNone/>
              <a:defRPr sz="1000" b="0" i="0" u="none" strike="noStrike" cap="none">
                <a:solidFill>
                  <a:schemeClr val="dk2"/>
                </a:solidFill>
                <a:latin typeface="Google Sans Flex"/>
                <a:ea typeface="Google Sans Flex"/>
                <a:cs typeface="Google Sans Flex"/>
                <a:sym typeface="Google Sans Flex"/>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27"/>
          <p:cNvSpPr txBox="1">
            <a:spLocks noGrp="1"/>
          </p:cNvSpPr>
          <p:nvPr>
            <p:ph type="sldNum" idx="12"/>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chemeClr val="dk2"/>
                </a:solidFill>
                <a:latin typeface="Google Sans Flex"/>
                <a:ea typeface="Google Sans Flex"/>
                <a:cs typeface="Google Sans Flex"/>
                <a:sym typeface="Google Sans Flex"/>
              </a:defRPr>
            </a:lvl1pPr>
            <a:lvl2pPr marL="0" marR="0" lvl="1" indent="0" algn="r" rtl="0">
              <a:spcBef>
                <a:spcPts val="0"/>
              </a:spcBef>
              <a:buNone/>
              <a:defRPr sz="1000" b="0" i="0" u="none" strike="noStrike" cap="none">
                <a:solidFill>
                  <a:schemeClr val="dk2"/>
                </a:solidFill>
                <a:latin typeface="Google Sans Flex"/>
                <a:ea typeface="Google Sans Flex"/>
                <a:cs typeface="Google Sans Flex"/>
                <a:sym typeface="Google Sans Flex"/>
              </a:defRPr>
            </a:lvl2pPr>
            <a:lvl3pPr marL="0" marR="0" lvl="2" indent="0" algn="r" rtl="0">
              <a:spcBef>
                <a:spcPts val="0"/>
              </a:spcBef>
              <a:buNone/>
              <a:defRPr sz="1000" b="0" i="0" u="none" strike="noStrike" cap="none">
                <a:solidFill>
                  <a:schemeClr val="dk2"/>
                </a:solidFill>
                <a:latin typeface="Google Sans Flex"/>
                <a:ea typeface="Google Sans Flex"/>
                <a:cs typeface="Google Sans Flex"/>
                <a:sym typeface="Google Sans Flex"/>
              </a:defRPr>
            </a:lvl3pPr>
            <a:lvl4pPr marL="0" marR="0" lvl="3" indent="0" algn="r" rtl="0">
              <a:spcBef>
                <a:spcPts val="0"/>
              </a:spcBef>
              <a:buNone/>
              <a:defRPr sz="1000" b="0" i="0" u="none" strike="noStrike" cap="none">
                <a:solidFill>
                  <a:schemeClr val="dk2"/>
                </a:solidFill>
                <a:latin typeface="Google Sans Flex"/>
                <a:ea typeface="Google Sans Flex"/>
                <a:cs typeface="Google Sans Flex"/>
                <a:sym typeface="Google Sans Flex"/>
              </a:defRPr>
            </a:lvl4pPr>
            <a:lvl5pPr marL="0" marR="0" lvl="4" indent="0" algn="r" rtl="0">
              <a:spcBef>
                <a:spcPts val="0"/>
              </a:spcBef>
              <a:buNone/>
              <a:defRPr sz="1000" b="0" i="0" u="none" strike="noStrike" cap="none">
                <a:solidFill>
                  <a:schemeClr val="dk2"/>
                </a:solidFill>
                <a:latin typeface="Google Sans Flex"/>
                <a:ea typeface="Google Sans Flex"/>
                <a:cs typeface="Google Sans Flex"/>
                <a:sym typeface="Google Sans Flex"/>
              </a:defRPr>
            </a:lvl5pPr>
            <a:lvl6pPr marL="0" marR="0" lvl="5" indent="0" algn="r" rtl="0">
              <a:spcBef>
                <a:spcPts val="0"/>
              </a:spcBef>
              <a:buNone/>
              <a:defRPr sz="1000" b="0" i="0" u="none" strike="noStrike" cap="none">
                <a:solidFill>
                  <a:schemeClr val="dk2"/>
                </a:solidFill>
                <a:latin typeface="Google Sans Flex"/>
                <a:ea typeface="Google Sans Flex"/>
                <a:cs typeface="Google Sans Flex"/>
                <a:sym typeface="Google Sans Flex"/>
              </a:defRPr>
            </a:lvl6pPr>
            <a:lvl7pPr marL="0" marR="0" lvl="6" indent="0" algn="r" rtl="0">
              <a:spcBef>
                <a:spcPts val="0"/>
              </a:spcBef>
              <a:buNone/>
              <a:defRPr sz="1000" b="0" i="0" u="none" strike="noStrike" cap="none">
                <a:solidFill>
                  <a:schemeClr val="dk2"/>
                </a:solidFill>
                <a:latin typeface="Google Sans Flex"/>
                <a:ea typeface="Google Sans Flex"/>
                <a:cs typeface="Google Sans Flex"/>
                <a:sym typeface="Google Sans Flex"/>
              </a:defRPr>
            </a:lvl7pPr>
            <a:lvl8pPr marL="0" marR="0" lvl="7" indent="0" algn="r" rtl="0">
              <a:spcBef>
                <a:spcPts val="0"/>
              </a:spcBef>
              <a:buNone/>
              <a:defRPr sz="1000" b="0" i="0" u="none" strike="noStrike" cap="none">
                <a:solidFill>
                  <a:schemeClr val="dk2"/>
                </a:solidFill>
                <a:latin typeface="Google Sans Flex"/>
                <a:ea typeface="Google Sans Flex"/>
                <a:cs typeface="Google Sans Flex"/>
                <a:sym typeface="Google Sans Flex"/>
              </a:defRPr>
            </a:lvl8pPr>
            <a:lvl9pPr marL="0" marR="0" lvl="8" indent="0" algn="r" rtl="0">
              <a:spcBef>
                <a:spcPts val="0"/>
              </a:spcBef>
              <a:buNone/>
              <a:defRPr sz="1000" b="0" i="0" u="none" strike="noStrike" cap="none">
                <a:solidFill>
                  <a:schemeClr val="dk2"/>
                </a:solidFill>
                <a:latin typeface="Google Sans Flex"/>
                <a:ea typeface="Google Sans Flex"/>
                <a:cs typeface="Google Sans Flex"/>
                <a:sym typeface="Google Sans Flex"/>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Google Sans Flex"/>
          <a:ea typeface="Google Sans Flex"/>
          <a:cs typeface="Google Sans Flex"/>
          <a:sym typeface="Google Sans Flex"/>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jp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jpg"/></Relationships>
</file>

<file path=ppt/slides/_rels/slide13.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image" Target="../media/image51.jpg"/><Relationship Id="rId7" Type="http://schemas.openxmlformats.org/officeDocument/2006/relationships/image" Target="../media/image55.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4.jpg"/><Relationship Id="rId5" Type="http://schemas.openxmlformats.org/officeDocument/2006/relationships/image" Target="../media/image53.jpg"/><Relationship Id="rId4" Type="http://schemas.openxmlformats.org/officeDocument/2006/relationships/image" Target="../media/image52.jpg"/><Relationship Id="rId9" Type="http://schemas.openxmlformats.org/officeDocument/2006/relationships/image" Target="../media/image57.jpg"/></Relationships>
</file>

<file path=ppt/slides/_rels/slide1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jpg"/><Relationship Id="rId7"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jpg"/></Relationships>
</file>

<file path=ppt/slides/_rels/slide1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5.jpg"/></Relationships>
</file>

<file path=ppt/slides/_rels/slide16.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7.jpg"/></Relationships>
</file>

<file path=ppt/slides/_rels/slide1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81.png"/><Relationship Id="rId7" Type="http://schemas.openxmlformats.org/officeDocument/2006/relationships/image" Target="../media/image54.jp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6.jpg"/><Relationship Id="rId5" Type="http://schemas.openxmlformats.org/officeDocument/2006/relationships/image" Target="../media/image3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1"/>
          <p:cNvSpPr txBox="1"/>
          <p:nvPr/>
        </p:nvSpPr>
        <p:spPr>
          <a:xfrm>
            <a:off x="548640" y="548640"/>
            <a:ext cx="58521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100" b="1" i="0" u="none" strike="noStrike" cap="none">
                <a:solidFill>
                  <a:schemeClr val="accent2"/>
                </a:solidFill>
                <a:latin typeface="Google Sans Flex"/>
                <a:ea typeface="Google Sans Flex"/>
                <a:cs typeface="Google Sans Flex"/>
                <a:sym typeface="Google Sans Flex"/>
              </a:rPr>
              <a:t>GOOGLE CLOUD AI BUILDER CUP 2026  ·  BFSI TRACK</a:t>
            </a:r>
            <a:endParaRPr sz="1100" b="0" i="0" u="none" strike="noStrike" cap="none">
              <a:solidFill>
                <a:schemeClr val="dk1"/>
              </a:solidFill>
              <a:latin typeface="Google Sans Flex"/>
              <a:ea typeface="Google Sans Flex"/>
              <a:cs typeface="Google Sans Flex"/>
              <a:sym typeface="Google Sans Flex"/>
            </a:endParaRPr>
          </a:p>
        </p:txBody>
      </p:sp>
      <p:sp>
        <p:nvSpPr>
          <p:cNvPr id="24" name="Google Shape;24;p1"/>
          <p:cNvSpPr txBox="1"/>
          <p:nvPr/>
        </p:nvSpPr>
        <p:spPr>
          <a:xfrm>
            <a:off x="548640" y="960120"/>
            <a:ext cx="603504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4400"/>
              <a:buFont typeface="Arial"/>
              <a:buNone/>
            </a:pPr>
            <a:r>
              <a:rPr lang="en-US" sz="4200" b="1" i="0" u="none" strike="noStrike" cap="none">
                <a:solidFill>
                  <a:schemeClr val="dk1"/>
                </a:solidFill>
                <a:latin typeface="Google Sans Flex"/>
                <a:ea typeface="Google Sans Flex"/>
                <a:cs typeface="Google Sans Flex"/>
                <a:sym typeface="Google Sans Flex"/>
              </a:rPr>
              <a:t>Property Inspection AI</a:t>
            </a:r>
            <a:endParaRPr sz="3950" b="0" i="0" u="none" strike="noStrike" cap="none">
              <a:solidFill>
                <a:schemeClr val="dk1"/>
              </a:solidFill>
              <a:latin typeface="Google Sans Flex"/>
              <a:ea typeface="Google Sans Flex"/>
              <a:cs typeface="Google Sans Flex"/>
              <a:sym typeface="Google Sans Flex"/>
            </a:endParaRPr>
          </a:p>
        </p:txBody>
      </p:sp>
      <p:sp>
        <p:nvSpPr>
          <p:cNvPr id="25" name="Google Shape;25;p1"/>
          <p:cNvSpPr txBox="1"/>
          <p:nvPr/>
        </p:nvSpPr>
        <p:spPr>
          <a:xfrm>
            <a:off x="548640" y="1920240"/>
            <a:ext cx="566928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2200"/>
              <a:buFont typeface="Calibri"/>
              <a:buNone/>
            </a:pPr>
            <a:r>
              <a:rPr lang="en-US" sz="2000" b="0" i="1" u="none" strike="noStrike" cap="none">
                <a:solidFill>
                  <a:schemeClr val="accent6"/>
                </a:solidFill>
                <a:latin typeface="Google Sans Flex"/>
                <a:ea typeface="Google Sans Flex"/>
                <a:cs typeface="Google Sans Flex"/>
                <a:sym typeface="Google Sans Flex"/>
              </a:rPr>
              <a:t>From a 20-second phone video to an underwriting-ready property risk file</a:t>
            </a:r>
            <a:endParaRPr sz="2000" b="0" i="0" u="none" strike="noStrike" cap="none">
              <a:solidFill>
                <a:schemeClr val="dk1"/>
              </a:solidFill>
              <a:latin typeface="Google Sans Flex"/>
              <a:ea typeface="Google Sans Flex"/>
              <a:cs typeface="Google Sans Flex"/>
              <a:sym typeface="Google Sans Flex"/>
            </a:endParaRPr>
          </a:p>
        </p:txBody>
      </p:sp>
      <p:sp>
        <p:nvSpPr>
          <p:cNvPr id="26" name="Google Shape;26;p1"/>
          <p:cNvSpPr txBox="1"/>
          <p:nvPr/>
        </p:nvSpPr>
        <p:spPr>
          <a:xfrm>
            <a:off x="548640" y="2880360"/>
            <a:ext cx="557784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500"/>
              <a:buFont typeface="Calibri"/>
              <a:buNone/>
            </a:pPr>
            <a:r>
              <a:rPr lang="en-US" sz="1350" b="0" i="0" u="none" strike="noStrike" cap="none">
                <a:solidFill>
                  <a:schemeClr val="dk2"/>
                </a:solidFill>
                <a:latin typeface="Google Sans Flex"/>
                <a:ea typeface="Google Sans Flex"/>
                <a:cs typeface="Google Sans Flex"/>
                <a:sym typeface="Google Sans Flex"/>
              </a:rPr>
              <a:t>Defects, condition grade, repair cost, valuation impact, fraud signals and a 3D proof of what was inspected, built for mortgage lenders, insurers and property inspectors.</a:t>
            </a:r>
            <a:endParaRPr sz="1350" b="0" i="0" u="none" strike="noStrike" cap="none">
              <a:solidFill>
                <a:schemeClr val="dk1"/>
              </a:solidFill>
              <a:latin typeface="Google Sans Flex"/>
              <a:ea typeface="Google Sans Flex"/>
              <a:cs typeface="Google Sans Flex"/>
              <a:sym typeface="Google Sans Flex"/>
            </a:endParaRPr>
          </a:p>
        </p:txBody>
      </p:sp>
      <p:sp>
        <p:nvSpPr>
          <p:cNvPr id="27" name="Google Shape;27;p1"/>
          <p:cNvSpPr/>
          <p:nvPr/>
        </p:nvSpPr>
        <p:spPr>
          <a:xfrm>
            <a:off x="548640" y="4069080"/>
            <a:ext cx="1691640" cy="329184"/>
          </a:xfrm>
          <a:prstGeom prst="roundRect">
            <a:avLst>
              <a:gd name="adj" fmla="val 50000"/>
            </a:avLst>
          </a:prstGeom>
          <a:solidFill>
            <a:srgbClr val="22D3EE">
              <a:alpha val="20000"/>
            </a:srgbClr>
          </a:solidFill>
          <a:ln w="12700" cap="flat" cmpd="sng">
            <a:solidFill>
              <a:srgbClr val="22D3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txBox="1"/>
          <p:nvPr/>
        </p:nvSpPr>
        <p:spPr>
          <a:xfrm>
            <a:off x="548640" y="4069080"/>
            <a:ext cx="169164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200"/>
              <a:buFont typeface="Calibri"/>
              <a:buNone/>
            </a:pPr>
            <a:r>
              <a:rPr lang="en-US" sz="1100" b="1" i="0" u="none" strike="noStrike" cap="none">
                <a:solidFill>
                  <a:srgbClr val="22D3EE"/>
                </a:solidFill>
                <a:latin typeface="Google Sans Flex"/>
                <a:ea typeface="Google Sans Flex"/>
                <a:cs typeface="Google Sans Flex"/>
                <a:sym typeface="Google Sans Flex"/>
              </a:rPr>
              <a:t>Gemini 3.8 Flash</a:t>
            </a:r>
            <a:endParaRPr sz="1100" b="0" i="0" u="none" strike="noStrike" cap="none">
              <a:solidFill>
                <a:schemeClr val="dk1"/>
              </a:solidFill>
              <a:latin typeface="Google Sans Flex"/>
              <a:ea typeface="Google Sans Flex"/>
              <a:cs typeface="Google Sans Flex"/>
              <a:sym typeface="Google Sans Flex"/>
            </a:endParaRPr>
          </a:p>
        </p:txBody>
      </p:sp>
      <p:sp>
        <p:nvSpPr>
          <p:cNvPr id="29" name="Google Shape;29;p1"/>
          <p:cNvSpPr/>
          <p:nvPr/>
        </p:nvSpPr>
        <p:spPr>
          <a:xfrm>
            <a:off x="2377440" y="4069080"/>
            <a:ext cx="1051560" cy="329184"/>
          </a:xfrm>
          <a:prstGeom prst="roundRect">
            <a:avLst>
              <a:gd name="adj" fmla="val 50000"/>
            </a:avLst>
          </a:prstGeom>
          <a:solidFill>
            <a:srgbClr val="22D3EE">
              <a:alpha val="20000"/>
            </a:srgbClr>
          </a:solidFill>
          <a:ln w="12700" cap="flat" cmpd="sng">
            <a:solidFill>
              <a:srgbClr val="22D3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
          <p:cNvSpPr txBox="1"/>
          <p:nvPr/>
        </p:nvSpPr>
        <p:spPr>
          <a:xfrm>
            <a:off x="2377440" y="4069080"/>
            <a:ext cx="105156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200"/>
              <a:buFont typeface="Calibri"/>
              <a:buNone/>
            </a:pPr>
            <a:r>
              <a:rPr lang="en-US" sz="1100" b="1" i="0" u="none" strike="noStrike" cap="none">
                <a:solidFill>
                  <a:srgbClr val="22D3EE"/>
                </a:solidFill>
                <a:latin typeface="Google Sans Flex"/>
                <a:ea typeface="Google Sans Flex"/>
                <a:cs typeface="Google Sans Flex"/>
                <a:sym typeface="Google Sans Flex"/>
              </a:rPr>
              <a:t>Gemma 4</a:t>
            </a:r>
            <a:endParaRPr sz="1100" b="0" i="0" u="none" strike="noStrike" cap="none">
              <a:solidFill>
                <a:schemeClr val="dk1"/>
              </a:solidFill>
              <a:latin typeface="Google Sans Flex"/>
              <a:ea typeface="Google Sans Flex"/>
              <a:cs typeface="Google Sans Flex"/>
              <a:sym typeface="Google Sans Flex"/>
            </a:endParaRPr>
          </a:p>
        </p:txBody>
      </p:sp>
      <p:sp>
        <p:nvSpPr>
          <p:cNvPr id="31" name="Google Shape;31;p1"/>
          <p:cNvSpPr/>
          <p:nvPr/>
        </p:nvSpPr>
        <p:spPr>
          <a:xfrm>
            <a:off x="3566160" y="4069080"/>
            <a:ext cx="1234440" cy="329184"/>
          </a:xfrm>
          <a:prstGeom prst="roundRect">
            <a:avLst>
              <a:gd name="adj" fmla="val 50000"/>
            </a:avLst>
          </a:prstGeom>
          <a:solidFill>
            <a:srgbClr val="6366F1">
              <a:alpha val="200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1"/>
          <p:cNvSpPr txBox="1"/>
          <p:nvPr/>
        </p:nvSpPr>
        <p:spPr>
          <a:xfrm>
            <a:off x="3566160" y="4069080"/>
            <a:ext cx="123444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366F1"/>
              </a:buClr>
              <a:buSzPts val="1200"/>
              <a:buFont typeface="Calibri"/>
              <a:buNone/>
            </a:pPr>
            <a:r>
              <a:rPr lang="en-US" sz="1100" b="1" i="0" u="none" strike="noStrike" cap="none">
                <a:solidFill>
                  <a:srgbClr val="6366F1"/>
                </a:solidFill>
                <a:latin typeface="Google Sans Flex"/>
                <a:ea typeface="Google Sans Flex"/>
                <a:cs typeface="Google Sans Flex"/>
                <a:sym typeface="Google Sans Flex"/>
              </a:rPr>
              <a:t>Gemini API</a:t>
            </a:r>
            <a:endParaRPr sz="1100" b="0" i="0" u="none" strike="noStrike" cap="none">
              <a:solidFill>
                <a:schemeClr val="dk1"/>
              </a:solidFill>
              <a:latin typeface="Google Sans Flex"/>
              <a:ea typeface="Google Sans Flex"/>
              <a:cs typeface="Google Sans Flex"/>
              <a:sym typeface="Google Sans Flex"/>
            </a:endParaRPr>
          </a:p>
        </p:txBody>
      </p:sp>
      <p:sp>
        <p:nvSpPr>
          <p:cNvPr id="33" name="Google Shape;33;p1"/>
          <p:cNvSpPr/>
          <p:nvPr/>
        </p:nvSpPr>
        <p:spPr>
          <a:xfrm>
            <a:off x="548640" y="4507992"/>
            <a:ext cx="1554480" cy="329184"/>
          </a:xfrm>
          <a:prstGeom prst="roundRect">
            <a:avLst>
              <a:gd name="adj" fmla="val 50000"/>
            </a:avLst>
          </a:prstGeom>
          <a:solidFill>
            <a:srgbClr val="6366F1">
              <a:alpha val="200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
          <p:cNvSpPr txBox="1"/>
          <p:nvPr/>
        </p:nvSpPr>
        <p:spPr>
          <a:xfrm>
            <a:off x="548640" y="4507992"/>
            <a:ext cx="155448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366F1"/>
              </a:buClr>
              <a:buSzPts val="1200"/>
              <a:buFont typeface="Calibri"/>
              <a:buNone/>
            </a:pPr>
            <a:r>
              <a:rPr lang="en-US" sz="1100" b="1" i="0" u="none" strike="noStrike" cap="none">
                <a:solidFill>
                  <a:srgbClr val="6366F1"/>
                </a:solidFill>
                <a:latin typeface="Google Sans Flex"/>
                <a:ea typeface="Google Sans Flex"/>
                <a:cs typeface="Google Sans Flex"/>
                <a:sym typeface="Google Sans Flex"/>
              </a:rPr>
              <a:t>Cloud Run + L4</a:t>
            </a:r>
            <a:endParaRPr sz="1100" b="0" i="0" u="none" strike="noStrike" cap="none">
              <a:solidFill>
                <a:schemeClr val="dk1"/>
              </a:solidFill>
              <a:latin typeface="Google Sans Flex"/>
              <a:ea typeface="Google Sans Flex"/>
              <a:cs typeface="Google Sans Flex"/>
              <a:sym typeface="Google Sans Flex"/>
            </a:endParaRPr>
          </a:p>
        </p:txBody>
      </p:sp>
      <p:sp>
        <p:nvSpPr>
          <p:cNvPr id="35" name="Google Shape;35;p1"/>
          <p:cNvSpPr/>
          <p:nvPr/>
        </p:nvSpPr>
        <p:spPr>
          <a:xfrm>
            <a:off x="2240280" y="4507992"/>
            <a:ext cx="1463040" cy="329184"/>
          </a:xfrm>
          <a:prstGeom prst="roundRect">
            <a:avLst>
              <a:gd name="adj" fmla="val 50000"/>
            </a:avLst>
          </a:prstGeom>
          <a:solidFill>
            <a:srgbClr val="6366F1">
              <a:alpha val="200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
          <p:cNvSpPr txBox="1"/>
          <p:nvPr/>
        </p:nvSpPr>
        <p:spPr>
          <a:xfrm>
            <a:off x="2240280" y="4507992"/>
            <a:ext cx="146304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366F1"/>
              </a:buClr>
              <a:buSzPts val="1200"/>
              <a:buFont typeface="Calibri"/>
              <a:buNone/>
            </a:pPr>
            <a:r>
              <a:rPr lang="en-US" sz="1100" b="1" i="0" u="none" strike="noStrike" cap="none">
                <a:solidFill>
                  <a:srgbClr val="6366F1"/>
                </a:solidFill>
                <a:latin typeface="Google Sans Flex"/>
                <a:ea typeface="Google Sans Flex"/>
                <a:cs typeface="Google Sans Flex"/>
                <a:sym typeface="Google Sans Flex"/>
              </a:rPr>
              <a:t>Cloud Storage</a:t>
            </a:r>
            <a:endParaRPr sz="1100" b="0" i="0" u="none" strike="noStrike" cap="none">
              <a:solidFill>
                <a:schemeClr val="dk1"/>
              </a:solidFill>
              <a:latin typeface="Google Sans Flex"/>
              <a:ea typeface="Google Sans Flex"/>
              <a:cs typeface="Google Sans Flex"/>
              <a:sym typeface="Google Sans Flex"/>
            </a:endParaRPr>
          </a:p>
        </p:txBody>
      </p:sp>
      <p:sp>
        <p:nvSpPr>
          <p:cNvPr id="37" name="Google Shape;37;p1"/>
          <p:cNvSpPr/>
          <p:nvPr/>
        </p:nvSpPr>
        <p:spPr>
          <a:xfrm>
            <a:off x="3840480" y="4507992"/>
            <a:ext cx="1280160" cy="329184"/>
          </a:xfrm>
          <a:prstGeom prst="roundRect">
            <a:avLst>
              <a:gd name="adj" fmla="val 50000"/>
            </a:avLst>
          </a:prstGeom>
          <a:solidFill>
            <a:srgbClr val="6366F1">
              <a:alpha val="200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
          <p:cNvSpPr txBox="1"/>
          <p:nvPr/>
        </p:nvSpPr>
        <p:spPr>
          <a:xfrm>
            <a:off x="3840480" y="4507992"/>
            <a:ext cx="128016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366F1"/>
              </a:buClr>
              <a:buSzPts val="1200"/>
              <a:buFont typeface="Calibri"/>
              <a:buNone/>
            </a:pPr>
            <a:r>
              <a:rPr lang="en-US" sz="1100" b="1" i="0" u="none" strike="noStrike" cap="none">
                <a:solidFill>
                  <a:srgbClr val="6366F1"/>
                </a:solidFill>
                <a:latin typeface="Google Sans Flex"/>
                <a:ea typeface="Google Sans Flex"/>
                <a:cs typeface="Google Sans Flex"/>
                <a:sym typeface="Google Sans Flex"/>
              </a:rPr>
              <a:t>Cloud Build</a:t>
            </a:r>
            <a:endParaRPr sz="1100" b="0" i="0" u="none" strike="noStrike" cap="none">
              <a:solidFill>
                <a:schemeClr val="dk1"/>
              </a:solidFill>
              <a:latin typeface="Google Sans Flex"/>
              <a:ea typeface="Google Sans Flex"/>
              <a:cs typeface="Google Sans Flex"/>
              <a:sym typeface="Google Sans Flex"/>
            </a:endParaRPr>
          </a:p>
        </p:txBody>
      </p:sp>
      <p:sp>
        <p:nvSpPr>
          <p:cNvPr id="39" name="Google Shape;39;p1"/>
          <p:cNvSpPr txBox="1"/>
          <p:nvPr/>
        </p:nvSpPr>
        <p:spPr>
          <a:xfrm>
            <a:off x="548640" y="6172200"/>
            <a:ext cx="7315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Team Xcore  ·  Track: Intelligent Risk, Fraud &amp; Financial Experiences  ·  Prototype v1.0.0  ·  October 2026</a:t>
            </a:r>
            <a:endParaRPr sz="1000" b="0" i="0" u="none" strike="noStrike" cap="none">
              <a:solidFill>
                <a:schemeClr val="dk1"/>
              </a:solidFill>
              <a:latin typeface="Google Sans Flex"/>
              <a:ea typeface="Google Sans Flex"/>
              <a:cs typeface="Google Sans Flex"/>
              <a:sym typeface="Google Sans Flex"/>
            </a:endParaRPr>
          </a:p>
        </p:txBody>
      </p:sp>
      <p:pic>
        <p:nvPicPr>
          <p:cNvPr id="40" name="Google Shape;40;p1" descr="Team Xcore logo"/>
          <p:cNvPicPr preferRelativeResize="0"/>
          <p:nvPr/>
        </p:nvPicPr>
        <p:blipFill rotWithShape="1">
          <a:blip r:embed="rId3">
            <a:alphaModFix/>
          </a:blip>
          <a:srcRect/>
          <a:stretch/>
        </p:blipFill>
        <p:spPr>
          <a:xfrm>
            <a:off x="10744200" y="320040"/>
            <a:ext cx="914400" cy="914400"/>
          </a:xfrm>
          <a:prstGeom prst="rect">
            <a:avLst/>
          </a:prstGeom>
          <a:noFill/>
          <a:ln>
            <a:noFill/>
          </a:ln>
        </p:spPr>
      </p:pic>
      <p:pic>
        <p:nvPicPr>
          <p:cNvPr id="41" name="Google Shape;41;p1" descr="Concept illustration: phone video, 3D digital twin with defects, floor plan and risk dashboard"/>
          <p:cNvPicPr preferRelativeResize="0"/>
          <p:nvPr/>
        </p:nvPicPr>
        <p:blipFill rotWithShape="1">
          <a:blip r:embed="rId4">
            <a:alphaModFix/>
          </a:blip>
          <a:srcRect/>
          <a:stretch/>
        </p:blipFill>
        <p:spPr>
          <a:xfrm>
            <a:off x="6446520" y="1188720"/>
            <a:ext cx="4892040" cy="4892040"/>
          </a:xfrm>
          <a:prstGeom prst="rect">
            <a:avLst/>
          </a:prstGeom>
          <a:noFill/>
          <a:ln>
            <a:noFill/>
          </a:ln>
        </p:spPr>
      </p:pic>
      <p:sp>
        <p:nvSpPr>
          <p:cNvPr id="42" name="Google Shape;42;p1"/>
          <p:cNvSpPr txBox="1"/>
          <p:nvPr/>
        </p:nvSpPr>
        <p:spPr>
          <a:xfrm>
            <a:off x="6629400" y="6053328"/>
            <a:ext cx="50749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100"/>
              <a:buFont typeface="Calibri"/>
              <a:buNone/>
            </a:pPr>
            <a:r>
              <a:rPr lang="en-US" sz="1000" b="0" i="1" u="none" strike="noStrike" cap="none">
                <a:solidFill>
                  <a:schemeClr val="dk2"/>
                </a:solidFill>
                <a:latin typeface="Google Sans Flex"/>
                <a:ea typeface="Google Sans Flex"/>
                <a:cs typeface="Google Sans Flex"/>
                <a:sym typeface="Google Sans Flex"/>
              </a:rPr>
              <a:t>Concept illustration of the product</a:t>
            </a:r>
            <a:endParaRPr sz="1000" b="0" i="0" u="none" strike="noStrike" cap="none">
              <a:solidFill>
                <a:schemeClr val="dk1"/>
              </a:solidFill>
              <a:latin typeface="Google Sans Flex"/>
              <a:ea typeface="Google Sans Flex"/>
              <a:cs typeface="Google Sans Flex"/>
              <a:sym typeface="Google Sans Fle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2"/>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THE TEAM</a:t>
            </a:r>
            <a:endParaRPr sz="1150"/>
          </a:p>
        </p:txBody>
      </p:sp>
      <p:sp>
        <p:nvSpPr>
          <p:cNvPr id="49" name="Google Shape;49;p2"/>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Team Xcore</a:t>
            </a:r>
            <a:endParaRPr sz="2850"/>
          </a:p>
        </p:txBody>
      </p:sp>
      <p:pic>
        <p:nvPicPr>
          <p:cNvPr id="50" name="Google Shape;50;p2" descr="Team Xcore logo"/>
          <p:cNvPicPr preferRelativeResize="0"/>
          <p:nvPr/>
        </p:nvPicPr>
        <p:blipFill rotWithShape="1">
          <a:blip r:embed="rId3">
            <a:alphaModFix/>
          </a:blip>
          <a:srcRect/>
          <a:stretch/>
        </p:blipFill>
        <p:spPr>
          <a:xfrm>
            <a:off x="685800" y="1600200"/>
            <a:ext cx="2743200" cy="2743200"/>
          </a:xfrm>
          <a:prstGeom prst="rect">
            <a:avLst/>
          </a:prstGeom>
          <a:noFill/>
          <a:ln>
            <a:noFill/>
          </a:ln>
        </p:spPr>
      </p:pic>
      <p:sp>
        <p:nvSpPr>
          <p:cNvPr id="51" name="Google Shape;51;p2"/>
          <p:cNvSpPr txBox="1"/>
          <p:nvPr/>
        </p:nvSpPr>
        <p:spPr>
          <a:xfrm>
            <a:off x="548640" y="4526280"/>
            <a:ext cx="301752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Three builders covering Gen AI, vision and cloud architecture, from research to a deployed product.</a:t>
            </a:r>
            <a:endParaRPr sz="1250" b="0" i="0" u="none" strike="noStrike" cap="none">
              <a:solidFill>
                <a:schemeClr val="dk1"/>
              </a:solidFill>
              <a:latin typeface="Google Sans Flex"/>
              <a:ea typeface="Google Sans Flex"/>
              <a:cs typeface="Google Sans Flex"/>
              <a:sym typeface="Google Sans Flex"/>
            </a:endParaRPr>
          </a:p>
        </p:txBody>
      </p:sp>
      <p:sp>
        <p:nvSpPr>
          <p:cNvPr id="52" name="Google Shape;52;p2"/>
          <p:cNvSpPr/>
          <p:nvPr/>
        </p:nvSpPr>
        <p:spPr>
          <a:xfrm>
            <a:off x="3977640" y="1600200"/>
            <a:ext cx="2423160" cy="3931920"/>
          </a:xfrm>
          <a:prstGeom prst="roundRect">
            <a:avLst>
              <a:gd name="adj" fmla="val 4528"/>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325112" y="1801368"/>
            <a:ext cx="1737360" cy="1737360"/>
          </a:xfrm>
          <a:prstGeom prst="ellipse">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 name="Google Shape;54;p2" descr="Thanveer Ahamed"/>
          <p:cNvPicPr preferRelativeResize="0"/>
          <p:nvPr/>
        </p:nvPicPr>
        <p:blipFill rotWithShape="1">
          <a:blip r:embed="rId4">
            <a:alphaModFix/>
          </a:blip>
          <a:srcRect/>
          <a:stretch/>
        </p:blipFill>
        <p:spPr>
          <a:xfrm>
            <a:off x="4389120" y="1865376"/>
            <a:ext cx="1609344" cy="1609344"/>
          </a:xfrm>
          <a:prstGeom prst="rect">
            <a:avLst/>
          </a:prstGeom>
          <a:noFill/>
          <a:ln>
            <a:noFill/>
          </a:ln>
        </p:spPr>
      </p:pic>
      <p:sp>
        <p:nvSpPr>
          <p:cNvPr id="55" name="Google Shape;55;p2"/>
          <p:cNvSpPr txBox="1"/>
          <p:nvPr/>
        </p:nvSpPr>
        <p:spPr>
          <a:xfrm>
            <a:off x="4114800" y="3749040"/>
            <a:ext cx="2148840"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Thanveer Ahamed</a:t>
            </a:r>
            <a:endParaRPr sz="1550" b="0" i="0" u="none" strike="noStrike" cap="none">
              <a:solidFill>
                <a:schemeClr val="dk1"/>
              </a:solidFill>
              <a:latin typeface="Google Sans Flex"/>
              <a:ea typeface="Google Sans Flex"/>
              <a:cs typeface="Google Sans Flex"/>
              <a:sym typeface="Google Sans Flex"/>
            </a:endParaRPr>
          </a:p>
        </p:txBody>
      </p:sp>
      <p:sp>
        <p:nvSpPr>
          <p:cNvPr id="56" name="Google Shape;56;p2"/>
          <p:cNvSpPr txBox="1"/>
          <p:nvPr/>
        </p:nvSpPr>
        <p:spPr>
          <a:xfrm>
            <a:off x="4114800" y="4114800"/>
            <a:ext cx="214884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Gen AI Lead</a:t>
            </a:r>
            <a:endParaRPr sz="1250" b="0" i="0" u="none" strike="noStrike" cap="none">
              <a:solidFill>
                <a:schemeClr val="dk1"/>
              </a:solidFill>
              <a:latin typeface="Google Sans Flex"/>
              <a:ea typeface="Google Sans Flex"/>
              <a:cs typeface="Google Sans Flex"/>
              <a:sym typeface="Google Sans Flex"/>
            </a:endParaRPr>
          </a:p>
        </p:txBody>
      </p:sp>
      <p:sp>
        <p:nvSpPr>
          <p:cNvPr id="57" name="Google Shape;57;p2"/>
          <p:cNvSpPr txBox="1"/>
          <p:nvPr/>
        </p:nvSpPr>
        <p:spPr>
          <a:xfrm>
            <a:off x="4160520" y="4526280"/>
            <a:ext cx="205740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Gemini and Gemma reasoning, prompts, verification, analysis and the underwriting assistant</a:t>
            </a:r>
            <a:endParaRPr sz="1100" b="0" i="0" u="none" strike="noStrike" cap="none">
              <a:solidFill>
                <a:schemeClr val="dk1"/>
              </a:solidFill>
              <a:latin typeface="Google Sans Flex"/>
              <a:ea typeface="Google Sans Flex"/>
              <a:cs typeface="Google Sans Flex"/>
              <a:sym typeface="Google Sans Flex"/>
            </a:endParaRPr>
          </a:p>
        </p:txBody>
      </p:sp>
      <p:sp>
        <p:nvSpPr>
          <p:cNvPr id="58" name="Google Shape;58;p2"/>
          <p:cNvSpPr/>
          <p:nvPr/>
        </p:nvSpPr>
        <p:spPr>
          <a:xfrm>
            <a:off x="6583680" y="1600200"/>
            <a:ext cx="2423160" cy="3931920"/>
          </a:xfrm>
          <a:prstGeom prst="roundRect">
            <a:avLst>
              <a:gd name="adj" fmla="val 4528"/>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931152" y="1801368"/>
            <a:ext cx="1737360" cy="1737360"/>
          </a:xfrm>
          <a:prstGeom prst="ellipse">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2" descr="Janitha Prathapa"/>
          <p:cNvPicPr preferRelativeResize="0"/>
          <p:nvPr/>
        </p:nvPicPr>
        <p:blipFill rotWithShape="1">
          <a:blip r:embed="rId5">
            <a:alphaModFix/>
          </a:blip>
          <a:srcRect/>
          <a:stretch/>
        </p:blipFill>
        <p:spPr>
          <a:xfrm>
            <a:off x="6995160" y="1865376"/>
            <a:ext cx="1609344" cy="1609344"/>
          </a:xfrm>
          <a:prstGeom prst="rect">
            <a:avLst/>
          </a:prstGeom>
          <a:noFill/>
          <a:ln>
            <a:noFill/>
          </a:ln>
        </p:spPr>
      </p:pic>
      <p:sp>
        <p:nvSpPr>
          <p:cNvPr id="61" name="Google Shape;61;p2"/>
          <p:cNvSpPr txBox="1"/>
          <p:nvPr/>
        </p:nvSpPr>
        <p:spPr>
          <a:xfrm>
            <a:off x="6720840" y="3749040"/>
            <a:ext cx="2148840"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Janitha Prathapa</a:t>
            </a:r>
            <a:endParaRPr sz="1550" b="0" i="0" u="none" strike="noStrike" cap="none">
              <a:solidFill>
                <a:schemeClr val="dk1"/>
              </a:solidFill>
              <a:latin typeface="Google Sans Flex"/>
              <a:ea typeface="Google Sans Flex"/>
              <a:cs typeface="Google Sans Flex"/>
              <a:sym typeface="Google Sans Flex"/>
            </a:endParaRPr>
          </a:p>
        </p:txBody>
      </p:sp>
      <p:sp>
        <p:nvSpPr>
          <p:cNvPr id="62" name="Google Shape;62;p2"/>
          <p:cNvSpPr txBox="1"/>
          <p:nvPr/>
        </p:nvSpPr>
        <p:spPr>
          <a:xfrm>
            <a:off x="6720840" y="4114800"/>
            <a:ext cx="214884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Vision AI Lead</a:t>
            </a:r>
            <a:endParaRPr sz="1250" b="0" i="0" u="none" strike="noStrike" cap="none">
              <a:solidFill>
                <a:schemeClr val="dk1"/>
              </a:solidFill>
              <a:latin typeface="Google Sans Flex"/>
              <a:ea typeface="Google Sans Flex"/>
              <a:cs typeface="Google Sans Flex"/>
              <a:sym typeface="Google Sans Flex"/>
            </a:endParaRPr>
          </a:p>
        </p:txBody>
      </p:sp>
      <p:sp>
        <p:nvSpPr>
          <p:cNvPr id="63" name="Google Shape;63;p2"/>
          <p:cNvSpPr txBox="1"/>
          <p:nvPr/>
        </p:nvSpPr>
        <p:spPr>
          <a:xfrm>
            <a:off x="6766560" y="4526280"/>
            <a:ext cx="205740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Defect detection, Depth Anything 3, SLAM, 3D model, floor plan and coverage map</a:t>
            </a:r>
            <a:endParaRPr sz="1100" b="0" i="0" u="none" strike="noStrike" cap="none">
              <a:solidFill>
                <a:schemeClr val="dk1"/>
              </a:solidFill>
              <a:latin typeface="Google Sans Flex"/>
              <a:ea typeface="Google Sans Flex"/>
              <a:cs typeface="Google Sans Flex"/>
              <a:sym typeface="Google Sans Flex"/>
            </a:endParaRPr>
          </a:p>
        </p:txBody>
      </p:sp>
      <p:sp>
        <p:nvSpPr>
          <p:cNvPr id="64" name="Google Shape;64;p2"/>
          <p:cNvSpPr/>
          <p:nvPr/>
        </p:nvSpPr>
        <p:spPr>
          <a:xfrm>
            <a:off x="9189720" y="1600200"/>
            <a:ext cx="2423160" cy="3931920"/>
          </a:xfrm>
          <a:prstGeom prst="roundRect">
            <a:avLst>
              <a:gd name="adj" fmla="val 4528"/>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537192" y="1801368"/>
            <a:ext cx="1737360" cy="1737360"/>
          </a:xfrm>
          <a:prstGeom prst="ellipse">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2" descr="Dinal Fernando"/>
          <p:cNvPicPr preferRelativeResize="0"/>
          <p:nvPr/>
        </p:nvPicPr>
        <p:blipFill rotWithShape="1">
          <a:blip r:embed="rId6">
            <a:alphaModFix/>
          </a:blip>
          <a:srcRect/>
          <a:stretch/>
        </p:blipFill>
        <p:spPr>
          <a:xfrm>
            <a:off x="9601200" y="1865376"/>
            <a:ext cx="1609344" cy="1609344"/>
          </a:xfrm>
          <a:prstGeom prst="rect">
            <a:avLst/>
          </a:prstGeom>
          <a:noFill/>
          <a:ln>
            <a:noFill/>
          </a:ln>
        </p:spPr>
      </p:pic>
      <p:sp>
        <p:nvSpPr>
          <p:cNvPr id="67" name="Google Shape;67;p2"/>
          <p:cNvSpPr txBox="1"/>
          <p:nvPr/>
        </p:nvSpPr>
        <p:spPr>
          <a:xfrm>
            <a:off x="9326880" y="3749040"/>
            <a:ext cx="2148840"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Dinal Fernando</a:t>
            </a:r>
            <a:endParaRPr sz="1550" b="0" i="0" u="none" strike="noStrike" cap="none">
              <a:solidFill>
                <a:schemeClr val="dk1"/>
              </a:solidFill>
              <a:latin typeface="Google Sans Flex"/>
              <a:ea typeface="Google Sans Flex"/>
              <a:cs typeface="Google Sans Flex"/>
              <a:sym typeface="Google Sans Flex"/>
            </a:endParaRPr>
          </a:p>
        </p:txBody>
      </p:sp>
      <p:sp>
        <p:nvSpPr>
          <p:cNvPr id="68" name="Google Shape;68;p2"/>
          <p:cNvSpPr txBox="1"/>
          <p:nvPr/>
        </p:nvSpPr>
        <p:spPr>
          <a:xfrm>
            <a:off x="9326880" y="4114800"/>
            <a:ext cx="2148840" cy="3200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Solution Architect</a:t>
            </a:r>
            <a:endParaRPr sz="1250" b="0" i="0" u="none" strike="noStrike" cap="none">
              <a:solidFill>
                <a:schemeClr val="dk1"/>
              </a:solidFill>
              <a:latin typeface="Google Sans Flex"/>
              <a:ea typeface="Google Sans Flex"/>
              <a:cs typeface="Google Sans Flex"/>
              <a:sym typeface="Google Sans Flex"/>
            </a:endParaRPr>
          </a:p>
        </p:txBody>
      </p:sp>
      <p:sp>
        <p:nvSpPr>
          <p:cNvPr id="69" name="Google Shape;69;p2"/>
          <p:cNvSpPr txBox="1"/>
          <p:nvPr/>
        </p:nvSpPr>
        <p:spPr>
          <a:xfrm>
            <a:off x="9372600" y="4526280"/>
            <a:ext cx="2057400" cy="9144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Google Cloud architecture: Cloud Run service + GPU Job, Cloud Storage and deployment</a:t>
            </a:r>
            <a:endParaRPr sz="1100" b="0" i="0" u="none" strike="noStrike" cap="none">
              <a:solidFill>
                <a:schemeClr val="dk1"/>
              </a:solidFill>
              <a:latin typeface="Google Sans Flex"/>
              <a:ea typeface="Google Sans Flex"/>
              <a:cs typeface="Google Sans Flex"/>
              <a:sym typeface="Google Sans Flex"/>
            </a:endParaRPr>
          </a:p>
        </p:txBody>
      </p:sp>
      <p:sp>
        <p:nvSpPr>
          <p:cNvPr id="70" name="Google Shape;70;p2"/>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THE PROBLEM</a:t>
            </a:r>
            <a:endParaRPr sz="1150"/>
          </a:p>
        </p:txBody>
      </p:sp>
      <p:sp>
        <p:nvSpPr>
          <p:cNvPr id="77" name="Google Shape;77;p3"/>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Property risk is judged from photos nobody can verify</a:t>
            </a:r>
            <a:endParaRPr sz="2850"/>
          </a:p>
        </p:txBody>
      </p:sp>
      <p:sp>
        <p:nvSpPr>
          <p:cNvPr id="78" name="Google Shape;78;p3"/>
          <p:cNvSpPr/>
          <p:nvPr/>
        </p:nvSpPr>
        <p:spPr>
          <a:xfrm>
            <a:off x="548640" y="1600200"/>
            <a:ext cx="420624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txBox="1"/>
          <p:nvPr/>
        </p:nvSpPr>
        <p:spPr>
          <a:xfrm>
            <a:off x="777240" y="1737360"/>
            <a:ext cx="384048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600"/>
              <a:buFont typeface="Arial"/>
              <a:buNone/>
            </a:pPr>
            <a:r>
              <a:rPr lang="en-US" sz="3400" b="1" i="0" u="none" strike="noStrike" cap="none">
                <a:solidFill>
                  <a:schemeClr val="accent3"/>
                </a:solidFill>
                <a:latin typeface="Google Sans Flex"/>
                <a:ea typeface="Google Sans Flex"/>
                <a:cs typeface="Google Sans Flex"/>
                <a:sym typeface="Google Sans Flex"/>
              </a:rPr>
              <a:t>$308.6B</a:t>
            </a:r>
            <a:endParaRPr sz="3250" b="0" i="0" u="none" strike="noStrike" cap="none">
              <a:solidFill>
                <a:schemeClr val="dk1"/>
              </a:solidFill>
              <a:latin typeface="Google Sans Flex"/>
              <a:ea typeface="Google Sans Flex"/>
              <a:cs typeface="Google Sans Flex"/>
              <a:sym typeface="Google Sans Flex"/>
            </a:endParaRPr>
          </a:p>
        </p:txBody>
      </p:sp>
      <p:sp>
        <p:nvSpPr>
          <p:cNvPr id="80" name="Google Shape;80;p3"/>
          <p:cNvSpPr txBox="1"/>
          <p:nvPr/>
        </p:nvSpPr>
        <p:spPr>
          <a:xfrm>
            <a:off x="777240" y="2331720"/>
            <a:ext cx="3840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estimated yearly US insurance fraud, all lines</a:t>
            </a:r>
            <a:endParaRPr sz="1250" b="0" i="0" u="none" strike="noStrike" cap="none">
              <a:solidFill>
                <a:schemeClr val="dk1"/>
              </a:solidFill>
              <a:latin typeface="Google Sans Flex"/>
              <a:ea typeface="Google Sans Flex"/>
              <a:cs typeface="Google Sans Flex"/>
              <a:sym typeface="Google Sans Flex"/>
            </a:endParaRPr>
          </a:p>
        </p:txBody>
      </p:sp>
      <p:sp>
        <p:nvSpPr>
          <p:cNvPr id="81" name="Google Shape;81;p3"/>
          <p:cNvSpPr txBox="1"/>
          <p:nvPr/>
        </p:nvSpPr>
        <p:spPr>
          <a:xfrm>
            <a:off x="777240" y="2606040"/>
            <a:ext cx="384048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000"/>
              <a:buFont typeface="Calibri"/>
              <a:buNone/>
            </a:pPr>
            <a:r>
              <a:rPr lang="en-US" sz="900" b="0" i="1" u="none" strike="noStrike" cap="none">
                <a:solidFill>
                  <a:schemeClr val="dk2"/>
                </a:solidFill>
                <a:latin typeface="Google Sans Flex"/>
                <a:ea typeface="Google Sans Flex"/>
                <a:cs typeface="Google Sans Flex"/>
                <a:sym typeface="Google Sans Flex"/>
              </a:rPr>
              <a:t>Coalition Against Insurance Fraud, 2022</a:t>
            </a:r>
            <a:endParaRPr sz="900" b="0" i="0" u="none" strike="noStrike" cap="none">
              <a:solidFill>
                <a:schemeClr val="dk1"/>
              </a:solidFill>
              <a:latin typeface="Google Sans Flex"/>
              <a:ea typeface="Google Sans Flex"/>
              <a:cs typeface="Google Sans Flex"/>
              <a:sym typeface="Google Sans Flex"/>
            </a:endParaRPr>
          </a:p>
        </p:txBody>
      </p:sp>
      <p:sp>
        <p:nvSpPr>
          <p:cNvPr id="82" name="Google Shape;82;p3"/>
          <p:cNvSpPr/>
          <p:nvPr/>
        </p:nvSpPr>
        <p:spPr>
          <a:xfrm>
            <a:off x="548640" y="3108960"/>
            <a:ext cx="420624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txBox="1"/>
          <p:nvPr/>
        </p:nvSpPr>
        <p:spPr>
          <a:xfrm>
            <a:off x="777240" y="3246120"/>
            <a:ext cx="384048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600"/>
              <a:buFont typeface="Arial"/>
              <a:buNone/>
            </a:pPr>
            <a:r>
              <a:rPr lang="en-US" sz="3400" b="1" i="0" u="none" strike="noStrike" cap="none">
                <a:solidFill>
                  <a:schemeClr val="accent3"/>
                </a:solidFill>
                <a:latin typeface="Google Sans Flex"/>
                <a:ea typeface="Google Sans Flex"/>
                <a:cs typeface="Google Sans Flex"/>
                <a:sym typeface="Google Sans Flex"/>
              </a:rPr>
              <a:t>~$45B</a:t>
            </a:r>
            <a:endParaRPr sz="3250" b="0" i="0" u="none" strike="noStrike" cap="none">
              <a:solidFill>
                <a:schemeClr val="dk1"/>
              </a:solidFill>
              <a:latin typeface="Google Sans Flex"/>
              <a:ea typeface="Google Sans Flex"/>
              <a:cs typeface="Google Sans Flex"/>
              <a:sym typeface="Google Sans Flex"/>
            </a:endParaRPr>
          </a:p>
        </p:txBody>
      </p:sp>
      <p:sp>
        <p:nvSpPr>
          <p:cNvPr id="84" name="Google Shape;84;p3"/>
          <p:cNvSpPr txBox="1"/>
          <p:nvPr/>
        </p:nvSpPr>
        <p:spPr>
          <a:xfrm>
            <a:off x="777240" y="3840480"/>
            <a:ext cx="3840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of that in property &amp; casualty insurance</a:t>
            </a:r>
            <a:endParaRPr sz="1250" b="0" i="0" u="none" strike="noStrike" cap="none">
              <a:solidFill>
                <a:schemeClr val="dk1"/>
              </a:solidFill>
              <a:latin typeface="Google Sans Flex"/>
              <a:ea typeface="Google Sans Flex"/>
              <a:cs typeface="Google Sans Flex"/>
              <a:sym typeface="Google Sans Flex"/>
            </a:endParaRPr>
          </a:p>
        </p:txBody>
      </p:sp>
      <p:sp>
        <p:nvSpPr>
          <p:cNvPr id="85" name="Google Shape;85;p3"/>
          <p:cNvSpPr txBox="1"/>
          <p:nvPr/>
        </p:nvSpPr>
        <p:spPr>
          <a:xfrm>
            <a:off x="777240" y="4114800"/>
            <a:ext cx="384048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000"/>
              <a:buFont typeface="Calibri"/>
              <a:buNone/>
            </a:pPr>
            <a:r>
              <a:rPr lang="en-US" sz="900" b="0" i="1" u="none" strike="noStrike" cap="none">
                <a:solidFill>
                  <a:schemeClr val="dk2"/>
                </a:solidFill>
                <a:latin typeface="Google Sans Flex"/>
                <a:ea typeface="Google Sans Flex"/>
                <a:cs typeface="Google Sans Flex"/>
                <a:sym typeface="Google Sans Flex"/>
              </a:rPr>
              <a:t>same study</a:t>
            </a:r>
            <a:endParaRPr sz="900" b="0" i="0" u="none" strike="noStrike" cap="none">
              <a:solidFill>
                <a:schemeClr val="dk1"/>
              </a:solidFill>
              <a:latin typeface="Google Sans Flex"/>
              <a:ea typeface="Google Sans Flex"/>
              <a:cs typeface="Google Sans Flex"/>
              <a:sym typeface="Google Sans Flex"/>
            </a:endParaRPr>
          </a:p>
        </p:txBody>
      </p:sp>
      <p:sp>
        <p:nvSpPr>
          <p:cNvPr id="86" name="Google Shape;86;p3"/>
          <p:cNvSpPr/>
          <p:nvPr/>
        </p:nvSpPr>
        <p:spPr>
          <a:xfrm>
            <a:off x="548640" y="4617720"/>
            <a:ext cx="420624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txBox="1"/>
          <p:nvPr/>
        </p:nvSpPr>
        <p:spPr>
          <a:xfrm>
            <a:off x="777240" y="4754880"/>
            <a:ext cx="384048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600"/>
              <a:buFont typeface="Arial"/>
              <a:buNone/>
            </a:pPr>
            <a:r>
              <a:rPr lang="en-US" sz="3400" b="1" i="0" u="none" strike="noStrike" cap="none">
                <a:solidFill>
                  <a:schemeClr val="accent2"/>
                </a:solidFill>
                <a:latin typeface="Google Sans Flex"/>
                <a:ea typeface="Google Sans Flex"/>
                <a:cs typeface="Google Sans Flex"/>
                <a:sym typeface="Google Sans Flex"/>
              </a:rPr>
              <a:t>$4.5–12.5B</a:t>
            </a:r>
            <a:endParaRPr sz="3250" b="0" i="0" u="none" strike="noStrike" cap="none">
              <a:solidFill>
                <a:schemeClr val="dk1"/>
              </a:solidFill>
              <a:latin typeface="Google Sans Flex"/>
              <a:ea typeface="Google Sans Flex"/>
              <a:cs typeface="Google Sans Flex"/>
              <a:sym typeface="Google Sans Flex"/>
            </a:endParaRPr>
          </a:p>
        </p:txBody>
      </p:sp>
      <p:sp>
        <p:nvSpPr>
          <p:cNvPr id="88" name="Google Shape;88;p3"/>
          <p:cNvSpPr txBox="1"/>
          <p:nvPr/>
        </p:nvSpPr>
        <p:spPr>
          <a:xfrm>
            <a:off x="777240" y="5349240"/>
            <a:ext cx="3840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global home-inspection services market, 2025</a:t>
            </a:r>
            <a:endParaRPr sz="1250" b="0" i="0" u="none" strike="noStrike" cap="none">
              <a:solidFill>
                <a:schemeClr val="dk1"/>
              </a:solidFill>
              <a:latin typeface="Google Sans Flex"/>
              <a:ea typeface="Google Sans Flex"/>
              <a:cs typeface="Google Sans Flex"/>
              <a:sym typeface="Google Sans Flex"/>
            </a:endParaRPr>
          </a:p>
        </p:txBody>
      </p:sp>
      <p:sp>
        <p:nvSpPr>
          <p:cNvPr id="89" name="Google Shape;89;p3"/>
          <p:cNvSpPr txBox="1"/>
          <p:nvPr/>
        </p:nvSpPr>
        <p:spPr>
          <a:xfrm>
            <a:off x="777240" y="5623560"/>
            <a:ext cx="384048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000"/>
              <a:buFont typeface="Calibri"/>
              <a:buNone/>
            </a:pPr>
            <a:r>
              <a:rPr lang="en-US" sz="900" b="0" i="1" u="none" strike="noStrike" cap="none">
                <a:solidFill>
                  <a:schemeClr val="dk2"/>
                </a:solidFill>
                <a:latin typeface="Google Sans Flex"/>
                <a:ea typeface="Google Sans Flex"/>
                <a:cs typeface="Google Sans Flex"/>
                <a:sym typeface="Google Sans Flex"/>
              </a:rPr>
              <a:t>industry market reports</a:t>
            </a:r>
            <a:endParaRPr sz="900" b="0" i="0" u="none" strike="noStrike" cap="none">
              <a:solidFill>
                <a:schemeClr val="dk1"/>
              </a:solidFill>
              <a:latin typeface="Google Sans Flex"/>
              <a:ea typeface="Google Sans Flex"/>
              <a:cs typeface="Google Sans Flex"/>
              <a:sym typeface="Google Sans Flex"/>
            </a:endParaRPr>
          </a:p>
        </p:txBody>
      </p:sp>
      <p:sp>
        <p:nvSpPr>
          <p:cNvPr id="90" name="Google Shape;90;p3"/>
          <p:cNvSpPr/>
          <p:nvPr/>
        </p:nvSpPr>
        <p:spPr>
          <a:xfrm>
            <a:off x="5166360" y="1645920"/>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 name="Google Shape;91;p3" descr="preencoded.png"/>
          <p:cNvPicPr preferRelativeResize="0"/>
          <p:nvPr/>
        </p:nvPicPr>
        <p:blipFill rotWithShape="1">
          <a:blip r:embed="rId3">
            <a:alphaModFix/>
          </a:blip>
          <a:srcRect/>
          <a:stretch/>
        </p:blipFill>
        <p:spPr>
          <a:xfrm>
            <a:off x="5292090" y="1771650"/>
            <a:ext cx="251460" cy="251460"/>
          </a:xfrm>
          <a:prstGeom prst="rect">
            <a:avLst/>
          </a:prstGeom>
          <a:noFill/>
          <a:ln>
            <a:noFill/>
          </a:ln>
        </p:spPr>
      </p:pic>
      <p:sp>
        <p:nvSpPr>
          <p:cNvPr id="92" name="Google Shape;92;p3"/>
          <p:cNvSpPr txBox="1"/>
          <p:nvPr/>
        </p:nvSpPr>
        <p:spPr>
          <a:xfrm>
            <a:off x="5852160" y="1600200"/>
            <a:ext cx="5760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Slow, costly site visits</a:t>
            </a:r>
            <a:endParaRPr sz="1550" b="0" i="0" u="none" strike="noStrike" cap="none">
              <a:solidFill>
                <a:schemeClr val="dk1"/>
              </a:solidFill>
              <a:latin typeface="Google Sans Flex"/>
              <a:ea typeface="Google Sans Flex"/>
              <a:cs typeface="Google Sans Flex"/>
              <a:sym typeface="Google Sans Flex"/>
            </a:endParaRPr>
          </a:p>
        </p:txBody>
      </p:sp>
      <p:sp>
        <p:nvSpPr>
          <p:cNvPr id="93" name="Google Shape;93;p3"/>
          <p:cNvSpPr txBox="1"/>
          <p:nvPr/>
        </p:nvSpPr>
        <p:spPr>
          <a:xfrm>
            <a:off x="5852160" y="1938528"/>
            <a:ext cx="5760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Lenders and insurers wait days for an inspector; remote cases go unchecked.</a:t>
            </a:r>
            <a:endParaRPr sz="1250" b="0" i="0" u="none" strike="noStrike" cap="none">
              <a:solidFill>
                <a:schemeClr val="dk1"/>
              </a:solidFill>
              <a:latin typeface="Google Sans Flex"/>
              <a:ea typeface="Google Sans Flex"/>
              <a:cs typeface="Google Sans Flex"/>
              <a:sym typeface="Google Sans Flex"/>
            </a:endParaRPr>
          </a:p>
        </p:txBody>
      </p:sp>
      <p:sp>
        <p:nvSpPr>
          <p:cNvPr id="94" name="Google Shape;94;p3"/>
          <p:cNvSpPr/>
          <p:nvPr/>
        </p:nvSpPr>
        <p:spPr>
          <a:xfrm>
            <a:off x="5166360" y="2551176"/>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3" descr="preencoded.png"/>
          <p:cNvPicPr preferRelativeResize="0"/>
          <p:nvPr/>
        </p:nvPicPr>
        <p:blipFill rotWithShape="1">
          <a:blip r:embed="rId4">
            <a:alphaModFix/>
          </a:blip>
          <a:srcRect/>
          <a:stretch/>
        </p:blipFill>
        <p:spPr>
          <a:xfrm>
            <a:off x="5292090" y="2676906"/>
            <a:ext cx="251460" cy="251460"/>
          </a:xfrm>
          <a:prstGeom prst="rect">
            <a:avLst/>
          </a:prstGeom>
          <a:noFill/>
          <a:ln>
            <a:noFill/>
          </a:ln>
        </p:spPr>
      </p:pic>
      <p:sp>
        <p:nvSpPr>
          <p:cNvPr id="96" name="Google Shape;96;p3"/>
          <p:cNvSpPr txBox="1"/>
          <p:nvPr/>
        </p:nvSpPr>
        <p:spPr>
          <a:xfrm>
            <a:off x="5852160" y="2505456"/>
            <a:ext cx="5760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Unverifiable self-reported photos</a:t>
            </a:r>
            <a:endParaRPr sz="1550" b="0" i="0" u="none" strike="noStrike" cap="none">
              <a:solidFill>
                <a:schemeClr val="dk1"/>
              </a:solidFill>
              <a:latin typeface="Google Sans Flex"/>
              <a:ea typeface="Google Sans Flex"/>
              <a:cs typeface="Google Sans Flex"/>
              <a:sym typeface="Google Sans Flex"/>
            </a:endParaRPr>
          </a:p>
        </p:txBody>
      </p:sp>
      <p:sp>
        <p:nvSpPr>
          <p:cNvPr id="97" name="Google Shape;97;p3"/>
          <p:cNvSpPr txBox="1"/>
          <p:nvPr/>
        </p:nvSpPr>
        <p:spPr>
          <a:xfrm>
            <a:off x="5852160" y="2843784"/>
            <a:ext cx="5760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Photos get reused, edited, shot off a screen or taken at another property.</a:t>
            </a:r>
            <a:endParaRPr sz="1250" b="0" i="0" u="none" strike="noStrike" cap="none">
              <a:solidFill>
                <a:schemeClr val="dk1"/>
              </a:solidFill>
              <a:latin typeface="Google Sans Flex"/>
              <a:ea typeface="Google Sans Flex"/>
              <a:cs typeface="Google Sans Flex"/>
              <a:sym typeface="Google Sans Flex"/>
            </a:endParaRPr>
          </a:p>
        </p:txBody>
      </p:sp>
      <p:sp>
        <p:nvSpPr>
          <p:cNvPr id="98" name="Google Shape;98;p3"/>
          <p:cNvSpPr/>
          <p:nvPr/>
        </p:nvSpPr>
        <p:spPr>
          <a:xfrm>
            <a:off x="5166360" y="3456432"/>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 name="Google Shape;99;p3" descr="preencoded.png"/>
          <p:cNvPicPr preferRelativeResize="0"/>
          <p:nvPr/>
        </p:nvPicPr>
        <p:blipFill rotWithShape="1">
          <a:blip r:embed="rId5">
            <a:alphaModFix/>
          </a:blip>
          <a:srcRect/>
          <a:stretch/>
        </p:blipFill>
        <p:spPr>
          <a:xfrm>
            <a:off x="5292090" y="3582162"/>
            <a:ext cx="251460" cy="251460"/>
          </a:xfrm>
          <a:prstGeom prst="rect">
            <a:avLst/>
          </a:prstGeom>
          <a:noFill/>
          <a:ln>
            <a:noFill/>
          </a:ln>
        </p:spPr>
      </p:pic>
      <p:sp>
        <p:nvSpPr>
          <p:cNvPr id="100" name="Google Shape;100;p3"/>
          <p:cNvSpPr txBox="1"/>
          <p:nvPr/>
        </p:nvSpPr>
        <p:spPr>
          <a:xfrm>
            <a:off x="5852160" y="3410712"/>
            <a:ext cx="5760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No proof of what was inspected</a:t>
            </a:r>
            <a:endParaRPr sz="1550" b="0" i="0" u="none" strike="noStrike" cap="none">
              <a:solidFill>
                <a:schemeClr val="dk1"/>
              </a:solidFill>
              <a:latin typeface="Google Sans Flex"/>
              <a:ea typeface="Google Sans Flex"/>
              <a:cs typeface="Google Sans Flex"/>
              <a:sym typeface="Google Sans Flex"/>
            </a:endParaRPr>
          </a:p>
        </p:txBody>
      </p:sp>
      <p:sp>
        <p:nvSpPr>
          <p:cNvPr id="101" name="Google Shape;101;p3"/>
          <p:cNvSpPr txBox="1"/>
          <p:nvPr/>
        </p:nvSpPr>
        <p:spPr>
          <a:xfrm>
            <a:off x="5852160" y="3749040"/>
            <a:ext cx="5760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Nobody can tell which walls or ceilings a remote inspection actually covered.</a:t>
            </a:r>
            <a:endParaRPr sz="1250" b="0" i="0" u="none" strike="noStrike" cap="none">
              <a:solidFill>
                <a:schemeClr val="dk1"/>
              </a:solidFill>
              <a:latin typeface="Google Sans Flex"/>
              <a:ea typeface="Google Sans Flex"/>
              <a:cs typeface="Google Sans Flex"/>
              <a:sym typeface="Google Sans Flex"/>
            </a:endParaRPr>
          </a:p>
        </p:txBody>
      </p:sp>
      <p:sp>
        <p:nvSpPr>
          <p:cNvPr id="102" name="Google Shape;102;p3"/>
          <p:cNvSpPr/>
          <p:nvPr/>
        </p:nvSpPr>
        <p:spPr>
          <a:xfrm>
            <a:off x="5166360" y="4361688"/>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 name="Google Shape;103;p3" descr="preencoded.png"/>
          <p:cNvPicPr preferRelativeResize="0"/>
          <p:nvPr/>
        </p:nvPicPr>
        <p:blipFill rotWithShape="1">
          <a:blip r:embed="rId6">
            <a:alphaModFix/>
          </a:blip>
          <a:srcRect/>
          <a:stretch/>
        </p:blipFill>
        <p:spPr>
          <a:xfrm>
            <a:off x="5292090" y="4487418"/>
            <a:ext cx="251460" cy="251460"/>
          </a:xfrm>
          <a:prstGeom prst="rect">
            <a:avLst/>
          </a:prstGeom>
          <a:noFill/>
          <a:ln>
            <a:noFill/>
          </a:ln>
        </p:spPr>
      </p:pic>
      <p:sp>
        <p:nvSpPr>
          <p:cNvPr id="104" name="Google Shape;104;p3"/>
          <p:cNvSpPr txBox="1"/>
          <p:nvPr/>
        </p:nvSpPr>
        <p:spPr>
          <a:xfrm>
            <a:off x="5852160" y="4315968"/>
            <a:ext cx="5760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Subjective, inconsistent grading</a:t>
            </a:r>
            <a:endParaRPr sz="1550" b="0" i="0" u="none" strike="noStrike" cap="none">
              <a:solidFill>
                <a:schemeClr val="dk1"/>
              </a:solidFill>
              <a:latin typeface="Google Sans Flex"/>
              <a:ea typeface="Google Sans Flex"/>
              <a:cs typeface="Google Sans Flex"/>
              <a:sym typeface="Google Sans Flex"/>
            </a:endParaRPr>
          </a:p>
        </p:txBody>
      </p:sp>
      <p:sp>
        <p:nvSpPr>
          <p:cNvPr id="105" name="Google Shape;105;p3"/>
          <p:cNvSpPr txBox="1"/>
          <p:nvPr/>
        </p:nvSpPr>
        <p:spPr>
          <a:xfrm>
            <a:off x="5852160" y="4654296"/>
            <a:ext cx="5760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Two inspectors grade the same room differently, and the reasons go unrecorded.</a:t>
            </a:r>
            <a:endParaRPr sz="1250" b="0" i="0" u="none" strike="noStrike" cap="none">
              <a:solidFill>
                <a:schemeClr val="dk1"/>
              </a:solidFill>
              <a:latin typeface="Google Sans Flex"/>
              <a:ea typeface="Google Sans Flex"/>
              <a:cs typeface="Google Sans Flex"/>
              <a:sym typeface="Google Sans Flex"/>
            </a:endParaRPr>
          </a:p>
        </p:txBody>
      </p:sp>
      <p:sp>
        <p:nvSpPr>
          <p:cNvPr id="106" name="Google Shape;106;p3"/>
          <p:cNvSpPr/>
          <p:nvPr/>
        </p:nvSpPr>
        <p:spPr>
          <a:xfrm>
            <a:off x="5166360" y="5266944"/>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3" descr="preencoded.png"/>
          <p:cNvPicPr preferRelativeResize="0"/>
          <p:nvPr/>
        </p:nvPicPr>
        <p:blipFill rotWithShape="1">
          <a:blip r:embed="rId7">
            <a:alphaModFix/>
          </a:blip>
          <a:srcRect/>
          <a:stretch/>
        </p:blipFill>
        <p:spPr>
          <a:xfrm>
            <a:off x="5292090" y="5392674"/>
            <a:ext cx="251460" cy="251460"/>
          </a:xfrm>
          <a:prstGeom prst="rect">
            <a:avLst/>
          </a:prstGeom>
          <a:noFill/>
          <a:ln>
            <a:noFill/>
          </a:ln>
        </p:spPr>
      </p:pic>
      <p:sp>
        <p:nvSpPr>
          <p:cNvPr id="108" name="Google Shape;108;p3"/>
          <p:cNvSpPr txBox="1"/>
          <p:nvPr/>
        </p:nvSpPr>
        <p:spPr>
          <a:xfrm>
            <a:off x="5852160" y="5221224"/>
            <a:ext cx="57607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Collateral overvaluation</a:t>
            </a:r>
            <a:endParaRPr sz="1550" b="0" i="0" u="none" strike="noStrike" cap="none">
              <a:solidFill>
                <a:schemeClr val="dk1"/>
              </a:solidFill>
              <a:latin typeface="Google Sans Flex"/>
              <a:ea typeface="Google Sans Flex"/>
              <a:cs typeface="Google Sans Flex"/>
              <a:sym typeface="Google Sans Flex"/>
            </a:endParaRPr>
          </a:p>
        </p:txBody>
      </p:sp>
      <p:sp>
        <p:nvSpPr>
          <p:cNvPr id="109" name="Google Shape;109;p3"/>
          <p:cNvSpPr txBox="1"/>
          <p:nvPr/>
        </p:nvSpPr>
        <p:spPr>
          <a:xfrm>
            <a:off x="5852160" y="5559552"/>
            <a:ext cx="5760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Regulators such as the RBI have flagged inflated valuations in housing-finance fraud.</a:t>
            </a:r>
            <a:endParaRPr sz="1250" b="0" i="0" u="none" strike="noStrike" cap="none">
              <a:solidFill>
                <a:schemeClr val="dk1"/>
              </a:solidFill>
              <a:latin typeface="Google Sans Flex"/>
              <a:ea typeface="Google Sans Flex"/>
              <a:cs typeface="Google Sans Flex"/>
              <a:sym typeface="Google Sans Flex"/>
            </a:endParaRPr>
          </a:p>
        </p:txBody>
      </p:sp>
      <p:sp>
        <p:nvSpPr>
          <p:cNvPr id="110" name="Google Shape;110;p3"/>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3</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WHO IT SERVES</a:t>
            </a:r>
            <a:endParaRPr sz="1150"/>
          </a:p>
        </p:txBody>
      </p:sp>
      <p:sp>
        <p:nvSpPr>
          <p:cNvPr id="117" name="Google Shape;117;p4"/>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One inspection record, five BFSI decision-makers</a:t>
            </a:r>
            <a:endParaRPr sz="2850"/>
          </a:p>
        </p:txBody>
      </p:sp>
      <p:sp>
        <p:nvSpPr>
          <p:cNvPr id="118" name="Google Shape;118;p4"/>
          <p:cNvSpPr/>
          <p:nvPr/>
        </p:nvSpPr>
        <p:spPr>
          <a:xfrm>
            <a:off x="548640" y="1600200"/>
            <a:ext cx="2103120" cy="3657600"/>
          </a:xfrm>
          <a:prstGeom prst="roundRect">
            <a:avLst>
              <a:gd name="adj" fmla="val 521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777240" y="1874520"/>
            <a:ext cx="640080" cy="64008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4" descr="preencoded.png"/>
          <p:cNvPicPr preferRelativeResize="0"/>
          <p:nvPr/>
        </p:nvPicPr>
        <p:blipFill rotWithShape="1">
          <a:blip r:embed="rId3">
            <a:alphaModFix/>
          </a:blip>
          <a:srcRect/>
          <a:stretch/>
        </p:blipFill>
        <p:spPr>
          <a:xfrm>
            <a:off x="937260" y="2034540"/>
            <a:ext cx="320040" cy="320040"/>
          </a:xfrm>
          <a:prstGeom prst="rect">
            <a:avLst/>
          </a:prstGeom>
          <a:noFill/>
          <a:ln>
            <a:noFill/>
          </a:ln>
        </p:spPr>
      </p:pic>
      <p:sp>
        <p:nvSpPr>
          <p:cNvPr id="121" name="Google Shape;121;p4"/>
          <p:cNvSpPr txBox="1"/>
          <p:nvPr/>
        </p:nvSpPr>
        <p:spPr>
          <a:xfrm>
            <a:off x="777240" y="2697480"/>
            <a:ext cx="1691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Mortgage lenders, HFCs &amp; NBFCs</a:t>
            </a:r>
            <a:endParaRPr sz="1450" b="0" i="0" u="none" strike="noStrike" cap="none">
              <a:solidFill>
                <a:schemeClr val="dk1"/>
              </a:solidFill>
              <a:latin typeface="Google Sans Flex"/>
              <a:ea typeface="Google Sans Flex"/>
              <a:cs typeface="Google Sans Flex"/>
              <a:sym typeface="Google Sans Flex"/>
            </a:endParaRPr>
          </a:p>
        </p:txBody>
      </p:sp>
      <p:sp>
        <p:nvSpPr>
          <p:cNvPr id="122" name="Google Shape;122;p4"/>
          <p:cNvSpPr txBox="1"/>
          <p:nvPr/>
        </p:nvSpPr>
        <p:spPr>
          <a:xfrm>
            <a:off x="777240" y="3474720"/>
            <a:ext cx="169164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Collateral condition grade, valuation impact %, repair retention and a REFER flag before disbursal and over the loan's life.</a:t>
            </a:r>
            <a:endParaRPr sz="1250" b="0" i="0" u="none" strike="noStrike" cap="none">
              <a:solidFill>
                <a:schemeClr val="dk1"/>
              </a:solidFill>
              <a:latin typeface="Google Sans Flex"/>
              <a:ea typeface="Google Sans Flex"/>
              <a:cs typeface="Google Sans Flex"/>
              <a:sym typeface="Google Sans Flex"/>
            </a:endParaRPr>
          </a:p>
        </p:txBody>
      </p:sp>
      <p:sp>
        <p:nvSpPr>
          <p:cNvPr id="123" name="Google Shape;123;p4"/>
          <p:cNvSpPr/>
          <p:nvPr/>
        </p:nvSpPr>
        <p:spPr>
          <a:xfrm>
            <a:off x="2807208" y="1600200"/>
            <a:ext cx="2103120" cy="3657600"/>
          </a:xfrm>
          <a:prstGeom prst="roundRect">
            <a:avLst>
              <a:gd name="adj" fmla="val 521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3035808" y="1874520"/>
            <a:ext cx="640080" cy="64008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4" descr="preencoded.png"/>
          <p:cNvPicPr preferRelativeResize="0"/>
          <p:nvPr/>
        </p:nvPicPr>
        <p:blipFill rotWithShape="1">
          <a:blip r:embed="rId4">
            <a:alphaModFix/>
          </a:blip>
          <a:srcRect/>
          <a:stretch/>
        </p:blipFill>
        <p:spPr>
          <a:xfrm>
            <a:off x="3195828" y="2034540"/>
            <a:ext cx="320040" cy="320040"/>
          </a:xfrm>
          <a:prstGeom prst="rect">
            <a:avLst/>
          </a:prstGeom>
          <a:noFill/>
          <a:ln>
            <a:noFill/>
          </a:ln>
        </p:spPr>
      </p:pic>
      <p:sp>
        <p:nvSpPr>
          <p:cNvPr id="126" name="Google Shape;126;p4"/>
          <p:cNvSpPr txBox="1"/>
          <p:nvPr/>
        </p:nvSpPr>
        <p:spPr>
          <a:xfrm>
            <a:off x="3035808" y="2697480"/>
            <a:ext cx="1691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Insurers: underwriting</a:t>
            </a:r>
            <a:endParaRPr sz="1450" b="0" i="0" u="none" strike="noStrike" cap="none">
              <a:solidFill>
                <a:schemeClr val="dk1"/>
              </a:solidFill>
              <a:latin typeface="Google Sans Flex"/>
              <a:ea typeface="Google Sans Flex"/>
              <a:cs typeface="Google Sans Flex"/>
              <a:sym typeface="Google Sans Flex"/>
            </a:endParaRPr>
          </a:p>
        </p:txBody>
      </p:sp>
      <p:sp>
        <p:nvSpPr>
          <p:cNvPr id="127" name="Google Shape;127;p4"/>
          <p:cNvSpPr txBox="1"/>
          <p:nvPr/>
        </p:nvSpPr>
        <p:spPr>
          <a:xfrm>
            <a:off x="3035808" y="3474720"/>
            <a:ext cx="169164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Insurance perils, risk level and a premium-loading suggestion at quote and renewal, without a site visit for low-risk homes.</a:t>
            </a:r>
            <a:endParaRPr sz="1250" b="0" i="0" u="none" strike="noStrike" cap="none">
              <a:solidFill>
                <a:schemeClr val="dk1"/>
              </a:solidFill>
              <a:latin typeface="Google Sans Flex"/>
              <a:ea typeface="Google Sans Flex"/>
              <a:cs typeface="Google Sans Flex"/>
              <a:sym typeface="Google Sans Flex"/>
            </a:endParaRPr>
          </a:p>
        </p:txBody>
      </p:sp>
      <p:sp>
        <p:nvSpPr>
          <p:cNvPr id="128" name="Google Shape;128;p4"/>
          <p:cNvSpPr/>
          <p:nvPr/>
        </p:nvSpPr>
        <p:spPr>
          <a:xfrm>
            <a:off x="5065776" y="1600200"/>
            <a:ext cx="2103120" cy="3657600"/>
          </a:xfrm>
          <a:prstGeom prst="roundRect">
            <a:avLst>
              <a:gd name="adj" fmla="val 521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5294376" y="1874520"/>
            <a:ext cx="640080" cy="64008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0" name="Google Shape;130;p4" descr="preencoded.png"/>
          <p:cNvPicPr preferRelativeResize="0"/>
          <p:nvPr/>
        </p:nvPicPr>
        <p:blipFill rotWithShape="1">
          <a:blip r:embed="rId5">
            <a:alphaModFix/>
          </a:blip>
          <a:srcRect/>
          <a:stretch/>
        </p:blipFill>
        <p:spPr>
          <a:xfrm>
            <a:off x="5454396" y="2034540"/>
            <a:ext cx="320040" cy="320040"/>
          </a:xfrm>
          <a:prstGeom prst="rect">
            <a:avLst/>
          </a:prstGeom>
          <a:noFill/>
          <a:ln>
            <a:noFill/>
          </a:ln>
        </p:spPr>
      </p:pic>
      <p:sp>
        <p:nvSpPr>
          <p:cNvPr id="131" name="Google Shape;131;p4"/>
          <p:cNvSpPr txBox="1"/>
          <p:nvPr/>
        </p:nvSpPr>
        <p:spPr>
          <a:xfrm>
            <a:off x="5294376" y="2697480"/>
            <a:ext cx="1691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Insurers: claims</a:t>
            </a:r>
            <a:endParaRPr sz="1450" b="0" i="0" u="none" strike="noStrike" cap="none">
              <a:solidFill>
                <a:schemeClr val="dk1"/>
              </a:solidFill>
              <a:latin typeface="Google Sans Flex"/>
              <a:ea typeface="Google Sans Flex"/>
              <a:cs typeface="Google Sans Flex"/>
              <a:sym typeface="Google Sans Flex"/>
            </a:endParaRPr>
          </a:p>
        </p:txBody>
      </p:sp>
      <p:sp>
        <p:nvSpPr>
          <p:cNvPr id="132" name="Google Shape;132;p4"/>
          <p:cNvSpPr txBox="1"/>
          <p:nvPr/>
        </p:nvSpPr>
        <p:spPr>
          <a:xfrm>
            <a:off x="5294376" y="3474720"/>
            <a:ext cx="169164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Claim-ready evidence with an indicative repair-cost range, plus recycled-video and screen or AI-footage detection.</a:t>
            </a:r>
            <a:endParaRPr sz="1250" b="0" i="0" u="none" strike="noStrike" cap="none">
              <a:solidFill>
                <a:schemeClr val="dk1"/>
              </a:solidFill>
              <a:latin typeface="Google Sans Flex"/>
              <a:ea typeface="Google Sans Flex"/>
              <a:cs typeface="Google Sans Flex"/>
              <a:sym typeface="Google Sans Flex"/>
            </a:endParaRPr>
          </a:p>
        </p:txBody>
      </p:sp>
      <p:sp>
        <p:nvSpPr>
          <p:cNvPr id="133" name="Google Shape;133;p4"/>
          <p:cNvSpPr/>
          <p:nvPr/>
        </p:nvSpPr>
        <p:spPr>
          <a:xfrm>
            <a:off x="7324344" y="1600200"/>
            <a:ext cx="2103120" cy="3657600"/>
          </a:xfrm>
          <a:prstGeom prst="roundRect">
            <a:avLst>
              <a:gd name="adj" fmla="val 521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7552944" y="1874520"/>
            <a:ext cx="640080" cy="64008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 name="Google Shape;135;p4" descr="preencoded.png"/>
          <p:cNvPicPr preferRelativeResize="0"/>
          <p:nvPr/>
        </p:nvPicPr>
        <p:blipFill rotWithShape="1">
          <a:blip r:embed="rId6">
            <a:alphaModFix/>
          </a:blip>
          <a:srcRect/>
          <a:stretch/>
        </p:blipFill>
        <p:spPr>
          <a:xfrm>
            <a:off x="7712964" y="2034540"/>
            <a:ext cx="320040" cy="320040"/>
          </a:xfrm>
          <a:prstGeom prst="rect">
            <a:avLst/>
          </a:prstGeom>
          <a:noFill/>
          <a:ln>
            <a:noFill/>
          </a:ln>
        </p:spPr>
      </p:pic>
      <p:sp>
        <p:nvSpPr>
          <p:cNvPr id="136" name="Google Shape;136;p4"/>
          <p:cNvSpPr txBox="1"/>
          <p:nvPr/>
        </p:nvSpPr>
        <p:spPr>
          <a:xfrm>
            <a:off x="7552944" y="2697480"/>
            <a:ext cx="1691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Inspectors &amp; valuers</a:t>
            </a:r>
            <a:endParaRPr sz="1450" b="0" i="0" u="none" strike="noStrike" cap="none">
              <a:solidFill>
                <a:schemeClr val="dk1"/>
              </a:solidFill>
              <a:latin typeface="Google Sans Flex"/>
              <a:ea typeface="Google Sans Flex"/>
              <a:cs typeface="Google Sans Flex"/>
              <a:sym typeface="Google Sans Flex"/>
            </a:endParaRPr>
          </a:p>
        </p:txBody>
      </p:sp>
      <p:sp>
        <p:nvSpPr>
          <p:cNvPr id="137" name="Google Shape;137;p4"/>
          <p:cNvSpPr txBox="1"/>
          <p:nvPr/>
        </p:nvSpPr>
        <p:spPr>
          <a:xfrm>
            <a:off x="7552944" y="3474720"/>
            <a:ext cx="169164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The AI drafts the report and the coverage map shows what to film again, so one inspector can supervise many remote inspections.</a:t>
            </a:r>
            <a:endParaRPr sz="1250" b="0" i="0" u="none" strike="noStrike" cap="none">
              <a:solidFill>
                <a:schemeClr val="dk1"/>
              </a:solidFill>
              <a:latin typeface="Google Sans Flex"/>
              <a:ea typeface="Google Sans Flex"/>
              <a:cs typeface="Google Sans Flex"/>
              <a:sym typeface="Google Sans Flex"/>
            </a:endParaRPr>
          </a:p>
        </p:txBody>
      </p:sp>
      <p:sp>
        <p:nvSpPr>
          <p:cNvPr id="138" name="Google Shape;138;p4"/>
          <p:cNvSpPr/>
          <p:nvPr/>
        </p:nvSpPr>
        <p:spPr>
          <a:xfrm>
            <a:off x="9582912" y="1600200"/>
            <a:ext cx="2103120" cy="3657600"/>
          </a:xfrm>
          <a:prstGeom prst="roundRect">
            <a:avLst>
              <a:gd name="adj" fmla="val 521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9811512" y="1874520"/>
            <a:ext cx="640080" cy="64008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 name="Google Shape;140;p4" descr="preencoded.png"/>
          <p:cNvPicPr preferRelativeResize="0"/>
          <p:nvPr/>
        </p:nvPicPr>
        <p:blipFill rotWithShape="1">
          <a:blip r:embed="rId7">
            <a:alphaModFix/>
          </a:blip>
          <a:srcRect/>
          <a:stretch/>
        </p:blipFill>
        <p:spPr>
          <a:xfrm>
            <a:off x="9971532" y="2034540"/>
            <a:ext cx="320040" cy="320040"/>
          </a:xfrm>
          <a:prstGeom prst="rect">
            <a:avLst/>
          </a:prstGeom>
          <a:noFill/>
          <a:ln>
            <a:noFill/>
          </a:ln>
        </p:spPr>
      </p:pic>
      <p:sp>
        <p:nvSpPr>
          <p:cNvPr id="141" name="Google Shape;141;p4"/>
          <p:cNvSpPr txBox="1"/>
          <p:nvPr/>
        </p:nvSpPr>
        <p:spPr>
          <a:xfrm>
            <a:off x="9811512" y="2697480"/>
            <a:ext cx="16916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Real estate, owners &amp; buyers</a:t>
            </a:r>
            <a:endParaRPr sz="1450" b="0" i="0" u="none" strike="noStrike" cap="none">
              <a:solidFill>
                <a:schemeClr val="dk1"/>
              </a:solidFill>
              <a:latin typeface="Google Sans Flex"/>
              <a:ea typeface="Google Sans Flex"/>
              <a:cs typeface="Google Sans Flex"/>
              <a:sym typeface="Google Sans Flex"/>
            </a:endParaRPr>
          </a:p>
        </p:txBody>
      </p:sp>
      <p:sp>
        <p:nvSpPr>
          <p:cNvPr id="142" name="Google Shape;142;p4"/>
          <p:cNvSpPr txBox="1"/>
          <p:nvPr/>
        </p:nvSpPr>
        <p:spPr>
          <a:xfrm>
            <a:off x="9811512" y="3474720"/>
            <a:ext cx="1691640" cy="1737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A transparent condition report, 3D model and floor plan, with fraud-resistant evidence for listings and sales.</a:t>
            </a:r>
            <a:endParaRPr sz="1250" b="0" i="0" u="none" strike="noStrike" cap="none">
              <a:solidFill>
                <a:schemeClr val="dk1"/>
              </a:solidFill>
              <a:latin typeface="Google Sans Flex"/>
              <a:ea typeface="Google Sans Flex"/>
              <a:cs typeface="Google Sans Flex"/>
              <a:sym typeface="Google Sans Flex"/>
            </a:endParaRPr>
          </a:p>
        </p:txBody>
      </p:sp>
      <p:sp>
        <p:nvSpPr>
          <p:cNvPr id="143" name="Google Shape;143;p4"/>
          <p:cNvSpPr/>
          <p:nvPr/>
        </p:nvSpPr>
        <p:spPr>
          <a:xfrm>
            <a:off x="548640" y="5440680"/>
            <a:ext cx="11109960" cy="685800"/>
          </a:xfrm>
          <a:prstGeom prst="roundRect">
            <a:avLst>
              <a:gd name="adj" fmla="val 16000"/>
            </a:avLst>
          </a:prstGeom>
          <a:solidFill>
            <a:srgbClr val="1A1F45"/>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txBox="1"/>
          <p:nvPr/>
        </p:nvSpPr>
        <p:spPr>
          <a:xfrm>
            <a:off x="777240" y="5440680"/>
            <a:ext cx="1069848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Same evidence, one record: every inspection is a JSON record behind a REST API that each team's own system can use</a:t>
            </a:r>
            <a:endParaRPr sz="1350" b="0" i="0" u="none" strike="noStrike" cap="none">
              <a:solidFill>
                <a:schemeClr val="dk1"/>
              </a:solidFill>
              <a:latin typeface="Google Sans Flex"/>
              <a:ea typeface="Google Sans Flex"/>
              <a:cs typeface="Google Sans Flex"/>
              <a:sym typeface="Google Sans Flex"/>
            </a:endParaRPr>
          </a:p>
        </p:txBody>
      </p:sp>
      <p:sp>
        <p:nvSpPr>
          <p:cNvPr id="145" name="Google Shape;145;p4"/>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4</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THE SOLUTION</a:t>
            </a:r>
            <a:endParaRPr sz="1150"/>
          </a:p>
        </p:txBody>
      </p:sp>
      <p:sp>
        <p:nvSpPr>
          <p:cNvPr id="152" name="Google Shape;152;p5"/>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One upload gives you a complete, explainable risk file</a:t>
            </a:r>
            <a:endParaRPr sz="2850"/>
          </a:p>
        </p:txBody>
      </p:sp>
      <p:sp>
        <p:nvSpPr>
          <p:cNvPr id="153" name="Google Shape;153;p5"/>
          <p:cNvSpPr/>
          <p:nvPr/>
        </p:nvSpPr>
        <p:spPr>
          <a:xfrm>
            <a:off x="512064" y="1563787"/>
            <a:ext cx="6382512" cy="4507667"/>
          </a:xfrm>
          <a:prstGeom prst="roundRect">
            <a:avLst>
              <a:gd name="adj" fmla="val 2029"/>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4" name="Google Shape;154;p5" descr="inspection-result-screenshot"/>
          <p:cNvPicPr preferRelativeResize="0"/>
          <p:nvPr/>
        </p:nvPicPr>
        <p:blipFill rotWithShape="1">
          <a:blip r:embed="rId3">
            <a:alphaModFix/>
          </a:blip>
          <a:srcRect/>
          <a:stretch/>
        </p:blipFill>
        <p:spPr>
          <a:xfrm>
            <a:off x="548640" y="1600363"/>
            <a:ext cx="6309360" cy="4434515"/>
          </a:xfrm>
          <a:prstGeom prst="rect">
            <a:avLst/>
          </a:prstGeom>
          <a:noFill/>
          <a:ln>
            <a:noFill/>
          </a:ln>
        </p:spPr>
      </p:pic>
      <p:sp>
        <p:nvSpPr>
          <p:cNvPr id="155" name="Google Shape;155;p5"/>
          <p:cNvSpPr txBox="1"/>
          <p:nvPr/>
        </p:nvSpPr>
        <p:spPr>
          <a:xfrm>
            <a:off x="548640" y="6080760"/>
            <a:ext cx="63093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1" u="none" strike="noStrike" cap="none">
                <a:solidFill>
                  <a:schemeClr val="dk2"/>
                </a:solidFill>
                <a:latin typeface="Google Sans Flex"/>
                <a:ea typeface="Google Sans Flex"/>
                <a:cs typeface="Google Sans Flex"/>
                <a:sym typeface="Google Sans Flex"/>
              </a:rPr>
              <a:t>Live app: walkthrough report with the 3D model, findings, condition grade and underwriting decision</a:t>
            </a:r>
            <a:endParaRPr sz="1000" b="0" i="0" u="none" strike="noStrike" cap="none">
              <a:solidFill>
                <a:schemeClr val="dk1"/>
              </a:solidFill>
              <a:latin typeface="Google Sans Flex"/>
              <a:ea typeface="Google Sans Flex"/>
              <a:cs typeface="Google Sans Flex"/>
              <a:sym typeface="Google Sans Flex"/>
            </a:endParaRPr>
          </a:p>
        </p:txBody>
      </p:sp>
      <p:sp>
        <p:nvSpPr>
          <p:cNvPr id="156" name="Google Shape;156;p5"/>
          <p:cNvSpPr/>
          <p:nvPr/>
        </p:nvSpPr>
        <p:spPr>
          <a:xfrm>
            <a:off x="7269480" y="1600200"/>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7" name="Google Shape;157;p5" descr="preencoded.png"/>
          <p:cNvPicPr preferRelativeResize="0"/>
          <p:nvPr/>
        </p:nvPicPr>
        <p:blipFill rotWithShape="1">
          <a:blip r:embed="rId4">
            <a:alphaModFix/>
          </a:blip>
          <a:srcRect/>
          <a:stretch/>
        </p:blipFill>
        <p:spPr>
          <a:xfrm>
            <a:off x="7356348" y="1687068"/>
            <a:ext cx="173736" cy="173736"/>
          </a:xfrm>
          <a:prstGeom prst="rect">
            <a:avLst/>
          </a:prstGeom>
          <a:noFill/>
          <a:ln>
            <a:noFill/>
          </a:ln>
        </p:spPr>
      </p:pic>
      <p:sp>
        <p:nvSpPr>
          <p:cNvPr id="158" name="Google Shape;158;p5"/>
          <p:cNvSpPr txBox="1"/>
          <p:nvPr/>
        </p:nvSpPr>
        <p:spPr>
          <a:xfrm>
            <a:off x="7772400" y="1600200"/>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Defects localised and verified</a:t>
            </a:r>
            <a:endParaRPr sz="1350" b="0" i="0" u="none" strike="noStrike" cap="none">
              <a:solidFill>
                <a:schemeClr val="dk1"/>
              </a:solidFill>
              <a:latin typeface="Google Sans Flex"/>
              <a:ea typeface="Google Sans Flex"/>
              <a:cs typeface="Google Sans Flex"/>
              <a:sym typeface="Google Sans Flex"/>
            </a:endParaRPr>
          </a:p>
        </p:txBody>
      </p:sp>
      <p:sp>
        <p:nvSpPr>
          <p:cNvPr id="159" name="Google Shape;159;p5"/>
          <p:cNvSpPr/>
          <p:nvPr/>
        </p:nvSpPr>
        <p:spPr>
          <a:xfrm>
            <a:off x="7269480" y="2048256"/>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0" name="Google Shape;160;p5" descr="preencoded.png"/>
          <p:cNvPicPr preferRelativeResize="0"/>
          <p:nvPr/>
        </p:nvPicPr>
        <p:blipFill rotWithShape="1">
          <a:blip r:embed="rId5">
            <a:alphaModFix/>
          </a:blip>
          <a:srcRect/>
          <a:stretch/>
        </p:blipFill>
        <p:spPr>
          <a:xfrm>
            <a:off x="7356348" y="2135124"/>
            <a:ext cx="173736" cy="173736"/>
          </a:xfrm>
          <a:prstGeom prst="rect">
            <a:avLst/>
          </a:prstGeom>
          <a:noFill/>
          <a:ln>
            <a:noFill/>
          </a:ln>
        </p:spPr>
      </p:pic>
      <p:sp>
        <p:nvSpPr>
          <p:cNvPr id="161" name="Google Shape;161;p5"/>
          <p:cNvSpPr txBox="1"/>
          <p:nvPr/>
        </p:nvSpPr>
        <p:spPr>
          <a:xfrm>
            <a:off x="7772400" y="2048256"/>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Condition grade A–E (0–100 score)</a:t>
            </a:r>
            <a:endParaRPr sz="1350" b="0" i="0" u="none" strike="noStrike" cap="none">
              <a:solidFill>
                <a:schemeClr val="dk1"/>
              </a:solidFill>
              <a:latin typeface="Google Sans Flex"/>
              <a:ea typeface="Google Sans Flex"/>
              <a:cs typeface="Google Sans Flex"/>
              <a:sym typeface="Google Sans Flex"/>
            </a:endParaRPr>
          </a:p>
        </p:txBody>
      </p:sp>
      <p:sp>
        <p:nvSpPr>
          <p:cNvPr id="162" name="Google Shape;162;p5"/>
          <p:cNvSpPr/>
          <p:nvPr/>
        </p:nvSpPr>
        <p:spPr>
          <a:xfrm>
            <a:off x="7269480" y="2496312"/>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 name="Google Shape;163;p5" descr="preencoded.png"/>
          <p:cNvPicPr preferRelativeResize="0"/>
          <p:nvPr/>
        </p:nvPicPr>
        <p:blipFill rotWithShape="1">
          <a:blip r:embed="rId6">
            <a:alphaModFix/>
          </a:blip>
          <a:srcRect/>
          <a:stretch/>
        </p:blipFill>
        <p:spPr>
          <a:xfrm>
            <a:off x="7356348" y="2583180"/>
            <a:ext cx="173736" cy="173736"/>
          </a:xfrm>
          <a:prstGeom prst="rect">
            <a:avLst/>
          </a:prstGeom>
          <a:noFill/>
          <a:ln>
            <a:noFill/>
          </a:ln>
        </p:spPr>
      </p:pic>
      <p:sp>
        <p:nvSpPr>
          <p:cNvPr id="164" name="Google Shape;164;p5"/>
          <p:cNvSpPr txBox="1"/>
          <p:nvPr/>
        </p:nvSpPr>
        <p:spPr>
          <a:xfrm>
            <a:off x="7772400" y="2496312"/>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Risk level and insurance perils</a:t>
            </a:r>
            <a:endParaRPr sz="1350" b="0" i="0" u="none" strike="noStrike" cap="none">
              <a:solidFill>
                <a:schemeClr val="dk1"/>
              </a:solidFill>
              <a:latin typeface="Google Sans Flex"/>
              <a:ea typeface="Google Sans Flex"/>
              <a:cs typeface="Google Sans Flex"/>
              <a:sym typeface="Google Sans Flex"/>
            </a:endParaRPr>
          </a:p>
        </p:txBody>
      </p:sp>
      <p:sp>
        <p:nvSpPr>
          <p:cNvPr id="165" name="Google Shape;165;p5"/>
          <p:cNvSpPr/>
          <p:nvPr/>
        </p:nvSpPr>
        <p:spPr>
          <a:xfrm>
            <a:off x="7269480" y="2944368"/>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 name="Google Shape;166;p5" descr="preencoded.png"/>
          <p:cNvPicPr preferRelativeResize="0"/>
          <p:nvPr/>
        </p:nvPicPr>
        <p:blipFill rotWithShape="1">
          <a:blip r:embed="rId7">
            <a:alphaModFix/>
          </a:blip>
          <a:srcRect/>
          <a:stretch/>
        </p:blipFill>
        <p:spPr>
          <a:xfrm>
            <a:off x="7356348" y="3031236"/>
            <a:ext cx="173736" cy="173736"/>
          </a:xfrm>
          <a:prstGeom prst="rect">
            <a:avLst/>
          </a:prstGeom>
          <a:noFill/>
          <a:ln>
            <a:noFill/>
          </a:ln>
        </p:spPr>
      </p:pic>
      <p:sp>
        <p:nvSpPr>
          <p:cNvPr id="167" name="Google Shape;167;p5"/>
          <p:cNvSpPr txBox="1"/>
          <p:nvPr/>
        </p:nvSpPr>
        <p:spPr>
          <a:xfrm>
            <a:off x="7772400" y="2944368"/>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Indicative repair-cost range</a:t>
            </a:r>
            <a:endParaRPr sz="1350" b="0" i="0" u="none" strike="noStrike" cap="none">
              <a:solidFill>
                <a:schemeClr val="dk1"/>
              </a:solidFill>
              <a:latin typeface="Google Sans Flex"/>
              <a:ea typeface="Google Sans Flex"/>
              <a:cs typeface="Google Sans Flex"/>
              <a:sym typeface="Google Sans Flex"/>
            </a:endParaRPr>
          </a:p>
        </p:txBody>
      </p:sp>
      <p:sp>
        <p:nvSpPr>
          <p:cNvPr id="168" name="Google Shape;168;p5"/>
          <p:cNvSpPr/>
          <p:nvPr/>
        </p:nvSpPr>
        <p:spPr>
          <a:xfrm>
            <a:off x="7269480" y="3392424"/>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9" name="Google Shape;169;p5" descr="preencoded.png"/>
          <p:cNvPicPr preferRelativeResize="0"/>
          <p:nvPr/>
        </p:nvPicPr>
        <p:blipFill rotWithShape="1">
          <a:blip r:embed="rId8">
            <a:alphaModFix/>
          </a:blip>
          <a:srcRect/>
          <a:stretch/>
        </p:blipFill>
        <p:spPr>
          <a:xfrm>
            <a:off x="7356348" y="3479292"/>
            <a:ext cx="173736" cy="173736"/>
          </a:xfrm>
          <a:prstGeom prst="rect">
            <a:avLst/>
          </a:prstGeom>
          <a:noFill/>
          <a:ln>
            <a:noFill/>
          </a:ln>
        </p:spPr>
      </p:pic>
      <p:sp>
        <p:nvSpPr>
          <p:cNvPr id="170" name="Google Shape;170;p5"/>
          <p:cNvSpPr txBox="1"/>
          <p:nvPr/>
        </p:nvSpPr>
        <p:spPr>
          <a:xfrm>
            <a:off x="7772400" y="3392424"/>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Valuation and collateral impact</a:t>
            </a:r>
            <a:endParaRPr sz="1350" b="0" i="0" u="none" strike="noStrike" cap="none">
              <a:solidFill>
                <a:schemeClr val="dk1"/>
              </a:solidFill>
              <a:latin typeface="Google Sans Flex"/>
              <a:ea typeface="Google Sans Flex"/>
              <a:cs typeface="Google Sans Flex"/>
              <a:sym typeface="Google Sans Flex"/>
            </a:endParaRPr>
          </a:p>
        </p:txBody>
      </p:sp>
      <p:sp>
        <p:nvSpPr>
          <p:cNvPr id="171" name="Google Shape;171;p5"/>
          <p:cNvSpPr/>
          <p:nvPr/>
        </p:nvSpPr>
        <p:spPr>
          <a:xfrm>
            <a:off x="7269480" y="3840480"/>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2" name="Google Shape;172;p5" descr="preencoded.png"/>
          <p:cNvPicPr preferRelativeResize="0"/>
          <p:nvPr/>
        </p:nvPicPr>
        <p:blipFill rotWithShape="1">
          <a:blip r:embed="rId9">
            <a:alphaModFix/>
          </a:blip>
          <a:srcRect/>
          <a:stretch/>
        </p:blipFill>
        <p:spPr>
          <a:xfrm>
            <a:off x="7356348" y="3927348"/>
            <a:ext cx="173736" cy="173736"/>
          </a:xfrm>
          <a:prstGeom prst="rect">
            <a:avLst/>
          </a:prstGeom>
          <a:noFill/>
          <a:ln>
            <a:noFill/>
          </a:ln>
        </p:spPr>
      </p:pic>
      <p:sp>
        <p:nvSpPr>
          <p:cNvPr id="173" name="Google Shape;173;p5"/>
          <p:cNvSpPr txBox="1"/>
          <p:nvPr/>
        </p:nvSpPr>
        <p:spPr>
          <a:xfrm>
            <a:off x="7772400" y="3840480"/>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Premium-loading suggestion</a:t>
            </a:r>
            <a:endParaRPr sz="1350" b="0" i="0" u="none" strike="noStrike" cap="none">
              <a:solidFill>
                <a:schemeClr val="dk1"/>
              </a:solidFill>
              <a:latin typeface="Google Sans Flex"/>
              <a:ea typeface="Google Sans Flex"/>
              <a:cs typeface="Google Sans Flex"/>
              <a:sym typeface="Google Sans Flex"/>
            </a:endParaRPr>
          </a:p>
        </p:txBody>
      </p:sp>
      <p:sp>
        <p:nvSpPr>
          <p:cNvPr id="174" name="Google Shape;174;p5"/>
          <p:cNvSpPr/>
          <p:nvPr/>
        </p:nvSpPr>
        <p:spPr>
          <a:xfrm>
            <a:off x="7269480" y="4288536"/>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5" name="Google Shape;175;p5" descr="preencoded.png"/>
          <p:cNvPicPr preferRelativeResize="0"/>
          <p:nvPr/>
        </p:nvPicPr>
        <p:blipFill rotWithShape="1">
          <a:blip r:embed="rId10">
            <a:alphaModFix/>
          </a:blip>
          <a:srcRect/>
          <a:stretch/>
        </p:blipFill>
        <p:spPr>
          <a:xfrm>
            <a:off x="7356348" y="4375404"/>
            <a:ext cx="173736" cy="173736"/>
          </a:xfrm>
          <a:prstGeom prst="rect">
            <a:avLst/>
          </a:prstGeom>
          <a:noFill/>
          <a:ln>
            <a:noFill/>
          </a:ln>
        </p:spPr>
      </p:pic>
      <p:sp>
        <p:nvSpPr>
          <p:cNvPr id="176" name="Google Shape;176;p5"/>
          <p:cNvSpPr txBox="1"/>
          <p:nvPr/>
        </p:nvSpPr>
        <p:spPr>
          <a:xfrm>
            <a:off x="7772400" y="4288536"/>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Underwriting decision with reasons</a:t>
            </a:r>
            <a:endParaRPr sz="1350" b="0" i="0" u="none" strike="noStrike" cap="none">
              <a:solidFill>
                <a:schemeClr val="dk1"/>
              </a:solidFill>
              <a:latin typeface="Google Sans Flex"/>
              <a:ea typeface="Google Sans Flex"/>
              <a:cs typeface="Google Sans Flex"/>
              <a:sym typeface="Google Sans Flex"/>
            </a:endParaRPr>
          </a:p>
        </p:txBody>
      </p:sp>
      <p:sp>
        <p:nvSpPr>
          <p:cNvPr id="177" name="Google Shape;177;p5"/>
          <p:cNvSpPr/>
          <p:nvPr/>
        </p:nvSpPr>
        <p:spPr>
          <a:xfrm>
            <a:off x="7269480" y="4736592"/>
            <a:ext cx="347472" cy="347472"/>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5" descr="preencoded.png"/>
          <p:cNvPicPr preferRelativeResize="0"/>
          <p:nvPr/>
        </p:nvPicPr>
        <p:blipFill rotWithShape="1">
          <a:blip r:embed="rId11">
            <a:alphaModFix/>
          </a:blip>
          <a:srcRect/>
          <a:stretch/>
        </p:blipFill>
        <p:spPr>
          <a:xfrm>
            <a:off x="7356348" y="4823460"/>
            <a:ext cx="173736" cy="173736"/>
          </a:xfrm>
          <a:prstGeom prst="rect">
            <a:avLst/>
          </a:prstGeom>
          <a:noFill/>
          <a:ln>
            <a:noFill/>
          </a:ln>
        </p:spPr>
      </p:pic>
      <p:sp>
        <p:nvSpPr>
          <p:cNvPr id="179" name="Google Shape;179;p5"/>
          <p:cNvSpPr txBox="1"/>
          <p:nvPr/>
        </p:nvSpPr>
        <p:spPr>
          <a:xfrm>
            <a:off x="7772400" y="4736592"/>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Evidence-integrity (fraud) flags</a:t>
            </a:r>
            <a:endParaRPr sz="1350" b="0" i="0" u="none" strike="noStrike" cap="none">
              <a:solidFill>
                <a:schemeClr val="dk1"/>
              </a:solidFill>
              <a:latin typeface="Google Sans Flex"/>
              <a:ea typeface="Google Sans Flex"/>
              <a:cs typeface="Google Sans Flex"/>
              <a:sym typeface="Google Sans Flex"/>
            </a:endParaRPr>
          </a:p>
        </p:txBody>
      </p:sp>
      <p:sp>
        <p:nvSpPr>
          <p:cNvPr id="180" name="Google Shape;180;p5"/>
          <p:cNvSpPr/>
          <p:nvPr/>
        </p:nvSpPr>
        <p:spPr>
          <a:xfrm>
            <a:off x="7269480" y="5184648"/>
            <a:ext cx="347472" cy="347472"/>
          </a:xfrm>
          <a:prstGeom prst="ellipse">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1" name="Google Shape;181;p5" descr="preencoded.png"/>
          <p:cNvPicPr preferRelativeResize="0"/>
          <p:nvPr/>
        </p:nvPicPr>
        <p:blipFill rotWithShape="1">
          <a:blip r:embed="rId12">
            <a:alphaModFix/>
          </a:blip>
          <a:srcRect/>
          <a:stretch/>
        </p:blipFill>
        <p:spPr>
          <a:xfrm>
            <a:off x="7356348" y="5271516"/>
            <a:ext cx="173736" cy="173736"/>
          </a:xfrm>
          <a:prstGeom prst="rect">
            <a:avLst/>
          </a:prstGeom>
          <a:noFill/>
          <a:ln>
            <a:noFill/>
          </a:ln>
        </p:spPr>
      </p:pic>
      <p:sp>
        <p:nvSpPr>
          <p:cNvPr id="182" name="Google Shape;182;p5"/>
          <p:cNvSpPr txBox="1"/>
          <p:nvPr/>
        </p:nvSpPr>
        <p:spPr>
          <a:xfrm>
            <a:off x="7772400" y="5184648"/>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3D model, floor plan, coverage map</a:t>
            </a:r>
            <a:endParaRPr sz="1350" b="0" i="0" u="none" strike="noStrike" cap="none">
              <a:solidFill>
                <a:schemeClr val="dk1"/>
              </a:solidFill>
              <a:latin typeface="Google Sans Flex"/>
              <a:ea typeface="Google Sans Flex"/>
              <a:cs typeface="Google Sans Flex"/>
              <a:sym typeface="Google Sans Flex"/>
            </a:endParaRPr>
          </a:p>
        </p:txBody>
      </p:sp>
      <p:sp>
        <p:nvSpPr>
          <p:cNvPr id="183" name="Google Shape;183;p5"/>
          <p:cNvSpPr/>
          <p:nvPr/>
        </p:nvSpPr>
        <p:spPr>
          <a:xfrm>
            <a:off x="7269480" y="5632704"/>
            <a:ext cx="347472" cy="347472"/>
          </a:xfrm>
          <a:prstGeom prst="ellipse">
            <a:avLst/>
          </a:prstGeom>
          <a:solidFill>
            <a:schemeClr val="accent2"/>
          </a:solidFill>
          <a:ln w="127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4" name="Google Shape;184;p5" descr="preencoded.png"/>
          <p:cNvPicPr preferRelativeResize="0"/>
          <p:nvPr/>
        </p:nvPicPr>
        <p:blipFill rotWithShape="1">
          <a:blip r:embed="rId13">
            <a:alphaModFix/>
          </a:blip>
          <a:srcRect/>
          <a:stretch/>
        </p:blipFill>
        <p:spPr>
          <a:xfrm>
            <a:off x="7356348" y="5719572"/>
            <a:ext cx="173736" cy="173736"/>
          </a:xfrm>
          <a:prstGeom prst="rect">
            <a:avLst/>
          </a:prstGeom>
          <a:noFill/>
          <a:ln>
            <a:noFill/>
          </a:ln>
        </p:spPr>
      </p:pic>
      <p:sp>
        <p:nvSpPr>
          <p:cNvPr id="185" name="Google Shape;185;p5"/>
          <p:cNvSpPr txBox="1"/>
          <p:nvPr/>
        </p:nvSpPr>
        <p:spPr>
          <a:xfrm>
            <a:off x="7772400" y="5632704"/>
            <a:ext cx="39319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350" b="0" i="0" u="none" strike="noStrike" cap="none">
                <a:solidFill>
                  <a:schemeClr val="dk1"/>
                </a:solidFill>
                <a:latin typeface="Google Sans Flex"/>
                <a:ea typeface="Google Sans Flex"/>
                <a:cs typeface="Google Sans Flex"/>
                <a:sym typeface="Google Sans Flex"/>
              </a:rPr>
              <a:t>Gemini analysis and underwriter Q&amp;A</a:t>
            </a:r>
            <a:endParaRPr sz="1350" b="0" i="0" u="none" strike="noStrike" cap="none">
              <a:solidFill>
                <a:schemeClr val="dk1"/>
              </a:solidFill>
              <a:latin typeface="Google Sans Flex"/>
              <a:ea typeface="Google Sans Flex"/>
              <a:cs typeface="Google Sans Flex"/>
              <a:sym typeface="Google Sans Flex"/>
            </a:endParaRPr>
          </a:p>
        </p:txBody>
      </p:sp>
      <p:sp>
        <p:nvSpPr>
          <p:cNvPr id="186" name="Google Shape;186;p5"/>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5</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6"/>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HOW IT WORKS</a:t>
            </a:r>
            <a:endParaRPr sz="1150"/>
          </a:p>
        </p:txBody>
      </p:sp>
      <p:sp>
        <p:nvSpPr>
          <p:cNvPr id="193" name="Google Shape;193;p6"/>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Capture, inspect, decide, act: minutes instead of days</a:t>
            </a:r>
            <a:endParaRPr sz="2850"/>
          </a:p>
        </p:txBody>
      </p:sp>
      <p:sp>
        <p:nvSpPr>
          <p:cNvPr id="194" name="Google Shape;194;p6"/>
          <p:cNvSpPr/>
          <p:nvPr/>
        </p:nvSpPr>
        <p:spPr>
          <a:xfrm>
            <a:off x="548640" y="1691640"/>
            <a:ext cx="2606040" cy="3246120"/>
          </a:xfrm>
          <a:prstGeom prst="roundRect">
            <a:avLst>
              <a:gd name="adj" fmla="val 421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777240" y="196596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6" name="Google Shape;196;p6" descr="preencoded.png"/>
          <p:cNvPicPr preferRelativeResize="0"/>
          <p:nvPr/>
        </p:nvPicPr>
        <p:blipFill rotWithShape="1">
          <a:blip r:embed="rId3">
            <a:alphaModFix/>
          </a:blip>
          <a:srcRect/>
          <a:stretch/>
        </p:blipFill>
        <p:spPr>
          <a:xfrm>
            <a:off x="948690" y="2137410"/>
            <a:ext cx="342900" cy="342900"/>
          </a:xfrm>
          <a:prstGeom prst="rect">
            <a:avLst/>
          </a:prstGeom>
          <a:noFill/>
          <a:ln>
            <a:noFill/>
          </a:ln>
        </p:spPr>
      </p:pic>
      <p:sp>
        <p:nvSpPr>
          <p:cNvPr id="197" name="Google Shape;197;p6"/>
          <p:cNvSpPr txBox="1"/>
          <p:nvPr/>
        </p:nvSpPr>
        <p:spPr>
          <a:xfrm>
            <a:off x="777240" y="2834640"/>
            <a:ext cx="21945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900"/>
              <a:buFont typeface="Calibri"/>
              <a:buNone/>
            </a:pPr>
            <a:r>
              <a:rPr lang="en-US" sz="1700" b="1" i="0" u="none" strike="noStrike" cap="none">
                <a:solidFill>
                  <a:schemeClr val="accent2"/>
                </a:solidFill>
                <a:latin typeface="Google Sans Flex"/>
                <a:ea typeface="Google Sans Flex"/>
                <a:cs typeface="Google Sans Flex"/>
                <a:sym typeface="Google Sans Flex"/>
              </a:rPr>
              <a:t>1  Capture</a:t>
            </a:r>
            <a:endParaRPr sz="1700" b="0" i="0" u="none" strike="noStrike" cap="none">
              <a:solidFill>
                <a:schemeClr val="dk1"/>
              </a:solidFill>
              <a:latin typeface="Google Sans Flex"/>
              <a:ea typeface="Google Sans Flex"/>
              <a:cs typeface="Google Sans Flex"/>
              <a:sym typeface="Google Sans Flex"/>
            </a:endParaRPr>
          </a:p>
        </p:txBody>
      </p:sp>
      <p:sp>
        <p:nvSpPr>
          <p:cNvPr id="198" name="Google Shape;198;p6"/>
          <p:cNvSpPr txBox="1"/>
          <p:nvPr/>
        </p:nvSpPr>
        <p:spPr>
          <a:xfrm>
            <a:off x="777240" y="3291840"/>
            <a:ext cx="219456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Walk through the property with a phone and upload the video. No special hardware.</a:t>
            </a:r>
            <a:endParaRPr sz="1250" b="0" i="0" u="none" strike="noStrike" cap="none">
              <a:solidFill>
                <a:schemeClr val="dk1"/>
              </a:solidFill>
              <a:latin typeface="Google Sans Flex"/>
              <a:ea typeface="Google Sans Flex"/>
              <a:cs typeface="Google Sans Flex"/>
              <a:sym typeface="Google Sans Flex"/>
            </a:endParaRPr>
          </a:p>
        </p:txBody>
      </p:sp>
      <p:pic>
        <p:nvPicPr>
          <p:cNvPr id="199" name="Google Shape;199;p6" descr="preencoded.png"/>
          <p:cNvPicPr preferRelativeResize="0"/>
          <p:nvPr/>
        </p:nvPicPr>
        <p:blipFill rotWithShape="1">
          <a:blip r:embed="rId4">
            <a:alphaModFix/>
          </a:blip>
          <a:srcRect/>
          <a:stretch/>
        </p:blipFill>
        <p:spPr>
          <a:xfrm>
            <a:off x="3191256" y="3154680"/>
            <a:ext cx="137160" cy="228600"/>
          </a:xfrm>
          <a:prstGeom prst="rect">
            <a:avLst/>
          </a:prstGeom>
          <a:noFill/>
          <a:ln>
            <a:noFill/>
          </a:ln>
        </p:spPr>
      </p:pic>
      <p:sp>
        <p:nvSpPr>
          <p:cNvPr id="200" name="Google Shape;200;p6"/>
          <p:cNvSpPr/>
          <p:nvPr/>
        </p:nvSpPr>
        <p:spPr>
          <a:xfrm>
            <a:off x="3364992" y="1691640"/>
            <a:ext cx="2606040" cy="3246120"/>
          </a:xfrm>
          <a:prstGeom prst="roundRect">
            <a:avLst>
              <a:gd name="adj" fmla="val 421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3593592" y="196596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2" name="Google Shape;202;p6" descr="preencoded.png"/>
          <p:cNvPicPr preferRelativeResize="0"/>
          <p:nvPr/>
        </p:nvPicPr>
        <p:blipFill rotWithShape="1">
          <a:blip r:embed="rId5">
            <a:alphaModFix/>
          </a:blip>
          <a:srcRect/>
          <a:stretch/>
        </p:blipFill>
        <p:spPr>
          <a:xfrm>
            <a:off x="3765042" y="2137410"/>
            <a:ext cx="342900" cy="342900"/>
          </a:xfrm>
          <a:prstGeom prst="rect">
            <a:avLst/>
          </a:prstGeom>
          <a:noFill/>
          <a:ln>
            <a:noFill/>
          </a:ln>
        </p:spPr>
      </p:pic>
      <p:sp>
        <p:nvSpPr>
          <p:cNvPr id="203" name="Google Shape;203;p6"/>
          <p:cNvSpPr txBox="1"/>
          <p:nvPr/>
        </p:nvSpPr>
        <p:spPr>
          <a:xfrm>
            <a:off x="3593592" y="2834640"/>
            <a:ext cx="21945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900"/>
              <a:buFont typeface="Calibri"/>
              <a:buNone/>
            </a:pPr>
            <a:r>
              <a:rPr lang="en-US" sz="1700" b="1" i="0" u="none" strike="noStrike" cap="none">
                <a:solidFill>
                  <a:schemeClr val="accent2"/>
                </a:solidFill>
                <a:latin typeface="Google Sans Flex"/>
                <a:ea typeface="Google Sans Flex"/>
                <a:cs typeface="Google Sans Flex"/>
                <a:sym typeface="Google Sans Flex"/>
              </a:rPr>
              <a:t>2  AI inspection</a:t>
            </a:r>
            <a:endParaRPr sz="1700" b="0" i="0" u="none" strike="noStrike" cap="none">
              <a:solidFill>
                <a:schemeClr val="dk1"/>
              </a:solidFill>
              <a:latin typeface="Google Sans Flex"/>
              <a:ea typeface="Google Sans Flex"/>
              <a:cs typeface="Google Sans Flex"/>
              <a:sym typeface="Google Sans Flex"/>
            </a:endParaRPr>
          </a:p>
        </p:txBody>
      </p:sp>
      <p:sp>
        <p:nvSpPr>
          <p:cNvPr id="204" name="Google Shape;204;p6"/>
          <p:cNvSpPr txBox="1"/>
          <p:nvPr/>
        </p:nvSpPr>
        <p:spPr>
          <a:xfrm>
            <a:off x="3593592" y="3291840"/>
            <a:ext cx="219456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On each AI keyframe, Gemini reads the room, LocateAnything finds candidate defects and Gemma 4 verifies each one.</a:t>
            </a:r>
            <a:endParaRPr sz="1250" b="0" i="0" u="none" strike="noStrike" cap="none">
              <a:solidFill>
                <a:schemeClr val="dk1"/>
              </a:solidFill>
              <a:latin typeface="Google Sans Flex"/>
              <a:ea typeface="Google Sans Flex"/>
              <a:cs typeface="Google Sans Flex"/>
              <a:sym typeface="Google Sans Flex"/>
            </a:endParaRPr>
          </a:p>
        </p:txBody>
      </p:sp>
      <p:pic>
        <p:nvPicPr>
          <p:cNvPr id="205" name="Google Shape;205;p6" descr="preencoded.png"/>
          <p:cNvPicPr preferRelativeResize="0"/>
          <p:nvPr/>
        </p:nvPicPr>
        <p:blipFill rotWithShape="1">
          <a:blip r:embed="rId4">
            <a:alphaModFix/>
          </a:blip>
          <a:srcRect/>
          <a:stretch/>
        </p:blipFill>
        <p:spPr>
          <a:xfrm>
            <a:off x="6007608" y="3154680"/>
            <a:ext cx="137160" cy="228600"/>
          </a:xfrm>
          <a:prstGeom prst="rect">
            <a:avLst/>
          </a:prstGeom>
          <a:noFill/>
          <a:ln>
            <a:noFill/>
          </a:ln>
        </p:spPr>
      </p:pic>
      <p:sp>
        <p:nvSpPr>
          <p:cNvPr id="206" name="Google Shape;206;p6"/>
          <p:cNvSpPr/>
          <p:nvPr/>
        </p:nvSpPr>
        <p:spPr>
          <a:xfrm>
            <a:off x="6181344" y="1691640"/>
            <a:ext cx="2606040" cy="3246120"/>
          </a:xfrm>
          <a:prstGeom prst="roundRect">
            <a:avLst>
              <a:gd name="adj" fmla="val 421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6409944" y="196596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8" name="Google Shape;208;p6" descr="preencoded.png"/>
          <p:cNvPicPr preferRelativeResize="0"/>
          <p:nvPr/>
        </p:nvPicPr>
        <p:blipFill rotWithShape="1">
          <a:blip r:embed="rId6">
            <a:alphaModFix/>
          </a:blip>
          <a:srcRect/>
          <a:stretch/>
        </p:blipFill>
        <p:spPr>
          <a:xfrm>
            <a:off x="6581394" y="2137410"/>
            <a:ext cx="342900" cy="342900"/>
          </a:xfrm>
          <a:prstGeom prst="rect">
            <a:avLst/>
          </a:prstGeom>
          <a:noFill/>
          <a:ln>
            <a:noFill/>
          </a:ln>
        </p:spPr>
      </p:pic>
      <p:sp>
        <p:nvSpPr>
          <p:cNvPr id="209" name="Google Shape;209;p6"/>
          <p:cNvSpPr txBox="1"/>
          <p:nvPr/>
        </p:nvSpPr>
        <p:spPr>
          <a:xfrm>
            <a:off x="6409944" y="2834640"/>
            <a:ext cx="21945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900"/>
              <a:buFont typeface="Calibri"/>
              <a:buNone/>
            </a:pPr>
            <a:r>
              <a:rPr lang="en-US" sz="1700" b="1" i="0" u="none" strike="noStrike" cap="none">
                <a:solidFill>
                  <a:schemeClr val="accent2"/>
                </a:solidFill>
                <a:latin typeface="Google Sans Flex"/>
                <a:ea typeface="Google Sans Flex"/>
                <a:cs typeface="Google Sans Flex"/>
                <a:sym typeface="Google Sans Flex"/>
              </a:rPr>
              <a:t>3  Risk decision</a:t>
            </a:r>
            <a:endParaRPr sz="1700" b="0" i="0" u="none" strike="noStrike" cap="none">
              <a:solidFill>
                <a:schemeClr val="dk1"/>
              </a:solidFill>
              <a:latin typeface="Google Sans Flex"/>
              <a:ea typeface="Google Sans Flex"/>
              <a:cs typeface="Google Sans Flex"/>
              <a:sym typeface="Google Sans Flex"/>
            </a:endParaRPr>
          </a:p>
        </p:txBody>
      </p:sp>
      <p:sp>
        <p:nvSpPr>
          <p:cNvPr id="210" name="Google Shape;210;p6"/>
          <p:cNvSpPr txBox="1"/>
          <p:nvPr/>
        </p:nvSpPr>
        <p:spPr>
          <a:xfrm>
            <a:off x="6409944" y="3291840"/>
            <a:ext cx="219456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A transparent rule engine sets the grade, perils, repair cost, valuation, premium and decision; Gemini explains it.</a:t>
            </a:r>
            <a:endParaRPr sz="1250" b="0" i="0" u="none" strike="noStrike" cap="none">
              <a:solidFill>
                <a:schemeClr val="dk1"/>
              </a:solidFill>
              <a:latin typeface="Google Sans Flex"/>
              <a:ea typeface="Google Sans Flex"/>
              <a:cs typeface="Google Sans Flex"/>
              <a:sym typeface="Google Sans Flex"/>
            </a:endParaRPr>
          </a:p>
        </p:txBody>
      </p:sp>
      <p:pic>
        <p:nvPicPr>
          <p:cNvPr id="211" name="Google Shape;211;p6" descr="preencoded.png"/>
          <p:cNvPicPr preferRelativeResize="0"/>
          <p:nvPr/>
        </p:nvPicPr>
        <p:blipFill rotWithShape="1">
          <a:blip r:embed="rId4">
            <a:alphaModFix/>
          </a:blip>
          <a:srcRect/>
          <a:stretch/>
        </p:blipFill>
        <p:spPr>
          <a:xfrm>
            <a:off x="8823960" y="3154680"/>
            <a:ext cx="137160" cy="228600"/>
          </a:xfrm>
          <a:prstGeom prst="rect">
            <a:avLst/>
          </a:prstGeom>
          <a:noFill/>
          <a:ln>
            <a:noFill/>
          </a:ln>
        </p:spPr>
      </p:pic>
      <p:sp>
        <p:nvSpPr>
          <p:cNvPr id="212" name="Google Shape;212;p6"/>
          <p:cNvSpPr/>
          <p:nvPr/>
        </p:nvSpPr>
        <p:spPr>
          <a:xfrm>
            <a:off x="8997696" y="1691640"/>
            <a:ext cx="2606040" cy="3246120"/>
          </a:xfrm>
          <a:prstGeom prst="roundRect">
            <a:avLst>
              <a:gd name="adj" fmla="val 421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9226296" y="196596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4" name="Google Shape;214;p6" descr="preencoded.png"/>
          <p:cNvPicPr preferRelativeResize="0"/>
          <p:nvPr/>
        </p:nvPicPr>
        <p:blipFill rotWithShape="1">
          <a:blip r:embed="rId7">
            <a:alphaModFix/>
          </a:blip>
          <a:srcRect/>
          <a:stretch/>
        </p:blipFill>
        <p:spPr>
          <a:xfrm>
            <a:off x="9397746" y="2137410"/>
            <a:ext cx="342900" cy="342900"/>
          </a:xfrm>
          <a:prstGeom prst="rect">
            <a:avLst/>
          </a:prstGeom>
          <a:noFill/>
          <a:ln>
            <a:noFill/>
          </a:ln>
        </p:spPr>
      </p:pic>
      <p:sp>
        <p:nvSpPr>
          <p:cNvPr id="215" name="Google Shape;215;p6"/>
          <p:cNvSpPr txBox="1"/>
          <p:nvPr/>
        </p:nvSpPr>
        <p:spPr>
          <a:xfrm>
            <a:off x="9226296" y="2834640"/>
            <a:ext cx="21945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900"/>
              <a:buFont typeface="Calibri"/>
              <a:buNone/>
            </a:pPr>
            <a:r>
              <a:rPr lang="en-US" sz="1700" b="1" i="0" u="none" strike="noStrike" cap="none">
                <a:solidFill>
                  <a:schemeClr val="accent2"/>
                </a:solidFill>
                <a:latin typeface="Google Sans Flex"/>
                <a:ea typeface="Google Sans Flex"/>
                <a:cs typeface="Google Sans Flex"/>
                <a:sym typeface="Google Sans Flex"/>
              </a:rPr>
              <a:t>4  Act</a:t>
            </a:r>
            <a:endParaRPr sz="1700" b="0" i="0" u="none" strike="noStrike" cap="none">
              <a:solidFill>
                <a:schemeClr val="dk1"/>
              </a:solidFill>
              <a:latin typeface="Google Sans Flex"/>
              <a:ea typeface="Google Sans Flex"/>
              <a:cs typeface="Google Sans Flex"/>
              <a:sym typeface="Google Sans Flex"/>
            </a:endParaRPr>
          </a:p>
        </p:txBody>
      </p:sp>
      <p:sp>
        <p:nvSpPr>
          <p:cNvPr id="216" name="Google Shape;216;p6"/>
          <p:cNvSpPr txBox="1"/>
          <p:nvPr/>
        </p:nvSpPr>
        <p:spPr>
          <a:xfrm>
            <a:off x="9226296" y="3291840"/>
            <a:ext cx="2194560" cy="1554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HTML/PDF-ready report, Gemini Q&amp;A and a JSON record over the REST API for underwriting and claims systems.</a:t>
            </a:r>
            <a:endParaRPr sz="1250" b="0" i="0" u="none" strike="noStrike" cap="none">
              <a:solidFill>
                <a:schemeClr val="dk1"/>
              </a:solidFill>
              <a:latin typeface="Google Sans Flex"/>
              <a:ea typeface="Google Sans Flex"/>
              <a:cs typeface="Google Sans Flex"/>
              <a:sym typeface="Google Sans Flex"/>
            </a:endParaRPr>
          </a:p>
        </p:txBody>
      </p:sp>
      <p:sp>
        <p:nvSpPr>
          <p:cNvPr id="217" name="Google Shape;217;p6"/>
          <p:cNvSpPr txBox="1"/>
          <p:nvPr/>
        </p:nvSpPr>
        <p:spPr>
          <a:xfrm>
            <a:off x="548640" y="5166360"/>
            <a:ext cx="26060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000"/>
              <a:buFont typeface="Arial"/>
              <a:buNone/>
            </a:pPr>
            <a:r>
              <a:rPr lang="en-US" sz="2850" b="1" i="0" u="none" strike="noStrike" cap="none">
                <a:solidFill>
                  <a:schemeClr val="accent3"/>
                </a:solidFill>
                <a:latin typeface="Google Sans Flex"/>
                <a:ea typeface="Google Sans Flex"/>
                <a:cs typeface="Google Sans Flex"/>
                <a:sym typeface="Google Sans Flex"/>
              </a:rPr>
              <a:t>10.6 min</a:t>
            </a:r>
            <a:endParaRPr sz="2700" b="0" i="0" u="none" strike="noStrike" cap="none">
              <a:solidFill>
                <a:schemeClr val="dk1"/>
              </a:solidFill>
              <a:latin typeface="Google Sans Flex"/>
              <a:ea typeface="Google Sans Flex"/>
              <a:cs typeface="Google Sans Flex"/>
              <a:sym typeface="Google Sans Flex"/>
            </a:endParaRPr>
          </a:p>
        </p:txBody>
      </p:sp>
      <p:sp>
        <p:nvSpPr>
          <p:cNvPr id="218" name="Google Shape;218;p6"/>
          <p:cNvSpPr txBox="1"/>
          <p:nvPr/>
        </p:nvSpPr>
        <p:spPr>
          <a:xfrm>
            <a:off x="548640" y="5715000"/>
            <a:ext cx="2606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end to end for a 20 s video, laptop GPU</a:t>
            </a:r>
            <a:endParaRPr sz="1150" b="0" i="0" u="none" strike="noStrike" cap="none">
              <a:solidFill>
                <a:schemeClr val="dk1"/>
              </a:solidFill>
              <a:latin typeface="Google Sans Flex"/>
              <a:ea typeface="Google Sans Flex"/>
              <a:cs typeface="Google Sans Flex"/>
              <a:sym typeface="Google Sans Flex"/>
            </a:endParaRPr>
          </a:p>
        </p:txBody>
      </p:sp>
      <p:sp>
        <p:nvSpPr>
          <p:cNvPr id="219" name="Google Shape;219;p6"/>
          <p:cNvSpPr txBox="1"/>
          <p:nvPr/>
        </p:nvSpPr>
        <p:spPr>
          <a:xfrm>
            <a:off x="3364992" y="5166360"/>
            <a:ext cx="26060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000"/>
              <a:buFont typeface="Arial"/>
              <a:buNone/>
            </a:pPr>
            <a:r>
              <a:rPr lang="en-US" sz="2850" b="1" i="0" u="none" strike="noStrike" cap="none">
                <a:solidFill>
                  <a:schemeClr val="accent3"/>
                </a:solidFill>
                <a:latin typeface="Google Sans Flex"/>
                <a:ea typeface="Google Sans Flex"/>
                <a:cs typeface="Google Sans Flex"/>
                <a:sym typeface="Google Sans Flex"/>
              </a:rPr>
              <a:t>≈ $0.85</a:t>
            </a:r>
            <a:endParaRPr sz="2700" b="0" i="0" u="none" strike="noStrike" cap="none">
              <a:solidFill>
                <a:schemeClr val="dk1"/>
              </a:solidFill>
              <a:latin typeface="Google Sans Flex"/>
              <a:ea typeface="Google Sans Flex"/>
              <a:cs typeface="Google Sans Flex"/>
              <a:sym typeface="Google Sans Flex"/>
            </a:endParaRPr>
          </a:p>
        </p:txBody>
      </p:sp>
      <p:sp>
        <p:nvSpPr>
          <p:cNvPr id="220" name="Google Shape;220;p6"/>
          <p:cNvSpPr txBox="1"/>
          <p:nvPr/>
        </p:nvSpPr>
        <p:spPr>
          <a:xfrm>
            <a:off x="3364992" y="5715000"/>
            <a:ext cx="2606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cloud cost per walkthrough, L4 Job + Gemini</a:t>
            </a:r>
            <a:endParaRPr sz="1150" b="0" i="0" u="none" strike="noStrike" cap="none">
              <a:solidFill>
                <a:schemeClr val="dk1"/>
              </a:solidFill>
              <a:latin typeface="Google Sans Flex"/>
              <a:ea typeface="Google Sans Flex"/>
              <a:cs typeface="Google Sans Flex"/>
              <a:sym typeface="Google Sans Flex"/>
            </a:endParaRPr>
          </a:p>
        </p:txBody>
      </p:sp>
      <p:sp>
        <p:nvSpPr>
          <p:cNvPr id="221" name="Google Shape;221;p6"/>
          <p:cNvSpPr txBox="1"/>
          <p:nvPr/>
        </p:nvSpPr>
        <p:spPr>
          <a:xfrm>
            <a:off x="6181344" y="5166360"/>
            <a:ext cx="26060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000"/>
              <a:buFont typeface="Arial"/>
              <a:buNone/>
            </a:pPr>
            <a:r>
              <a:rPr lang="en-US" sz="2850" b="1" i="0" u="none" strike="noStrike" cap="none">
                <a:solidFill>
                  <a:schemeClr val="accent3"/>
                </a:solidFill>
                <a:latin typeface="Google Sans Flex"/>
                <a:ea typeface="Google Sans Flex"/>
                <a:cs typeface="Google Sans Flex"/>
                <a:sym typeface="Google Sans Flex"/>
              </a:rPr>
              <a:t>≈ $0.35</a:t>
            </a:r>
            <a:endParaRPr sz="2700" b="0" i="0" u="none" strike="noStrike" cap="none">
              <a:solidFill>
                <a:schemeClr val="dk1"/>
              </a:solidFill>
              <a:latin typeface="Google Sans Flex"/>
              <a:ea typeface="Google Sans Flex"/>
              <a:cs typeface="Google Sans Flex"/>
              <a:sym typeface="Google Sans Flex"/>
            </a:endParaRPr>
          </a:p>
        </p:txBody>
      </p:sp>
      <p:sp>
        <p:nvSpPr>
          <p:cNvPr id="222" name="Google Shape;222;p6"/>
          <p:cNvSpPr txBox="1"/>
          <p:nvPr/>
        </p:nvSpPr>
        <p:spPr>
          <a:xfrm>
            <a:off x="6181344" y="5715000"/>
            <a:ext cx="2606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Gemini cost per walkthrough</a:t>
            </a:r>
            <a:endParaRPr sz="1150" b="0" i="0" u="none" strike="noStrike" cap="none">
              <a:solidFill>
                <a:schemeClr val="dk1"/>
              </a:solidFill>
              <a:latin typeface="Google Sans Flex"/>
              <a:ea typeface="Google Sans Flex"/>
              <a:cs typeface="Google Sans Flex"/>
              <a:sym typeface="Google Sans Flex"/>
            </a:endParaRPr>
          </a:p>
        </p:txBody>
      </p:sp>
      <p:sp>
        <p:nvSpPr>
          <p:cNvPr id="223" name="Google Shape;223;p6"/>
          <p:cNvSpPr txBox="1"/>
          <p:nvPr/>
        </p:nvSpPr>
        <p:spPr>
          <a:xfrm>
            <a:off x="8997696" y="5166360"/>
            <a:ext cx="26060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3000"/>
              <a:buFont typeface="Arial"/>
              <a:buNone/>
            </a:pPr>
            <a:r>
              <a:rPr lang="en-US" sz="2850" b="1" i="0" u="none" strike="noStrike" cap="none">
                <a:solidFill>
                  <a:schemeClr val="accent3"/>
                </a:solidFill>
                <a:latin typeface="Google Sans Flex"/>
                <a:ea typeface="Google Sans Flex"/>
                <a:cs typeface="Google Sans Flex"/>
                <a:sym typeface="Google Sans Flex"/>
              </a:rPr>
              <a:t>$0</a:t>
            </a:r>
            <a:endParaRPr sz="2700" b="0" i="0" u="none" strike="noStrike" cap="none">
              <a:solidFill>
                <a:schemeClr val="dk1"/>
              </a:solidFill>
              <a:latin typeface="Google Sans Flex"/>
              <a:ea typeface="Google Sans Flex"/>
              <a:cs typeface="Google Sans Flex"/>
              <a:sym typeface="Google Sans Flex"/>
            </a:endParaRPr>
          </a:p>
        </p:txBody>
      </p:sp>
      <p:sp>
        <p:nvSpPr>
          <p:cNvPr id="224" name="Google Shape;224;p6"/>
          <p:cNvSpPr txBox="1"/>
          <p:nvPr/>
        </p:nvSpPr>
        <p:spPr>
          <a:xfrm>
            <a:off x="8997696" y="5715000"/>
            <a:ext cx="2606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GPU cost when idle: the L4 Job runs only per video</a:t>
            </a:r>
            <a:endParaRPr sz="1150" b="0" i="0" u="none" strike="noStrike" cap="none">
              <a:solidFill>
                <a:schemeClr val="dk1"/>
              </a:solidFill>
              <a:latin typeface="Google Sans Flex"/>
              <a:ea typeface="Google Sans Flex"/>
              <a:cs typeface="Google Sans Flex"/>
              <a:sym typeface="Google Sans Flex"/>
            </a:endParaRPr>
          </a:p>
        </p:txBody>
      </p:sp>
      <p:sp>
        <p:nvSpPr>
          <p:cNvPr id="225" name="Google Shape;225;p6"/>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6</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7"/>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SOLUTION ARCHITECTURE</a:t>
            </a:r>
            <a:endParaRPr sz="1150"/>
          </a:p>
        </p:txBody>
      </p:sp>
      <p:sp>
        <p:nvSpPr>
          <p:cNvPr id="232" name="Google Shape;232;p7"/>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Cloud Run web service + L4 GPU Job, powered by Gemini</a:t>
            </a:r>
            <a:endParaRPr sz="2850"/>
          </a:p>
        </p:txBody>
      </p:sp>
      <p:sp>
        <p:nvSpPr>
          <p:cNvPr id="281" name="Google Shape;281;p7"/>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7</a:t>
            </a:fld>
            <a:endParaRPr sz="900" b="0" i="0" u="none" strike="noStrike" cap="none">
              <a:solidFill>
                <a:schemeClr val="dk2"/>
              </a:solidFill>
              <a:latin typeface="Google Sans Flex"/>
              <a:ea typeface="Google Sans Flex"/>
              <a:cs typeface="Google Sans Flex"/>
              <a:sym typeface="Google Sans Flex"/>
            </a:endParaRPr>
          </a:p>
        </p:txBody>
      </p:sp>
      <p:pic>
        <p:nvPicPr>
          <p:cNvPr id="282" name="Architecture diagram" descr="Architecture: users upload a phone walkthrough to a CPU-only Cloud Run service, which starts a Cloud Run Job with one NVIDIA L4 GPU per video. The Job runs the 3D engine, coverage, AI inspection and risk engine; the service shows the 3D report, Ask Gemini and a JSON API. Gemini 3.8 Flash is called through the Gemini API with the key from Secret Manager, a Cloud Storage bucket is mounted on both, and Cloud Build and Artifact Registry build the one image both use."/>
          <p:cNvPicPr>
            <a:picLocks noChangeAspect="1"/>
          </p:cNvPicPr>
          <p:nvPr/>
        </p:nvPicPr>
        <p:blipFill>
          <a:blip r:embed="rId3"/>
          <a:stretch>
            <a:fillRect/>
          </a:stretch>
        </p:blipFill>
        <p:spPr>
          <a:xfrm>
            <a:off x="548640" y="1481328"/>
            <a:ext cx="11109960" cy="4443984"/>
          </a:xfrm>
          <a:prstGeom prst="rect">
            <a:avLst/>
          </a:prstGeom>
        </p:spPr>
      </p:pic>
      <p:sp>
        <p:nvSpPr>
          <p:cNvPr id="9001" name="Architecture caption"/>
          <p:cNvSpPr txBox="1"/>
          <p:nvPr/>
        </p:nvSpPr>
        <p:spPr>
          <a:xfrm>
            <a:off x="548640" y="5961888"/>
            <a:ext cx="11109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1" u="none" strike="noStrike" cap="none">
                <a:solidFill>
                  <a:schemeClr val="dk2"/>
                </a:solidFill>
                <a:latin typeface="Google Sans Flex"/>
                <a:ea typeface="Google Sans Flex"/>
                <a:cs typeface="Google Sans Flex"/>
                <a:sym typeface="Google Sans Flex"/>
              </a:rPr>
              <a:t>Deployed layout (v1.0.0): web UI + API on a CPU-only Cloud Run service; 3D engine, coverage and AI inspection on a Cloud Run Job with one NVIDIA L4 per video; a Cloud Storage bucket mounted on both for uploads, status and results; Gemini 3.8 Flash via the Gemini API (key in Secret Manager). BigQuery and Pub/Sub are not used.</a:t>
            </a:r>
            <a:endParaRPr sz="1000" b="0" i="0" u="none" strike="noStrike" cap="none">
              <a:solidFill>
                <a:schemeClr val="dk1"/>
              </a:solidFill>
              <a:latin typeface="Google Sans Flex"/>
              <a:ea typeface="Google Sans Flex"/>
              <a:cs typeface="Google Sans Flex"/>
              <a:sym typeface="Google Sans Flex"/>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8"/>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AI MODELS</a:t>
            </a:r>
            <a:endParaRPr sz="1150"/>
          </a:p>
        </p:txBody>
      </p:sp>
      <p:sp>
        <p:nvSpPr>
          <p:cNvPr id="288" name="Google Shape;288;p8"/>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Hybrid AI: the right Google and open model for each job</a:t>
            </a:r>
            <a:endParaRPr sz="2850"/>
          </a:p>
        </p:txBody>
      </p:sp>
      <p:graphicFrame>
        <p:nvGraphicFramePr>
          <p:cNvPr id="289" name="Google Shape;289;p8"/>
          <p:cNvGraphicFramePr/>
          <p:nvPr/>
        </p:nvGraphicFramePr>
        <p:xfrm>
          <a:off x="548640" y="1600200"/>
          <a:ext cx="3000000" cy="3000000"/>
        </p:xfrm>
        <a:graphic>
          <a:graphicData uri="http://schemas.openxmlformats.org/drawingml/2006/table">
            <a:tbl>
              <a:tblPr>
                <a:noFill/>
                <a:tableStyleId>{431036B6-43F4-4ACD-AB0D-61CEB253AA53}</a:tableStyleId>
              </a:tblPr>
              <a:tblGrid>
                <a:gridCol w="3291850">
                  <a:extLst>
                    <a:ext uri="{9D8B030D-6E8A-4147-A177-3AD203B41FA5}">
                      <a16:colId xmlns:a16="http://schemas.microsoft.com/office/drawing/2014/main" val="20000"/>
                    </a:ext>
                  </a:extLst>
                </a:gridCol>
                <a:gridCol w="2606050">
                  <a:extLst>
                    <a:ext uri="{9D8B030D-6E8A-4147-A177-3AD203B41FA5}">
                      <a16:colId xmlns:a16="http://schemas.microsoft.com/office/drawing/2014/main" val="20001"/>
                    </a:ext>
                  </a:extLst>
                </a:gridCol>
                <a:gridCol w="1554475">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512075">
                <a:tc>
                  <a:txBody>
                    <a:bodyPr/>
                    <a:lstStyle/>
                    <a:p>
                      <a:pPr marL="0" marR="0" lvl="0" indent="0" algn="l" rtl="0">
                        <a:spcBef>
                          <a:spcPts val="0"/>
                        </a:spcBef>
                        <a:spcAft>
                          <a:spcPts val="0"/>
                        </a:spcAft>
                        <a:buClr>
                          <a:srgbClr val="22D3EE"/>
                        </a:buClr>
                        <a:buSzPts val="1300"/>
                        <a:buFont typeface="Calibri"/>
                        <a:buNone/>
                      </a:pPr>
                      <a:r>
                        <a:rPr lang="en-US" sz="1150" b="1" u="none" strike="noStrike" cap="none">
                          <a:solidFill>
                            <a:srgbClr val="22D3EE"/>
                          </a:solidFill>
                          <a:latin typeface="Google Sans Flex"/>
                          <a:ea typeface="Google Sans Flex"/>
                          <a:cs typeface="Google Sans Flex"/>
                          <a:sym typeface="Google Sans Flex"/>
                        </a:rPr>
                        <a:t>Job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A2440"/>
                    </a:solidFill>
                  </a:tcPr>
                </a:tc>
                <a:tc>
                  <a:txBody>
                    <a:bodyPr/>
                    <a:lstStyle/>
                    <a:p>
                      <a:pPr marL="0" marR="0" lvl="0" indent="0" algn="l" rtl="0">
                        <a:spcBef>
                          <a:spcPts val="0"/>
                        </a:spcBef>
                        <a:spcAft>
                          <a:spcPts val="0"/>
                        </a:spcAft>
                        <a:buClr>
                          <a:srgbClr val="22D3EE"/>
                        </a:buClr>
                        <a:buSzPts val="1300"/>
                        <a:buFont typeface="Calibri"/>
                        <a:buNone/>
                      </a:pPr>
                      <a:r>
                        <a:rPr lang="en-US" sz="1150" b="1" u="none" strike="noStrike" cap="none">
                          <a:solidFill>
                            <a:srgbClr val="22D3EE"/>
                          </a:solidFill>
                          <a:latin typeface="Google Sans Flex"/>
                          <a:ea typeface="Google Sans Flex"/>
                          <a:cs typeface="Google Sans Flex"/>
                          <a:sym typeface="Google Sans Flex"/>
                        </a:rPr>
                        <a:t>Model</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A2440"/>
                    </a:solidFill>
                  </a:tcPr>
                </a:tc>
                <a:tc>
                  <a:txBody>
                    <a:bodyPr/>
                    <a:lstStyle/>
                    <a:p>
                      <a:pPr marL="0" marR="0" lvl="0" indent="0" algn="l" rtl="0">
                        <a:spcBef>
                          <a:spcPts val="0"/>
                        </a:spcBef>
                        <a:spcAft>
                          <a:spcPts val="0"/>
                        </a:spcAft>
                        <a:buClr>
                          <a:srgbClr val="22D3EE"/>
                        </a:buClr>
                        <a:buSzPts val="1300"/>
                        <a:buFont typeface="Calibri"/>
                        <a:buNone/>
                      </a:pPr>
                      <a:r>
                        <a:rPr lang="en-US" sz="1150" b="1" u="none" strike="noStrike" cap="none">
                          <a:solidFill>
                            <a:srgbClr val="22D3EE"/>
                          </a:solidFill>
                          <a:latin typeface="Google Sans Flex"/>
                          <a:ea typeface="Google Sans Flex"/>
                          <a:cs typeface="Google Sans Flex"/>
                          <a:sym typeface="Google Sans Flex"/>
                        </a:rPr>
                        <a:t>Runs on</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A2440"/>
                    </a:solidFill>
                  </a:tcPr>
                </a:tc>
                <a:tc>
                  <a:txBody>
                    <a:bodyPr/>
                    <a:lstStyle/>
                    <a:p>
                      <a:pPr marL="0" marR="0" lvl="0" indent="0" algn="l" rtl="0">
                        <a:spcBef>
                          <a:spcPts val="0"/>
                        </a:spcBef>
                        <a:spcAft>
                          <a:spcPts val="0"/>
                        </a:spcAft>
                        <a:buClr>
                          <a:srgbClr val="22D3EE"/>
                        </a:buClr>
                        <a:buSzPts val="1300"/>
                        <a:buFont typeface="Calibri"/>
                        <a:buNone/>
                      </a:pPr>
                      <a:r>
                        <a:rPr lang="en-US" sz="1150" b="1" u="none" strike="noStrike" cap="none">
                          <a:solidFill>
                            <a:srgbClr val="22D3EE"/>
                          </a:solidFill>
                          <a:latin typeface="Google Sans Flex"/>
                          <a:ea typeface="Google Sans Flex"/>
                          <a:cs typeface="Google Sans Flex"/>
                          <a:sym typeface="Google Sans Flex"/>
                        </a:rPr>
                        <a:t>Why this model</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A2440"/>
                    </a:solidFill>
                  </a:tcPr>
                </a:tc>
                <a:extLst>
                  <a:ext uri="{0D108BD9-81ED-4DB2-BD59-A6C34878D82A}">
                    <a16:rowId xmlns:a16="http://schemas.microsoft.com/office/drawing/2014/main" val="10000"/>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Room, visible components, keyframe authenticity</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59E0B"/>
                        </a:buClr>
                        <a:buSzPts val="1300"/>
                        <a:buFont typeface="Calibri"/>
                        <a:buNone/>
                      </a:pPr>
                      <a:r>
                        <a:rPr lang="en-US" sz="1150" b="1" u="none" strike="noStrike" cap="none">
                          <a:solidFill>
                            <a:srgbClr val="F59E0B"/>
                          </a:solidFill>
                          <a:latin typeface="Google Sans Flex"/>
                          <a:ea typeface="Google Sans Flex"/>
                          <a:cs typeface="Google Sans Flex"/>
                          <a:sym typeface="Google Sans Flex"/>
                        </a:rPr>
                        <a:t>Gemini 3.8 Flash</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Gemini API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Strong visual reasoning and reliable JSON output</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1"/>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Find candidate defects (boxes)</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b="1" u="none" strike="noStrike" cap="none">
                          <a:solidFill>
                            <a:srgbClr val="F1F5F9"/>
                          </a:solidFill>
                          <a:latin typeface="Google Sans Flex"/>
                          <a:ea typeface="Google Sans Flex"/>
                          <a:cs typeface="Google Sans Flex"/>
                          <a:sym typeface="Google Sans Flex"/>
                        </a:rPr>
                        <a:t>LocateAnything-3B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Cloud Run GPU Job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High-recall open-vocabulary localisation</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2"/>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Verify each defect on a full-resolution crop</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59E0B"/>
                        </a:buClr>
                        <a:buSzPts val="1300"/>
                        <a:buFont typeface="Calibri"/>
                        <a:buNone/>
                      </a:pPr>
                      <a:r>
                        <a:rPr lang="en-US" sz="1150" b="1" u="none" strike="noStrike" cap="none">
                          <a:solidFill>
                            <a:srgbClr val="F59E0B"/>
                          </a:solidFill>
                          <a:latin typeface="Google Sans Flex"/>
                          <a:ea typeface="Google Sans Flex"/>
                          <a:cs typeface="Google Sans Flex"/>
                          <a:sym typeface="Google Sans Flex"/>
                        </a:rPr>
                        <a:t>Gemma 4 E4B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Cloud Run GPU Job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Open Google model, cheap per box, cuts false positives</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3"/>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DETECTED / NEEDS_REVIEW / NOT_DETECTED</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59E0B"/>
                        </a:buClr>
                        <a:buSzPts val="1300"/>
                        <a:buFont typeface="Calibri"/>
                        <a:buNone/>
                      </a:pPr>
                      <a:r>
                        <a:rPr lang="en-US" sz="1150" b="1" u="none" strike="noStrike" cap="none">
                          <a:solidFill>
                            <a:srgbClr val="F59E0B"/>
                          </a:solidFill>
                          <a:latin typeface="Google Sans Flex"/>
                          <a:ea typeface="Google Sans Flex"/>
                          <a:cs typeface="Google Sans Flex"/>
                          <a:sym typeface="Google Sans Flex"/>
                        </a:rPr>
                        <a:t>Rule engine + Gemini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CPU + Gemini API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Rules decide, so the result is auditable; Gemini explains each finding</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4"/>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Grade, perils, repair cost, valuation, premium : risk_rules.yaml</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59E0B"/>
                        </a:buClr>
                        <a:buSzPts val="1300"/>
                        <a:buFont typeface="Calibri"/>
                        <a:buNone/>
                      </a:pPr>
                      <a:r>
                        <a:rPr lang="en-US" sz="1150" b="1" u="none" strike="noStrike" cap="none">
                          <a:solidFill>
                            <a:srgbClr val="F59E0B"/>
                          </a:solidFill>
                          <a:latin typeface="Google Sans Flex"/>
                          <a:ea typeface="Google Sans Flex"/>
                          <a:cs typeface="Google Sans Flex"/>
                          <a:sym typeface="Google Sans Flex"/>
                        </a:rPr>
                        <a:t>Rule engine + Gemini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CPU + Gemini API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Rules are tunable per lender or insurer; Gemini writes the risk summary</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5"/>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Depth and 3D model from a phone video</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b="1" u="none" strike="noStrike" cap="none">
                          <a:solidFill>
                            <a:srgbClr val="F1F5F9"/>
                          </a:solidFill>
                          <a:latin typeface="Google Sans Flex"/>
                          <a:ea typeface="Google Sans Flex"/>
                          <a:cs typeface="Google Sans Flex"/>
                          <a:sym typeface="Google Sans Flex"/>
                        </a:rPr>
                        <a:t>Depth Anything 3 + OpenCV 5 SLAM</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Cloud Run GPU Job</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Room-scale 3D from a single phone camera</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6"/>
                  </a:ext>
                </a:extLst>
              </a:tr>
              <a:tr h="512075">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3D object names, summary, analysis, Q&amp;A</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59E0B"/>
                        </a:buClr>
                        <a:buSzPts val="1300"/>
                        <a:buFont typeface="Calibri"/>
                        <a:buNone/>
                      </a:pPr>
                      <a:r>
                        <a:rPr lang="en-US" sz="1150" b="1" u="none" strike="noStrike" cap="none">
                          <a:solidFill>
                            <a:srgbClr val="F59E0B"/>
                          </a:solidFill>
                          <a:latin typeface="Google Sans Flex"/>
                          <a:ea typeface="Google Sans Flex"/>
                          <a:cs typeface="Google Sans Flex"/>
                          <a:sym typeface="Google Sans Flex"/>
                        </a:rPr>
                        <a:t>Gemini 3.8 Flash</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Gemini API</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tc>
                  <a:txBody>
                    <a:bodyPr/>
                    <a:lstStyle/>
                    <a:p>
                      <a:pPr marL="0" marR="0" lvl="0" indent="0" algn="l" rtl="0">
                        <a:spcBef>
                          <a:spcPts val="0"/>
                        </a:spcBef>
                        <a:spcAft>
                          <a:spcPts val="0"/>
                        </a:spcAft>
                        <a:buClr>
                          <a:srgbClr val="F1F5F9"/>
                        </a:buClr>
                        <a:buSzPts val="1300"/>
                        <a:buFont typeface="Calibri"/>
                        <a:buNone/>
                      </a:pPr>
                      <a:r>
                        <a:rPr lang="en-US" sz="1150" u="none" strike="noStrike" cap="none">
                          <a:solidFill>
                            <a:srgbClr val="F1F5F9"/>
                          </a:solidFill>
                          <a:latin typeface="Google Sans Flex"/>
                          <a:ea typeface="Google Sans Flex"/>
                          <a:cs typeface="Google Sans Flex"/>
                          <a:sym typeface="Google Sans Flex"/>
                        </a:rPr>
                        <a:t>Grounded on the inspection record and cites issue IDs</a:t>
                      </a:r>
                      <a:endParaRPr sz="1150" u="none" strike="noStrike" cap="none">
                        <a:latin typeface="Google Sans Flex"/>
                        <a:ea typeface="Google Sans Flex"/>
                        <a:cs typeface="Google Sans Flex"/>
                        <a:sym typeface="Google Sans Flex"/>
                      </a:endParaRPr>
                    </a:p>
                  </a:txBody>
                  <a:tcPr marL="91450" marR="91450" marT="36575" marB="36575" anchor="ctr">
                    <a:lnL w="9525" cap="flat" cmpd="sng">
                      <a:solidFill>
                        <a:srgbClr val="26324D"/>
                      </a:solidFill>
                      <a:prstDash val="solid"/>
                      <a:round/>
                      <a:headEnd type="none" w="sm" len="sm"/>
                      <a:tailEnd type="none" w="sm" len="sm"/>
                    </a:lnL>
                    <a:lnR w="9525" cap="flat" cmpd="sng">
                      <a:solidFill>
                        <a:srgbClr val="26324D"/>
                      </a:solidFill>
                      <a:prstDash val="solid"/>
                      <a:round/>
                      <a:headEnd type="none" w="sm" len="sm"/>
                      <a:tailEnd type="none" w="sm" len="sm"/>
                    </a:lnR>
                    <a:lnT w="9525" cap="flat" cmpd="sng">
                      <a:solidFill>
                        <a:srgbClr val="26324D"/>
                      </a:solidFill>
                      <a:prstDash val="solid"/>
                      <a:round/>
                      <a:headEnd type="none" w="sm" len="sm"/>
                      <a:tailEnd type="none" w="sm" len="sm"/>
                    </a:lnT>
                    <a:lnB w="9525" cap="flat" cmpd="sng">
                      <a:solidFill>
                        <a:srgbClr val="26324D"/>
                      </a:solidFill>
                      <a:prstDash val="solid"/>
                      <a:round/>
                      <a:headEnd type="none" w="sm" len="sm"/>
                      <a:tailEnd type="none" w="sm" len="sm"/>
                    </a:lnB>
                    <a:solidFill>
                      <a:srgbClr val="131C2E"/>
                    </a:solidFill>
                  </a:tcPr>
                </a:tc>
                <a:extLst>
                  <a:ext uri="{0D108BD9-81ED-4DB2-BD59-A6C34878D82A}">
                    <a16:rowId xmlns:a16="http://schemas.microsoft.com/office/drawing/2014/main" val="10007"/>
                  </a:ext>
                </a:extLst>
              </a:tr>
            </a:tbl>
          </a:graphicData>
        </a:graphic>
      </p:graphicFrame>
      <p:sp>
        <p:nvSpPr>
          <p:cNvPr id="290" name="Google Shape;290;p8"/>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8</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9"/>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KEYFRAME PIPELINE</a:t>
            </a:r>
            <a:endParaRPr sz="1150"/>
          </a:p>
        </p:txBody>
      </p:sp>
      <p:sp>
        <p:nvSpPr>
          <p:cNvPr id="297" name="Google Shape;297;p9"/>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Find broadly, verify with a second model, then decide</a:t>
            </a:r>
            <a:endParaRPr sz="2850"/>
          </a:p>
        </p:txBody>
      </p:sp>
      <p:sp>
        <p:nvSpPr>
          <p:cNvPr id="298" name="Google Shape;298;p9"/>
          <p:cNvSpPr/>
          <p:nvPr/>
        </p:nvSpPr>
        <p:spPr>
          <a:xfrm>
            <a:off x="548640" y="1600200"/>
            <a:ext cx="4160520" cy="585216"/>
          </a:xfrm>
          <a:prstGeom prst="roundRect">
            <a:avLst>
              <a:gd name="adj" fmla="val 187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9"/>
          <p:cNvSpPr txBox="1"/>
          <p:nvPr/>
        </p:nvSpPr>
        <p:spPr>
          <a:xfrm>
            <a:off x="685800" y="1600200"/>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1</a:t>
            </a:r>
            <a:endParaRPr sz="1600" b="0" i="0" u="none" strike="noStrike" cap="none">
              <a:solidFill>
                <a:schemeClr val="dk1"/>
              </a:solidFill>
              <a:latin typeface="Google Sans Flex"/>
              <a:ea typeface="Google Sans Flex"/>
              <a:cs typeface="Google Sans Flex"/>
              <a:sym typeface="Google Sans Flex"/>
            </a:endParaRPr>
          </a:p>
        </p:txBody>
      </p:sp>
      <p:sp>
        <p:nvSpPr>
          <p:cNvPr id="300" name="Google Shape;300;p9"/>
          <p:cNvSpPr txBox="1"/>
          <p:nvPr/>
        </p:nvSpPr>
        <p:spPr>
          <a:xfrm>
            <a:off x="1051560" y="1600200"/>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Quality check + integrity (dHash fingerprint)</a:t>
            </a:r>
            <a:endParaRPr sz="1250" b="0" i="0" u="none" strike="noStrike" cap="none">
              <a:solidFill>
                <a:schemeClr val="dk1"/>
              </a:solidFill>
              <a:latin typeface="Google Sans Flex"/>
              <a:ea typeface="Google Sans Flex"/>
              <a:cs typeface="Google Sans Flex"/>
              <a:sym typeface="Google Sans Flex"/>
            </a:endParaRPr>
          </a:p>
        </p:txBody>
      </p:sp>
      <p:sp>
        <p:nvSpPr>
          <p:cNvPr id="301" name="Google Shape;301;p9"/>
          <p:cNvSpPr/>
          <p:nvPr/>
        </p:nvSpPr>
        <p:spPr>
          <a:xfrm>
            <a:off x="548640" y="2350008"/>
            <a:ext cx="4160520" cy="585216"/>
          </a:xfrm>
          <a:prstGeom prst="roundRect">
            <a:avLst>
              <a:gd name="adj" fmla="val 187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txBox="1"/>
          <p:nvPr/>
        </p:nvSpPr>
        <p:spPr>
          <a:xfrm>
            <a:off x="685800" y="2350008"/>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2</a:t>
            </a:r>
            <a:endParaRPr sz="1600" b="0" i="0" u="none" strike="noStrike" cap="none">
              <a:solidFill>
                <a:schemeClr val="dk1"/>
              </a:solidFill>
              <a:latin typeface="Google Sans Flex"/>
              <a:ea typeface="Google Sans Flex"/>
              <a:cs typeface="Google Sans Flex"/>
              <a:sym typeface="Google Sans Flex"/>
            </a:endParaRPr>
          </a:p>
        </p:txBody>
      </p:sp>
      <p:sp>
        <p:nvSpPr>
          <p:cNvPr id="303" name="Google Shape;303;p9"/>
          <p:cNvSpPr txBox="1"/>
          <p:nvPr/>
        </p:nvSpPr>
        <p:spPr>
          <a:xfrm>
            <a:off x="1051560" y="2350008"/>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Gemini: room, components, authenticity</a:t>
            </a:r>
            <a:endParaRPr sz="1250" b="0" i="0" u="none" strike="noStrike" cap="none">
              <a:solidFill>
                <a:schemeClr val="dk1"/>
              </a:solidFill>
              <a:latin typeface="Google Sans Flex"/>
              <a:ea typeface="Google Sans Flex"/>
              <a:cs typeface="Google Sans Flex"/>
              <a:sym typeface="Google Sans Flex"/>
            </a:endParaRPr>
          </a:p>
        </p:txBody>
      </p:sp>
      <p:sp>
        <p:nvSpPr>
          <p:cNvPr id="304" name="Google Shape;304;p9"/>
          <p:cNvSpPr/>
          <p:nvPr/>
        </p:nvSpPr>
        <p:spPr>
          <a:xfrm>
            <a:off x="548640" y="3099816"/>
            <a:ext cx="4160520" cy="585216"/>
          </a:xfrm>
          <a:prstGeom prst="roundRect">
            <a:avLst>
              <a:gd name="adj" fmla="val 187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txBox="1"/>
          <p:nvPr/>
        </p:nvSpPr>
        <p:spPr>
          <a:xfrm>
            <a:off x="685800" y="3099816"/>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3</a:t>
            </a:r>
            <a:endParaRPr sz="1600" b="0" i="0" u="none" strike="noStrike" cap="none">
              <a:solidFill>
                <a:schemeClr val="dk1"/>
              </a:solidFill>
              <a:latin typeface="Google Sans Flex"/>
              <a:ea typeface="Google Sans Flex"/>
              <a:cs typeface="Google Sans Flex"/>
              <a:sym typeface="Google Sans Flex"/>
            </a:endParaRPr>
          </a:p>
        </p:txBody>
      </p:sp>
      <p:sp>
        <p:nvSpPr>
          <p:cNvPr id="306" name="Google Shape;306;p9"/>
          <p:cNvSpPr txBox="1"/>
          <p:nvPr/>
        </p:nvSpPr>
        <p:spPr>
          <a:xfrm>
            <a:off x="1051560" y="3099816"/>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Prompt router: 18 defect types, 12 components</a:t>
            </a:r>
            <a:endParaRPr sz="1250" b="0" i="0" u="none" strike="noStrike" cap="none">
              <a:solidFill>
                <a:schemeClr val="dk1"/>
              </a:solidFill>
              <a:latin typeface="Google Sans Flex"/>
              <a:ea typeface="Google Sans Flex"/>
              <a:cs typeface="Google Sans Flex"/>
              <a:sym typeface="Google Sans Flex"/>
            </a:endParaRPr>
          </a:p>
        </p:txBody>
      </p:sp>
      <p:sp>
        <p:nvSpPr>
          <p:cNvPr id="307" name="Google Shape;307;p9"/>
          <p:cNvSpPr/>
          <p:nvPr/>
        </p:nvSpPr>
        <p:spPr>
          <a:xfrm>
            <a:off x="548640" y="3849624"/>
            <a:ext cx="4160520" cy="585216"/>
          </a:xfrm>
          <a:prstGeom prst="roundRect">
            <a:avLst>
              <a:gd name="adj" fmla="val 187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txBox="1"/>
          <p:nvPr/>
        </p:nvSpPr>
        <p:spPr>
          <a:xfrm>
            <a:off x="685800" y="3849624"/>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4</a:t>
            </a:r>
            <a:endParaRPr sz="1600" b="0" i="0" u="none" strike="noStrike" cap="none">
              <a:solidFill>
                <a:schemeClr val="dk1"/>
              </a:solidFill>
              <a:latin typeface="Google Sans Flex"/>
              <a:ea typeface="Google Sans Flex"/>
              <a:cs typeface="Google Sans Flex"/>
              <a:sym typeface="Google Sans Flex"/>
            </a:endParaRPr>
          </a:p>
        </p:txBody>
      </p:sp>
      <p:sp>
        <p:nvSpPr>
          <p:cNvPr id="309" name="Google Shape;309;p9"/>
          <p:cNvSpPr txBox="1"/>
          <p:nvPr/>
        </p:nvSpPr>
        <p:spPr>
          <a:xfrm>
            <a:off x="1051560" y="3849624"/>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LocateAnything-3B boxes → NMS / merge</a:t>
            </a:r>
            <a:endParaRPr sz="1250" b="0" i="0" u="none" strike="noStrike" cap="none">
              <a:solidFill>
                <a:schemeClr val="dk1"/>
              </a:solidFill>
              <a:latin typeface="Google Sans Flex"/>
              <a:ea typeface="Google Sans Flex"/>
              <a:cs typeface="Google Sans Flex"/>
              <a:sym typeface="Google Sans Flex"/>
            </a:endParaRPr>
          </a:p>
        </p:txBody>
      </p:sp>
      <p:sp>
        <p:nvSpPr>
          <p:cNvPr id="310" name="Google Shape;310;p9"/>
          <p:cNvSpPr/>
          <p:nvPr/>
        </p:nvSpPr>
        <p:spPr>
          <a:xfrm>
            <a:off x="548640" y="4599432"/>
            <a:ext cx="4160520" cy="585216"/>
          </a:xfrm>
          <a:prstGeom prst="roundRect">
            <a:avLst>
              <a:gd name="adj" fmla="val 187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txBox="1"/>
          <p:nvPr/>
        </p:nvSpPr>
        <p:spPr>
          <a:xfrm>
            <a:off x="685800" y="4599432"/>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5</a:t>
            </a:r>
            <a:endParaRPr sz="1600" b="0" i="0" u="none" strike="noStrike" cap="none">
              <a:solidFill>
                <a:schemeClr val="dk1"/>
              </a:solidFill>
              <a:latin typeface="Google Sans Flex"/>
              <a:ea typeface="Google Sans Flex"/>
              <a:cs typeface="Google Sans Flex"/>
              <a:sym typeface="Google Sans Flex"/>
            </a:endParaRPr>
          </a:p>
        </p:txBody>
      </p:sp>
      <p:sp>
        <p:nvSpPr>
          <p:cNvPr id="312" name="Google Shape;312;p9"/>
          <p:cNvSpPr txBox="1"/>
          <p:nvPr/>
        </p:nvSpPr>
        <p:spPr>
          <a:xfrm>
            <a:off x="1051560" y="4599432"/>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Full-res crops → Gemma 4 verify + CV evidence</a:t>
            </a:r>
            <a:endParaRPr sz="1250" b="0" i="0" u="none" strike="noStrike" cap="none">
              <a:solidFill>
                <a:schemeClr val="dk1"/>
              </a:solidFill>
              <a:latin typeface="Google Sans Flex"/>
              <a:ea typeface="Google Sans Flex"/>
              <a:cs typeface="Google Sans Flex"/>
              <a:sym typeface="Google Sans Flex"/>
            </a:endParaRPr>
          </a:p>
        </p:txBody>
      </p:sp>
      <p:sp>
        <p:nvSpPr>
          <p:cNvPr id="313" name="Google Shape;313;p9"/>
          <p:cNvSpPr/>
          <p:nvPr/>
        </p:nvSpPr>
        <p:spPr>
          <a:xfrm>
            <a:off x="548640" y="5349240"/>
            <a:ext cx="4160520" cy="585216"/>
          </a:xfrm>
          <a:prstGeom prst="roundRect">
            <a:avLst>
              <a:gd name="adj" fmla="val 18750"/>
            </a:avLst>
          </a:prstGeom>
          <a:solidFill>
            <a:srgbClr val="2A2112"/>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txBox="1"/>
          <p:nvPr/>
        </p:nvSpPr>
        <p:spPr>
          <a:xfrm>
            <a:off x="685800" y="5349240"/>
            <a:ext cx="32004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3"/>
              </a:buClr>
              <a:buSzPts val="1800"/>
              <a:buFont typeface="Calibri"/>
              <a:buNone/>
            </a:pPr>
            <a:r>
              <a:rPr lang="en-US" sz="1600" b="1" i="0" u="none" strike="noStrike" cap="none">
                <a:solidFill>
                  <a:schemeClr val="accent3"/>
                </a:solidFill>
                <a:latin typeface="Google Sans Flex"/>
                <a:ea typeface="Google Sans Flex"/>
                <a:cs typeface="Google Sans Flex"/>
                <a:sym typeface="Google Sans Flex"/>
              </a:rPr>
              <a:t>6</a:t>
            </a:r>
            <a:endParaRPr sz="1600" b="0" i="0" u="none" strike="noStrike" cap="none">
              <a:solidFill>
                <a:schemeClr val="dk1"/>
              </a:solidFill>
              <a:latin typeface="Google Sans Flex"/>
              <a:ea typeface="Google Sans Flex"/>
              <a:cs typeface="Google Sans Flex"/>
              <a:sym typeface="Google Sans Flex"/>
            </a:endParaRPr>
          </a:p>
        </p:txBody>
      </p:sp>
      <p:sp>
        <p:nvSpPr>
          <p:cNvPr id="315" name="Google Shape;315;p9"/>
          <p:cNvSpPr txBox="1"/>
          <p:nvPr/>
        </p:nvSpPr>
        <p:spPr>
          <a:xfrm>
            <a:off x="1051560" y="5349240"/>
            <a:ext cx="3566160" cy="5852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Rule engine → status, then risk engine</a:t>
            </a:r>
            <a:endParaRPr sz="1250" b="0" i="0" u="none" strike="noStrike" cap="none">
              <a:solidFill>
                <a:schemeClr val="dk1"/>
              </a:solidFill>
              <a:latin typeface="Google Sans Flex"/>
              <a:ea typeface="Google Sans Flex"/>
              <a:cs typeface="Google Sans Flex"/>
              <a:sym typeface="Google Sans Flex"/>
            </a:endParaRPr>
          </a:p>
        </p:txBody>
      </p:sp>
      <p:sp>
        <p:nvSpPr>
          <p:cNvPr id="316" name="Google Shape;316;p9"/>
          <p:cNvSpPr/>
          <p:nvPr/>
        </p:nvSpPr>
        <p:spPr>
          <a:xfrm>
            <a:off x="5084064" y="1729006"/>
            <a:ext cx="3227832" cy="1845509"/>
          </a:xfrm>
          <a:prstGeom prst="roundRect">
            <a:avLst>
              <a:gd name="adj" fmla="val 495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7" name="Google Shape;317;p9" descr="defect-wall-crack"/>
          <p:cNvPicPr preferRelativeResize="0"/>
          <p:nvPr/>
        </p:nvPicPr>
        <p:blipFill rotWithShape="1">
          <a:blip r:embed="rId3">
            <a:alphaModFix/>
          </a:blip>
          <a:srcRect/>
          <a:stretch/>
        </p:blipFill>
        <p:spPr>
          <a:xfrm>
            <a:off x="5120640" y="1765582"/>
            <a:ext cx="3154680" cy="1772357"/>
          </a:xfrm>
          <a:prstGeom prst="rect">
            <a:avLst/>
          </a:prstGeom>
          <a:noFill/>
          <a:ln>
            <a:noFill/>
          </a:ln>
        </p:spPr>
      </p:pic>
      <p:sp>
        <p:nvSpPr>
          <p:cNvPr id="318" name="Google Shape;318;p9"/>
          <p:cNvSpPr/>
          <p:nvPr/>
        </p:nvSpPr>
        <p:spPr>
          <a:xfrm>
            <a:off x="8467344" y="1566970"/>
            <a:ext cx="3227832" cy="2169580"/>
          </a:xfrm>
          <a:prstGeom prst="roundRect">
            <a:avLst>
              <a:gd name="adj" fmla="val 421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9" name="Google Shape;319;p9" descr="defect-corridor"/>
          <p:cNvPicPr preferRelativeResize="0"/>
          <p:nvPr/>
        </p:nvPicPr>
        <p:blipFill rotWithShape="1">
          <a:blip r:embed="rId4">
            <a:alphaModFix/>
          </a:blip>
          <a:srcRect/>
          <a:stretch/>
        </p:blipFill>
        <p:spPr>
          <a:xfrm>
            <a:off x="8503920" y="1603546"/>
            <a:ext cx="3154680" cy="2096428"/>
          </a:xfrm>
          <a:prstGeom prst="rect">
            <a:avLst/>
          </a:prstGeom>
          <a:noFill/>
          <a:ln>
            <a:noFill/>
          </a:ln>
        </p:spPr>
      </p:pic>
      <p:sp>
        <p:nvSpPr>
          <p:cNvPr id="320" name="Google Shape;320;p9"/>
          <p:cNvSpPr/>
          <p:nvPr/>
        </p:nvSpPr>
        <p:spPr>
          <a:xfrm>
            <a:off x="5259324" y="3849624"/>
            <a:ext cx="2877312" cy="2176272"/>
          </a:xfrm>
          <a:prstGeom prst="roundRect">
            <a:avLst>
              <a:gd name="adj" fmla="val 4202"/>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1" name="Google Shape;321;p9" descr="defect-bathroom"/>
          <p:cNvPicPr preferRelativeResize="0"/>
          <p:nvPr/>
        </p:nvPicPr>
        <p:blipFill rotWithShape="1">
          <a:blip r:embed="rId5">
            <a:alphaModFix/>
          </a:blip>
          <a:srcRect/>
          <a:stretch/>
        </p:blipFill>
        <p:spPr>
          <a:xfrm>
            <a:off x="5295900" y="3886200"/>
            <a:ext cx="2804160" cy="2103120"/>
          </a:xfrm>
          <a:prstGeom prst="rect">
            <a:avLst/>
          </a:prstGeom>
          <a:noFill/>
          <a:ln>
            <a:noFill/>
          </a:ln>
        </p:spPr>
      </p:pic>
      <p:sp>
        <p:nvSpPr>
          <p:cNvPr id="322" name="Google Shape;322;p9"/>
          <p:cNvSpPr/>
          <p:nvPr/>
        </p:nvSpPr>
        <p:spPr>
          <a:xfrm>
            <a:off x="8467344" y="4008350"/>
            <a:ext cx="3227832" cy="1858820"/>
          </a:xfrm>
          <a:prstGeom prst="roundRect">
            <a:avLst>
              <a:gd name="adj" fmla="val 4919"/>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3" name="Google Shape;323;p9" descr="defect-door"/>
          <p:cNvPicPr preferRelativeResize="0"/>
          <p:nvPr/>
        </p:nvPicPr>
        <p:blipFill rotWithShape="1">
          <a:blip r:embed="rId6">
            <a:alphaModFix/>
          </a:blip>
          <a:srcRect/>
          <a:stretch/>
        </p:blipFill>
        <p:spPr>
          <a:xfrm>
            <a:off x="8503920" y="4044926"/>
            <a:ext cx="3154680" cy="1785668"/>
          </a:xfrm>
          <a:prstGeom prst="rect">
            <a:avLst/>
          </a:prstGeom>
          <a:noFill/>
          <a:ln>
            <a:noFill/>
          </a:ln>
        </p:spPr>
      </p:pic>
      <p:sp>
        <p:nvSpPr>
          <p:cNvPr id="324" name="Google Shape;324;p9"/>
          <p:cNvSpPr txBox="1"/>
          <p:nvPr/>
        </p:nvSpPr>
        <p:spPr>
          <a:xfrm>
            <a:off x="5120640" y="6053328"/>
            <a:ext cx="65379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1" u="none" strike="noStrike" cap="none">
                <a:solidFill>
                  <a:schemeClr val="dk2"/>
                </a:solidFill>
                <a:latin typeface="Google Sans Flex"/>
                <a:ea typeface="Google Sans Flex"/>
                <a:cs typeface="Google Sans Flex"/>
                <a:sym typeface="Google Sans Flex"/>
              </a:rPr>
              <a:t>Real outputs: wall crack, corridor peeling paint, bathroom water damage, walkthrough keyframe (door, window)</a:t>
            </a:r>
            <a:endParaRPr sz="1000" b="0" i="0" u="none" strike="noStrike" cap="none">
              <a:solidFill>
                <a:schemeClr val="dk1"/>
              </a:solidFill>
              <a:latin typeface="Google Sans Flex"/>
              <a:ea typeface="Google Sans Flex"/>
              <a:cs typeface="Google Sans Flex"/>
              <a:sym typeface="Google Sans Flex"/>
            </a:endParaRPr>
          </a:p>
        </p:txBody>
      </p:sp>
      <p:sp>
        <p:nvSpPr>
          <p:cNvPr id="325" name="Google Shape;325;p9"/>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9</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0"/>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DETECTION SCOPE</a:t>
            </a:r>
            <a:endParaRPr sz="1150"/>
          </a:p>
        </p:txBody>
      </p:sp>
      <p:sp>
        <p:nvSpPr>
          <p:cNvPr id="332" name="Google Shape;332;p10"/>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What we detect: 18 visible defect types on 12 components</a:t>
            </a:r>
            <a:endParaRPr sz="2850"/>
          </a:p>
        </p:txBody>
      </p:sp>
      <p:sp>
        <p:nvSpPr>
          <p:cNvPr id="333" name="Google Shape;333;p10"/>
          <p:cNvSpPr/>
          <p:nvPr/>
        </p:nvSpPr>
        <p:spPr>
          <a:xfrm>
            <a:off x="548640" y="1508760"/>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0"/>
          <p:cNvSpPr txBox="1"/>
          <p:nvPr/>
        </p:nvSpPr>
        <p:spPr>
          <a:xfrm>
            <a:off x="676656" y="1618488"/>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Wall</a:t>
            </a:r>
            <a:endParaRPr sz="1250" b="0" i="0" u="none" strike="noStrike" cap="none">
              <a:solidFill>
                <a:schemeClr val="dk1"/>
              </a:solidFill>
              <a:latin typeface="Google Sans Flex"/>
              <a:ea typeface="Google Sans Flex"/>
              <a:cs typeface="Google Sans Flex"/>
              <a:sym typeface="Google Sans Flex"/>
            </a:endParaRPr>
          </a:p>
        </p:txBody>
      </p:sp>
      <p:sp>
        <p:nvSpPr>
          <p:cNvPr id="335" name="Google Shape;335;p10"/>
          <p:cNvSpPr txBox="1"/>
          <p:nvPr/>
        </p:nvSpPr>
        <p:spPr>
          <a:xfrm>
            <a:off x="676656" y="1929384"/>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Crack, stain, water damage, peeling paint, hole, mold, surface damage, discoloration, scratch</a:t>
            </a:r>
            <a:endParaRPr sz="1100" b="0" i="0" u="none" strike="noStrike" cap="none">
              <a:solidFill>
                <a:schemeClr val="dk1"/>
              </a:solidFill>
              <a:latin typeface="Google Sans Flex"/>
              <a:ea typeface="Google Sans Flex"/>
              <a:cs typeface="Google Sans Flex"/>
              <a:sym typeface="Google Sans Flex"/>
            </a:endParaRPr>
          </a:p>
        </p:txBody>
      </p:sp>
      <p:sp>
        <p:nvSpPr>
          <p:cNvPr id="336" name="Google Shape;336;p10"/>
          <p:cNvSpPr/>
          <p:nvPr/>
        </p:nvSpPr>
        <p:spPr>
          <a:xfrm>
            <a:off x="2514600" y="1508760"/>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0"/>
          <p:cNvSpPr txBox="1"/>
          <p:nvPr/>
        </p:nvSpPr>
        <p:spPr>
          <a:xfrm>
            <a:off x="2642616" y="1618488"/>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Ceiling</a:t>
            </a:r>
            <a:endParaRPr sz="1250" b="0" i="0" u="none" strike="noStrike" cap="none">
              <a:solidFill>
                <a:schemeClr val="dk1"/>
              </a:solidFill>
              <a:latin typeface="Google Sans Flex"/>
              <a:ea typeface="Google Sans Flex"/>
              <a:cs typeface="Google Sans Flex"/>
              <a:sym typeface="Google Sans Flex"/>
            </a:endParaRPr>
          </a:p>
        </p:txBody>
      </p:sp>
      <p:sp>
        <p:nvSpPr>
          <p:cNvPr id="338" name="Google Shape;338;p10"/>
          <p:cNvSpPr txBox="1"/>
          <p:nvPr/>
        </p:nvSpPr>
        <p:spPr>
          <a:xfrm>
            <a:off x="2642616" y="1929384"/>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Crack, stain, water damage, peeling paint, hole, mold</a:t>
            </a:r>
            <a:endParaRPr sz="1100" b="0" i="0" u="none" strike="noStrike" cap="none">
              <a:solidFill>
                <a:schemeClr val="dk1"/>
              </a:solidFill>
              <a:latin typeface="Google Sans Flex"/>
              <a:ea typeface="Google Sans Flex"/>
              <a:cs typeface="Google Sans Flex"/>
              <a:sym typeface="Google Sans Flex"/>
            </a:endParaRPr>
          </a:p>
        </p:txBody>
      </p:sp>
      <p:sp>
        <p:nvSpPr>
          <p:cNvPr id="339" name="Google Shape;339;p10"/>
          <p:cNvSpPr/>
          <p:nvPr/>
        </p:nvSpPr>
        <p:spPr>
          <a:xfrm>
            <a:off x="4480560" y="1508760"/>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0"/>
          <p:cNvSpPr txBox="1"/>
          <p:nvPr/>
        </p:nvSpPr>
        <p:spPr>
          <a:xfrm>
            <a:off x="4608576" y="1618488"/>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Floor tile</a:t>
            </a:r>
            <a:endParaRPr sz="1250" b="0" i="0" u="none" strike="noStrike" cap="none">
              <a:solidFill>
                <a:schemeClr val="dk1"/>
              </a:solidFill>
              <a:latin typeface="Google Sans Flex"/>
              <a:ea typeface="Google Sans Flex"/>
              <a:cs typeface="Google Sans Flex"/>
              <a:sym typeface="Google Sans Flex"/>
            </a:endParaRPr>
          </a:p>
        </p:txBody>
      </p:sp>
      <p:sp>
        <p:nvSpPr>
          <p:cNvPr id="341" name="Google Shape;341;p10"/>
          <p:cNvSpPr txBox="1"/>
          <p:nvPr/>
        </p:nvSpPr>
        <p:spPr>
          <a:xfrm>
            <a:off x="4608576" y="1929384"/>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Crack, chip, missing tile, stain</a:t>
            </a:r>
            <a:endParaRPr sz="1100" b="0" i="0" u="none" strike="noStrike" cap="none">
              <a:solidFill>
                <a:schemeClr val="dk1"/>
              </a:solidFill>
              <a:latin typeface="Google Sans Flex"/>
              <a:ea typeface="Google Sans Flex"/>
              <a:cs typeface="Google Sans Flex"/>
              <a:sym typeface="Google Sans Flex"/>
            </a:endParaRPr>
          </a:p>
        </p:txBody>
      </p:sp>
      <p:sp>
        <p:nvSpPr>
          <p:cNvPr id="342" name="Google Shape;342;p10"/>
          <p:cNvSpPr/>
          <p:nvPr/>
        </p:nvSpPr>
        <p:spPr>
          <a:xfrm>
            <a:off x="6446520" y="1508760"/>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0"/>
          <p:cNvSpPr txBox="1"/>
          <p:nvPr/>
        </p:nvSpPr>
        <p:spPr>
          <a:xfrm>
            <a:off x="6574536" y="1618488"/>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Wall tile</a:t>
            </a:r>
            <a:endParaRPr sz="1250" b="0" i="0" u="none" strike="noStrike" cap="none">
              <a:solidFill>
                <a:schemeClr val="dk1"/>
              </a:solidFill>
              <a:latin typeface="Google Sans Flex"/>
              <a:ea typeface="Google Sans Flex"/>
              <a:cs typeface="Google Sans Flex"/>
              <a:sym typeface="Google Sans Flex"/>
            </a:endParaRPr>
          </a:p>
        </p:txBody>
      </p:sp>
      <p:sp>
        <p:nvSpPr>
          <p:cNvPr id="344" name="Google Shape;344;p10"/>
          <p:cNvSpPr txBox="1"/>
          <p:nvPr/>
        </p:nvSpPr>
        <p:spPr>
          <a:xfrm>
            <a:off x="6574536" y="1929384"/>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Crack, chip, mold, stain</a:t>
            </a:r>
            <a:endParaRPr sz="1100" b="0" i="0" u="none" strike="noStrike" cap="none">
              <a:solidFill>
                <a:schemeClr val="dk1"/>
              </a:solidFill>
              <a:latin typeface="Google Sans Flex"/>
              <a:ea typeface="Google Sans Flex"/>
              <a:cs typeface="Google Sans Flex"/>
              <a:sym typeface="Google Sans Flex"/>
            </a:endParaRPr>
          </a:p>
        </p:txBody>
      </p:sp>
      <p:sp>
        <p:nvSpPr>
          <p:cNvPr id="345" name="Google Shape;345;p10"/>
          <p:cNvSpPr/>
          <p:nvPr/>
        </p:nvSpPr>
        <p:spPr>
          <a:xfrm>
            <a:off x="548640" y="3081528"/>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0"/>
          <p:cNvSpPr txBox="1"/>
          <p:nvPr/>
        </p:nvSpPr>
        <p:spPr>
          <a:xfrm>
            <a:off x="676656" y="3191256"/>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Grout</a:t>
            </a:r>
            <a:endParaRPr sz="1250" b="0" i="0" u="none" strike="noStrike" cap="none">
              <a:solidFill>
                <a:schemeClr val="dk1"/>
              </a:solidFill>
              <a:latin typeface="Google Sans Flex"/>
              <a:ea typeface="Google Sans Flex"/>
              <a:cs typeface="Google Sans Flex"/>
              <a:sym typeface="Google Sans Flex"/>
            </a:endParaRPr>
          </a:p>
        </p:txBody>
      </p:sp>
      <p:sp>
        <p:nvSpPr>
          <p:cNvPr id="347" name="Google Shape;347;p10"/>
          <p:cNvSpPr txBox="1"/>
          <p:nvPr/>
        </p:nvSpPr>
        <p:spPr>
          <a:xfrm>
            <a:off x="676656" y="3502152"/>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Crack, missing grout, discoloration, mold</a:t>
            </a:r>
            <a:endParaRPr sz="1100" b="0" i="0" u="none" strike="noStrike" cap="none">
              <a:solidFill>
                <a:schemeClr val="dk1"/>
              </a:solidFill>
              <a:latin typeface="Google Sans Flex"/>
              <a:ea typeface="Google Sans Flex"/>
              <a:cs typeface="Google Sans Flex"/>
              <a:sym typeface="Google Sans Flex"/>
            </a:endParaRPr>
          </a:p>
        </p:txBody>
      </p:sp>
      <p:sp>
        <p:nvSpPr>
          <p:cNvPr id="348" name="Google Shape;348;p10"/>
          <p:cNvSpPr/>
          <p:nvPr/>
        </p:nvSpPr>
        <p:spPr>
          <a:xfrm>
            <a:off x="2514600" y="3081528"/>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0"/>
          <p:cNvSpPr txBox="1"/>
          <p:nvPr/>
        </p:nvSpPr>
        <p:spPr>
          <a:xfrm>
            <a:off x="2642616" y="3191256"/>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Wood / vinyl floor</a:t>
            </a:r>
            <a:endParaRPr sz="1250" b="0" i="0" u="none" strike="noStrike" cap="none">
              <a:solidFill>
                <a:schemeClr val="dk1"/>
              </a:solidFill>
              <a:latin typeface="Google Sans Flex"/>
              <a:ea typeface="Google Sans Flex"/>
              <a:cs typeface="Google Sans Flex"/>
              <a:sym typeface="Google Sans Flex"/>
            </a:endParaRPr>
          </a:p>
        </p:txBody>
      </p:sp>
      <p:sp>
        <p:nvSpPr>
          <p:cNvPr id="350" name="Google Shape;350;p10"/>
          <p:cNvSpPr txBox="1"/>
          <p:nvPr/>
        </p:nvSpPr>
        <p:spPr>
          <a:xfrm>
            <a:off x="2642616" y="3502152"/>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Scratch, stain, water damage, damaged boards</a:t>
            </a:r>
            <a:endParaRPr sz="1100" b="0" i="0" u="none" strike="noStrike" cap="none">
              <a:solidFill>
                <a:schemeClr val="dk1"/>
              </a:solidFill>
              <a:latin typeface="Google Sans Flex"/>
              <a:ea typeface="Google Sans Flex"/>
              <a:cs typeface="Google Sans Flex"/>
              <a:sym typeface="Google Sans Flex"/>
            </a:endParaRPr>
          </a:p>
        </p:txBody>
      </p:sp>
      <p:sp>
        <p:nvSpPr>
          <p:cNvPr id="351" name="Google Shape;351;p10"/>
          <p:cNvSpPr/>
          <p:nvPr/>
        </p:nvSpPr>
        <p:spPr>
          <a:xfrm>
            <a:off x="4480560" y="3081528"/>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0"/>
          <p:cNvSpPr txBox="1"/>
          <p:nvPr/>
        </p:nvSpPr>
        <p:spPr>
          <a:xfrm>
            <a:off x="4608576" y="3191256"/>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Countertop</a:t>
            </a:r>
            <a:endParaRPr sz="1250" b="0" i="0" u="none" strike="noStrike" cap="none">
              <a:solidFill>
                <a:schemeClr val="dk1"/>
              </a:solidFill>
              <a:latin typeface="Google Sans Flex"/>
              <a:ea typeface="Google Sans Flex"/>
              <a:cs typeface="Google Sans Flex"/>
              <a:sym typeface="Google Sans Flex"/>
            </a:endParaRPr>
          </a:p>
        </p:txBody>
      </p:sp>
      <p:sp>
        <p:nvSpPr>
          <p:cNvPr id="353" name="Google Shape;353;p10"/>
          <p:cNvSpPr txBox="1"/>
          <p:nvPr/>
        </p:nvSpPr>
        <p:spPr>
          <a:xfrm>
            <a:off x="4608576" y="3502152"/>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Scratch, crack, chip, stain, burn mark, discoloration</a:t>
            </a:r>
            <a:endParaRPr sz="1100" b="0" i="0" u="none" strike="noStrike" cap="none">
              <a:solidFill>
                <a:schemeClr val="dk1"/>
              </a:solidFill>
              <a:latin typeface="Google Sans Flex"/>
              <a:ea typeface="Google Sans Flex"/>
              <a:cs typeface="Google Sans Flex"/>
              <a:sym typeface="Google Sans Flex"/>
            </a:endParaRPr>
          </a:p>
        </p:txBody>
      </p:sp>
      <p:sp>
        <p:nvSpPr>
          <p:cNvPr id="354" name="Google Shape;354;p10"/>
          <p:cNvSpPr/>
          <p:nvPr/>
        </p:nvSpPr>
        <p:spPr>
          <a:xfrm>
            <a:off x="6446520" y="3081528"/>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txBox="1"/>
          <p:nvPr/>
        </p:nvSpPr>
        <p:spPr>
          <a:xfrm>
            <a:off x="6574536" y="3191256"/>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Door</a:t>
            </a:r>
            <a:endParaRPr sz="1250" b="0" i="0" u="none" strike="noStrike" cap="none">
              <a:solidFill>
                <a:schemeClr val="dk1"/>
              </a:solidFill>
              <a:latin typeface="Google Sans Flex"/>
              <a:ea typeface="Google Sans Flex"/>
              <a:cs typeface="Google Sans Flex"/>
              <a:sym typeface="Google Sans Flex"/>
            </a:endParaRPr>
          </a:p>
        </p:txBody>
      </p:sp>
      <p:sp>
        <p:nvSpPr>
          <p:cNvPr id="356" name="Google Shape;356;p10"/>
          <p:cNvSpPr txBox="1"/>
          <p:nvPr/>
        </p:nvSpPr>
        <p:spPr>
          <a:xfrm>
            <a:off x="6574536" y="3502152"/>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Surface damage, hole, crack, scratch, chip, peeling paint</a:t>
            </a:r>
            <a:endParaRPr sz="1100" b="0" i="0" u="none" strike="noStrike" cap="none">
              <a:solidFill>
                <a:schemeClr val="dk1"/>
              </a:solidFill>
              <a:latin typeface="Google Sans Flex"/>
              <a:ea typeface="Google Sans Flex"/>
              <a:cs typeface="Google Sans Flex"/>
              <a:sym typeface="Google Sans Flex"/>
            </a:endParaRPr>
          </a:p>
        </p:txBody>
      </p:sp>
      <p:sp>
        <p:nvSpPr>
          <p:cNvPr id="357" name="Google Shape;357;p10"/>
          <p:cNvSpPr/>
          <p:nvPr/>
        </p:nvSpPr>
        <p:spPr>
          <a:xfrm>
            <a:off x="548640" y="4654296"/>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0"/>
          <p:cNvSpPr txBox="1"/>
          <p:nvPr/>
        </p:nvSpPr>
        <p:spPr>
          <a:xfrm>
            <a:off x="676656" y="4764024"/>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Door lock / handle</a:t>
            </a:r>
            <a:endParaRPr sz="1250" b="0" i="0" u="none" strike="noStrike" cap="none">
              <a:solidFill>
                <a:schemeClr val="dk1"/>
              </a:solidFill>
              <a:latin typeface="Google Sans Flex"/>
              <a:ea typeface="Google Sans Flex"/>
              <a:cs typeface="Google Sans Flex"/>
              <a:sym typeface="Google Sans Flex"/>
            </a:endParaRPr>
          </a:p>
        </p:txBody>
      </p:sp>
      <p:sp>
        <p:nvSpPr>
          <p:cNvPr id="359" name="Google Shape;359;p10"/>
          <p:cNvSpPr txBox="1"/>
          <p:nvPr/>
        </p:nvSpPr>
        <p:spPr>
          <a:xfrm>
            <a:off x="676656" y="5074920"/>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Missing, broken, rust, loose</a:t>
            </a:r>
            <a:endParaRPr sz="1100" b="0" i="0" u="none" strike="noStrike" cap="none">
              <a:solidFill>
                <a:schemeClr val="dk1"/>
              </a:solidFill>
              <a:latin typeface="Google Sans Flex"/>
              <a:ea typeface="Google Sans Flex"/>
              <a:cs typeface="Google Sans Flex"/>
              <a:sym typeface="Google Sans Flex"/>
            </a:endParaRPr>
          </a:p>
        </p:txBody>
      </p:sp>
      <p:sp>
        <p:nvSpPr>
          <p:cNvPr id="360" name="Google Shape;360;p10"/>
          <p:cNvSpPr/>
          <p:nvPr/>
        </p:nvSpPr>
        <p:spPr>
          <a:xfrm>
            <a:off x="2514600" y="4654296"/>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0"/>
          <p:cNvSpPr txBox="1"/>
          <p:nvPr/>
        </p:nvSpPr>
        <p:spPr>
          <a:xfrm>
            <a:off x="2642616" y="4764024"/>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Window</a:t>
            </a:r>
            <a:endParaRPr sz="1250" b="0" i="0" u="none" strike="noStrike" cap="none">
              <a:solidFill>
                <a:schemeClr val="dk1"/>
              </a:solidFill>
              <a:latin typeface="Google Sans Flex"/>
              <a:ea typeface="Google Sans Flex"/>
              <a:cs typeface="Google Sans Flex"/>
              <a:sym typeface="Google Sans Flex"/>
            </a:endParaRPr>
          </a:p>
        </p:txBody>
      </p:sp>
      <p:sp>
        <p:nvSpPr>
          <p:cNvPr id="362" name="Google Shape;362;p10"/>
          <p:cNvSpPr txBox="1"/>
          <p:nvPr/>
        </p:nvSpPr>
        <p:spPr>
          <a:xfrm>
            <a:off x="2642616" y="5074920"/>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Broken or cracked glass, frame damage, wet sill, mold</a:t>
            </a:r>
            <a:endParaRPr sz="1100" b="0" i="0" u="none" strike="noStrike" cap="none">
              <a:solidFill>
                <a:schemeClr val="dk1"/>
              </a:solidFill>
              <a:latin typeface="Google Sans Flex"/>
              <a:ea typeface="Google Sans Flex"/>
              <a:cs typeface="Google Sans Flex"/>
              <a:sym typeface="Google Sans Flex"/>
            </a:endParaRPr>
          </a:p>
        </p:txBody>
      </p:sp>
      <p:sp>
        <p:nvSpPr>
          <p:cNvPr id="363" name="Google Shape;363;p10"/>
          <p:cNvSpPr/>
          <p:nvPr/>
        </p:nvSpPr>
        <p:spPr>
          <a:xfrm>
            <a:off x="4480560" y="4654296"/>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0"/>
          <p:cNvSpPr txBox="1"/>
          <p:nvPr/>
        </p:nvSpPr>
        <p:spPr>
          <a:xfrm>
            <a:off x="4608576" y="4764024"/>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Molding / trim</a:t>
            </a:r>
            <a:endParaRPr sz="1250" b="0" i="0" u="none" strike="noStrike" cap="none">
              <a:solidFill>
                <a:schemeClr val="dk1"/>
              </a:solidFill>
              <a:latin typeface="Google Sans Flex"/>
              <a:ea typeface="Google Sans Flex"/>
              <a:cs typeface="Google Sans Flex"/>
              <a:sym typeface="Google Sans Flex"/>
            </a:endParaRPr>
          </a:p>
        </p:txBody>
      </p:sp>
      <p:sp>
        <p:nvSpPr>
          <p:cNvPr id="365" name="Google Shape;365;p10"/>
          <p:cNvSpPr txBox="1"/>
          <p:nvPr/>
        </p:nvSpPr>
        <p:spPr>
          <a:xfrm>
            <a:off x="4608576" y="5074920"/>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Chip, crack, detached, water damage, missing</a:t>
            </a:r>
            <a:endParaRPr sz="1100" b="0" i="0" u="none" strike="noStrike" cap="none">
              <a:solidFill>
                <a:schemeClr val="dk1"/>
              </a:solidFill>
              <a:latin typeface="Google Sans Flex"/>
              <a:ea typeface="Google Sans Flex"/>
              <a:cs typeface="Google Sans Flex"/>
              <a:sym typeface="Google Sans Flex"/>
            </a:endParaRPr>
          </a:p>
        </p:txBody>
      </p:sp>
      <p:sp>
        <p:nvSpPr>
          <p:cNvPr id="366" name="Google Shape;366;p10"/>
          <p:cNvSpPr/>
          <p:nvPr/>
        </p:nvSpPr>
        <p:spPr>
          <a:xfrm>
            <a:off x="6446520" y="4654296"/>
            <a:ext cx="1847088" cy="1444752"/>
          </a:xfrm>
          <a:prstGeom prst="roundRect">
            <a:avLst>
              <a:gd name="adj" fmla="val 759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0"/>
          <p:cNvSpPr txBox="1"/>
          <p:nvPr/>
        </p:nvSpPr>
        <p:spPr>
          <a:xfrm>
            <a:off x="6574536" y="4764024"/>
            <a:ext cx="16276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Kitchen exhaust</a:t>
            </a:r>
            <a:endParaRPr sz="1250" b="0" i="0" u="none" strike="noStrike" cap="none">
              <a:solidFill>
                <a:schemeClr val="dk1"/>
              </a:solidFill>
              <a:latin typeface="Google Sans Flex"/>
              <a:ea typeface="Google Sans Flex"/>
              <a:cs typeface="Google Sans Flex"/>
              <a:sym typeface="Google Sans Flex"/>
            </a:endParaRPr>
          </a:p>
        </p:txBody>
      </p:sp>
      <p:sp>
        <p:nvSpPr>
          <p:cNvPr id="368" name="Google Shape;368;p10"/>
          <p:cNvSpPr txBox="1"/>
          <p:nvPr/>
        </p:nvSpPr>
        <p:spPr>
          <a:xfrm>
            <a:off x="6574536" y="5074920"/>
            <a:ext cx="1627632" cy="9875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Grease buildup, rust, broken grille, missing filter, dents</a:t>
            </a:r>
            <a:endParaRPr sz="1100" b="0" i="0" u="none" strike="noStrike" cap="none">
              <a:solidFill>
                <a:schemeClr val="dk1"/>
              </a:solidFill>
              <a:latin typeface="Google Sans Flex"/>
              <a:ea typeface="Google Sans Flex"/>
              <a:cs typeface="Google Sans Flex"/>
              <a:sym typeface="Google Sans Flex"/>
            </a:endParaRPr>
          </a:p>
        </p:txBody>
      </p:sp>
      <p:sp>
        <p:nvSpPr>
          <p:cNvPr id="369" name="Google Shape;369;p10"/>
          <p:cNvSpPr/>
          <p:nvPr/>
        </p:nvSpPr>
        <p:spPr>
          <a:xfrm>
            <a:off x="8503920" y="1508760"/>
            <a:ext cx="3154680" cy="1060704"/>
          </a:xfrm>
          <a:prstGeom prst="roundRect">
            <a:avLst>
              <a:gd name="adj" fmla="val 1034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0"/>
          <p:cNvSpPr/>
          <p:nvPr/>
        </p:nvSpPr>
        <p:spPr>
          <a:xfrm>
            <a:off x="8641080" y="1673352"/>
            <a:ext cx="411480" cy="411480"/>
          </a:xfrm>
          <a:prstGeom prst="ellipse">
            <a:avLst/>
          </a:prstGeom>
          <a:solidFill>
            <a:srgbClr val="F87171"/>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1" name="Google Shape;371;p10" descr="preencoded.png"/>
          <p:cNvPicPr preferRelativeResize="0"/>
          <p:nvPr/>
        </p:nvPicPr>
        <p:blipFill rotWithShape="1">
          <a:blip r:embed="rId3">
            <a:alphaModFix/>
          </a:blip>
          <a:srcRect/>
          <a:stretch/>
        </p:blipFill>
        <p:spPr>
          <a:xfrm>
            <a:off x="8743950" y="1776222"/>
            <a:ext cx="205740" cy="205740"/>
          </a:xfrm>
          <a:prstGeom prst="rect">
            <a:avLst/>
          </a:prstGeom>
          <a:noFill/>
          <a:ln>
            <a:noFill/>
          </a:ln>
        </p:spPr>
      </p:pic>
      <p:sp>
        <p:nvSpPr>
          <p:cNvPr id="372" name="Google Shape;372;p10"/>
          <p:cNvSpPr txBox="1"/>
          <p:nvPr/>
        </p:nvSpPr>
        <p:spPr>
          <a:xfrm>
            <a:off x="9189720" y="1618488"/>
            <a:ext cx="23774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Professional review</a:t>
            </a:r>
            <a:endParaRPr sz="1250" b="0" i="0" u="none" strike="noStrike" cap="none">
              <a:solidFill>
                <a:schemeClr val="dk1"/>
              </a:solidFill>
              <a:latin typeface="Google Sans Flex"/>
              <a:ea typeface="Google Sans Flex"/>
              <a:cs typeface="Google Sans Flex"/>
              <a:sym typeface="Google Sans Flex"/>
            </a:endParaRPr>
          </a:p>
        </p:txBody>
      </p:sp>
      <p:sp>
        <p:nvSpPr>
          <p:cNvPr id="373" name="Google Shape;373;p10"/>
          <p:cNvSpPr txBox="1"/>
          <p:nvPr/>
        </p:nvSpPr>
        <p:spPr>
          <a:xfrm>
            <a:off x="9189720" y="1911096"/>
            <a:ext cx="237744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Cracks and deformation get a structural note; water damage and mold get a moisture-source check.</a:t>
            </a:r>
            <a:endParaRPr sz="1100" b="0" i="0" u="none" strike="noStrike" cap="none">
              <a:solidFill>
                <a:schemeClr val="dk1"/>
              </a:solidFill>
              <a:latin typeface="Google Sans Flex"/>
              <a:ea typeface="Google Sans Flex"/>
              <a:cs typeface="Google Sans Flex"/>
              <a:sym typeface="Google Sans Flex"/>
            </a:endParaRPr>
          </a:p>
        </p:txBody>
      </p:sp>
      <p:sp>
        <p:nvSpPr>
          <p:cNvPr id="374" name="Google Shape;374;p10"/>
          <p:cNvSpPr/>
          <p:nvPr/>
        </p:nvSpPr>
        <p:spPr>
          <a:xfrm>
            <a:off x="8503920" y="2688336"/>
            <a:ext cx="3154680" cy="1060704"/>
          </a:xfrm>
          <a:prstGeom prst="roundRect">
            <a:avLst>
              <a:gd name="adj" fmla="val 1034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0"/>
          <p:cNvSpPr/>
          <p:nvPr/>
        </p:nvSpPr>
        <p:spPr>
          <a:xfrm>
            <a:off x="8641080" y="2852928"/>
            <a:ext cx="411480" cy="41148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6" name="Google Shape;376;p10" descr="preencoded.png"/>
          <p:cNvPicPr preferRelativeResize="0"/>
          <p:nvPr/>
        </p:nvPicPr>
        <p:blipFill rotWithShape="1">
          <a:blip r:embed="rId4">
            <a:alphaModFix/>
          </a:blip>
          <a:srcRect/>
          <a:stretch/>
        </p:blipFill>
        <p:spPr>
          <a:xfrm>
            <a:off x="8743950" y="2955798"/>
            <a:ext cx="205740" cy="205740"/>
          </a:xfrm>
          <a:prstGeom prst="rect">
            <a:avLst/>
          </a:prstGeom>
          <a:noFill/>
          <a:ln>
            <a:noFill/>
          </a:ln>
        </p:spPr>
      </p:pic>
      <p:sp>
        <p:nvSpPr>
          <p:cNvPr id="377" name="Google Shape;377;p10"/>
          <p:cNvSpPr txBox="1"/>
          <p:nvPr/>
        </p:nvSpPr>
        <p:spPr>
          <a:xfrm>
            <a:off x="9189720" y="2798064"/>
            <a:ext cx="23774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Manual checks, never AI</a:t>
            </a:r>
            <a:endParaRPr sz="1250" b="0" i="0" u="none" strike="noStrike" cap="none">
              <a:solidFill>
                <a:schemeClr val="dk1"/>
              </a:solidFill>
              <a:latin typeface="Google Sans Flex"/>
              <a:ea typeface="Google Sans Flex"/>
              <a:cs typeface="Google Sans Flex"/>
              <a:sym typeface="Google Sans Flex"/>
            </a:endParaRPr>
          </a:p>
        </p:txBody>
      </p:sp>
      <p:sp>
        <p:nvSpPr>
          <p:cNvPr id="378" name="Google Shape;378;p10"/>
          <p:cNvSpPr txBox="1"/>
          <p:nvPr/>
        </p:nvSpPr>
        <p:spPr>
          <a:xfrm>
            <a:off x="9189720" y="3090672"/>
            <a:ext cx="237744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Doors and windows opening, locks and keys, exhaust fan and motor.</a:t>
            </a:r>
            <a:endParaRPr sz="1100" b="0" i="0" u="none" strike="noStrike" cap="none">
              <a:solidFill>
                <a:schemeClr val="dk1"/>
              </a:solidFill>
              <a:latin typeface="Google Sans Flex"/>
              <a:ea typeface="Google Sans Flex"/>
              <a:cs typeface="Google Sans Flex"/>
              <a:sym typeface="Google Sans Flex"/>
            </a:endParaRPr>
          </a:p>
        </p:txBody>
      </p:sp>
      <p:sp>
        <p:nvSpPr>
          <p:cNvPr id="379" name="Google Shape;379;p10"/>
          <p:cNvSpPr/>
          <p:nvPr/>
        </p:nvSpPr>
        <p:spPr>
          <a:xfrm>
            <a:off x="8503920" y="3867912"/>
            <a:ext cx="3154680" cy="1060704"/>
          </a:xfrm>
          <a:prstGeom prst="roundRect">
            <a:avLst>
              <a:gd name="adj" fmla="val 1034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0"/>
          <p:cNvSpPr/>
          <p:nvPr/>
        </p:nvSpPr>
        <p:spPr>
          <a:xfrm>
            <a:off x="8641080" y="4032504"/>
            <a:ext cx="411480" cy="411480"/>
          </a:xfrm>
          <a:prstGeom prst="ellipse">
            <a:avLst/>
          </a:prstGeom>
          <a:solidFill>
            <a:srgbClr val="22D3EE"/>
          </a:solidFill>
          <a:ln w="12700" cap="flat" cmpd="sng">
            <a:solidFill>
              <a:srgbClr val="22D3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1" name="Google Shape;381;p10" descr="preencoded.png"/>
          <p:cNvPicPr preferRelativeResize="0"/>
          <p:nvPr/>
        </p:nvPicPr>
        <p:blipFill rotWithShape="1">
          <a:blip r:embed="rId5">
            <a:alphaModFix/>
          </a:blip>
          <a:srcRect/>
          <a:stretch/>
        </p:blipFill>
        <p:spPr>
          <a:xfrm>
            <a:off x="8743950" y="4135374"/>
            <a:ext cx="205740" cy="205740"/>
          </a:xfrm>
          <a:prstGeom prst="rect">
            <a:avLst/>
          </a:prstGeom>
          <a:noFill/>
          <a:ln>
            <a:noFill/>
          </a:ln>
        </p:spPr>
      </p:pic>
      <p:sp>
        <p:nvSpPr>
          <p:cNvPr id="382" name="Google Shape;382;p10"/>
          <p:cNvSpPr txBox="1"/>
          <p:nvPr/>
        </p:nvSpPr>
        <p:spPr>
          <a:xfrm>
            <a:off x="9189720" y="3977640"/>
            <a:ext cx="23774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Look-alikes rejected</a:t>
            </a:r>
            <a:endParaRPr sz="1250" b="0" i="0" u="none" strike="noStrike" cap="none">
              <a:solidFill>
                <a:schemeClr val="dk1"/>
              </a:solidFill>
              <a:latin typeface="Google Sans Flex"/>
              <a:ea typeface="Google Sans Flex"/>
              <a:cs typeface="Google Sans Flex"/>
              <a:sym typeface="Google Sans Flex"/>
            </a:endParaRPr>
          </a:p>
        </p:txBody>
      </p:sp>
      <p:sp>
        <p:nvSpPr>
          <p:cNvPr id="383" name="Google Shape;383;p10"/>
          <p:cNvSpPr txBox="1"/>
          <p:nvPr/>
        </p:nvSpPr>
        <p:spPr>
          <a:xfrm>
            <a:off x="9189720" y="4270248"/>
            <a:ext cx="237744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The verifier is shown grout lines, wood grain, shadows, reflections and outlets.</a:t>
            </a:r>
            <a:endParaRPr sz="1100" b="0" i="0" u="none" strike="noStrike" cap="none">
              <a:solidFill>
                <a:schemeClr val="dk1"/>
              </a:solidFill>
              <a:latin typeface="Google Sans Flex"/>
              <a:ea typeface="Google Sans Flex"/>
              <a:cs typeface="Google Sans Flex"/>
              <a:sym typeface="Google Sans Flex"/>
            </a:endParaRPr>
          </a:p>
        </p:txBody>
      </p:sp>
      <p:sp>
        <p:nvSpPr>
          <p:cNvPr id="384" name="Google Shape;384;p10"/>
          <p:cNvSpPr/>
          <p:nvPr/>
        </p:nvSpPr>
        <p:spPr>
          <a:xfrm>
            <a:off x="8503920" y="5047488"/>
            <a:ext cx="3154680" cy="1060704"/>
          </a:xfrm>
          <a:prstGeom prst="roundRect">
            <a:avLst>
              <a:gd name="adj" fmla="val 10345"/>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0"/>
          <p:cNvSpPr/>
          <p:nvPr/>
        </p:nvSpPr>
        <p:spPr>
          <a:xfrm>
            <a:off x="8641080" y="5212080"/>
            <a:ext cx="411480" cy="411480"/>
          </a:xfrm>
          <a:prstGeom prst="ellipse">
            <a:avLst/>
          </a:prstGeom>
          <a:solidFill>
            <a:srgbClr val="94A3B8"/>
          </a:solidFill>
          <a:ln w="12700" cap="flat" cmpd="sng">
            <a:solidFill>
              <a:srgbClr val="94A3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6" name="Google Shape;386;p10" descr="preencoded.png"/>
          <p:cNvPicPr preferRelativeResize="0"/>
          <p:nvPr/>
        </p:nvPicPr>
        <p:blipFill rotWithShape="1">
          <a:blip r:embed="rId6">
            <a:alphaModFix/>
          </a:blip>
          <a:srcRect/>
          <a:stretch/>
        </p:blipFill>
        <p:spPr>
          <a:xfrm>
            <a:off x="8743950" y="5314950"/>
            <a:ext cx="205740" cy="205740"/>
          </a:xfrm>
          <a:prstGeom prst="rect">
            <a:avLst/>
          </a:prstGeom>
          <a:noFill/>
          <a:ln>
            <a:noFill/>
          </a:ln>
        </p:spPr>
      </p:pic>
      <p:sp>
        <p:nvSpPr>
          <p:cNvPr id="387" name="Google Shape;387;p10"/>
          <p:cNvSpPr txBox="1"/>
          <p:nvPr/>
        </p:nvSpPr>
        <p:spPr>
          <a:xfrm>
            <a:off x="9189720" y="5157216"/>
            <a:ext cx="23774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Not inspected</a:t>
            </a:r>
            <a:endParaRPr sz="1250" b="0" i="0" u="none" strike="noStrike" cap="none">
              <a:solidFill>
                <a:schemeClr val="dk1"/>
              </a:solidFill>
              <a:latin typeface="Google Sans Flex"/>
              <a:ea typeface="Google Sans Flex"/>
              <a:cs typeface="Google Sans Flex"/>
              <a:sym typeface="Google Sans Flex"/>
            </a:endParaRPr>
          </a:p>
        </p:txBody>
      </p:sp>
      <p:sp>
        <p:nvSpPr>
          <p:cNvPr id="388" name="Google Shape;388;p10"/>
          <p:cNvSpPr txBox="1"/>
          <p:nvPr/>
        </p:nvSpPr>
        <p:spPr>
          <a:xfrm>
            <a:off x="9189720" y="5449824"/>
            <a:ext cx="237744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Furniture, cupboards, rugs and carpets.</a:t>
            </a:r>
            <a:endParaRPr sz="1100" b="0" i="0" u="none" strike="noStrike" cap="none">
              <a:solidFill>
                <a:schemeClr val="dk1"/>
              </a:solidFill>
              <a:latin typeface="Google Sans Flex"/>
              <a:ea typeface="Google Sans Flex"/>
              <a:cs typeface="Google Sans Flex"/>
              <a:sym typeface="Google Sans Flex"/>
            </a:endParaRPr>
          </a:p>
        </p:txBody>
      </p:sp>
      <p:sp>
        <p:nvSpPr>
          <p:cNvPr id="389" name="Google Shape;389;p10"/>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10</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1"/>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EXPLAINABLE RISK ENGINE</a:t>
            </a:r>
            <a:endParaRPr sz="1150"/>
          </a:p>
        </p:txBody>
      </p:sp>
      <p:sp>
        <p:nvSpPr>
          <p:cNvPr id="396" name="Google Shape;396;p11"/>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Every decision shows its reasons</a:t>
            </a:r>
            <a:endParaRPr sz="2850"/>
          </a:p>
        </p:txBody>
      </p:sp>
      <p:sp>
        <p:nvSpPr>
          <p:cNvPr id="397" name="Google Shape;397;p11"/>
          <p:cNvSpPr/>
          <p:nvPr/>
        </p:nvSpPr>
        <p:spPr>
          <a:xfrm>
            <a:off x="512064" y="1565910"/>
            <a:ext cx="6108192" cy="3845052"/>
          </a:xfrm>
          <a:prstGeom prst="roundRect">
            <a:avLst>
              <a:gd name="adj" fmla="val 2378"/>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8" name="Google Shape;398;p11" descr="risk-panel-screenshot"/>
          <p:cNvPicPr preferRelativeResize="0"/>
          <p:nvPr/>
        </p:nvPicPr>
        <p:blipFill rotWithShape="1">
          <a:blip r:embed="rId3">
            <a:alphaModFix/>
          </a:blip>
          <a:srcRect/>
          <a:stretch/>
        </p:blipFill>
        <p:spPr>
          <a:xfrm>
            <a:off x="548640" y="1602486"/>
            <a:ext cx="6035040" cy="3771900"/>
          </a:xfrm>
          <a:prstGeom prst="rect">
            <a:avLst/>
          </a:prstGeom>
          <a:noFill/>
          <a:ln>
            <a:noFill/>
          </a:ln>
        </p:spPr>
      </p:pic>
      <p:sp>
        <p:nvSpPr>
          <p:cNvPr id="399" name="Google Shape;399;p11"/>
          <p:cNvSpPr txBox="1"/>
          <p:nvPr/>
        </p:nvSpPr>
        <p:spPr>
          <a:xfrm>
            <a:off x="548640" y="5440680"/>
            <a:ext cx="6035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1" u="none" strike="noStrike" cap="none">
                <a:solidFill>
                  <a:schemeClr val="dk2"/>
                </a:solidFill>
                <a:latin typeface="Google Sans Flex"/>
                <a:ea typeface="Google Sans Flex"/>
                <a:cs typeface="Google Sans Flex"/>
                <a:sym typeface="Google Sans Flex"/>
              </a:rPr>
              <a:t>Live app: property risk &amp; valuation panel for the case-study walkthrough</a:t>
            </a:r>
            <a:endParaRPr sz="1000" b="0" i="0" u="none" strike="noStrike" cap="none">
              <a:solidFill>
                <a:schemeClr val="dk1"/>
              </a:solidFill>
              <a:latin typeface="Google Sans Flex"/>
              <a:ea typeface="Google Sans Flex"/>
              <a:cs typeface="Google Sans Flex"/>
              <a:sym typeface="Google Sans Flex"/>
            </a:endParaRPr>
          </a:p>
        </p:txBody>
      </p:sp>
      <p:sp>
        <p:nvSpPr>
          <p:cNvPr id="400" name="Google Shape;400;p11"/>
          <p:cNvSpPr/>
          <p:nvPr/>
        </p:nvSpPr>
        <p:spPr>
          <a:xfrm>
            <a:off x="6949440" y="1600200"/>
            <a:ext cx="4709160" cy="1417320"/>
          </a:xfrm>
          <a:prstGeom prst="roundRect">
            <a:avLst>
              <a:gd name="adj" fmla="val 7742"/>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txBox="1"/>
          <p:nvPr/>
        </p:nvSpPr>
        <p:spPr>
          <a:xfrm>
            <a:off x="7178040" y="1737360"/>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Condition score</a:t>
            </a:r>
            <a:endParaRPr sz="1250" b="0" i="0" u="none" strike="noStrike" cap="none">
              <a:solidFill>
                <a:schemeClr val="dk1"/>
              </a:solidFill>
              <a:latin typeface="Google Sans Flex"/>
              <a:ea typeface="Google Sans Flex"/>
              <a:cs typeface="Google Sans Flex"/>
              <a:sym typeface="Google Sans Flex"/>
            </a:endParaRPr>
          </a:p>
        </p:txBody>
      </p:sp>
      <p:sp>
        <p:nvSpPr>
          <p:cNvPr id="402" name="Google Shape;402;p11"/>
          <p:cNvSpPr txBox="1"/>
          <p:nvPr/>
        </p:nvSpPr>
        <p:spPr>
          <a:xfrm>
            <a:off x="7178040" y="2029968"/>
            <a:ext cx="42976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450" b="1" i="0" u="none" strike="noStrike" cap="none">
                <a:solidFill>
                  <a:schemeClr val="dk1"/>
                </a:solidFill>
                <a:latin typeface="Google Sans Flex"/>
                <a:ea typeface="Google Sans Flex"/>
                <a:cs typeface="Google Sans Flex"/>
                <a:sym typeface="Google Sans Flex"/>
              </a:rPr>
              <a:t>100 − Σ (points × severity × state weight)</a:t>
            </a:r>
            <a:endParaRPr sz="1450" b="0" i="0" u="none" strike="noStrike" cap="none">
              <a:solidFill>
                <a:schemeClr val="dk1"/>
              </a:solidFill>
              <a:latin typeface="Google Sans Flex"/>
              <a:ea typeface="Google Sans Flex"/>
              <a:cs typeface="Google Sans Flex"/>
              <a:sym typeface="Google Sans Flex"/>
            </a:endParaRPr>
          </a:p>
        </p:txBody>
      </p:sp>
      <p:sp>
        <p:nvSpPr>
          <p:cNvPr id="403" name="Google Shape;403;p11"/>
          <p:cNvSpPr/>
          <p:nvPr/>
        </p:nvSpPr>
        <p:spPr>
          <a:xfrm>
            <a:off x="7178040" y="2487168"/>
            <a:ext cx="365760" cy="365760"/>
          </a:xfrm>
          <a:prstGeom prst="roundRect">
            <a:avLst>
              <a:gd name="adj" fmla="val 15000"/>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txBox="1"/>
          <p:nvPr/>
        </p:nvSpPr>
        <p:spPr>
          <a:xfrm>
            <a:off x="7178040" y="2487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350" b="1" i="0" u="none" strike="noStrike" cap="none">
                <a:solidFill>
                  <a:srgbClr val="FFFFFF"/>
                </a:solidFill>
                <a:latin typeface="Google Sans Flex"/>
                <a:ea typeface="Google Sans Flex"/>
                <a:cs typeface="Google Sans Flex"/>
                <a:sym typeface="Google Sans Flex"/>
              </a:rPr>
              <a:t>A</a:t>
            </a:r>
            <a:endParaRPr sz="1350" b="0" i="0" u="none" strike="noStrike" cap="none">
              <a:solidFill>
                <a:schemeClr val="dk1"/>
              </a:solidFill>
              <a:latin typeface="Google Sans Flex"/>
              <a:ea typeface="Google Sans Flex"/>
              <a:cs typeface="Google Sans Flex"/>
              <a:sym typeface="Google Sans Flex"/>
            </a:endParaRPr>
          </a:p>
        </p:txBody>
      </p:sp>
      <p:sp>
        <p:nvSpPr>
          <p:cNvPr id="405" name="Google Shape;405;p11"/>
          <p:cNvSpPr txBox="1"/>
          <p:nvPr/>
        </p:nvSpPr>
        <p:spPr>
          <a:xfrm>
            <a:off x="7571232" y="2487168"/>
            <a:ext cx="457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≥85</a:t>
            </a:r>
            <a:endParaRPr sz="1100" b="0" i="0" u="none" strike="noStrike" cap="none">
              <a:solidFill>
                <a:schemeClr val="dk1"/>
              </a:solidFill>
              <a:latin typeface="Google Sans Flex"/>
              <a:ea typeface="Google Sans Flex"/>
              <a:cs typeface="Google Sans Flex"/>
              <a:sym typeface="Google Sans Flex"/>
            </a:endParaRPr>
          </a:p>
        </p:txBody>
      </p:sp>
      <p:sp>
        <p:nvSpPr>
          <p:cNvPr id="406" name="Google Shape;406;p11"/>
          <p:cNvSpPr/>
          <p:nvPr/>
        </p:nvSpPr>
        <p:spPr>
          <a:xfrm>
            <a:off x="8046720" y="2487168"/>
            <a:ext cx="365760" cy="365760"/>
          </a:xfrm>
          <a:prstGeom prst="roundRect">
            <a:avLst>
              <a:gd name="adj" fmla="val 15000"/>
            </a:avLst>
          </a:prstGeom>
          <a:solidFill>
            <a:srgbClr val="65A30D"/>
          </a:solidFill>
          <a:ln w="12700" cap="flat" cmpd="sng">
            <a:solidFill>
              <a:srgbClr val="65A30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1"/>
          <p:cNvSpPr txBox="1"/>
          <p:nvPr/>
        </p:nvSpPr>
        <p:spPr>
          <a:xfrm>
            <a:off x="8046720" y="2487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350" b="1" i="0" u="none" strike="noStrike" cap="none">
                <a:solidFill>
                  <a:srgbClr val="FFFFFF"/>
                </a:solidFill>
                <a:latin typeface="Google Sans Flex"/>
                <a:ea typeface="Google Sans Flex"/>
                <a:cs typeface="Google Sans Flex"/>
                <a:sym typeface="Google Sans Flex"/>
              </a:rPr>
              <a:t>B</a:t>
            </a:r>
            <a:endParaRPr sz="1350" b="0" i="0" u="none" strike="noStrike" cap="none">
              <a:solidFill>
                <a:schemeClr val="dk1"/>
              </a:solidFill>
              <a:latin typeface="Google Sans Flex"/>
              <a:ea typeface="Google Sans Flex"/>
              <a:cs typeface="Google Sans Flex"/>
              <a:sym typeface="Google Sans Flex"/>
            </a:endParaRPr>
          </a:p>
        </p:txBody>
      </p:sp>
      <p:sp>
        <p:nvSpPr>
          <p:cNvPr id="408" name="Google Shape;408;p11"/>
          <p:cNvSpPr txBox="1"/>
          <p:nvPr/>
        </p:nvSpPr>
        <p:spPr>
          <a:xfrm>
            <a:off x="8439912" y="2487168"/>
            <a:ext cx="457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≥70</a:t>
            </a:r>
            <a:endParaRPr sz="1100" b="0" i="0" u="none" strike="noStrike" cap="none">
              <a:solidFill>
                <a:schemeClr val="dk1"/>
              </a:solidFill>
              <a:latin typeface="Google Sans Flex"/>
              <a:ea typeface="Google Sans Flex"/>
              <a:cs typeface="Google Sans Flex"/>
              <a:sym typeface="Google Sans Flex"/>
            </a:endParaRPr>
          </a:p>
        </p:txBody>
      </p:sp>
      <p:sp>
        <p:nvSpPr>
          <p:cNvPr id="409" name="Google Shape;409;p11"/>
          <p:cNvSpPr/>
          <p:nvPr/>
        </p:nvSpPr>
        <p:spPr>
          <a:xfrm>
            <a:off x="8915400" y="2487168"/>
            <a:ext cx="365760" cy="365760"/>
          </a:xfrm>
          <a:prstGeom prst="roundRect">
            <a:avLst>
              <a:gd name="adj" fmla="val 15000"/>
            </a:avLst>
          </a:prstGeom>
          <a:solidFill>
            <a:srgbClr val="CA8A04"/>
          </a:solidFill>
          <a:ln w="12700" cap="flat" cmpd="sng">
            <a:solidFill>
              <a:srgbClr val="CA8A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txBox="1"/>
          <p:nvPr/>
        </p:nvSpPr>
        <p:spPr>
          <a:xfrm>
            <a:off x="8915400" y="2487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350" b="1" i="0" u="none" strike="noStrike" cap="none">
                <a:solidFill>
                  <a:srgbClr val="FFFFFF"/>
                </a:solidFill>
                <a:latin typeface="Google Sans Flex"/>
                <a:ea typeface="Google Sans Flex"/>
                <a:cs typeface="Google Sans Flex"/>
                <a:sym typeface="Google Sans Flex"/>
              </a:rPr>
              <a:t>C</a:t>
            </a:r>
            <a:endParaRPr sz="1350" b="0" i="0" u="none" strike="noStrike" cap="none">
              <a:solidFill>
                <a:schemeClr val="dk1"/>
              </a:solidFill>
              <a:latin typeface="Google Sans Flex"/>
              <a:ea typeface="Google Sans Flex"/>
              <a:cs typeface="Google Sans Flex"/>
              <a:sym typeface="Google Sans Flex"/>
            </a:endParaRPr>
          </a:p>
        </p:txBody>
      </p:sp>
      <p:sp>
        <p:nvSpPr>
          <p:cNvPr id="411" name="Google Shape;411;p11"/>
          <p:cNvSpPr txBox="1"/>
          <p:nvPr/>
        </p:nvSpPr>
        <p:spPr>
          <a:xfrm>
            <a:off x="9308592" y="2487168"/>
            <a:ext cx="457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≥50</a:t>
            </a:r>
            <a:endParaRPr sz="1100" b="0" i="0" u="none" strike="noStrike" cap="none">
              <a:solidFill>
                <a:schemeClr val="dk1"/>
              </a:solidFill>
              <a:latin typeface="Google Sans Flex"/>
              <a:ea typeface="Google Sans Flex"/>
              <a:cs typeface="Google Sans Flex"/>
              <a:sym typeface="Google Sans Flex"/>
            </a:endParaRPr>
          </a:p>
        </p:txBody>
      </p:sp>
      <p:sp>
        <p:nvSpPr>
          <p:cNvPr id="412" name="Google Shape;412;p11"/>
          <p:cNvSpPr/>
          <p:nvPr/>
        </p:nvSpPr>
        <p:spPr>
          <a:xfrm>
            <a:off x="9784080" y="2487168"/>
            <a:ext cx="365760" cy="365760"/>
          </a:xfrm>
          <a:prstGeom prst="roundRect">
            <a:avLst>
              <a:gd name="adj" fmla="val 15000"/>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txBox="1"/>
          <p:nvPr/>
        </p:nvSpPr>
        <p:spPr>
          <a:xfrm>
            <a:off x="9784080" y="2487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350" b="1" i="0" u="none" strike="noStrike" cap="none">
                <a:solidFill>
                  <a:srgbClr val="FFFFFF"/>
                </a:solidFill>
                <a:latin typeface="Google Sans Flex"/>
                <a:ea typeface="Google Sans Flex"/>
                <a:cs typeface="Google Sans Flex"/>
                <a:sym typeface="Google Sans Flex"/>
              </a:rPr>
              <a:t>D</a:t>
            </a:r>
            <a:endParaRPr sz="1350" b="0" i="0" u="none" strike="noStrike" cap="none">
              <a:solidFill>
                <a:schemeClr val="dk1"/>
              </a:solidFill>
              <a:latin typeface="Google Sans Flex"/>
              <a:ea typeface="Google Sans Flex"/>
              <a:cs typeface="Google Sans Flex"/>
              <a:sym typeface="Google Sans Flex"/>
            </a:endParaRPr>
          </a:p>
        </p:txBody>
      </p:sp>
      <p:sp>
        <p:nvSpPr>
          <p:cNvPr id="414" name="Google Shape;414;p11"/>
          <p:cNvSpPr txBox="1"/>
          <p:nvPr/>
        </p:nvSpPr>
        <p:spPr>
          <a:xfrm>
            <a:off x="10177272" y="2487168"/>
            <a:ext cx="457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≥30</a:t>
            </a:r>
            <a:endParaRPr sz="1100" b="0" i="0" u="none" strike="noStrike" cap="none">
              <a:solidFill>
                <a:schemeClr val="dk1"/>
              </a:solidFill>
              <a:latin typeface="Google Sans Flex"/>
              <a:ea typeface="Google Sans Flex"/>
              <a:cs typeface="Google Sans Flex"/>
              <a:sym typeface="Google Sans Flex"/>
            </a:endParaRPr>
          </a:p>
        </p:txBody>
      </p:sp>
      <p:sp>
        <p:nvSpPr>
          <p:cNvPr id="415" name="Google Shape;415;p11"/>
          <p:cNvSpPr/>
          <p:nvPr/>
        </p:nvSpPr>
        <p:spPr>
          <a:xfrm>
            <a:off x="10652760" y="2487168"/>
            <a:ext cx="365760" cy="365760"/>
          </a:xfrm>
          <a:prstGeom prst="roundRect">
            <a:avLst>
              <a:gd name="adj" fmla="val 15000"/>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1"/>
          <p:cNvSpPr txBox="1"/>
          <p:nvPr/>
        </p:nvSpPr>
        <p:spPr>
          <a:xfrm>
            <a:off x="10652760" y="24871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350" b="1" i="0" u="none" strike="noStrike" cap="none">
                <a:solidFill>
                  <a:srgbClr val="FFFFFF"/>
                </a:solidFill>
                <a:latin typeface="Google Sans Flex"/>
                <a:ea typeface="Google Sans Flex"/>
                <a:cs typeface="Google Sans Flex"/>
                <a:sym typeface="Google Sans Flex"/>
              </a:rPr>
              <a:t>E</a:t>
            </a:r>
            <a:endParaRPr sz="1350" b="0" i="0" u="none" strike="noStrike" cap="none">
              <a:solidFill>
                <a:schemeClr val="dk1"/>
              </a:solidFill>
              <a:latin typeface="Google Sans Flex"/>
              <a:ea typeface="Google Sans Flex"/>
              <a:cs typeface="Google Sans Flex"/>
              <a:sym typeface="Google Sans Flex"/>
            </a:endParaRPr>
          </a:p>
        </p:txBody>
      </p:sp>
      <p:sp>
        <p:nvSpPr>
          <p:cNvPr id="417" name="Google Shape;417;p11"/>
          <p:cNvSpPr txBox="1"/>
          <p:nvPr/>
        </p:nvSpPr>
        <p:spPr>
          <a:xfrm>
            <a:off x="11045952" y="2487168"/>
            <a:ext cx="457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&lt;30</a:t>
            </a:r>
            <a:endParaRPr sz="1100" b="0" i="0" u="none" strike="noStrike" cap="none">
              <a:solidFill>
                <a:schemeClr val="dk1"/>
              </a:solidFill>
              <a:latin typeface="Google Sans Flex"/>
              <a:ea typeface="Google Sans Flex"/>
              <a:cs typeface="Google Sans Flex"/>
              <a:sym typeface="Google Sans Flex"/>
            </a:endParaRPr>
          </a:p>
        </p:txBody>
      </p:sp>
      <p:sp>
        <p:nvSpPr>
          <p:cNvPr id="418" name="Google Shape;418;p11"/>
          <p:cNvSpPr/>
          <p:nvPr/>
        </p:nvSpPr>
        <p:spPr>
          <a:xfrm>
            <a:off x="6949440" y="3154680"/>
            <a:ext cx="4709160" cy="2971800"/>
          </a:xfrm>
          <a:prstGeom prst="roundRect">
            <a:avLst>
              <a:gd name="adj" fmla="val 3692"/>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txBox="1"/>
          <p:nvPr/>
        </p:nvSpPr>
        <p:spPr>
          <a:xfrm>
            <a:off x="7178040" y="3291840"/>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Underwriting decisions</a:t>
            </a:r>
            <a:endParaRPr sz="1250" b="0" i="0" u="none" strike="noStrike" cap="none">
              <a:solidFill>
                <a:schemeClr val="dk1"/>
              </a:solidFill>
              <a:latin typeface="Google Sans Flex"/>
              <a:ea typeface="Google Sans Flex"/>
              <a:cs typeface="Google Sans Flex"/>
              <a:sym typeface="Google Sans Flex"/>
            </a:endParaRPr>
          </a:p>
        </p:txBody>
      </p:sp>
      <p:sp>
        <p:nvSpPr>
          <p:cNvPr id="420" name="Google Shape;420;p11"/>
          <p:cNvSpPr/>
          <p:nvPr/>
        </p:nvSpPr>
        <p:spPr>
          <a:xfrm>
            <a:off x="7205472" y="3703320"/>
            <a:ext cx="146304" cy="146304"/>
          </a:xfrm>
          <a:prstGeom prst="ellipse">
            <a:avLst/>
          </a:prstGeom>
          <a:solidFill>
            <a:srgbClr val="22C55E"/>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txBox="1"/>
          <p:nvPr/>
        </p:nvSpPr>
        <p:spPr>
          <a:xfrm>
            <a:off x="7452360" y="3630168"/>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PROCEED</a:t>
            </a:r>
            <a:endParaRPr sz="1250" b="0" i="0" u="none" strike="noStrike" cap="none">
              <a:solidFill>
                <a:schemeClr val="dk1"/>
              </a:solidFill>
              <a:latin typeface="Google Sans Flex"/>
              <a:ea typeface="Google Sans Flex"/>
              <a:cs typeface="Google Sans Flex"/>
              <a:sym typeface="Google Sans Flex"/>
            </a:endParaRPr>
          </a:p>
        </p:txBody>
      </p:sp>
      <p:sp>
        <p:nvSpPr>
          <p:cNvPr id="422" name="Google Shape;422;p11"/>
          <p:cNvSpPr/>
          <p:nvPr/>
        </p:nvSpPr>
        <p:spPr>
          <a:xfrm>
            <a:off x="7205472" y="4096512"/>
            <a:ext cx="146304" cy="146304"/>
          </a:xfrm>
          <a:prstGeom prst="ellipse">
            <a:avLst/>
          </a:prstGeom>
          <a:solidFill>
            <a:srgbClr val="22C55E"/>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1"/>
          <p:cNvSpPr txBox="1"/>
          <p:nvPr/>
        </p:nvSpPr>
        <p:spPr>
          <a:xfrm>
            <a:off x="7452360" y="4023360"/>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PROCEED WITH CONDITIONS: note defects</a:t>
            </a:r>
            <a:endParaRPr sz="1250" b="0" i="0" u="none" strike="noStrike" cap="none">
              <a:solidFill>
                <a:schemeClr val="dk1"/>
              </a:solidFill>
              <a:latin typeface="Google Sans Flex"/>
              <a:ea typeface="Google Sans Flex"/>
              <a:cs typeface="Google Sans Flex"/>
              <a:sym typeface="Google Sans Flex"/>
            </a:endParaRPr>
          </a:p>
        </p:txBody>
      </p:sp>
      <p:sp>
        <p:nvSpPr>
          <p:cNvPr id="424" name="Google Shape;424;p11"/>
          <p:cNvSpPr/>
          <p:nvPr/>
        </p:nvSpPr>
        <p:spPr>
          <a:xfrm>
            <a:off x="7205472" y="4489704"/>
            <a:ext cx="146304" cy="146304"/>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1"/>
          <p:cNvSpPr txBox="1"/>
          <p:nvPr/>
        </p:nvSpPr>
        <p:spPr>
          <a:xfrm>
            <a:off x="7452360" y="4416552"/>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PROCEED WITH CONDITIONS: repairs / retention</a:t>
            </a:r>
            <a:endParaRPr sz="1250" b="0" i="0" u="none" strike="noStrike" cap="none">
              <a:solidFill>
                <a:schemeClr val="dk1"/>
              </a:solidFill>
              <a:latin typeface="Google Sans Flex"/>
              <a:ea typeface="Google Sans Flex"/>
              <a:cs typeface="Google Sans Flex"/>
              <a:sym typeface="Google Sans Flex"/>
            </a:endParaRPr>
          </a:p>
        </p:txBody>
      </p:sp>
      <p:sp>
        <p:nvSpPr>
          <p:cNvPr id="426" name="Google Shape;426;p11"/>
          <p:cNvSpPr/>
          <p:nvPr/>
        </p:nvSpPr>
        <p:spPr>
          <a:xfrm>
            <a:off x="7205472" y="4882896"/>
            <a:ext cx="146304" cy="146304"/>
          </a:xfrm>
          <a:prstGeom prst="ellipse">
            <a:avLst/>
          </a:prstGeom>
          <a:solidFill>
            <a:srgbClr val="F87171"/>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1"/>
          <p:cNvSpPr txBox="1"/>
          <p:nvPr/>
        </p:nvSpPr>
        <p:spPr>
          <a:xfrm>
            <a:off x="7452360" y="4809744"/>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REFER: professional survey required</a:t>
            </a:r>
            <a:endParaRPr sz="1250" b="0" i="0" u="none" strike="noStrike" cap="none">
              <a:solidFill>
                <a:schemeClr val="dk1"/>
              </a:solidFill>
              <a:latin typeface="Google Sans Flex"/>
              <a:ea typeface="Google Sans Flex"/>
              <a:cs typeface="Google Sans Flex"/>
              <a:sym typeface="Google Sans Flex"/>
            </a:endParaRPr>
          </a:p>
        </p:txBody>
      </p:sp>
      <p:sp>
        <p:nvSpPr>
          <p:cNvPr id="428" name="Google Shape;428;p11"/>
          <p:cNvSpPr/>
          <p:nvPr/>
        </p:nvSpPr>
        <p:spPr>
          <a:xfrm>
            <a:off x="7205472" y="5276088"/>
            <a:ext cx="146304" cy="146304"/>
          </a:xfrm>
          <a:prstGeom prst="ellipse">
            <a:avLst/>
          </a:prstGeom>
          <a:solidFill>
            <a:srgbClr val="F87171"/>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1"/>
          <p:cNvSpPr txBox="1"/>
          <p:nvPr/>
        </p:nvSpPr>
        <p:spPr>
          <a:xfrm>
            <a:off x="7452360" y="5202936"/>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REFER: evidence integrity</a:t>
            </a:r>
            <a:endParaRPr sz="1250" b="0" i="0" u="none" strike="noStrike" cap="none">
              <a:solidFill>
                <a:schemeClr val="dk1"/>
              </a:solidFill>
              <a:latin typeface="Google Sans Flex"/>
              <a:ea typeface="Google Sans Flex"/>
              <a:cs typeface="Google Sans Flex"/>
              <a:sym typeface="Google Sans Flex"/>
            </a:endParaRPr>
          </a:p>
        </p:txBody>
      </p:sp>
      <p:sp>
        <p:nvSpPr>
          <p:cNvPr id="430" name="Google Shape;430;p11"/>
          <p:cNvSpPr/>
          <p:nvPr/>
        </p:nvSpPr>
        <p:spPr>
          <a:xfrm>
            <a:off x="7205472" y="5669280"/>
            <a:ext cx="146304" cy="146304"/>
          </a:xfrm>
          <a:prstGeom prst="ellipse">
            <a:avLst/>
          </a:prstGeom>
          <a:solidFill>
            <a:srgbClr val="F87171"/>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txBox="1"/>
          <p:nvPr/>
        </p:nvSpPr>
        <p:spPr>
          <a:xfrm>
            <a:off x="7452360" y="5596128"/>
            <a:ext cx="41148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0" i="0" u="none" strike="noStrike" cap="none">
                <a:solidFill>
                  <a:schemeClr val="dk1"/>
                </a:solidFill>
                <a:latin typeface="Google Sans Flex"/>
                <a:ea typeface="Google Sans Flex"/>
                <a:cs typeface="Google Sans Flex"/>
                <a:sym typeface="Google Sans Flex"/>
              </a:rPr>
              <a:t>REFER: additional evidence required</a:t>
            </a:r>
            <a:endParaRPr sz="1250" b="0" i="0" u="none" strike="noStrike" cap="none">
              <a:solidFill>
                <a:schemeClr val="dk1"/>
              </a:solidFill>
              <a:latin typeface="Google Sans Flex"/>
              <a:ea typeface="Google Sans Flex"/>
              <a:cs typeface="Google Sans Flex"/>
              <a:sym typeface="Google Sans Flex"/>
            </a:endParaRPr>
          </a:p>
        </p:txBody>
      </p:sp>
      <p:sp>
        <p:nvSpPr>
          <p:cNvPr id="432" name="Google Shape;432;p11"/>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11</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2"/>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FRAUD &amp; EVIDENCE INTEGRITY</a:t>
            </a:r>
            <a:endParaRPr sz="1150"/>
          </a:p>
        </p:txBody>
      </p:sp>
      <p:sp>
        <p:nvSpPr>
          <p:cNvPr id="439" name="Google Shape;439;p12"/>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Fraud checks run on every walkthrough video</a:t>
            </a:r>
            <a:endParaRPr sz="2850"/>
          </a:p>
        </p:txBody>
      </p:sp>
      <p:sp>
        <p:nvSpPr>
          <p:cNvPr id="440" name="Google Shape;440;p12"/>
          <p:cNvSpPr/>
          <p:nvPr/>
        </p:nvSpPr>
        <p:spPr>
          <a:xfrm>
            <a:off x="548640" y="1600200"/>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2"/>
          <p:cNvSpPr/>
          <p:nvPr/>
        </p:nvSpPr>
        <p:spPr>
          <a:xfrm>
            <a:off x="731520" y="1801368"/>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2" name="Google Shape;442;p12" descr="preencoded.png"/>
          <p:cNvPicPr preferRelativeResize="0"/>
          <p:nvPr/>
        </p:nvPicPr>
        <p:blipFill rotWithShape="1">
          <a:blip r:embed="rId3">
            <a:alphaModFix/>
          </a:blip>
          <a:srcRect/>
          <a:stretch/>
        </p:blipFill>
        <p:spPr>
          <a:xfrm>
            <a:off x="857250" y="1927098"/>
            <a:ext cx="251460" cy="251460"/>
          </a:xfrm>
          <a:prstGeom prst="rect">
            <a:avLst/>
          </a:prstGeom>
          <a:noFill/>
          <a:ln>
            <a:noFill/>
          </a:ln>
        </p:spPr>
      </p:pic>
      <p:sp>
        <p:nvSpPr>
          <p:cNvPr id="443" name="Google Shape;443;p12"/>
          <p:cNvSpPr txBox="1"/>
          <p:nvPr/>
        </p:nvSpPr>
        <p:spPr>
          <a:xfrm>
            <a:off x="1371600" y="1764792"/>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Recycled video</a:t>
            </a:r>
            <a:endParaRPr sz="1350" b="0" i="0" u="none" strike="noStrike" cap="none">
              <a:solidFill>
                <a:schemeClr val="dk1"/>
              </a:solidFill>
              <a:latin typeface="Google Sans Flex"/>
              <a:ea typeface="Google Sans Flex"/>
              <a:cs typeface="Google Sans Flex"/>
              <a:sym typeface="Google Sans Flex"/>
            </a:endParaRPr>
          </a:p>
        </p:txBody>
      </p:sp>
      <p:sp>
        <p:nvSpPr>
          <p:cNvPr id="444" name="Google Shape;444;p12"/>
          <p:cNvSpPr txBox="1"/>
          <p:nvPr/>
        </p:nvSpPr>
        <p:spPr>
          <a:xfrm>
            <a:off x="1371600" y="2084832"/>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Every AI keyframe is fingerprinted (dHash) and compared with every property. A match to another property is flagged HIGH.</a:t>
            </a:r>
            <a:endParaRPr sz="1100" b="0" i="0" u="none" strike="noStrike" cap="none">
              <a:solidFill>
                <a:schemeClr val="dk1"/>
              </a:solidFill>
              <a:latin typeface="Google Sans Flex"/>
              <a:ea typeface="Google Sans Flex"/>
              <a:cs typeface="Google Sans Flex"/>
              <a:sym typeface="Google Sans Flex"/>
            </a:endParaRPr>
          </a:p>
        </p:txBody>
      </p:sp>
      <p:sp>
        <p:nvSpPr>
          <p:cNvPr id="445" name="Google Shape;445;p12"/>
          <p:cNvSpPr/>
          <p:nvPr/>
        </p:nvSpPr>
        <p:spPr>
          <a:xfrm>
            <a:off x="4069080" y="1600200"/>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2"/>
          <p:cNvSpPr/>
          <p:nvPr/>
        </p:nvSpPr>
        <p:spPr>
          <a:xfrm>
            <a:off x="4251960" y="1801368"/>
            <a:ext cx="502920" cy="502920"/>
          </a:xfrm>
          <a:prstGeom prst="ellipse">
            <a:avLst/>
          </a:prstGeom>
          <a:solidFill>
            <a:schemeClr val="accent3"/>
          </a:solidFill>
          <a:ln w="127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7" name="Google Shape;447;p12" descr="preencoded.png"/>
          <p:cNvPicPr preferRelativeResize="0"/>
          <p:nvPr/>
        </p:nvPicPr>
        <p:blipFill rotWithShape="1">
          <a:blip r:embed="rId4">
            <a:alphaModFix/>
          </a:blip>
          <a:srcRect/>
          <a:stretch/>
        </p:blipFill>
        <p:spPr>
          <a:xfrm>
            <a:off x="4377690" y="1927098"/>
            <a:ext cx="251460" cy="251460"/>
          </a:xfrm>
          <a:prstGeom prst="rect">
            <a:avLst/>
          </a:prstGeom>
          <a:noFill/>
          <a:ln>
            <a:noFill/>
          </a:ln>
        </p:spPr>
      </p:pic>
      <p:sp>
        <p:nvSpPr>
          <p:cNvPr id="448" name="Google Shape;448;p12"/>
          <p:cNvSpPr txBox="1"/>
          <p:nvPr/>
        </p:nvSpPr>
        <p:spPr>
          <a:xfrm>
            <a:off x="4892040" y="1764792"/>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Screen, render or AI footage</a:t>
            </a:r>
            <a:endParaRPr sz="1350" b="0" i="0" u="none" strike="noStrike" cap="none">
              <a:solidFill>
                <a:schemeClr val="dk1"/>
              </a:solidFill>
              <a:latin typeface="Google Sans Flex"/>
              <a:ea typeface="Google Sans Flex"/>
              <a:cs typeface="Google Sans Flex"/>
              <a:sym typeface="Google Sans Flex"/>
            </a:endParaRPr>
          </a:p>
        </p:txBody>
      </p:sp>
      <p:sp>
        <p:nvSpPr>
          <p:cNvPr id="449" name="Google Shape;449;p12"/>
          <p:cNvSpPr txBox="1"/>
          <p:nvPr/>
        </p:nvSpPr>
        <p:spPr>
          <a:xfrm>
            <a:off x="4892040" y="2084832"/>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Gemini checks each keyframe for a screen recording, a rendering or AI imagery.</a:t>
            </a:r>
            <a:endParaRPr sz="1100" b="0" i="0" u="none" strike="noStrike" cap="none">
              <a:solidFill>
                <a:schemeClr val="dk1"/>
              </a:solidFill>
              <a:latin typeface="Google Sans Flex"/>
              <a:ea typeface="Google Sans Flex"/>
              <a:cs typeface="Google Sans Flex"/>
              <a:sym typeface="Google Sans Flex"/>
            </a:endParaRPr>
          </a:p>
        </p:txBody>
      </p:sp>
      <p:sp>
        <p:nvSpPr>
          <p:cNvPr id="450" name="Google Shape;450;p12"/>
          <p:cNvSpPr/>
          <p:nvPr/>
        </p:nvSpPr>
        <p:spPr>
          <a:xfrm>
            <a:off x="548640" y="3081528"/>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2"/>
          <p:cNvSpPr/>
          <p:nvPr/>
        </p:nvSpPr>
        <p:spPr>
          <a:xfrm>
            <a:off x="731520" y="3282696"/>
            <a:ext cx="502920" cy="502920"/>
          </a:xfrm>
          <a:prstGeom prst="ellipse">
            <a:avLst/>
          </a:prstGeom>
          <a:solidFill>
            <a:schemeClr val="accent3"/>
          </a:solidFill>
          <a:ln w="127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2" name="Google Shape;452;p12" descr="preencoded.png"/>
          <p:cNvPicPr preferRelativeResize="0"/>
          <p:nvPr/>
        </p:nvPicPr>
        <p:blipFill rotWithShape="1">
          <a:blip r:embed="rId5">
            <a:alphaModFix/>
          </a:blip>
          <a:srcRect/>
          <a:stretch/>
        </p:blipFill>
        <p:spPr>
          <a:xfrm>
            <a:off x="857250" y="3408426"/>
            <a:ext cx="251460" cy="251460"/>
          </a:xfrm>
          <a:prstGeom prst="rect">
            <a:avLst/>
          </a:prstGeom>
          <a:noFill/>
          <a:ln>
            <a:noFill/>
          </a:ln>
        </p:spPr>
      </p:pic>
      <p:sp>
        <p:nvSpPr>
          <p:cNvPr id="453" name="Google Shape;453;p12"/>
          <p:cNvSpPr txBox="1"/>
          <p:nvPr/>
        </p:nvSpPr>
        <p:spPr>
          <a:xfrm>
            <a:off x="1371600" y="3246120"/>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Low-quality frames</a:t>
            </a:r>
            <a:endParaRPr sz="1350" b="0" i="0" u="none" strike="noStrike" cap="none">
              <a:solidFill>
                <a:schemeClr val="dk1"/>
              </a:solidFill>
              <a:latin typeface="Google Sans Flex"/>
              <a:ea typeface="Google Sans Flex"/>
              <a:cs typeface="Google Sans Flex"/>
              <a:sym typeface="Google Sans Flex"/>
            </a:endParaRPr>
          </a:p>
        </p:txBody>
      </p:sp>
      <p:sp>
        <p:nvSpPr>
          <p:cNvPr id="454" name="Google Shape;454;p12"/>
          <p:cNvSpPr txBox="1"/>
          <p:nvPr/>
        </p:nvSpPr>
        <p:spPr>
          <a:xfrm>
            <a:off x="1371600" y="3566160"/>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Blurred frames are dropped; low-resolution keyframes stay Needs review.</a:t>
            </a:r>
            <a:endParaRPr sz="1100" b="0" i="0" u="none" strike="noStrike" cap="none">
              <a:solidFill>
                <a:schemeClr val="dk1"/>
              </a:solidFill>
              <a:latin typeface="Google Sans Flex"/>
              <a:ea typeface="Google Sans Flex"/>
              <a:cs typeface="Google Sans Flex"/>
              <a:sym typeface="Google Sans Flex"/>
            </a:endParaRPr>
          </a:p>
        </p:txBody>
      </p:sp>
      <p:sp>
        <p:nvSpPr>
          <p:cNvPr id="455" name="Google Shape;455;p12"/>
          <p:cNvSpPr/>
          <p:nvPr/>
        </p:nvSpPr>
        <p:spPr>
          <a:xfrm>
            <a:off x="4069080" y="3081528"/>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2"/>
          <p:cNvSpPr/>
          <p:nvPr/>
        </p:nvSpPr>
        <p:spPr>
          <a:xfrm>
            <a:off x="4251960" y="3282696"/>
            <a:ext cx="502920" cy="502920"/>
          </a:xfrm>
          <a:prstGeom prst="ellipse">
            <a:avLst/>
          </a:prstGeom>
          <a:solidFill>
            <a:schemeClr val="accent3"/>
          </a:solidFill>
          <a:ln w="127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7" name="Google Shape;457;p12" descr="preencoded.png"/>
          <p:cNvPicPr preferRelativeResize="0"/>
          <p:nvPr/>
        </p:nvPicPr>
        <p:blipFill rotWithShape="1">
          <a:blip r:embed="rId6">
            <a:alphaModFix/>
          </a:blip>
          <a:srcRect/>
          <a:stretch/>
        </p:blipFill>
        <p:spPr>
          <a:xfrm>
            <a:off x="4377690" y="3408426"/>
            <a:ext cx="251460" cy="251460"/>
          </a:xfrm>
          <a:prstGeom prst="rect">
            <a:avLst/>
          </a:prstGeom>
          <a:noFill/>
          <a:ln>
            <a:noFill/>
          </a:ln>
        </p:spPr>
      </p:pic>
      <p:sp>
        <p:nvSpPr>
          <p:cNvPr id="458" name="Google Shape;458;p12"/>
          <p:cNvSpPr txBox="1"/>
          <p:nvPr/>
        </p:nvSpPr>
        <p:spPr>
          <a:xfrm>
            <a:off x="4892040" y="3246120"/>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Traceable evidence</a:t>
            </a:r>
            <a:endParaRPr sz="1350" b="0" i="0" u="none" strike="noStrike" cap="none">
              <a:solidFill>
                <a:schemeClr val="dk1"/>
              </a:solidFill>
              <a:latin typeface="Google Sans Flex"/>
              <a:ea typeface="Google Sans Flex"/>
              <a:cs typeface="Google Sans Flex"/>
              <a:sym typeface="Google Sans Flex"/>
            </a:endParaRPr>
          </a:p>
        </p:txBody>
      </p:sp>
      <p:sp>
        <p:nvSpPr>
          <p:cNvPr id="459" name="Google Shape;459;p12"/>
          <p:cNvSpPr txBox="1"/>
          <p:nvPr/>
        </p:nvSpPr>
        <p:spPr>
          <a:xfrm>
            <a:off x="4892040" y="3566160"/>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Every finding keeps its keyframe, close-up, wall and video time.</a:t>
            </a:r>
            <a:endParaRPr sz="1100" b="0" i="0" u="none" strike="noStrike" cap="none">
              <a:solidFill>
                <a:schemeClr val="dk1"/>
              </a:solidFill>
              <a:latin typeface="Google Sans Flex"/>
              <a:ea typeface="Google Sans Flex"/>
              <a:cs typeface="Google Sans Flex"/>
              <a:sym typeface="Google Sans Flex"/>
            </a:endParaRPr>
          </a:p>
        </p:txBody>
      </p:sp>
      <p:sp>
        <p:nvSpPr>
          <p:cNvPr id="460" name="Google Shape;460;p12"/>
          <p:cNvSpPr/>
          <p:nvPr/>
        </p:nvSpPr>
        <p:spPr>
          <a:xfrm>
            <a:off x="548640" y="4562856"/>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2"/>
          <p:cNvSpPr/>
          <p:nvPr/>
        </p:nvSpPr>
        <p:spPr>
          <a:xfrm>
            <a:off x="731520" y="4764024"/>
            <a:ext cx="502920" cy="502920"/>
          </a:xfrm>
          <a:prstGeom prst="ellipse">
            <a:avLst/>
          </a:prstGeom>
          <a:solidFill>
            <a:schemeClr val="accent5"/>
          </a:solidFill>
          <a:ln w="127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2" name="Google Shape;462;p12" descr="preencoded.png"/>
          <p:cNvPicPr preferRelativeResize="0"/>
          <p:nvPr/>
        </p:nvPicPr>
        <p:blipFill rotWithShape="1">
          <a:blip r:embed="rId7">
            <a:alphaModFix/>
          </a:blip>
          <a:srcRect/>
          <a:stretch/>
        </p:blipFill>
        <p:spPr>
          <a:xfrm>
            <a:off x="857250" y="4889754"/>
            <a:ext cx="251460" cy="251460"/>
          </a:xfrm>
          <a:prstGeom prst="rect">
            <a:avLst/>
          </a:prstGeom>
          <a:noFill/>
          <a:ln>
            <a:noFill/>
          </a:ln>
        </p:spPr>
      </p:pic>
      <p:sp>
        <p:nvSpPr>
          <p:cNvPr id="463" name="Google Shape;463;p12"/>
          <p:cNvSpPr txBox="1"/>
          <p:nvPr/>
        </p:nvSpPr>
        <p:spPr>
          <a:xfrm>
            <a:off x="1371600" y="4727448"/>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Unfilmed areas</a:t>
            </a:r>
            <a:endParaRPr sz="1350" b="0" i="0" u="none" strike="noStrike" cap="none">
              <a:solidFill>
                <a:schemeClr val="dk1"/>
              </a:solidFill>
              <a:latin typeface="Google Sans Flex"/>
              <a:ea typeface="Google Sans Flex"/>
              <a:cs typeface="Google Sans Flex"/>
              <a:sym typeface="Google Sans Flex"/>
            </a:endParaRPr>
          </a:p>
        </p:txBody>
      </p:sp>
      <p:sp>
        <p:nvSpPr>
          <p:cNvPr id="464" name="Google Shape;464;p12"/>
          <p:cNvSpPr txBox="1"/>
          <p:nvPr/>
        </p:nvSpPr>
        <p:spPr>
          <a:xfrm>
            <a:off x="1371600" y="5047488"/>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The coverage map names each wall and ceiling the video missed, to film again.</a:t>
            </a:r>
            <a:endParaRPr sz="1100" b="0" i="0" u="none" strike="noStrike" cap="none">
              <a:solidFill>
                <a:schemeClr val="dk1"/>
              </a:solidFill>
              <a:latin typeface="Google Sans Flex"/>
              <a:ea typeface="Google Sans Flex"/>
              <a:cs typeface="Google Sans Flex"/>
              <a:sym typeface="Google Sans Flex"/>
            </a:endParaRPr>
          </a:p>
        </p:txBody>
      </p:sp>
      <p:sp>
        <p:nvSpPr>
          <p:cNvPr id="465" name="Google Shape;465;p12"/>
          <p:cNvSpPr/>
          <p:nvPr/>
        </p:nvSpPr>
        <p:spPr>
          <a:xfrm>
            <a:off x="4069080" y="4562856"/>
            <a:ext cx="3337560" cy="1325880"/>
          </a:xfrm>
          <a:prstGeom prst="roundRect">
            <a:avLst>
              <a:gd name="adj" fmla="val 827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2"/>
          <p:cNvSpPr/>
          <p:nvPr/>
        </p:nvSpPr>
        <p:spPr>
          <a:xfrm>
            <a:off x="4251960" y="4764024"/>
            <a:ext cx="502920" cy="502920"/>
          </a:xfrm>
          <a:prstGeom prst="ellipse">
            <a:avLst/>
          </a:prstGeom>
          <a:solidFill>
            <a:schemeClr val="accent3"/>
          </a:solidFill>
          <a:ln w="127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7" name="Google Shape;467;p12" descr="preencoded.png"/>
          <p:cNvPicPr preferRelativeResize="0"/>
          <p:nvPr/>
        </p:nvPicPr>
        <p:blipFill rotWithShape="1">
          <a:blip r:embed="rId8">
            <a:alphaModFix/>
          </a:blip>
          <a:srcRect/>
          <a:stretch/>
        </p:blipFill>
        <p:spPr>
          <a:xfrm>
            <a:off x="4377690" y="4889754"/>
            <a:ext cx="251460" cy="251460"/>
          </a:xfrm>
          <a:prstGeom prst="rect">
            <a:avLst/>
          </a:prstGeom>
          <a:noFill/>
          <a:ln>
            <a:noFill/>
          </a:ln>
        </p:spPr>
      </p:pic>
      <p:sp>
        <p:nvSpPr>
          <p:cNvPr id="468" name="Google Shape;468;p12"/>
          <p:cNvSpPr txBox="1"/>
          <p:nvPr/>
        </p:nvSpPr>
        <p:spPr>
          <a:xfrm>
            <a:off x="4892040" y="4727448"/>
            <a:ext cx="23774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Incomplete video coverage</a:t>
            </a:r>
            <a:endParaRPr sz="1350" b="0" i="0" u="none" strike="noStrike" cap="none">
              <a:solidFill>
                <a:schemeClr val="dk1"/>
              </a:solidFill>
              <a:latin typeface="Google Sans Flex"/>
              <a:ea typeface="Google Sans Flex"/>
              <a:cs typeface="Google Sans Flex"/>
              <a:sym typeface="Google Sans Flex"/>
            </a:endParaRPr>
          </a:p>
        </p:txBody>
      </p:sp>
      <p:sp>
        <p:nvSpPr>
          <p:cNvPr id="469" name="Google Shape;469;p12"/>
          <p:cNvSpPr txBox="1"/>
          <p:nvPr/>
        </p:nvSpPr>
        <p:spPr>
          <a:xfrm>
            <a:off x="4892040" y="5047488"/>
            <a:ext cx="237744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Under 60% AI-inspected surface → REFER: additional evidence required.</a:t>
            </a:r>
            <a:endParaRPr sz="1100" b="0" i="0" u="none" strike="noStrike" cap="none">
              <a:solidFill>
                <a:schemeClr val="dk1"/>
              </a:solidFill>
              <a:latin typeface="Google Sans Flex"/>
              <a:ea typeface="Google Sans Flex"/>
              <a:cs typeface="Google Sans Flex"/>
              <a:sym typeface="Google Sans Flex"/>
            </a:endParaRPr>
          </a:p>
        </p:txBody>
      </p:sp>
      <p:sp>
        <p:nvSpPr>
          <p:cNvPr id="470" name="Google Shape;470;p12"/>
          <p:cNvSpPr/>
          <p:nvPr/>
        </p:nvSpPr>
        <p:spPr>
          <a:xfrm>
            <a:off x="7736527" y="1563624"/>
            <a:ext cx="3957945" cy="2478024"/>
          </a:xfrm>
          <a:prstGeom prst="roundRect">
            <a:avLst>
              <a:gd name="adj" fmla="val 3690"/>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1" name="Google Shape;471;p12" descr="integrity-panel"/>
          <p:cNvPicPr preferRelativeResize="0"/>
          <p:nvPr/>
        </p:nvPicPr>
        <p:blipFill rotWithShape="1">
          <a:blip r:embed="rId9">
            <a:alphaModFix/>
          </a:blip>
          <a:srcRect/>
          <a:stretch/>
        </p:blipFill>
        <p:spPr>
          <a:xfrm>
            <a:off x="7773103" y="1600200"/>
            <a:ext cx="3884793" cy="2404872"/>
          </a:xfrm>
          <a:prstGeom prst="rect">
            <a:avLst/>
          </a:prstGeom>
          <a:noFill/>
          <a:ln>
            <a:noFill/>
          </a:ln>
        </p:spPr>
      </p:pic>
      <p:sp>
        <p:nvSpPr>
          <p:cNvPr id="472" name="Google Shape;472;p12"/>
          <p:cNvSpPr/>
          <p:nvPr/>
        </p:nvSpPr>
        <p:spPr>
          <a:xfrm>
            <a:off x="7772400" y="4206240"/>
            <a:ext cx="3886200" cy="1691640"/>
          </a:xfrm>
          <a:prstGeom prst="roundRect">
            <a:avLst>
              <a:gd name="adj" fmla="val 6486"/>
            </a:avLst>
          </a:prstGeom>
          <a:solidFill>
            <a:srgbClr val="2A1418"/>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2"/>
          <p:cNvSpPr txBox="1"/>
          <p:nvPr/>
        </p:nvSpPr>
        <p:spPr>
          <a:xfrm>
            <a:off x="8001000" y="4370832"/>
            <a:ext cx="347472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500"/>
              <a:buFont typeface="Calibri"/>
              <a:buNone/>
            </a:pPr>
            <a:r>
              <a:rPr lang="en-US" sz="1350" b="1" i="0" u="none" strike="noStrike" cap="none">
                <a:solidFill>
                  <a:schemeClr val="accent5"/>
                </a:solidFill>
                <a:latin typeface="Google Sans Flex"/>
                <a:ea typeface="Google Sans Flex"/>
                <a:cs typeface="Google Sans Flex"/>
                <a:sym typeface="Google Sans Flex"/>
              </a:rPr>
              <a:t>Any HIGH flag sends the case to</a:t>
            </a:r>
            <a:endParaRPr sz="1350" b="0" i="0" u="none" strike="noStrike" cap="none">
              <a:solidFill>
                <a:schemeClr val="dk1"/>
              </a:solidFill>
              <a:latin typeface="Google Sans Flex"/>
              <a:ea typeface="Google Sans Flex"/>
              <a:cs typeface="Google Sans Flex"/>
              <a:sym typeface="Google Sans Flex"/>
            </a:endParaRPr>
          </a:p>
          <a:p>
            <a:pPr marL="0" marR="0" lvl="0" indent="0" algn="l" rtl="0">
              <a:spcBef>
                <a:spcPts val="0"/>
              </a:spcBef>
              <a:spcAft>
                <a:spcPts val="0"/>
              </a:spcAft>
              <a:buClr>
                <a:schemeClr val="accent5"/>
              </a:buClr>
              <a:buSzPts val="1500"/>
              <a:buFont typeface="Calibri"/>
              <a:buNone/>
            </a:pPr>
            <a:r>
              <a:rPr lang="en-US" sz="1350" b="1" i="0" u="none" strike="noStrike" cap="none">
                <a:solidFill>
                  <a:schemeClr val="accent5"/>
                </a:solidFill>
                <a:latin typeface="Google Sans Flex"/>
                <a:ea typeface="Google Sans Flex"/>
                <a:cs typeface="Google Sans Flex"/>
                <a:sym typeface="Google Sans Flex"/>
              </a:rPr>
              <a:t>REFER: evidence integrity</a:t>
            </a:r>
            <a:endParaRPr sz="1350" b="0" i="0" u="none" strike="noStrike" cap="none">
              <a:solidFill>
                <a:schemeClr val="dk1"/>
              </a:solidFill>
              <a:latin typeface="Google Sans Flex"/>
              <a:ea typeface="Google Sans Flex"/>
              <a:cs typeface="Google Sans Flex"/>
              <a:sym typeface="Google Sans Flex"/>
            </a:endParaRPr>
          </a:p>
        </p:txBody>
      </p:sp>
      <p:sp>
        <p:nvSpPr>
          <p:cNvPr id="474" name="Google Shape;474;p12"/>
          <p:cNvSpPr txBox="1"/>
          <p:nvPr/>
        </p:nvSpPr>
        <p:spPr>
          <a:xfrm>
            <a:off x="8001000" y="5029200"/>
            <a:ext cx="34747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150" b="0" i="0" u="none" strike="noStrike" cap="none">
                <a:solidFill>
                  <a:schemeClr val="dk1"/>
                </a:solidFill>
                <a:latin typeface="Google Sans Flex"/>
                <a:ea typeface="Google Sans Flex"/>
                <a:cs typeface="Google Sans Flex"/>
                <a:sym typeface="Google Sans Flex"/>
              </a:rPr>
              <a:t>A human reviews the case before it can go ahead: it stops recycled-video and wrong-property claims and loan files.</a:t>
            </a:r>
            <a:endParaRPr sz="1150" b="0" i="0" u="none" strike="noStrike" cap="none">
              <a:solidFill>
                <a:schemeClr val="dk1"/>
              </a:solidFill>
              <a:latin typeface="Google Sans Flex"/>
              <a:ea typeface="Google Sans Flex"/>
              <a:cs typeface="Google Sans Flex"/>
              <a:sym typeface="Google Sans Flex"/>
            </a:endParaRPr>
          </a:p>
        </p:txBody>
      </p:sp>
      <p:sp>
        <p:nvSpPr>
          <p:cNvPr id="475" name="Google Shape;475;p12"/>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12</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13"/>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VIDEO → 3D DIGITAL TWIN</a:t>
            </a:r>
            <a:endParaRPr sz="1150"/>
          </a:p>
        </p:txBody>
      </p:sp>
      <p:sp>
        <p:nvSpPr>
          <p:cNvPr id="482" name="Google Shape;482;p13"/>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A phone video becomes a 3D model and floor plan</a:t>
            </a:r>
            <a:endParaRPr sz="2850"/>
          </a:p>
        </p:txBody>
      </p:sp>
      <p:sp>
        <p:nvSpPr>
          <p:cNvPr id="483" name="Google Shape;483;p13"/>
          <p:cNvSpPr/>
          <p:nvPr/>
        </p:nvSpPr>
        <p:spPr>
          <a:xfrm>
            <a:off x="512064" y="1482904"/>
            <a:ext cx="4279392" cy="3892193"/>
          </a:xfrm>
          <a:prstGeom prst="roundRect">
            <a:avLst>
              <a:gd name="adj" fmla="val 2349"/>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4" name="Google Shape;484;p13" descr="clean-room-model"/>
          <p:cNvPicPr preferRelativeResize="0"/>
          <p:nvPr/>
        </p:nvPicPr>
        <p:blipFill rotWithShape="1">
          <a:blip r:embed="rId3">
            <a:alphaModFix/>
          </a:blip>
          <a:srcRect/>
          <a:stretch/>
        </p:blipFill>
        <p:spPr>
          <a:xfrm>
            <a:off x="548640" y="1519480"/>
            <a:ext cx="4206240" cy="3819041"/>
          </a:xfrm>
          <a:prstGeom prst="rect">
            <a:avLst/>
          </a:prstGeom>
          <a:noFill/>
          <a:ln>
            <a:noFill/>
          </a:ln>
        </p:spPr>
      </p:pic>
      <p:sp>
        <p:nvSpPr>
          <p:cNvPr id="485" name="Google Shape;485;p13"/>
          <p:cNvSpPr/>
          <p:nvPr/>
        </p:nvSpPr>
        <p:spPr>
          <a:xfrm>
            <a:off x="658368" y="4954472"/>
            <a:ext cx="155448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3"/>
          <p:cNvSpPr txBox="1"/>
          <p:nvPr/>
        </p:nvSpPr>
        <p:spPr>
          <a:xfrm>
            <a:off x="658368" y="4954472"/>
            <a:ext cx="15544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Clean 3D model</a:t>
            </a:r>
            <a:endParaRPr sz="1000" b="0" i="0" u="none" strike="noStrike" cap="none">
              <a:solidFill>
                <a:schemeClr val="dk1"/>
              </a:solidFill>
              <a:latin typeface="Google Sans Flex"/>
              <a:ea typeface="Google Sans Flex"/>
              <a:cs typeface="Google Sans Flex"/>
              <a:sym typeface="Google Sans Flex"/>
            </a:endParaRPr>
          </a:p>
        </p:txBody>
      </p:sp>
      <p:sp>
        <p:nvSpPr>
          <p:cNvPr id="487" name="Google Shape;487;p13"/>
          <p:cNvSpPr/>
          <p:nvPr/>
        </p:nvSpPr>
        <p:spPr>
          <a:xfrm>
            <a:off x="4946904" y="1482694"/>
            <a:ext cx="2221992" cy="1880932"/>
          </a:xfrm>
          <a:prstGeom prst="roundRect">
            <a:avLst>
              <a:gd name="adj" fmla="val 4861"/>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8" name="Google Shape;488;p13" descr="slam-model"/>
          <p:cNvPicPr preferRelativeResize="0"/>
          <p:nvPr/>
        </p:nvPicPr>
        <p:blipFill rotWithShape="1">
          <a:blip r:embed="rId4">
            <a:alphaModFix/>
          </a:blip>
          <a:srcRect/>
          <a:stretch/>
        </p:blipFill>
        <p:spPr>
          <a:xfrm>
            <a:off x="4983480" y="1519270"/>
            <a:ext cx="2148840" cy="1807780"/>
          </a:xfrm>
          <a:prstGeom prst="rect">
            <a:avLst/>
          </a:prstGeom>
          <a:noFill/>
          <a:ln>
            <a:noFill/>
          </a:ln>
        </p:spPr>
      </p:pic>
      <p:sp>
        <p:nvSpPr>
          <p:cNvPr id="489" name="Google Shape;489;p13"/>
          <p:cNvSpPr/>
          <p:nvPr/>
        </p:nvSpPr>
        <p:spPr>
          <a:xfrm>
            <a:off x="5056632" y="2979578"/>
            <a:ext cx="160020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3"/>
          <p:cNvSpPr txBox="1"/>
          <p:nvPr/>
        </p:nvSpPr>
        <p:spPr>
          <a:xfrm>
            <a:off x="5056632" y="2979578"/>
            <a:ext cx="1600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SLAM model + path</a:t>
            </a:r>
            <a:endParaRPr sz="1000" b="0" i="0" u="none" strike="noStrike" cap="none">
              <a:solidFill>
                <a:schemeClr val="dk1"/>
              </a:solidFill>
              <a:latin typeface="Google Sans Flex"/>
              <a:ea typeface="Google Sans Flex"/>
              <a:cs typeface="Google Sans Flex"/>
              <a:sym typeface="Google Sans Flex"/>
            </a:endParaRPr>
          </a:p>
        </p:txBody>
      </p:sp>
      <p:sp>
        <p:nvSpPr>
          <p:cNvPr id="491" name="Google Shape;491;p13"/>
          <p:cNvSpPr/>
          <p:nvPr/>
        </p:nvSpPr>
        <p:spPr>
          <a:xfrm>
            <a:off x="7536851" y="1472184"/>
            <a:ext cx="1659818" cy="1901952"/>
          </a:xfrm>
          <a:prstGeom prst="roundRect">
            <a:avLst>
              <a:gd name="adj" fmla="val 5509"/>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2" name="Google Shape;492;p13" descr="top-view"/>
          <p:cNvPicPr preferRelativeResize="0"/>
          <p:nvPr/>
        </p:nvPicPr>
        <p:blipFill rotWithShape="1">
          <a:blip r:embed="rId5">
            <a:alphaModFix/>
          </a:blip>
          <a:srcRect/>
          <a:stretch/>
        </p:blipFill>
        <p:spPr>
          <a:xfrm>
            <a:off x="7573427" y="1508760"/>
            <a:ext cx="1586666" cy="1828800"/>
          </a:xfrm>
          <a:prstGeom prst="rect">
            <a:avLst/>
          </a:prstGeom>
          <a:noFill/>
          <a:ln>
            <a:noFill/>
          </a:ln>
        </p:spPr>
      </p:pic>
      <p:sp>
        <p:nvSpPr>
          <p:cNvPr id="493" name="Google Shape;493;p13"/>
          <p:cNvSpPr/>
          <p:nvPr/>
        </p:nvSpPr>
        <p:spPr>
          <a:xfrm>
            <a:off x="7646579" y="2990088"/>
            <a:ext cx="91440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3"/>
          <p:cNvSpPr txBox="1"/>
          <p:nvPr/>
        </p:nvSpPr>
        <p:spPr>
          <a:xfrm>
            <a:off x="7646579" y="2990088"/>
            <a:ext cx="9144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Top view</a:t>
            </a:r>
            <a:endParaRPr sz="1000" b="0" i="0" u="none" strike="noStrike" cap="none">
              <a:solidFill>
                <a:schemeClr val="dk1"/>
              </a:solidFill>
              <a:latin typeface="Google Sans Flex"/>
              <a:ea typeface="Google Sans Flex"/>
              <a:cs typeface="Google Sans Flex"/>
              <a:sym typeface="Google Sans Flex"/>
            </a:endParaRPr>
          </a:p>
        </p:txBody>
      </p:sp>
      <p:sp>
        <p:nvSpPr>
          <p:cNvPr id="495" name="Google Shape;495;p13"/>
          <p:cNvSpPr/>
          <p:nvPr/>
        </p:nvSpPr>
        <p:spPr>
          <a:xfrm>
            <a:off x="9518904" y="1602694"/>
            <a:ext cx="2176272" cy="1640932"/>
          </a:xfrm>
          <a:prstGeom prst="roundRect">
            <a:avLst>
              <a:gd name="adj" fmla="val 5572"/>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6" name="Google Shape;496;p13" descr="floor-plan"/>
          <p:cNvPicPr preferRelativeResize="0"/>
          <p:nvPr/>
        </p:nvPicPr>
        <p:blipFill rotWithShape="1">
          <a:blip r:embed="rId6">
            <a:alphaModFix/>
          </a:blip>
          <a:srcRect/>
          <a:stretch/>
        </p:blipFill>
        <p:spPr>
          <a:xfrm>
            <a:off x="9555480" y="1639270"/>
            <a:ext cx="2103120" cy="1567780"/>
          </a:xfrm>
          <a:prstGeom prst="rect">
            <a:avLst/>
          </a:prstGeom>
          <a:noFill/>
          <a:ln>
            <a:noFill/>
          </a:ln>
        </p:spPr>
      </p:pic>
      <p:sp>
        <p:nvSpPr>
          <p:cNvPr id="497" name="Google Shape;497;p13"/>
          <p:cNvSpPr/>
          <p:nvPr/>
        </p:nvSpPr>
        <p:spPr>
          <a:xfrm>
            <a:off x="9628632" y="2859578"/>
            <a:ext cx="100584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3"/>
          <p:cNvSpPr txBox="1"/>
          <p:nvPr/>
        </p:nvSpPr>
        <p:spPr>
          <a:xfrm>
            <a:off x="9628632" y="2859578"/>
            <a:ext cx="10058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Floor plan</a:t>
            </a:r>
            <a:endParaRPr sz="1000" b="0" i="0" u="none" strike="noStrike" cap="none">
              <a:solidFill>
                <a:schemeClr val="dk1"/>
              </a:solidFill>
              <a:latin typeface="Google Sans Flex"/>
              <a:ea typeface="Google Sans Flex"/>
              <a:cs typeface="Google Sans Flex"/>
              <a:sym typeface="Google Sans Flex"/>
            </a:endParaRPr>
          </a:p>
        </p:txBody>
      </p:sp>
      <p:sp>
        <p:nvSpPr>
          <p:cNvPr id="499" name="Google Shape;499;p13"/>
          <p:cNvSpPr/>
          <p:nvPr/>
        </p:nvSpPr>
        <p:spPr>
          <a:xfrm>
            <a:off x="5126561" y="3483864"/>
            <a:ext cx="1862678" cy="1901952"/>
          </a:xfrm>
          <a:prstGeom prst="roundRect">
            <a:avLst>
              <a:gd name="adj" fmla="val 4909"/>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0" name="Google Shape;500;p13" descr="objects"/>
          <p:cNvPicPr preferRelativeResize="0"/>
          <p:nvPr/>
        </p:nvPicPr>
        <p:blipFill rotWithShape="1">
          <a:blip r:embed="rId7">
            <a:alphaModFix/>
          </a:blip>
          <a:srcRect/>
          <a:stretch/>
        </p:blipFill>
        <p:spPr>
          <a:xfrm>
            <a:off x="5163137" y="3520440"/>
            <a:ext cx="1789526" cy="1828800"/>
          </a:xfrm>
          <a:prstGeom prst="rect">
            <a:avLst/>
          </a:prstGeom>
          <a:noFill/>
          <a:ln>
            <a:noFill/>
          </a:ln>
        </p:spPr>
      </p:pic>
      <p:sp>
        <p:nvSpPr>
          <p:cNvPr id="501" name="Google Shape;501;p13"/>
          <p:cNvSpPr/>
          <p:nvPr/>
        </p:nvSpPr>
        <p:spPr>
          <a:xfrm>
            <a:off x="5236289" y="5001768"/>
            <a:ext cx="178308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3"/>
          <p:cNvSpPr txBox="1"/>
          <p:nvPr/>
        </p:nvSpPr>
        <p:spPr>
          <a:xfrm>
            <a:off x="5236289" y="5001768"/>
            <a:ext cx="1783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Objects (Gemini names)</a:t>
            </a:r>
            <a:endParaRPr sz="1000" b="0" i="0" u="none" strike="noStrike" cap="none">
              <a:solidFill>
                <a:schemeClr val="dk1"/>
              </a:solidFill>
              <a:latin typeface="Google Sans Flex"/>
              <a:ea typeface="Google Sans Flex"/>
              <a:cs typeface="Google Sans Flex"/>
              <a:sym typeface="Google Sans Flex"/>
            </a:endParaRPr>
          </a:p>
        </p:txBody>
      </p:sp>
      <p:sp>
        <p:nvSpPr>
          <p:cNvPr id="503" name="Google Shape;503;p13"/>
          <p:cNvSpPr/>
          <p:nvPr/>
        </p:nvSpPr>
        <p:spPr>
          <a:xfrm>
            <a:off x="7324344" y="3688141"/>
            <a:ext cx="2084832" cy="1493398"/>
          </a:xfrm>
          <a:prstGeom prst="roundRect">
            <a:avLst>
              <a:gd name="adj" fmla="val 6123"/>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4" name="Google Shape;504;p13" descr="side-view"/>
          <p:cNvPicPr preferRelativeResize="0"/>
          <p:nvPr/>
        </p:nvPicPr>
        <p:blipFill rotWithShape="1">
          <a:blip r:embed="rId8">
            <a:alphaModFix/>
          </a:blip>
          <a:srcRect/>
          <a:stretch/>
        </p:blipFill>
        <p:spPr>
          <a:xfrm>
            <a:off x="7360920" y="3724717"/>
            <a:ext cx="2011680" cy="1420246"/>
          </a:xfrm>
          <a:prstGeom prst="rect">
            <a:avLst/>
          </a:prstGeom>
          <a:noFill/>
          <a:ln>
            <a:noFill/>
          </a:ln>
        </p:spPr>
      </p:pic>
      <p:sp>
        <p:nvSpPr>
          <p:cNvPr id="505" name="Google Shape;505;p13"/>
          <p:cNvSpPr/>
          <p:nvPr/>
        </p:nvSpPr>
        <p:spPr>
          <a:xfrm>
            <a:off x="7434072" y="4797491"/>
            <a:ext cx="91440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3"/>
          <p:cNvSpPr txBox="1"/>
          <p:nvPr/>
        </p:nvSpPr>
        <p:spPr>
          <a:xfrm>
            <a:off x="7434072" y="4797491"/>
            <a:ext cx="9144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Side view</a:t>
            </a:r>
            <a:endParaRPr sz="1000" b="0" i="0" u="none" strike="noStrike" cap="none">
              <a:solidFill>
                <a:schemeClr val="dk1"/>
              </a:solidFill>
              <a:latin typeface="Google Sans Flex"/>
              <a:ea typeface="Google Sans Flex"/>
              <a:cs typeface="Google Sans Flex"/>
              <a:sym typeface="Google Sans Flex"/>
            </a:endParaRPr>
          </a:p>
        </p:txBody>
      </p:sp>
      <p:sp>
        <p:nvSpPr>
          <p:cNvPr id="507" name="Google Shape;507;p13"/>
          <p:cNvSpPr/>
          <p:nvPr/>
        </p:nvSpPr>
        <p:spPr>
          <a:xfrm>
            <a:off x="9518904" y="3615903"/>
            <a:ext cx="2176272" cy="1637873"/>
          </a:xfrm>
          <a:prstGeom prst="roundRect">
            <a:avLst>
              <a:gd name="adj" fmla="val 5583"/>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13" descr="navigation-map"/>
          <p:cNvPicPr preferRelativeResize="0"/>
          <p:nvPr/>
        </p:nvPicPr>
        <p:blipFill rotWithShape="1">
          <a:blip r:embed="rId9">
            <a:alphaModFix/>
          </a:blip>
          <a:srcRect/>
          <a:stretch/>
        </p:blipFill>
        <p:spPr>
          <a:xfrm>
            <a:off x="9555480" y="3652479"/>
            <a:ext cx="2103120" cy="1564721"/>
          </a:xfrm>
          <a:prstGeom prst="rect">
            <a:avLst/>
          </a:prstGeom>
          <a:noFill/>
          <a:ln>
            <a:noFill/>
          </a:ln>
        </p:spPr>
      </p:pic>
      <p:sp>
        <p:nvSpPr>
          <p:cNvPr id="509" name="Google Shape;509;p13"/>
          <p:cNvSpPr/>
          <p:nvPr/>
        </p:nvSpPr>
        <p:spPr>
          <a:xfrm>
            <a:off x="9628632" y="4869729"/>
            <a:ext cx="132588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3"/>
          <p:cNvSpPr txBox="1"/>
          <p:nvPr/>
        </p:nvSpPr>
        <p:spPr>
          <a:xfrm>
            <a:off x="9628632" y="4869729"/>
            <a:ext cx="13258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Navigation map</a:t>
            </a:r>
            <a:endParaRPr sz="1000" b="0" i="0" u="none" strike="noStrike" cap="none">
              <a:solidFill>
                <a:schemeClr val="dk1"/>
              </a:solidFill>
              <a:latin typeface="Google Sans Flex"/>
              <a:ea typeface="Google Sans Flex"/>
              <a:cs typeface="Google Sans Flex"/>
              <a:sym typeface="Google Sans Flex"/>
            </a:endParaRPr>
          </a:p>
        </p:txBody>
      </p:sp>
      <p:sp>
        <p:nvSpPr>
          <p:cNvPr id="511" name="Google Shape;511;p13"/>
          <p:cNvSpPr txBox="1"/>
          <p:nvPr/>
        </p:nvSpPr>
        <p:spPr>
          <a:xfrm>
            <a:off x="548640" y="5440680"/>
            <a:ext cx="111099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2D3EE"/>
              </a:buClr>
              <a:buSzPts val="1300"/>
              <a:buFont typeface="Calibri"/>
              <a:buNone/>
            </a:pPr>
            <a:r>
              <a:rPr lang="en-US" sz="1150" b="1" i="0" u="none" strike="noStrike" cap="none">
                <a:solidFill>
                  <a:srgbClr val="22D3EE"/>
                </a:solidFill>
                <a:latin typeface="Google Sans Flex"/>
                <a:ea typeface="Google Sans Flex"/>
                <a:cs typeface="Google Sans Flex"/>
                <a:sym typeface="Google Sans Flex"/>
              </a:rPr>
              <a:t>Depth Anything 3 </a:t>
            </a:r>
            <a:r>
              <a:rPr lang="en-US" sz="1150" b="0" i="0" u="none" strike="noStrike" cap="none">
                <a:solidFill>
                  <a:schemeClr val="dk1"/>
                </a:solidFill>
                <a:latin typeface="Google Sans Flex"/>
                <a:ea typeface="Google Sans Flex"/>
                <a:cs typeface="Google Sans Flex"/>
                <a:sym typeface="Google Sans Flex"/>
              </a:rPr>
              <a:t>depth per frame  →  </a:t>
            </a:r>
            <a:r>
              <a:rPr lang="en-US" sz="1150" b="1" i="0" u="none" strike="noStrike" cap="none">
                <a:solidFill>
                  <a:srgbClr val="22D3EE"/>
                </a:solidFill>
                <a:latin typeface="Google Sans Flex"/>
                <a:ea typeface="Google Sans Flex"/>
                <a:cs typeface="Google Sans Flex"/>
                <a:sym typeface="Google Sans Flex"/>
              </a:rPr>
              <a:t>OpenCV 5 SLAM </a:t>
            </a:r>
            <a:r>
              <a:rPr lang="en-US" sz="1150" b="0" i="0" u="none" strike="noStrike" cap="none">
                <a:solidFill>
                  <a:schemeClr val="dk1"/>
                </a:solidFill>
                <a:latin typeface="Google Sans Flex"/>
                <a:ea typeface="Google Sans Flex"/>
                <a:cs typeface="Google Sans Flex"/>
                <a:sym typeface="Google Sans Flex"/>
              </a:rPr>
              <a:t>poses  →  </a:t>
            </a:r>
            <a:r>
              <a:rPr lang="en-US" sz="1150" b="1" i="0" u="none" strike="noStrike" cap="none">
                <a:solidFill>
                  <a:srgbClr val="22D3EE"/>
                </a:solidFill>
                <a:latin typeface="Google Sans Flex"/>
                <a:ea typeface="Google Sans Flex"/>
                <a:cs typeface="Google Sans Flex"/>
                <a:sym typeface="Google Sans Flex"/>
              </a:rPr>
              <a:t>Open3D TSDF </a:t>
            </a:r>
            <a:r>
              <a:rPr lang="en-US" sz="1150" b="0" i="0" u="none" strike="noStrike" cap="none">
                <a:solidFill>
                  <a:schemeClr val="dk1"/>
                </a:solidFill>
                <a:latin typeface="Google Sans Flex"/>
                <a:ea typeface="Google Sans Flex"/>
                <a:cs typeface="Google Sans Flex"/>
                <a:sym typeface="Google Sans Flex"/>
              </a:rPr>
              <a:t>surface  →  walls, floor, ceiling, doors  →  </a:t>
            </a:r>
            <a:r>
              <a:rPr lang="en-US" sz="1150" b="1" i="0" u="none" strike="noStrike" cap="none">
                <a:solidFill>
                  <a:srgbClr val="22D3EE"/>
                </a:solidFill>
                <a:latin typeface="Google Sans Flex"/>
                <a:ea typeface="Google Sans Flex"/>
                <a:cs typeface="Google Sans Flex"/>
                <a:sym typeface="Google Sans Flex"/>
              </a:rPr>
              <a:t>objects named by Gemini</a:t>
            </a:r>
            <a:endParaRPr sz="1150" b="0" i="0" u="none" strike="noStrike" cap="none">
              <a:solidFill>
                <a:schemeClr val="dk1"/>
              </a:solidFill>
              <a:latin typeface="Google Sans Flex"/>
              <a:ea typeface="Google Sans Flex"/>
              <a:cs typeface="Google Sans Flex"/>
              <a:sym typeface="Google Sans Flex"/>
            </a:endParaRPr>
          </a:p>
        </p:txBody>
      </p:sp>
      <p:sp>
        <p:nvSpPr>
          <p:cNvPr id="512" name="Google Shape;512;p13"/>
          <p:cNvSpPr txBox="1"/>
          <p:nvPr/>
        </p:nvSpPr>
        <p:spPr>
          <a:xfrm>
            <a:off x="548640" y="5852160"/>
            <a:ext cx="111099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Outputs: clean and SLAM GLB models, floor plan (PNG + SVG) with room areas, occupancy and navigation maps, in approximate metres</a:t>
            </a:r>
            <a:endParaRPr sz="1100" b="0" i="0" u="none" strike="noStrike" cap="none">
              <a:solidFill>
                <a:schemeClr val="dk1"/>
              </a:solidFill>
              <a:latin typeface="Google Sans Flex"/>
              <a:ea typeface="Google Sans Flex"/>
              <a:cs typeface="Google Sans Flex"/>
              <a:sym typeface="Google Sans Flex"/>
            </a:endParaRPr>
          </a:p>
        </p:txBody>
      </p:sp>
      <p:sp>
        <p:nvSpPr>
          <p:cNvPr id="513" name="Google Shape;513;p13"/>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13</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14"/>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COVERAGE MAP: OUR KEY DIFFERENTIATOR</a:t>
            </a:r>
            <a:endParaRPr sz="1150"/>
          </a:p>
        </p:txBody>
      </p:sp>
      <p:sp>
        <p:nvSpPr>
          <p:cNvPr id="520" name="Google Shape;520;p14"/>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Proof of what was inspected, and what to film again</a:t>
            </a:r>
            <a:endParaRPr sz="2850"/>
          </a:p>
        </p:txBody>
      </p:sp>
      <p:sp>
        <p:nvSpPr>
          <p:cNvPr id="521" name="Google Shape;521;p14"/>
          <p:cNvSpPr/>
          <p:nvPr/>
        </p:nvSpPr>
        <p:spPr>
          <a:xfrm>
            <a:off x="513779" y="1563624"/>
            <a:ext cx="2675763" cy="4599432"/>
          </a:xfrm>
          <a:prstGeom prst="roundRect">
            <a:avLst>
              <a:gd name="adj" fmla="val 3417"/>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2" name="Google Shape;522;p14" descr="coverage-map"/>
          <p:cNvPicPr preferRelativeResize="0"/>
          <p:nvPr/>
        </p:nvPicPr>
        <p:blipFill rotWithShape="1">
          <a:blip r:embed="rId3">
            <a:alphaModFix/>
          </a:blip>
          <a:srcRect/>
          <a:stretch/>
        </p:blipFill>
        <p:spPr>
          <a:xfrm>
            <a:off x="550355" y="1600200"/>
            <a:ext cx="2602611" cy="4526280"/>
          </a:xfrm>
          <a:prstGeom prst="rect">
            <a:avLst/>
          </a:prstGeom>
          <a:noFill/>
          <a:ln>
            <a:noFill/>
          </a:ln>
        </p:spPr>
      </p:pic>
      <p:sp>
        <p:nvSpPr>
          <p:cNvPr id="523" name="Google Shape;523;p14"/>
          <p:cNvSpPr/>
          <p:nvPr/>
        </p:nvSpPr>
        <p:spPr>
          <a:xfrm>
            <a:off x="3394176" y="1563624"/>
            <a:ext cx="4550209" cy="4562856"/>
          </a:xfrm>
          <a:prstGeom prst="roundRect">
            <a:avLst>
              <a:gd name="adj" fmla="val 2010"/>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4" name="Google Shape;524;p14" descr="coverage-panel"/>
          <p:cNvPicPr preferRelativeResize="0"/>
          <p:nvPr/>
        </p:nvPicPr>
        <p:blipFill rotWithShape="1">
          <a:blip r:embed="rId4">
            <a:alphaModFix/>
          </a:blip>
          <a:srcRect/>
          <a:stretch/>
        </p:blipFill>
        <p:spPr>
          <a:xfrm>
            <a:off x="3430752" y="1600200"/>
            <a:ext cx="4477057" cy="4489704"/>
          </a:xfrm>
          <a:prstGeom prst="rect">
            <a:avLst/>
          </a:prstGeom>
          <a:noFill/>
          <a:ln>
            <a:noFill/>
          </a:ln>
        </p:spPr>
      </p:pic>
      <p:sp>
        <p:nvSpPr>
          <p:cNvPr id="525" name="Google Shape;525;p14"/>
          <p:cNvSpPr/>
          <p:nvPr/>
        </p:nvSpPr>
        <p:spPr>
          <a:xfrm>
            <a:off x="8183880" y="1600200"/>
            <a:ext cx="457200" cy="4572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6" name="Google Shape;526;p14" descr="preencoded.png"/>
          <p:cNvPicPr preferRelativeResize="0"/>
          <p:nvPr/>
        </p:nvPicPr>
        <p:blipFill rotWithShape="1">
          <a:blip r:embed="rId5">
            <a:alphaModFix/>
          </a:blip>
          <a:srcRect/>
          <a:stretch/>
        </p:blipFill>
        <p:spPr>
          <a:xfrm>
            <a:off x="8298180" y="1714500"/>
            <a:ext cx="228600" cy="228600"/>
          </a:xfrm>
          <a:prstGeom prst="rect">
            <a:avLst/>
          </a:prstGeom>
          <a:noFill/>
          <a:ln>
            <a:noFill/>
          </a:ln>
        </p:spPr>
      </p:pic>
      <p:sp>
        <p:nvSpPr>
          <p:cNvPr id="527" name="Google Shape;527;p14"/>
          <p:cNvSpPr txBox="1"/>
          <p:nvPr/>
        </p:nvSpPr>
        <p:spPr>
          <a:xfrm>
            <a:off x="8778240" y="1600200"/>
            <a:ext cx="288036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Every 10 cm of surface</a:t>
            </a:r>
            <a:endParaRPr sz="1350" b="0" i="0" u="none" strike="noStrike" cap="none">
              <a:solidFill>
                <a:schemeClr val="dk1"/>
              </a:solidFill>
              <a:latin typeface="Google Sans Flex"/>
              <a:ea typeface="Google Sans Flex"/>
              <a:cs typeface="Google Sans Flex"/>
              <a:sym typeface="Google Sans Flex"/>
            </a:endParaRPr>
          </a:p>
        </p:txBody>
      </p:sp>
      <p:sp>
        <p:nvSpPr>
          <p:cNvPr id="528" name="Google Shape;528;p14"/>
          <p:cNvSpPr txBox="1"/>
          <p:nvPr/>
        </p:nvSpPr>
        <p:spPr>
          <a:xfrm>
            <a:off x="8778240" y="1901952"/>
            <a:ext cx="288036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is checked against every frame's depth: seen, inspectable (close and frontal) or AI-inspected.</a:t>
            </a:r>
            <a:endParaRPr sz="1100" b="0" i="0" u="none" strike="noStrike" cap="none">
              <a:solidFill>
                <a:schemeClr val="dk1"/>
              </a:solidFill>
              <a:latin typeface="Google Sans Flex"/>
              <a:ea typeface="Google Sans Flex"/>
              <a:cs typeface="Google Sans Flex"/>
              <a:sym typeface="Google Sans Flex"/>
            </a:endParaRPr>
          </a:p>
        </p:txBody>
      </p:sp>
      <p:sp>
        <p:nvSpPr>
          <p:cNvPr id="529" name="Google Shape;529;p14"/>
          <p:cNvSpPr/>
          <p:nvPr/>
        </p:nvSpPr>
        <p:spPr>
          <a:xfrm>
            <a:off x="8183880" y="2743200"/>
            <a:ext cx="457200" cy="4572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0" name="Google Shape;530;p14" descr="preencoded.png"/>
          <p:cNvPicPr preferRelativeResize="0"/>
          <p:nvPr/>
        </p:nvPicPr>
        <p:blipFill rotWithShape="1">
          <a:blip r:embed="rId6">
            <a:alphaModFix/>
          </a:blip>
          <a:srcRect/>
          <a:stretch/>
        </p:blipFill>
        <p:spPr>
          <a:xfrm>
            <a:off x="8298180" y="2857500"/>
            <a:ext cx="228600" cy="228600"/>
          </a:xfrm>
          <a:prstGeom prst="rect">
            <a:avLst/>
          </a:prstGeom>
          <a:noFill/>
          <a:ln>
            <a:noFill/>
          </a:ln>
        </p:spPr>
      </p:pic>
      <p:sp>
        <p:nvSpPr>
          <p:cNvPr id="531" name="Google Shape;531;p14"/>
          <p:cNvSpPr txBox="1"/>
          <p:nvPr/>
        </p:nvSpPr>
        <p:spPr>
          <a:xfrm>
            <a:off x="8778240" y="2743200"/>
            <a:ext cx="288036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Smart AI keyframes</a:t>
            </a:r>
            <a:endParaRPr sz="1350" b="0" i="0" u="none" strike="noStrike" cap="none">
              <a:solidFill>
                <a:schemeClr val="dk1"/>
              </a:solidFill>
              <a:latin typeface="Google Sans Flex"/>
              <a:ea typeface="Google Sans Flex"/>
              <a:cs typeface="Google Sans Flex"/>
              <a:sym typeface="Google Sans Flex"/>
            </a:endParaRPr>
          </a:p>
        </p:txBody>
      </p:sp>
      <p:sp>
        <p:nvSpPr>
          <p:cNvPr id="532" name="Google Shape;532;p14"/>
          <p:cNvSpPr txBox="1"/>
          <p:nvPr/>
        </p:nvSpPr>
        <p:spPr>
          <a:xfrm>
            <a:off x="8778240" y="3044952"/>
            <a:ext cx="288036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A greedy set cover picks the fewest frames that cover the inspectable surface.</a:t>
            </a:r>
            <a:endParaRPr sz="1100" b="0" i="0" u="none" strike="noStrike" cap="none">
              <a:solidFill>
                <a:schemeClr val="dk1"/>
              </a:solidFill>
              <a:latin typeface="Google Sans Flex"/>
              <a:ea typeface="Google Sans Flex"/>
              <a:cs typeface="Google Sans Flex"/>
              <a:sym typeface="Google Sans Flex"/>
            </a:endParaRPr>
          </a:p>
        </p:txBody>
      </p:sp>
      <p:sp>
        <p:nvSpPr>
          <p:cNvPr id="533" name="Google Shape;533;p14"/>
          <p:cNvSpPr/>
          <p:nvPr/>
        </p:nvSpPr>
        <p:spPr>
          <a:xfrm>
            <a:off x="8183880" y="3886200"/>
            <a:ext cx="457200" cy="4572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4" name="Google Shape;534;p14" descr="preencoded.png"/>
          <p:cNvPicPr preferRelativeResize="0"/>
          <p:nvPr/>
        </p:nvPicPr>
        <p:blipFill rotWithShape="1">
          <a:blip r:embed="rId7">
            <a:alphaModFix/>
          </a:blip>
          <a:srcRect/>
          <a:stretch/>
        </p:blipFill>
        <p:spPr>
          <a:xfrm>
            <a:off x="8298180" y="4000500"/>
            <a:ext cx="228600" cy="228600"/>
          </a:xfrm>
          <a:prstGeom prst="rect">
            <a:avLst/>
          </a:prstGeom>
          <a:noFill/>
          <a:ln>
            <a:noFill/>
          </a:ln>
        </p:spPr>
      </p:pic>
      <p:sp>
        <p:nvSpPr>
          <p:cNvPr id="535" name="Google Shape;535;p14"/>
          <p:cNvSpPr txBox="1"/>
          <p:nvPr/>
        </p:nvSpPr>
        <p:spPr>
          <a:xfrm>
            <a:off x="8778240" y="3886200"/>
            <a:ext cx="288036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Findings pinned in 3D</a:t>
            </a:r>
            <a:endParaRPr sz="1350" b="0" i="0" u="none" strike="noStrike" cap="none">
              <a:solidFill>
                <a:schemeClr val="dk1"/>
              </a:solidFill>
              <a:latin typeface="Google Sans Flex"/>
              <a:ea typeface="Google Sans Flex"/>
              <a:cs typeface="Google Sans Flex"/>
              <a:sym typeface="Google Sans Flex"/>
            </a:endParaRPr>
          </a:p>
        </p:txBody>
      </p:sp>
      <p:sp>
        <p:nvSpPr>
          <p:cNvPr id="536" name="Google Shape;536;p14"/>
          <p:cNvSpPr txBox="1"/>
          <p:nvPr/>
        </p:nvSpPr>
        <p:spPr>
          <a:xfrm>
            <a:off x="8778240" y="4187952"/>
            <a:ext cx="288036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Each defect gets a wall and a time in the video, and is merged across frames.</a:t>
            </a:r>
            <a:endParaRPr sz="1100" b="0" i="0" u="none" strike="noStrike" cap="none">
              <a:solidFill>
                <a:schemeClr val="dk1"/>
              </a:solidFill>
              <a:latin typeface="Google Sans Flex"/>
              <a:ea typeface="Google Sans Flex"/>
              <a:cs typeface="Google Sans Flex"/>
              <a:sym typeface="Google Sans Flex"/>
            </a:endParaRPr>
          </a:p>
        </p:txBody>
      </p:sp>
      <p:sp>
        <p:nvSpPr>
          <p:cNvPr id="537" name="Google Shape;537;p14"/>
          <p:cNvSpPr/>
          <p:nvPr/>
        </p:nvSpPr>
        <p:spPr>
          <a:xfrm>
            <a:off x="8183880" y="5029200"/>
            <a:ext cx="457200" cy="4572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8" name="Google Shape;538;p14" descr="preencoded.png"/>
          <p:cNvPicPr preferRelativeResize="0"/>
          <p:nvPr/>
        </p:nvPicPr>
        <p:blipFill rotWithShape="1">
          <a:blip r:embed="rId8">
            <a:alphaModFix/>
          </a:blip>
          <a:srcRect/>
          <a:stretch/>
        </p:blipFill>
        <p:spPr>
          <a:xfrm>
            <a:off x="8298180" y="5143500"/>
            <a:ext cx="228600" cy="228600"/>
          </a:xfrm>
          <a:prstGeom prst="rect">
            <a:avLst/>
          </a:prstGeom>
          <a:noFill/>
          <a:ln>
            <a:noFill/>
          </a:ln>
        </p:spPr>
      </p:pic>
      <p:sp>
        <p:nvSpPr>
          <p:cNvPr id="539" name="Google Shape;539;p14"/>
          <p:cNvSpPr txBox="1"/>
          <p:nvPr/>
        </p:nvSpPr>
        <p:spPr>
          <a:xfrm>
            <a:off x="8778240" y="5029200"/>
            <a:ext cx="288036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Re-film list</a:t>
            </a:r>
            <a:endParaRPr sz="1350" b="0" i="0" u="none" strike="noStrike" cap="none">
              <a:solidFill>
                <a:schemeClr val="dk1"/>
              </a:solidFill>
              <a:latin typeface="Google Sans Flex"/>
              <a:ea typeface="Google Sans Flex"/>
              <a:cs typeface="Google Sans Flex"/>
              <a:sym typeface="Google Sans Flex"/>
            </a:endParaRPr>
          </a:p>
        </p:txBody>
      </p:sp>
      <p:sp>
        <p:nvSpPr>
          <p:cNvPr id="540" name="Google Shape;540;p14"/>
          <p:cNvSpPr txBox="1"/>
          <p:nvPr/>
        </p:nvSpPr>
        <p:spPr>
          <a:xfrm>
            <a:off x="8778240" y="5330952"/>
            <a:ext cx="288036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Below 60% AI-inspected → REFER, with the exact walls and ceilings to film again.</a:t>
            </a:r>
            <a:endParaRPr sz="1100" b="0" i="0" u="none" strike="noStrike" cap="none">
              <a:solidFill>
                <a:schemeClr val="dk1"/>
              </a:solidFill>
              <a:latin typeface="Google Sans Flex"/>
              <a:ea typeface="Google Sans Flex"/>
              <a:cs typeface="Google Sans Flex"/>
              <a:sym typeface="Google Sans Flex"/>
            </a:endParaRPr>
          </a:p>
        </p:txBody>
      </p:sp>
      <p:sp>
        <p:nvSpPr>
          <p:cNvPr id="541" name="Google Shape;541;p14"/>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14</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GEMINI 3.8 FLASH</a:t>
            </a:r>
            <a:endParaRPr sz="1150"/>
          </a:p>
        </p:txBody>
      </p:sp>
      <p:sp>
        <p:nvSpPr>
          <p:cNvPr id="548" name="Google Shape;548;p15"/>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Gemini works as the underwriter's co-pilot</a:t>
            </a:r>
            <a:endParaRPr sz="2850"/>
          </a:p>
        </p:txBody>
      </p:sp>
      <p:sp>
        <p:nvSpPr>
          <p:cNvPr id="549" name="Google Shape;549;p15"/>
          <p:cNvSpPr/>
          <p:nvPr/>
        </p:nvSpPr>
        <p:spPr>
          <a:xfrm>
            <a:off x="516592" y="1563624"/>
            <a:ext cx="6464895" cy="2916936"/>
          </a:xfrm>
          <a:prstGeom prst="roundRect">
            <a:avLst>
              <a:gd name="adj" fmla="val 313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0" name="Google Shape;550;p15" descr="gemini-analysis"/>
          <p:cNvPicPr preferRelativeResize="0"/>
          <p:nvPr/>
        </p:nvPicPr>
        <p:blipFill rotWithShape="1">
          <a:blip r:embed="rId3">
            <a:alphaModFix/>
          </a:blip>
          <a:srcRect/>
          <a:stretch/>
        </p:blipFill>
        <p:spPr>
          <a:xfrm>
            <a:off x="553168" y="1600200"/>
            <a:ext cx="6391743" cy="2843784"/>
          </a:xfrm>
          <a:prstGeom prst="rect">
            <a:avLst/>
          </a:prstGeom>
          <a:noFill/>
          <a:ln>
            <a:noFill/>
          </a:ln>
        </p:spPr>
      </p:pic>
      <p:sp>
        <p:nvSpPr>
          <p:cNvPr id="551" name="Google Shape;551;p15"/>
          <p:cNvSpPr/>
          <p:nvPr/>
        </p:nvSpPr>
        <p:spPr>
          <a:xfrm>
            <a:off x="7232904" y="1564166"/>
            <a:ext cx="4462272" cy="3482779"/>
          </a:xfrm>
          <a:prstGeom prst="roundRect">
            <a:avLst>
              <a:gd name="adj" fmla="val 262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2" name="Google Shape;552;p15" descr="ask-gemini"/>
          <p:cNvPicPr preferRelativeResize="0"/>
          <p:nvPr/>
        </p:nvPicPr>
        <p:blipFill rotWithShape="1">
          <a:blip r:embed="rId4">
            <a:alphaModFix/>
          </a:blip>
          <a:srcRect/>
          <a:stretch/>
        </p:blipFill>
        <p:spPr>
          <a:xfrm>
            <a:off x="7269480" y="1600742"/>
            <a:ext cx="4389120" cy="3409627"/>
          </a:xfrm>
          <a:prstGeom prst="rect">
            <a:avLst/>
          </a:prstGeom>
          <a:noFill/>
          <a:ln>
            <a:noFill/>
          </a:ln>
        </p:spPr>
      </p:pic>
      <p:sp>
        <p:nvSpPr>
          <p:cNvPr id="553" name="Google Shape;553;p15"/>
          <p:cNvSpPr txBox="1"/>
          <p:nvPr/>
        </p:nvSpPr>
        <p:spPr>
          <a:xfrm>
            <a:off x="548640" y="4663440"/>
            <a:ext cx="31089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Property analysis</a:t>
            </a:r>
            <a:endParaRPr sz="1250" b="0" i="0" u="none" strike="noStrike" cap="none">
              <a:solidFill>
                <a:schemeClr val="dk1"/>
              </a:solidFill>
              <a:latin typeface="Google Sans Flex"/>
              <a:ea typeface="Google Sans Flex"/>
              <a:cs typeface="Google Sans Flex"/>
              <a:sym typeface="Google Sans Flex"/>
            </a:endParaRPr>
          </a:p>
        </p:txBody>
      </p:sp>
      <p:sp>
        <p:nvSpPr>
          <p:cNvPr id="554" name="Google Shape;554;p15"/>
          <p:cNvSpPr txBox="1"/>
          <p:nvPr/>
        </p:nvSpPr>
        <p:spPr>
          <a:xfrm>
            <a:off x="548640" y="4937760"/>
            <a:ext cx="3108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Summary, causes, action plan, insurance and lending views, and site-visit questions</a:t>
            </a:r>
            <a:endParaRPr sz="1100" b="0" i="0" u="none" strike="noStrike" cap="none">
              <a:solidFill>
                <a:schemeClr val="dk1"/>
              </a:solidFill>
              <a:latin typeface="Google Sans Flex"/>
              <a:ea typeface="Google Sans Flex"/>
              <a:cs typeface="Google Sans Flex"/>
              <a:sym typeface="Google Sans Flex"/>
            </a:endParaRPr>
          </a:p>
        </p:txBody>
      </p:sp>
      <p:sp>
        <p:nvSpPr>
          <p:cNvPr id="555" name="Google Shape;555;p15"/>
          <p:cNvSpPr txBox="1"/>
          <p:nvPr/>
        </p:nvSpPr>
        <p:spPr>
          <a:xfrm>
            <a:off x="3794760" y="4663440"/>
            <a:ext cx="31089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Grounded Q&amp;A</a:t>
            </a:r>
            <a:endParaRPr sz="1250" b="0" i="0" u="none" strike="noStrike" cap="none">
              <a:solidFill>
                <a:schemeClr val="dk1"/>
              </a:solidFill>
              <a:latin typeface="Google Sans Flex"/>
              <a:ea typeface="Google Sans Flex"/>
              <a:cs typeface="Google Sans Flex"/>
              <a:sym typeface="Google Sans Flex"/>
            </a:endParaRPr>
          </a:p>
        </p:txBody>
      </p:sp>
      <p:sp>
        <p:nvSpPr>
          <p:cNvPr id="556" name="Google Shape;556;p15"/>
          <p:cNvSpPr txBox="1"/>
          <p:nvPr/>
        </p:nvSpPr>
        <p:spPr>
          <a:xfrm>
            <a:off x="3794760" y="4937760"/>
            <a:ext cx="3108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Answers only from this inspection's findings, coverage and risk, and cites issue IDs</a:t>
            </a:r>
            <a:endParaRPr sz="1100" b="0" i="0" u="none" strike="noStrike" cap="none">
              <a:solidFill>
                <a:schemeClr val="dk1"/>
              </a:solidFill>
              <a:latin typeface="Google Sans Flex"/>
              <a:ea typeface="Google Sans Flex"/>
              <a:cs typeface="Google Sans Flex"/>
              <a:sym typeface="Google Sans Flex"/>
            </a:endParaRPr>
          </a:p>
        </p:txBody>
      </p:sp>
      <p:sp>
        <p:nvSpPr>
          <p:cNvPr id="557" name="Google Shape;557;p15"/>
          <p:cNvSpPr txBox="1"/>
          <p:nvPr/>
        </p:nvSpPr>
        <p:spPr>
          <a:xfrm>
            <a:off x="548640" y="5440680"/>
            <a:ext cx="31089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Scene and authenticity</a:t>
            </a:r>
            <a:endParaRPr sz="1250" b="0" i="0" u="none" strike="noStrike" cap="none">
              <a:solidFill>
                <a:schemeClr val="dk1"/>
              </a:solidFill>
              <a:latin typeface="Google Sans Flex"/>
              <a:ea typeface="Google Sans Flex"/>
              <a:cs typeface="Google Sans Flex"/>
              <a:sym typeface="Google Sans Flex"/>
            </a:endParaRPr>
          </a:p>
        </p:txBody>
      </p:sp>
      <p:sp>
        <p:nvSpPr>
          <p:cNvPr id="558" name="Google Shape;558;p15"/>
          <p:cNvSpPr txBox="1"/>
          <p:nvPr/>
        </p:nvSpPr>
        <p:spPr>
          <a:xfrm>
            <a:off x="548640" y="5715000"/>
            <a:ext cx="3108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Room type, visible components, and screen, render or AI-image detection</a:t>
            </a:r>
            <a:endParaRPr sz="1100" b="0" i="0" u="none" strike="noStrike" cap="none">
              <a:solidFill>
                <a:schemeClr val="dk1"/>
              </a:solidFill>
              <a:latin typeface="Google Sans Flex"/>
              <a:ea typeface="Google Sans Flex"/>
              <a:cs typeface="Google Sans Flex"/>
              <a:sym typeface="Google Sans Flex"/>
            </a:endParaRPr>
          </a:p>
        </p:txBody>
      </p:sp>
      <p:sp>
        <p:nvSpPr>
          <p:cNvPr id="559" name="Google Shape;559;p15"/>
          <p:cNvSpPr txBox="1"/>
          <p:nvPr/>
        </p:nvSpPr>
        <p:spPr>
          <a:xfrm>
            <a:off x="3794760" y="5440680"/>
            <a:ext cx="310896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250" b="1" i="0" u="none" strike="noStrike" cap="none">
                <a:solidFill>
                  <a:schemeClr val="accent2"/>
                </a:solidFill>
                <a:latin typeface="Google Sans Flex"/>
                <a:ea typeface="Google Sans Flex"/>
                <a:cs typeface="Google Sans Flex"/>
                <a:sym typeface="Google Sans Flex"/>
              </a:rPr>
              <a:t>3D object naming</a:t>
            </a:r>
            <a:endParaRPr sz="1250" b="0" i="0" u="none" strike="noStrike" cap="none">
              <a:solidFill>
                <a:schemeClr val="dk1"/>
              </a:solidFill>
              <a:latin typeface="Google Sans Flex"/>
              <a:ea typeface="Google Sans Flex"/>
              <a:cs typeface="Google Sans Flex"/>
              <a:sym typeface="Google Sans Flex"/>
            </a:endParaRPr>
          </a:p>
        </p:txBody>
      </p:sp>
      <p:sp>
        <p:nvSpPr>
          <p:cNvPr id="560" name="Google Shape;560;p15"/>
          <p:cNvSpPr txBox="1"/>
          <p:nvPr/>
        </p:nvSpPr>
        <p:spPr>
          <a:xfrm>
            <a:off x="3794760" y="5715000"/>
            <a:ext cx="310896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Names the furniture and fixtures segmented from the 3D model</a:t>
            </a:r>
            <a:endParaRPr sz="1100" b="0" i="0" u="none" strike="noStrike" cap="none">
              <a:solidFill>
                <a:schemeClr val="dk1"/>
              </a:solidFill>
              <a:latin typeface="Google Sans Flex"/>
              <a:ea typeface="Google Sans Flex"/>
              <a:cs typeface="Google Sans Flex"/>
              <a:sym typeface="Google Sans Flex"/>
            </a:endParaRPr>
          </a:p>
        </p:txBody>
      </p:sp>
      <p:sp>
        <p:nvSpPr>
          <p:cNvPr id="561" name="Google Shape;561;p15"/>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15</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PRODUCT EXPERIENCE</a:t>
            </a:r>
            <a:endParaRPr sz="1150"/>
          </a:p>
        </p:txBody>
      </p:sp>
      <p:sp>
        <p:nvSpPr>
          <p:cNvPr id="568" name="Google Shape;568;p16"/>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A product built for underwriters</a:t>
            </a:r>
            <a:endParaRPr sz="2850"/>
          </a:p>
        </p:txBody>
      </p:sp>
      <p:sp>
        <p:nvSpPr>
          <p:cNvPr id="569" name="Google Shape;569;p16"/>
          <p:cNvSpPr/>
          <p:nvPr/>
        </p:nvSpPr>
        <p:spPr>
          <a:xfrm>
            <a:off x="513569" y="1563624"/>
            <a:ext cx="6105182" cy="4261104"/>
          </a:xfrm>
          <a:prstGeom prst="roundRect">
            <a:avLst>
              <a:gd name="adj" fmla="val 2146"/>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0" name="Google Shape;570;p16" descr="dashboard"/>
          <p:cNvPicPr preferRelativeResize="0"/>
          <p:nvPr/>
        </p:nvPicPr>
        <p:blipFill rotWithShape="1">
          <a:blip r:embed="rId3">
            <a:alphaModFix/>
          </a:blip>
          <a:srcRect/>
          <a:stretch/>
        </p:blipFill>
        <p:spPr>
          <a:xfrm>
            <a:off x="550145" y="1600200"/>
            <a:ext cx="6032030" cy="4187952"/>
          </a:xfrm>
          <a:prstGeom prst="rect">
            <a:avLst/>
          </a:prstGeom>
          <a:noFill/>
          <a:ln>
            <a:noFill/>
          </a:ln>
        </p:spPr>
      </p:pic>
      <p:sp>
        <p:nvSpPr>
          <p:cNvPr id="571" name="Google Shape;571;p16"/>
          <p:cNvSpPr/>
          <p:nvPr/>
        </p:nvSpPr>
        <p:spPr>
          <a:xfrm>
            <a:off x="6821424" y="1565748"/>
            <a:ext cx="4873752" cy="3305879"/>
          </a:xfrm>
          <a:prstGeom prst="roundRect">
            <a:avLst>
              <a:gd name="adj" fmla="val 2766"/>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2" name="Google Shape;572;p16" descr="walkthroughs"/>
          <p:cNvPicPr preferRelativeResize="0"/>
          <p:nvPr/>
        </p:nvPicPr>
        <p:blipFill rotWithShape="1">
          <a:blip r:embed="rId4">
            <a:alphaModFix/>
          </a:blip>
          <a:srcRect/>
          <a:stretch/>
        </p:blipFill>
        <p:spPr>
          <a:xfrm>
            <a:off x="6858000" y="1602324"/>
            <a:ext cx="4800600" cy="3232727"/>
          </a:xfrm>
          <a:prstGeom prst="rect">
            <a:avLst/>
          </a:prstGeom>
          <a:noFill/>
          <a:ln>
            <a:noFill/>
          </a:ln>
        </p:spPr>
      </p:pic>
      <p:sp>
        <p:nvSpPr>
          <p:cNvPr id="573" name="Google Shape;573;p16"/>
          <p:cNvSpPr txBox="1"/>
          <p:nvPr/>
        </p:nvSpPr>
        <p:spPr>
          <a:xfrm>
            <a:off x="548640" y="5852160"/>
            <a:ext cx="60350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1" u="none" strike="noStrike" cap="none">
                <a:solidFill>
                  <a:schemeClr val="dk2"/>
                </a:solidFill>
                <a:latin typeface="Google Sans Flex"/>
                <a:ea typeface="Google Sans Flex"/>
                <a:cs typeface="Google Sans Flex"/>
                <a:sym typeface="Google Sans Flex"/>
              </a:rPr>
              <a:t>Dashboard: walkthroughs, repair exposure, referrals and coverage across the whole book</a:t>
            </a:r>
            <a:endParaRPr sz="1100" b="0" i="0" u="none" strike="noStrike" cap="none">
              <a:solidFill>
                <a:schemeClr val="dk1"/>
              </a:solidFill>
              <a:latin typeface="Google Sans Flex"/>
              <a:ea typeface="Google Sans Flex"/>
              <a:cs typeface="Google Sans Flex"/>
              <a:sym typeface="Google Sans Flex"/>
            </a:endParaRPr>
          </a:p>
        </p:txBody>
      </p:sp>
      <p:sp>
        <p:nvSpPr>
          <p:cNvPr id="574" name="Google Shape;574;p16"/>
          <p:cNvSpPr txBox="1"/>
          <p:nvPr/>
        </p:nvSpPr>
        <p:spPr>
          <a:xfrm>
            <a:off x="7086600" y="4983480"/>
            <a:ext cx="4572000" cy="310896"/>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150" b="0" i="0" u="none" strike="noStrike" cap="none">
                <a:solidFill>
                  <a:schemeClr val="dk1"/>
                </a:solidFill>
                <a:latin typeface="Google Sans Flex"/>
                <a:ea typeface="Google Sans Flex"/>
                <a:cs typeface="Google Sans Flex"/>
                <a:sym typeface="Google Sans Flex"/>
              </a:rPr>
              <a:t>Video upload, live 3D-scan view, Lite or Advanced</a:t>
            </a:r>
            <a:endParaRPr sz="1150" b="0" i="0" u="none" strike="noStrike" cap="none">
              <a:solidFill>
                <a:schemeClr val="dk1"/>
              </a:solidFill>
              <a:latin typeface="Google Sans Flex"/>
              <a:ea typeface="Google Sans Flex"/>
              <a:cs typeface="Google Sans Flex"/>
              <a:sym typeface="Google Sans Flex"/>
            </a:endParaRPr>
          </a:p>
        </p:txBody>
      </p:sp>
      <p:sp>
        <p:nvSpPr>
          <p:cNvPr id="575" name="Google Shape;575;p16"/>
          <p:cNvSpPr txBox="1"/>
          <p:nvPr/>
        </p:nvSpPr>
        <p:spPr>
          <a:xfrm>
            <a:off x="7086600" y="5312664"/>
            <a:ext cx="4572000" cy="310896"/>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150" b="0" i="0" u="none" strike="noStrike" cap="none">
                <a:solidFill>
                  <a:schemeClr val="dk1"/>
                </a:solidFill>
                <a:latin typeface="Google Sans Flex"/>
                <a:ea typeface="Google Sans Flex"/>
                <a:cs typeface="Google Sans Flex"/>
                <a:sym typeface="Google Sans Flex"/>
              </a:rPr>
              <a:t>Interactive 3D viewer: walk inside, coverage gaps</a:t>
            </a:r>
            <a:endParaRPr sz="1150" b="0" i="0" u="none" strike="noStrike" cap="none">
              <a:solidFill>
                <a:schemeClr val="dk1"/>
              </a:solidFill>
              <a:latin typeface="Google Sans Flex"/>
              <a:ea typeface="Google Sans Flex"/>
              <a:cs typeface="Google Sans Flex"/>
              <a:sym typeface="Google Sans Flex"/>
            </a:endParaRPr>
          </a:p>
        </p:txBody>
      </p:sp>
      <p:sp>
        <p:nvSpPr>
          <p:cNvPr id="576" name="Google Shape;576;p16"/>
          <p:cNvSpPr txBox="1"/>
          <p:nvPr/>
        </p:nvSpPr>
        <p:spPr>
          <a:xfrm>
            <a:off x="7086600" y="5641848"/>
            <a:ext cx="4572000" cy="310896"/>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150" b="0" i="0" u="none" strike="noStrike" cap="none">
                <a:solidFill>
                  <a:schemeClr val="dk1"/>
                </a:solidFill>
                <a:latin typeface="Google Sans Flex"/>
                <a:ea typeface="Google Sans Flex"/>
                <a:cs typeface="Google Sans Flex"/>
                <a:sym typeface="Google Sans Flex"/>
              </a:rPr>
              <a:t>Reports in HTML, Markdown and JSON; REST API at /docs</a:t>
            </a:r>
            <a:endParaRPr sz="1150" b="0" i="0" u="none" strike="noStrike" cap="none">
              <a:solidFill>
                <a:schemeClr val="dk1"/>
              </a:solidFill>
              <a:latin typeface="Google Sans Flex"/>
              <a:ea typeface="Google Sans Flex"/>
              <a:cs typeface="Google Sans Flex"/>
              <a:sym typeface="Google Sans Flex"/>
            </a:endParaRPr>
          </a:p>
        </p:txBody>
      </p:sp>
      <p:sp>
        <p:nvSpPr>
          <p:cNvPr id="577" name="Google Shape;577;p16"/>
          <p:cNvSpPr txBox="1"/>
          <p:nvPr/>
        </p:nvSpPr>
        <p:spPr>
          <a:xfrm>
            <a:off x="7086600" y="5971032"/>
            <a:ext cx="4572000" cy="310896"/>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150" b="0" i="0" u="none" strike="noStrike" cap="none">
                <a:solidFill>
                  <a:schemeClr val="dk1"/>
                </a:solidFill>
                <a:latin typeface="Google Sans Flex"/>
                <a:ea typeface="Google Sans Flex"/>
                <a:cs typeface="Google Sans Flex"/>
                <a:sym typeface="Google Sans Flex"/>
              </a:rPr>
              <a:t>Light and dark themes; live video-queue status</a:t>
            </a:r>
            <a:endParaRPr sz="1150" b="0" i="0" u="none" strike="noStrike" cap="none">
              <a:solidFill>
                <a:schemeClr val="dk1"/>
              </a:solidFill>
              <a:latin typeface="Google Sans Flex"/>
              <a:ea typeface="Google Sans Flex"/>
              <a:cs typeface="Google Sans Flex"/>
              <a:sym typeface="Google Sans Flex"/>
            </a:endParaRPr>
          </a:p>
        </p:txBody>
      </p:sp>
      <p:sp>
        <p:nvSpPr>
          <p:cNvPr id="578" name="Google Shape;578;p16"/>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16</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17"/>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CASE STUDY</a:t>
            </a:r>
            <a:endParaRPr sz="1150"/>
          </a:p>
        </p:txBody>
      </p:sp>
      <p:sp>
        <p:nvSpPr>
          <p:cNvPr id="585" name="Google Shape;585;p17"/>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A real 20-second home walkthrough, end to end</a:t>
            </a:r>
            <a:endParaRPr sz="2850"/>
          </a:p>
        </p:txBody>
      </p:sp>
      <p:sp>
        <p:nvSpPr>
          <p:cNvPr id="586" name="Google Shape;586;p17"/>
          <p:cNvSpPr/>
          <p:nvPr/>
        </p:nvSpPr>
        <p:spPr>
          <a:xfrm>
            <a:off x="1235583" y="1563624"/>
            <a:ext cx="5209794" cy="4187952"/>
          </a:xfrm>
          <a:prstGeom prst="roundRect">
            <a:avLst>
              <a:gd name="adj" fmla="val 2183"/>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7" name="Google Shape;587;p17" descr="case-study-3d"/>
          <p:cNvPicPr preferRelativeResize="0"/>
          <p:nvPr/>
        </p:nvPicPr>
        <p:blipFill rotWithShape="1">
          <a:blip r:embed="rId3">
            <a:alphaModFix/>
          </a:blip>
          <a:srcRect/>
          <a:stretch/>
        </p:blipFill>
        <p:spPr>
          <a:xfrm>
            <a:off x="1272159" y="1600200"/>
            <a:ext cx="5136642" cy="4114800"/>
          </a:xfrm>
          <a:prstGeom prst="rect">
            <a:avLst/>
          </a:prstGeom>
          <a:noFill/>
          <a:ln>
            <a:noFill/>
          </a:ln>
        </p:spPr>
      </p:pic>
      <p:sp>
        <p:nvSpPr>
          <p:cNvPr id="588" name="Google Shape;588;p17"/>
          <p:cNvSpPr/>
          <p:nvPr/>
        </p:nvSpPr>
        <p:spPr>
          <a:xfrm>
            <a:off x="1381887" y="5330952"/>
            <a:ext cx="3749040" cy="274320"/>
          </a:xfrm>
          <a:prstGeom prst="roundRect">
            <a:avLst>
              <a:gd name="adj" fmla="val 20000"/>
            </a:avLst>
          </a:prstGeom>
          <a:solidFill>
            <a:srgbClr val="0B1220">
              <a:alpha val="85098"/>
            </a:srgbClr>
          </a:solidFill>
          <a:ln w="9525"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7"/>
          <p:cNvSpPr txBox="1"/>
          <p:nvPr/>
        </p:nvSpPr>
        <p:spPr>
          <a:xfrm>
            <a:off x="1381887" y="5330952"/>
            <a:ext cx="37490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EE"/>
              </a:buClr>
              <a:buSzPts val="1100"/>
              <a:buFont typeface="Calibri"/>
              <a:buNone/>
            </a:pPr>
            <a:r>
              <a:rPr lang="en-US" sz="1000" b="1" i="0" u="none" strike="noStrike" cap="none">
                <a:solidFill>
                  <a:srgbClr val="22D3EE"/>
                </a:solidFill>
                <a:latin typeface="Google Sans Flex"/>
                <a:ea typeface="Google Sans Flex"/>
                <a:cs typeface="Google Sans Flex"/>
                <a:sym typeface="Google Sans Flex"/>
              </a:rPr>
              <a:t>Camera path · AI keyframes · findings pinned in 3D</a:t>
            </a:r>
            <a:endParaRPr sz="1000" b="0" i="0" u="none" strike="noStrike" cap="none">
              <a:solidFill>
                <a:schemeClr val="dk1"/>
              </a:solidFill>
              <a:latin typeface="Google Sans Flex"/>
              <a:ea typeface="Google Sans Flex"/>
              <a:cs typeface="Google Sans Flex"/>
              <a:sym typeface="Google Sans Flex"/>
            </a:endParaRPr>
          </a:p>
        </p:txBody>
      </p:sp>
      <p:sp>
        <p:nvSpPr>
          <p:cNvPr id="590" name="Google Shape;590;p17"/>
          <p:cNvSpPr/>
          <p:nvPr/>
        </p:nvSpPr>
        <p:spPr>
          <a:xfrm>
            <a:off x="7452360" y="160020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7"/>
          <p:cNvSpPr txBox="1"/>
          <p:nvPr/>
        </p:nvSpPr>
        <p:spPr>
          <a:xfrm>
            <a:off x="7589520" y="167335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19.6 s</a:t>
            </a:r>
            <a:endParaRPr sz="2000" b="0" i="0" u="none" strike="noStrike" cap="none">
              <a:solidFill>
                <a:schemeClr val="dk1"/>
              </a:solidFill>
              <a:latin typeface="Google Sans Flex"/>
              <a:ea typeface="Google Sans Flex"/>
              <a:cs typeface="Google Sans Flex"/>
              <a:sym typeface="Google Sans Flex"/>
            </a:endParaRPr>
          </a:p>
        </p:txBody>
      </p:sp>
      <p:sp>
        <p:nvSpPr>
          <p:cNvPr id="592" name="Google Shape;592;p17"/>
          <p:cNvSpPr txBox="1"/>
          <p:nvPr/>
        </p:nvSpPr>
        <p:spPr>
          <a:xfrm>
            <a:off x="7589520" y="211226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phone video</a:t>
            </a:r>
            <a:endParaRPr sz="1100" b="0" i="0" u="none" strike="noStrike" cap="none">
              <a:solidFill>
                <a:schemeClr val="dk1"/>
              </a:solidFill>
              <a:latin typeface="Google Sans Flex"/>
              <a:ea typeface="Google Sans Flex"/>
              <a:cs typeface="Google Sans Flex"/>
              <a:sym typeface="Google Sans Flex"/>
            </a:endParaRPr>
          </a:p>
        </p:txBody>
      </p:sp>
      <p:sp>
        <p:nvSpPr>
          <p:cNvPr id="593" name="Google Shape;593;p17"/>
          <p:cNvSpPr/>
          <p:nvPr/>
        </p:nvSpPr>
        <p:spPr>
          <a:xfrm>
            <a:off x="9601200" y="160020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7"/>
          <p:cNvSpPr txBox="1"/>
          <p:nvPr/>
        </p:nvSpPr>
        <p:spPr>
          <a:xfrm>
            <a:off x="9738360" y="167335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197</a:t>
            </a:r>
            <a:endParaRPr sz="2000" b="0" i="0" u="none" strike="noStrike" cap="none">
              <a:solidFill>
                <a:schemeClr val="dk1"/>
              </a:solidFill>
              <a:latin typeface="Google Sans Flex"/>
              <a:ea typeface="Google Sans Flex"/>
              <a:cs typeface="Google Sans Flex"/>
              <a:sym typeface="Google Sans Flex"/>
            </a:endParaRPr>
          </a:p>
        </p:txBody>
      </p:sp>
      <p:sp>
        <p:nvSpPr>
          <p:cNvPr id="595" name="Google Shape;595;p17"/>
          <p:cNvSpPr txBox="1"/>
          <p:nvPr/>
        </p:nvSpPr>
        <p:spPr>
          <a:xfrm>
            <a:off x="9738360" y="211226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SLAM frames</a:t>
            </a:r>
            <a:endParaRPr sz="1100" b="0" i="0" u="none" strike="noStrike" cap="none">
              <a:solidFill>
                <a:schemeClr val="dk1"/>
              </a:solidFill>
              <a:latin typeface="Google Sans Flex"/>
              <a:ea typeface="Google Sans Flex"/>
              <a:cs typeface="Google Sans Flex"/>
              <a:sym typeface="Google Sans Flex"/>
            </a:endParaRPr>
          </a:p>
        </p:txBody>
      </p:sp>
      <p:sp>
        <p:nvSpPr>
          <p:cNvPr id="596" name="Google Shape;596;p17"/>
          <p:cNvSpPr/>
          <p:nvPr/>
        </p:nvSpPr>
        <p:spPr>
          <a:xfrm>
            <a:off x="7452360" y="256032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7"/>
          <p:cNvSpPr txBox="1"/>
          <p:nvPr/>
        </p:nvSpPr>
        <p:spPr>
          <a:xfrm>
            <a:off x="7589520" y="263347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15</a:t>
            </a:r>
            <a:endParaRPr sz="2000" b="0" i="0" u="none" strike="noStrike" cap="none">
              <a:solidFill>
                <a:schemeClr val="dk1"/>
              </a:solidFill>
              <a:latin typeface="Google Sans Flex"/>
              <a:ea typeface="Google Sans Flex"/>
              <a:cs typeface="Google Sans Flex"/>
              <a:sym typeface="Google Sans Flex"/>
            </a:endParaRPr>
          </a:p>
        </p:txBody>
      </p:sp>
      <p:sp>
        <p:nvSpPr>
          <p:cNvPr id="598" name="Google Shape;598;p17"/>
          <p:cNvSpPr txBox="1"/>
          <p:nvPr/>
        </p:nvSpPr>
        <p:spPr>
          <a:xfrm>
            <a:off x="7589520" y="307238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AI keyframes</a:t>
            </a:r>
            <a:endParaRPr sz="1100" b="0" i="0" u="none" strike="noStrike" cap="none">
              <a:solidFill>
                <a:schemeClr val="dk1"/>
              </a:solidFill>
              <a:latin typeface="Google Sans Flex"/>
              <a:ea typeface="Google Sans Flex"/>
              <a:cs typeface="Google Sans Flex"/>
              <a:sym typeface="Google Sans Flex"/>
            </a:endParaRPr>
          </a:p>
        </p:txBody>
      </p:sp>
      <p:sp>
        <p:nvSpPr>
          <p:cNvPr id="599" name="Google Shape;599;p17"/>
          <p:cNvSpPr/>
          <p:nvPr/>
        </p:nvSpPr>
        <p:spPr>
          <a:xfrm>
            <a:off x="9601200" y="256032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7"/>
          <p:cNvSpPr txBox="1"/>
          <p:nvPr/>
        </p:nvSpPr>
        <p:spPr>
          <a:xfrm>
            <a:off x="9738360" y="263347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24.5 m²</a:t>
            </a:r>
            <a:endParaRPr sz="2000" b="0" i="0" u="none" strike="noStrike" cap="none">
              <a:solidFill>
                <a:schemeClr val="dk1"/>
              </a:solidFill>
              <a:latin typeface="Google Sans Flex"/>
              <a:ea typeface="Google Sans Flex"/>
              <a:cs typeface="Google Sans Flex"/>
              <a:sym typeface="Google Sans Flex"/>
            </a:endParaRPr>
          </a:p>
        </p:txBody>
      </p:sp>
      <p:sp>
        <p:nvSpPr>
          <p:cNvPr id="601" name="Google Shape;601;p17"/>
          <p:cNvSpPr txBox="1"/>
          <p:nvPr/>
        </p:nvSpPr>
        <p:spPr>
          <a:xfrm>
            <a:off x="9738360" y="307238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2 rooms measured</a:t>
            </a:r>
            <a:endParaRPr sz="1100" b="0" i="0" u="none" strike="noStrike" cap="none">
              <a:solidFill>
                <a:schemeClr val="dk1"/>
              </a:solidFill>
              <a:latin typeface="Google Sans Flex"/>
              <a:ea typeface="Google Sans Flex"/>
              <a:cs typeface="Google Sans Flex"/>
              <a:sym typeface="Google Sans Flex"/>
            </a:endParaRPr>
          </a:p>
        </p:txBody>
      </p:sp>
      <p:sp>
        <p:nvSpPr>
          <p:cNvPr id="602" name="Google Shape;602;p17"/>
          <p:cNvSpPr/>
          <p:nvPr/>
        </p:nvSpPr>
        <p:spPr>
          <a:xfrm>
            <a:off x="7452360" y="352044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7"/>
          <p:cNvSpPr txBox="1"/>
          <p:nvPr/>
        </p:nvSpPr>
        <p:spPr>
          <a:xfrm>
            <a:off x="7589520" y="359359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95.7 · A</a:t>
            </a:r>
            <a:endParaRPr sz="2000" b="0" i="0" u="none" strike="noStrike" cap="none">
              <a:solidFill>
                <a:schemeClr val="dk1"/>
              </a:solidFill>
              <a:latin typeface="Google Sans Flex"/>
              <a:ea typeface="Google Sans Flex"/>
              <a:cs typeface="Google Sans Flex"/>
              <a:sym typeface="Google Sans Flex"/>
            </a:endParaRPr>
          </a:p>
        </p:txBody>
      </p:sp>
      <p:sp>
        <p:nvSpPr>
          <p:cNvPr id="604" name="Google Shape;604;p17"/>
          <p:cNvSpPr txBox="1"/>
          <p:nvPr/>
        </p:nvSpPr>
        <p:spPr>
          <a:xfrm>
            <a:off x="7589520" y="403250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condition score</a:t>
            </a:r>
            <a:endParaRPr sz="1100" b="0" i="0" u="none" strike="noStrike" cap="none">
              <a:solidFill>
                <a:schemeClr val="dk1"/>
              </a:solidFill>
              <a:latin typeface="Google Sans Flex"/>
              <a:ea typeface="Google Sans Flex"/>
              <a:cs typeface="Google Sans Flex"/>
              <a:sym typeface="Google Sans Flex"/>
            </a:endParaRPr>
          </a:p>
        </p:txBody>
      </p:sp>
      <p:sp>
        <p:nvSpPr>
          <p:cNvPr id="605" name="Google Shape;605;p17"/>
          <p:cNvSpPr/>
          <p:nvPr/>
        </p:nvSpPr>
        <p:spPr>
          <a:xfrm>
            <a:off x="9601200" y="3520440"/>
            <a:ext cx="2011680" cy="841248"/>
          </a:xfrm>
          <a:prstGeom prst="roundRect">
            <a:avLst>
              <a:gd name="adj" fmla="val 1304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7"/>
          <p:cNvSpPr txBox="1"/>
          <p:nvPr/>
        </p:nvSpPr>
        <p:spPr>
          <a:xfrm>
            <a:off x="9738360" y="3593592"/>
            <a:ext cx="1783080" cy="4389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200"/>
              <a:buFont typeface="Arial"/>
              <a:buNone/>
            </a:pPr>
            <a:r>
              <a:rPr lang="en-US" sz="2100" b="1" i="0" u="none" strike="noStrike" cap="none">
                <a:solidFill>
                  <a:schemeClr val="accent2"/>
                </a:solidFill>
                <a:latin typeface="Google Sans Flex"/>
                <a:ea typeface="Google Sans Flex"/>
                <a:cs typeface="Google Sans Flex"/>
                <a:sym typeface="Google Sans Flex"/>
              </a:rPr>
              <a:t>$405–2,775</a:t>
            </a:r>
            <a:endParaRPr sz="2000" b="0" i="0" u="none" strike="noStrike" cap="none">
              <a:solidFill>
                <a:schemeClr val="dk1"/>
              </a:solidFill>
              <a:latin typeface="Google Sans Flex"/>
              <a:ea typeface="Google Sans Flex"/>
              <a:cs typeface="Google Sans Flex"/>
              <a:sym typeface="Google Sans Flex"/>
            </a:endParaRPr>
          </a:p>
        </p:txBody>
      </p:sp>
      <p:sp>
        <p:nvSpPr>
          <p:cNvPr id="607" name="Google Shape;607;p17"/>
          <p:cNvSpPr txBox="1"/>
          <p:nvPr/>
        </p:nvSpPr>
        <p:spPr>
          <a:xfrm>
            <a:off x="9738360" y="4032504"/>
            <a:ext cx="17830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indicative repairs</a:t>
            </a:r>
            <a:endParaRPr sz="1100" b="0" i="0" u="none" strike="noStrike" cap="none">
              <a:solidFill>
                <a:schemeClr val="dk1"/>
              </a:solidFill>
              <a:latin typeface="Google Sans Flex"/>
              <a:ea typeface="Google Sans Flex"/>
              <a:cs typeface="Google Sans Flex"/>
              <a:sym typeface="Google Sans Flex"/>
            </a:endParaRPr>
          </a:p>
        </p:txBody>
      </p:sp>
      <p:sp>
        <p:nvSpPr>
          <p:cNvPr id="608" name="Google Shape;608;p17"/>
          <p:cNvSpPr/>
          <p:nvPr/>
        </p:nvSpPr>
        <p:spPr>
          <a:xfrm>
            <a:off x="7452360" y="4526280"/>
            <a:ext cx="4160520" cy="1188720"/>
          </a:xfrm>
          <a:prstGeom prst="roundRect">
            <a:avLst>
              <a:gd name="adj" fmla="val 9231"/>
            </a:avLst>
          </a:prstGeom>
          <a:solidFill>
            <a:srgbClr val="2A1418"/>
          </a:solidFill>
          <a:ln w="12700" cap="flat" cmpd="sng">
            <a:solidFill>
              <a:srgbClr val="F871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7"/>
          <p:cNvSpPr txBox="1"/>
          <p:nvPr/>
        </p:nvSpPr>
        <p:spPr>
          <a:xfrm>
            <a:off x="7635240" y="4617720"/>
            <a:ext cx="38404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250" b="1" i="0" u="none" strike="noStrike" cap="none">
                <a:solidFill>
                  <a:schemeClr val="accent5"/>
                </a:solidFill>
                <a:latin typeface="Google Sans Flex"/>
                <a:ea typeface="Google Sans Flex"/>
                <a:cs typeface="Google Sans Flex"/>
                <a:sym typeface="Google Sans Flex"/>
              </a:rPr>
              <a:t>Decision: REFER, additional evidence required</a:t>
            </a:r>
            <a:endParaRPr sz="1250" b="0" i="0" u="none" strike="noStrike" cap="none">
              <a:solidFill>
                <a:schemeClr val="dk1"/>
              </a:solidFill>
              <a:latin typeface="Google Sans Flex"/>
              <a:ea typeface="Google Sans Flex"/>
              <a:cs typeface="Google Sans Flex"/>
              <a:sym typeface="Google Sans Flex"/>
            </a:endParaRPr>
          </a:p>
        </p:txBody>
      </p:sp>
      <p:sp>
        <p:nvSpPr>
          <p:cNvPr id="610" name="Google Shape;610;p17"/>
          <p:cNvSpPr txBox="1"/>
          <p:nvPr/>
        </p:nvSpPr>
        <p:spPr>
          <a:xfrm>
            <a:off x="7635240" y="4937760"/>
            <a:ext cx="38404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200"/>
              <a:buFont typeface="Calibri"/>
              <a:buNone/>
            </a:pPr>
            <a:r>
              <a:rPr lang="en-US" sz="1100" b="0" i="0" u="none" strike="noStrike" cap="none">
                <a:solidFill>
                  <a:schemeClr val="dk1"/>
                </a:solidFill>
                <a:latin typeface="Google Sans Flex"/>
                <a:ea typeface="Google Sans Flex"/>
                <a:cs typeface="Google Sans Flex"/>
                <a:sym typeface="Google Sans Flex"/>
              </a:rPr>
              <a:t>The home looks fine, but only 42.5% of its surfaces were AI-inspected (minimum 60%), so the app lists the ceilings and walls to film again. It does not over-promise.</a:t>
            </a:r>
            <a:endParaRPr sz="1100" b="0" i="0" u="none" strike="noStrike" cap="none">
              <a:solidFill>
                <a:schemeClr val="dk1"/>
              </a:solidFill>
              <a:latin typeface="Google Sans Flex"/>
              <a:ea typeface="Google Sans Flex"/>
              <a:cs typeface="Google Sans Flex"/>
              <a:sym typeface="Google Sans Flex"/>
            </a:endParaRPr>
          </a:p>
        </p:txBody>
      </p:sp>
      <p:sp>
        <p:nvSpPr>
          <p:cNvPr id="611" name="Google Shape;611;p17"/>
          <p:cNvSpPr txBox="1"/>
          <p:nvPr/>
        </p:nvSpPr>
        <p:spPr>
          <a:xfrm>
            <a:off x="548640" y="5852160"/>
            <a:ext cx="111099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7 possible defects pinned in 3D, all Needs review  ·  10.6 min end to end on a laptop RTX 3080  ·  3D build Lite 11.1 vs Advanced 26.9 min (RTX 3050)</a:t>
            </a:r>
            <a:endParaRPr sz="1100" b="0" i="0" u="none" strike="noStrike" cap="none">
              <a:solidFill>
                <a:schemeClr val="dk1"/>
              </a:solidFill>
              <a:latin typeface="Google Sans Flex"/>
              <a:ea typeface="Google Sans Flex"/>
              <a:cs typeface="Google Sans Flex"/>
              <a:sym typeface="Google Sans Flex"/>
            </a:endParaRPr>
          </a:p>
        </p:txBody>
      </p:sp>
      <p:sp>
        <p:nvSpPr>
          <p:cNvPr id="612" name="Google Shape;612;p17"/>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17</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8"/>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EVALUATION DESIGN</a:t>
            </a:r>
            <a:endParaRPr sz="1150"/>
          </a:p>
        </p:txBody>
      </p:sp>
      <p:sp>
        <p:nvSpPr>
          <p:cNvPr id="619" name="Google Shape;619;p18"/>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A fair test of four pipelines: 10 rooms, 100 regions</a:t>
            </a:r>
            <a:endParaRPr sz="2850"/>
          </a:p>
        </p:txBody>
      </p:sp>
      <p:sp>
        <p:nvSpPr>
          <p:cNvPr id="620" name="Google Shape;620;p18"/>
          <p:cNvSpPr/>
          <p:nvPr/>
        </p:nvSpPr>
        <p:spPr>
          <a:xfrm>
            <a:off x="548640" y="1508760"/>
            <a:ext cx="3931920" cy="1042416"/>
          </a:xfrm>
          <a:prstGeom prst="roundRect">
            <a:avLst>
              <a:gd name="adj" fmla="val 1052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8"/>
          <p:cNvSpPr/>
          <p:nvPr/>
        </p:nvSpPr>
        <p:spPr>
          <a:xfrm>
            <a:off x="731520" y="1773936"/>
            <a:ext cx="502920" cy="502920"/>
          </a:xfrm>
          <a:prstGeom prst="ellipse">
            <a:avLst/>
          </a:prstGeom>
          <a:solidFill>
            <a:srgbClr val="94A3B8"/>
          </a:solidFill>
          <a:ln w="12700" cap="flat" cmpd="sng">
            <a:solidFill>
              <a:srgbClr val="94A3B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8"/>
          <p:cNvSpPr txBox="1"/>
          <p:nvPr/>
        </p:nvSpPr>
        <p:spPr>
          <a:xfrm>
            <a:off x="731520" y="1773936"/>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220"/>
              </a:buClr>
              <a:buSzPts val="1800"/>
              <a:buFont typeface="Calibri"/>
              <a:buNone/>
            </a:pPr>
            <a:r>
              <a:rPr lang="en-US" sz="1600" b="1" i="0" u="none" strike="noStrike" cap="none">
                <a:solidFill>
                  <a:srgbClr val="0B1220"/>
                </a:solidFill>
                <a:latin typeface="Google Sans Flex"/>
                <a:ea typeface="Google Sans Flex"/>
                <a:cs typeface="Google Sans Flex"/>
                <a:sym typeface="Google Sans Flex"/>
              </a:rPr>
              <a:t>A</a:t>
            </a:r>
            <a:endParaRPr sz="1600" b="0" i="0" u="none" strike="noStrike" cap="none">
              <a:solidFill>
                <a:schemeClr val="dk1"/>
              </a:solidFill>
              <a:latin typeface="Google Sans Flex"/>
              <a:ea typeface="Google Sans Flex"/>
              <a:cs typeface="Google Sans Flex"/>
              <a:sym typeface="Google Sans Flex"/>
            </a:endParaRPr>
          </a:p>
        </p:txBody>
      </p:sp>
      <p:sp>
        <p:nvSpPr>
          <p:cNvPr id="623" name="Google Shape;623;p18"/>
          <p:cNvSpPr txBox="1"/>
          <p:nvPr/>
        </p:nvSpPr>
        <p:spPr>
          <a:xfrm>
            <a:off x="1371600" y="1627632"/>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Gemini only</a:t>
            </a:r>
            <a:endParaRPr sz="1350" b="0" i="0" u="none" strike="noStrike" cap="none">
              <a:solidFill>
                <a:schemeClr val="dk1"/>
              </a:solidFill>
              <a:latin typeface="Google Sans Flex"/>
              <a:ea typeface="Google Sans Flex"/>
              <a:cs typeface="Google Sans Flex"/>
              <a:sym typeface="Google Sans Flex"/>
            </a:endParaRPr>
          </a:p>
        </p:txBody>
      </p:sp>
      <p:sp>
        <p:nvSpPr>
          <p:cNvPr id="624" name="Google Shape;624;p18"/>
          <p:cNvSpPr txBox="1"/>
          <p:nvPr/>
        </p:nvSpPr>
        <p:spPr>
          <a:xfrm>
            <a:off x="1371600" y="1965960"/>
            <a:ext cx="30175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Baseline: Gemini inspects the full room image.</a:t>
            </a:r>
            <a:endParaRPr sz="1100" b="0" i="0" u="none" strike="noStrike" cap="none">
              <a:solidFill>
                <a:schemeClr val="dk1"/>
              </a:solidFill>
              <a:latin typeface="Google Sans Flex"/>
              <a:ea typeface="Google Sans Flex"/>
              <a:cs typeface="Google Sans Flex"/>
              <a:sym typeface="Google Sans Flex"/>
            </a:endParaRPr>
          </a:p>
        </p:txBody>
      </p:sp>
      <p:sp>
        <p:nvSpPr>
          <p:cNvPr id="625" name="Google Shape;625;p18"/>
          <p:cNvSpPr/>
          <p:nvPr/>
        </p:nvSpPr>
        <p:spPr>
          <a:xfrm>
            <a:off x="548640" y="2679192"/>
            <a:ext cx="3931920" cy="1042416"/>
          </a:xfrm>
          <a:prstGeom prst="roundRect">
            <a:avLst>
              <a:gd name="adj" fmla="val 1052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8"/>
          <p:cNvSpPr/>
          <p:nvPr/>
        </p:nvSpPr>
        <p:spPr>
          <a:xfrm>
            <a:off x="731520" y="2944368"/>
            <a:ext cx="502920" cy="502920"/>
          </a:xfrm>
          <a:prstGeom prst="ellipse">
            <a:avLst/>
          </a:prstGeom>
          <a:solidFill>
            <a:srgbClr val="22D3EE"/>
          </a:solidFill>
          <a:ln w="12700" cap="flat" cmpd="sng">
            <a:solidFill>
              <a:srgbClr val="22D3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8"/>
          <p:cNvSpPr txBox="1"/>
          <p:nvPr/>
        </p:nvSpPr>
        <p:spPr>
          <a:xfrm>
            <a:off x="731520" y="294436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220"/>
              </a:buClr>
              <a:buSzPts val="1800"/>
              <a:buFont typeface="Calibri"/>
              <a:buNone/>
            </a:pPr>
            <a:r>
              <a:rPr lang="en-US" sz="1600" b="1" i="0" u="none" strike="noStrike" cap="none">
                <a:solidFill>
                  <a:srgbClr val="0B1220"/>
                </a:solidFill>
                <a:latin typeface="Google Sans Flex"/>
                <a:ea typeface="Google Sans Flex"/>
                <a:cs typeface="Google Sans Flex"/>
                <a:sym typeface="Google Sans Flex"/>
              </a:rPr>
              <a:t>B</a:t>
            </a:r>
            <a:endParaRPr sz="1600" b="0" i="0" u="none" strike="noStrike" cap="none">
              <a:solidFill>
                <a:schemeClr val="dk1"/>
              </a:solidFill>
              <a:latin typeface="Google Sans Flex"/>
              <a:ea typeface="Google Sans Flex"/>
              <a:cs typeface="Google Sans Flex"/>
              <a:sym typeface="Google Sans Flex"/>
            </a:endParaRPr>
          </a:p>
        </p:txBody>
      </p:sp>
      <p:sp>
        <p:nvSpPr>
          <p:cNvPr id="628" name="Google Shape;628;p18"/>
          <p:cNvSpPr txBox="1"/>
          <p:nvPr/>
        </p:nvSpPr>
        <p:spPr>
          <a:xfrm>
            <a:off x="1371600" y="2798064"/>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LocateAnything + Gemini</a:t>
            </a:r>
            <a:endParaRPr sz="1350" b="0" i="0" u="none" strike="noStrike" cap="none">
              <a:solidFill>
                <a:schemeClr val="dk1"/>
              </a:solidFill>
              <a:latin typeface="Google Sans Flex"/>
              <a:ea typeface="Google Sans Flex"/>
              <a:cs typeface="Google Sans Flex"/>
              <a:sym typeface="Google Sans Flex"/>
            </a:endParaRPr>
          </a:p>
        </p:txBody>
      </p:sp>
      <p:sp>
        <p:nvSpPr>
          <p:cNvPr id="629" name="Google Shape;629;p18"/>
          <p:cNvSpPr txBox="1"/>
          <p:nvPr/>
        </p:nvSpPr>
        <p:spPr>
          <a:xfrm>
            <a:off x="1371600" y="3136392"/>
            <a:ext cx="30175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Localise candidates, then Gemini assesses each one.</a:t>
            </a:r>
            <a:endParaRPr sz="1100" b="0" i="0" u="none" strike="noStrike" cap="none">
              <a:solidFill>
                <a:schemeClr val="dk1"/>
              </a:solidFill>
              <a:latin typeface="Google Sans Flex"/>
              <a:ea typeface="Google Sans Flex"/>
              <a:cs typeface="Google Sans Flex"/>
              <a:sym typeface="Google Sans Flex"/>
            </a:endParaRPr>
          </a:p>
        </p:txBody>
      </p:sp>
      <p:sp>
        <p:nvSpPr>
          <p:cNvPr id="630" name="Google Shape;630;p18"/>
          <p:cNvSpPr/>
          <p:nvPr/>
        </p:nvSpPr>
        <p:spPr>
          <a:xfrm>
            <a:off x="548640" y="3849624"/>
            <a:ext cx="3931920" cy="1042416"/>
          </a:xfrm>
          <a:prstGeom prst="roundRect">
            <a:avLst>
              <a:gd name="adj" fmla="val 1052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8"/>
          <p:cNvSpPr/>
          <p:nvPr/>
        </p:nvSpPr>
        <p:spPr>
          <a:xfrm>
            <a:off x="731520" y="4114800"/>
            <a:ext cx="502920" cy="502920"/>
          </a:xfrm>
          <a:prstGeom prst="ellipse">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8"/>
          <p:cNvSpPr txBox="1"/>
          <p:nvPr/>
        </p:nvSpPr>
        <p:spPr>
          <a:xfrm>
            <a:off x="731520" y="411480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220"/>
              </a:buClr>
              <a:buSzPts val="1800"/>
              <a:buFont typeface="Calibri"/>
              <a:buNone/>
            </a:pPr>
            <a:r>
              <a:rPr lang="en-US" sz="1600" b="1" i="0" u="none" strike="noStrike" cap="none">
                <a:solidFill>
                  <a:srgbClr val="0B1220"/>
                </a:solidFill>
                <a:latin typeface="Google Sans Flex"/>
                <a:ea typeface="Google Sans Flex"/>
                <a:cs typeface="Google Sans Flex"/>
                <a:sym typeface="Google Sans Flex"/>
              </a:rPr>
              <a:t>C</a:t>
            </a:r>
            <a:endParaRPr sz="1600" b="0" i="0" u="none" strike="noStrike" cap="none">
              <a:solidFill>
                <a:schemeClr val="dk1"/>
              </a:solidFill>
              <a:latin typeface="Google Sans Flex"/>
              <a:ea typeface="Google Sans Flex"/>
              <a:cs typeface="Google Sans Flex"/>
              <a:sym typeface="Google Sans Flex"/>
            </a:endParaRPr>
          </a:p>
        </p:txBody>
      </p:sp>
      <p:sp>
        <p:nvSpPr>
          <p:cNvPr id="633" name="Google Shape;633;p18"/>
          <p:cNvSpPr txBox="1"/>
          <p:nvPr/>
        </p:nvSpPr>
        <p:spPr>
          <a:xfrm>
            <a:off x="1371600" y="3968496"/>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Gemma 4 + Gemini</a:t>
            </a:r>
            <a:endParaRPr sz="1350" b="0" i="0" u="none" strike="noStrike" cap="none">
              <a:solidFill>
                <a:schemeClr val="dk1"/>
              </a:solidFill>
              <a:latin typeface="Google Sans Flex"/>
              <a:ea typeface="Google Sans Flex"/>
              <a:cs typeface="Google Sans Flex"/>
              <a:sym typeface="Google Sans Flex"/>
            </a:endParaRPr>
          </a:p>
        </p:txBody>
      </p:sp>
      <p:sp>
        <p:nvSpPr>
          <p:cNvPr id="634" name="Google Shape;634;p18"/>
          <p:cNvSpPr txBox="1"/>
          <p:nvPr/>
        </p:nvSpPr>
        <p:spPr>
          <a:xfrm>
            <a:off x="1371600" y="4306824"/>
            <a:ext cx="30175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Gemma 4 checks the image, then Gemini gives the final assessment.</a:t>
            </a:r>
            <a:endParaRPr sz="1100" b="0" i="0" u="none" strike="noStrike" cap="none">
              <a:solidFill>
                <a:schemeClr val="dk1"/>
              </a:solidFill>
              <a:latin typeface="Google Sans Flex"/>
              <a:ea typeface="Google Sans Flex"/>
              <a:cs typeface="Google Sans Flex"/>
              <a:sym typeface="Google Sans Flex"/>
            </a:endParaRPr>
          </a:p>
        </p:txBody>
      </p:sp>
      <p:sp>
        <p:nvSpPr>
          <p:cNvPr id="635" name="Google Shape;635;p18"/>
          <p:cNvSpPr/>
          <p:nvPr/>
        </p:nvSpPr>
        <p:spPr>
          <a:xfrm>
            <a:off x="548640" y="5020056"/>
            <a:ext cx="3931920" cy="1042416"/>
          </a:xfrm>
          <a:prstGeom prst="roundRect">
            <a:avLst>
              <a:gd name="adj" fmla="val 10526"/>
            </a:avLst>
          </a:prstGeom>
          <a:solidFill>
            <a:srgbClr val="2A2112"/>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8"/>
          <p:cNvSpPr/>
          <p:nvPr/>
        </p:nvSpPr>
        <p:spPr>
          <a:xfrm>
            <a:off x="731520" y="5285232"/>
            <a:ext cx="502920" cy="50292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8"/>
          <p:cNvSpPr txBox="1"/>
          <p:nvPr/>
        </p:nvSpPr>
        <p:spPr>
          <a:xfrm>
            <a:off x="731520" y="5285232"/>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B1220"/>
              </a:buClr>
              <a:buSzPts val="1800"/>
              <a:buFont typeface="Calibri"/>
              <a:buNone/>
            </a:pPr>
            <a:r>
              <a:rPr lang="en-US" sz="1600" b="1" i="0" u="none" strike="noStrike" cap="none">
                <a:solidFill>
                  <a:srgbClr val="0B1220"/>
                </a:solidFill>
                <a:latin typeface="Google Sans Flex"/>
                <a:ea typeface="Google Sans Flex"/>
                <a:cs typeface="Google Sans Flex"/>
                <a:sym typeface="Google Sans Flex"/>
              </a:rPr>
              <a:t>D</a:t>
            </a:r>
            <a:endParaRPr sz="1600" b="0" i="0" u="none" strike="noStrike" cap="none">
              <a:solidFill>
                <a:schemeClr val="dk1"/>
              </a:solidFill>
              <a:latin typeface="Google Sans Flex"/>
              <a:ea typeface="Google Sans Flex"/>
              <a:cs typeface="Google Sans Flex"/>
              <a:sym typeface="Google Sans Flex"/>
            </a:endParaRPr>
          </a:p>
        </p:txBody>
      </p:sp>
      <p:sp>
        <p:nvSpPr>
          <p:cNvPr id="638" name="Google Shape;638;p18"/>
          <p:cNvSpPr txBox="1"/>
          <p:nvPr/>
        </p:nvSpPr>
        <p:spPr>
          <a:xfrm>
            <a:off x="1371600" y="5138928"/>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All three models</a:t>
            </a:r>
            <a:endParaRPr sz="1350" b="0" i="0" u="none" strike="noStrike" cap="none">
              <a:solidFill>
                <a:schemeClr val="dk1"/>
              </a:solidFill>
              <a:latin typeface="Google Sans Flex"/>
              <a:ea typeface="Google Sans Flex"/>
              <a:cs typeface="Google Sans Flex"/>
              <a:sym typeface="Google Sans Flex"/>
            </a:endParaRPr>
          </a:p>
        </p:txBody>
      </p:sp>
      <p:sp>
        <p:nvSpPr>
          <p:cNvPr id="639" name="Google Shape;639;p18"/>
          <p:cNvSpPr txBox="1"/>
          <p:nvPr/>
        </p:nvSpPr>
        <p:spPr>
          <a:xfrm>
            <a:off x="1371600" y="5477256"/>
            <a:ext cx="30175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LocateAnything localises, Gemma 4 verifies each crop, Gemini decides. Our pipeline.</a:t>
            </a:r>
            <a:endParaRPr sz="1100" b="0" i="0" u="none" strike="noStrike" cap="none">
              <a:solidFill>
                <a:schemeClr val="dk1"/>
              </a:solidFill>
              <a:latin typeface="Google Sans Flex"/>
              <a:ea typeface="Google Sans Flex"/>
              <a:cs typeface="Google Sans Flex"/>
              <a:sym typeface="Google Sans Flex"/>
            </a:endParaRPr>
          </a:p>
        </p:txBody>
      </p:sp>
      <p:sp>
        <p:nvSpPr>
          <p:cNvPr id="640" name="Google Shape;640;p18"/>
          <p:cNvSpPr/>
          <p:nvPr/>
        </p:nvSpPr>
        <p:spPr>
          <a:xfrm>
            <a:off x="4709160" y="1508760"/>
            <a:ext cx="3291840" cy="4617720"/>
          </a:xfrm>
          <a:prstGeom prst="roundRect">
            <a:avLst>
              <a:gd name="adj" fmla="val 3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8"/>
          <p:cNvSpPr txBox="1"/>
          <p:nvPr/>
        </p:nvSpPr>
        <p:spPr>
          <a:xfrm>
            <a:off x="4937760" y="1645920"/>
            <a:ext cx="29260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350" b="1" i="0" u="none" strike="noStrike" cap="none">
                <a:solidFill>
                  <a:schemeClr val="accent2"/>
                </a:solidFill>
                <a:latin typeface="Google Sans Flex"/>
                <a:ea typeface="Google Sans Flex"/>
                <a:cs typeface="Google Sans Flex"/>
                <a:sym typeface="Google Sans Flex"/>
              </a:rPr>
              <a:t>Test set</a:t>
            </a:r>
            <a:endParaRPr sz="1350" b="0" i="0" u="none" strike="noStrike" cap="none">
              <a:solidFill>
                <a:schemeClr val="dk1"/>
              </a:solidFill>
              <a:latin typeface="Google Sans Flex"/>
              <a:ea typeface="Google Sans Flex"/>
              <a:cs typeface="Google Sans Flex"/>
              <a:sym typeface="Google Sans Flex"/>
            </a:endParaRPr>
          </a:p>
        </p:txBody>
      </p:sp>
      <p:sp>
        <p:nvSpPr>
          <p:cNvPr id="642" name="Google Shape;642;p18"/>
          <p:cNvSpPr txBox="1"/>
          <p:nvPr/>
        </p:nvSpPr>
        <p:spPr>
          <a:xfrm>
            <a:off x="4937760" y="2103120"/>
            <a:ext cx="2926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2600"/>
              <a:buFont typeface="Arial"/>
              <a:buNone/>
            </a:pPr>
            <a:r>
              <a:rPr lang="en-US" sz="2450" b="1" i="0" u="none" strike="noStrike" cap="none">
                <a:solidFill>
                  <a:schemeClr val="accent3"/>
                </a:solidFill>
                <a:latin typeface="Google Sans Flex"/>
                <a:ea typeface="Google Sans Flex"/>
                <a:cs typeface="Google Sans Flex"/>
                <a:sym typeface="Google Sans Flex"/>
              </a:rPr>
              <a:t>10</a:t>
            </a:r>
            <a:endParaRPr sz="2350" b="0" i="0" u="none" strike="noStrike" cap="none">
              <a:solidFill>
                <a:schemeClr val="dk1"/>
              </a:solidFill>
              <a:latin typeface="Google Sans Flex"/>
              <a:ea typeface="Google Sans Flex"/>
              <a:cs typeface="Google Sans Flex"/>
              <a:sym typeface="Google Sans Flex"/>
            </a:endParaRPr>
          </a:p>
        </p:txBody>
      </p:sp>
      <p:sp>
        <p:nvSpPr>
          <p:cNvPr id="643" name="Google Shape;643;p18"/>
          <p:cNvSpPr txBox="1"/>
          <p:nvPr/>
        </p:nvSpPr>
        <p:spPr>
          <a:xfrm>
            <a:off x="4937760" y="2560320"/>
            <a:ext cx="29260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rooms: 5 living rooms + 5 bedrooms</a:t>
            </a:r>
            <a:endParaRPr sz="1100" b="0" i="0" u="none" strike="noStrike" cap="none">
              <a:solidFill>
                <a:schemeClr val="dk1"/>
              </a:solidFill>
              <a:latin typeface="Google Sans Flex"/>
              <a:ea typeface="Google Sans Flex"/>
              <a:cs typeface="Google Sans Flex"/>
              <a:sym typeface="Google Sans Flex"/>
            </a:endParaRPr>
          </a:p>
        </p:txBody>
      </p:sp>
      <p:sp>
        <p:nvSpPr>
          <p:cNvPr id="644" name="Google Shape;644;p18"/>
          <p:cNvSpPr txBox="1"/>
          <p:nvPr/>
        </p:nvSpPr>
        <p:spPr>
          <a:xfrm>
            <a:off x="4937760" y="3090672"/>
            <a:ext cx="2926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2600"/>
              <a:buFont typeface="Arial"/>
              <a:buNone/>
            </a:pPr>
            <a:r>
              <a:rPr lang="en-US" sz="2450" b="1" i="0" u="none" strike="noStrike" cap="none">
                <a:solidFill>
                  <a:schemeClr val="accent3"/>
                </a:solidFill>
                <a:latin typeface="Google Sans Flex"/>
                <a:ea typeface="Google Sans Flex"/>
                <a:cs typeface="Google Sans Flex"/>
                <a:sym typeface="Google Sans Flex"/>
              </a:rPr>
              <a:t>2</a:t>
            </a:r>
            <a:endParaRPr sz="2350" b="0" i="0" u="none" strike="noStrike" cap="none">
              <a:solidFill>
                <a:schemeClr val="dk1"/>
              </a:solidFill>
              <a:latin typeface="Google Sans Flex"/>
              <a:ea typeface="Google Sans Flex"/>
              <a:cs typeface="Google Sans Flex"/>
              <a:sym typeface="Google Sans Flex"/>
            </a:endParaRPr>
          </a:p>
        </p:txBody>
      </p:sp>
      <p:sp>
        <p:nvSpPr>
          <p:cNvPr id="645" name="Google Shape;645;p18"/>
          <p:cNvSpPr txBox="1"/>
          <p:nvPr/>
        </p:nvSpPr>
        <p:spPr>
          <a:xfrm>
            <a:off x="4937760" y="3547872"/>
            <a:ext cx="29260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clean control rooms (one of each)</a:t>
            </a:r>
            <a:endParaRPr sz="1100" b="0" i="0" u="none" strike="noStrike" cap="none">
              <a:solidFill>
                <a:schemeClr val="dk1"/>
              </a:solidFill>
              <a:latin typeface="Google Sans Flex"/>
              <a:ea typeface="Google Sans Flex"/>
              <a:cs typeface="Google Sans Flex"/>
              <a:sym typeface="Google Sans Flex"/>
            </a:endParaRPr>
          </a:p>
        </p:txBody>
      </p:sp>
      <p:sp>
        <p:nvSpPr>
          <p:cNvPr id="646" name="Google Shape;646;p18"/>
          <p:cNvSpPr txBox="1"/>
          <p:nvPr/>
        </p:nvSpPr>
        <p:spPr>
          <a:xfrm>
            <a:off x="4937760" y="4078224"/>
            <a:ext cx="2926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2600"/>
              <a:buFont typeface="Arial"/>
              <a:buNone/>
            </a:pPr>
            <a:r>
              <a:rPr lang="en-US" sz="2450" b="1" i="0" u="none" strike="noStrike" cap="none">
                <a:solidFill>
                  <a:schemeClr val="accent3"/>
                </a:solidFill>
                <a:latin typeface="Google Sans Flex"/>
                <a:ea typeface="Google Sans Flex"/>
                <a:cs typeface="Google Sans Flex"/>
                <a:sym typeface="Google Sans Flex"/>
              </a:rPr>
              <a:t>100</a:t>
            </a:r>
            <a:endParaRPr sz="2350" b="0" i="0" u="none" strike="noStrike" cap="none">
              <a:solidFill>
                <a:schemeClr val="dk1"/>
              </a:solidFill>
              <a:latin typeface="Google Sans Flex"/>
              <a:ea typeface="Google Sans Flex"/>
              <a:cs typeface="Google Sans Flex"/>
              <a:sym typeface="Google Sans Flex"/>
            </a:endParaRPr>
          </a:p>
        </p:txBody>
      </p:sp>
      <p:sp>
        <p:nvSpPr>
          <p:cNvPr id="647" name="Google Shape;647;p18"/>
          <p:cNvSpPr txBox="1"/>
          <p:nvPr/>
        </p:nvSpPr>
        <p:spPr>
          <a:xfrm>
            <a:off x="4937760" y="4535424"/>
            <a:ext cx="29260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annotated regions per pipeline</a:t>
            </a:r>
            <a:endParaRPr sz="1100" b="0" i="0" u="none" strike="noStrike" cap="none">
              <a:solidFill>
                <a:schemeClr val="dk1"/>
              </a:solidFill>
              <a:latin typeface="Google Sans Flex"/>
              <a:ea typeface="Google Sans Flex"/>
              <a:cs typeface="Google Sans Flex"/>
              <a:sym typeface="Google Sans Flex"/>
            </a:endParaRPr>
          </a:p>
        </p:txBody>
      </p:sp>
      <p:sp>
        <p:nvSpPr>
          <p:cNvPr id="648" name="Google Shape;648;p18"/>
          <p:cNvSpPr txBox="1"/>
          <p:nvPr/>
        </p:nvSpPr>
        <p:spPr>
          <a:xfrm>
            <a:off x="4937760" y="5065776"/>
            <a:ext cx="2926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2600"/>
              <a:buFont typeface="Arial"/>
              <a:buNone/>
            </a:pPr>
            <a:r>
              <a:rPr lang="en-US" sz="2450" b="1" i="0" u="none" strike="noStrike" cap="none">
                <a:solidFill>
                  <a:schemeClr val="accent3"/>
                </a:solidFill>
                <a:latin typeface="Google Sans Flex"/>
                <a:ea typeface="Google Sans Flex"/>
                <a:cs typeface="Google Sans Flex"/>
                <a:sym typeface="Google Sans Flex"/>
              </a:rPr>
              <a:t>40 / 60</a:t>
            </a:r>
            <a:endParaRPr sz="2350" b="0" i="0" u="none" strike="noStrike" cap="none">
              <a:solidFill>
                <a:schemeClr val="dk1"/>
              </a:solidFill>
              <a:latin typeface="Google Sans Flex"/>
              <a:ea typeface="Google Sans Flex"/>
              <a:cs typeface="Google Sans Flex"/>
              <a:sym typeface="Google Sans Flex"/>
            </a:endParaRPr>
          </a:p>
        </p:txBody>
      </p:sp>
      <p:sp>
        <p:nvSpPr>
          <p:cNvPr id="649" name="Google Shape;649;p18"/>
          <p:cNvSpPr txBox="1"/>
          <p:nvPr/>
        </p:nvSpPr>
        <p:spPr>
          <a:xfrm>
            <a:off x="4937760" y="5522976"/>
            <a:ext cx="29260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defective / non-defective regions</a:t>
            </a:r>
            <a:endParaRPr sz="1100" b="0" i="0" u="none" strike="noStrike" cap="none">
              <a:solidFill>
                <a:schemeClr val="dk1"/>
              </a:solidFill>
              <a:latin typeface="Google Sans Flex"/>
              <a:ea typeface="Google Sans Flex"/>
              <a:cs typeface="Google Sans Flex"/>
              <a:sym typeface="Google Sans Flex"/>
            </a:endParaRPr>
          </a:p>
        </p:txBody>
      </p:sp>
      <p:sp>
        <p:nvSpPr>
          <p:cNvPr id="650" name="Google Shape;650;p18"/>
          <p:cNvSpPr/>
          <p:nvPr/>
        </p:nvSpPr>
        <p:spPr>
          <a:xfrm>
            <a:off x="8229600" y="1508760"/>
            <a:ext cx="3429000" cy="2514600"/>
          </a:xfrm>
          <a:prstGeom prst="roundRect">
            <a:avLst>
              <a:gd name="adj" fmla="val 4364"/>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8"/>
          <p:cNvSpPr txBox="1"/>
          <p:nvPr/>
        </p:nvSpPr>
        <p:spPr>
          <a:xfrm>
            <a:off x="8458200" y="1645920"/>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350" b="1" i="0" u="none" strike="noStrike" cap="none">
                <a:solidFill>
                  <a:schemeClr val="accent2"/>
                </a:solidFill>
                <a:latin typeface="Google Sans Flex"/>
                <a:ea typeface="Google Sans Flex"/>
                <a:cs typeface="Google Sans Flex"/>
                <a:sym typeface="Google Sans Flex"/>
              </a:rPr>
              <a:t>Fair procedure</a:t>
            </a:r>
            <a:endParaRPr sz="1350" b="0" i="0" u="none" strike="noStrike" cap="none">
              <a:solidFill>
                <a:schemeClr val="dk1"/>
              </a:solidFill>
              <a:latin typeface="Google Sans Flex"/>
              <a:ea typeface="Google Sans Flex"/>
              <a:cs typeface="Google Sans Flex"/>
              <a:sym typeface="Google Sans Flex"/>
            </a:endParaRPr>
          </a:p>
        </p:txBody>
      </p:sp>
      <p:sp>
        <p:nvSpPr>
          <p:cNvPr id="652" name="Google Shape;652;p18"/>
          <p:cNvSpPr txBox="1"/>
          <p:nvPr/>
        </p:nvSpPr>
        <p:spPr>
          <a:xfrm>
            <a:off x="8458200" y="2011680"/>
            <a:ext cx="3063240" cy="19202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Same images, taxonomy, output schema and decision rule</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Same Gemini version and settings for every pipeline</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Test set frozen before inference; no labels given to models</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Raw outputs, failures, latency and cost all logged</a:t>
            </a:r>
            <a:endParaRPr sz="1100" b="0" i="0" u="none" strike="noStrike" cap="none">
              <a:solidFill>
                <a:schemeClr val="dk1"/>
              </a:solidFill>
              <a:latin typeface="Google Sans Flex"/>
              <a:ea typeface="Google Sans Flex"/>
              <a:cs typeface="Google Sans Flex"/>
              <a:sym typeface="Google Sans Flex"/>
            </a:endParaRPr>
          </a:p>
        </p:txBody>
      </p:sp>
      <p:sp>
        <p:nvSpPr>
          <p:cNvPr id="653" name="Google Shape;653;p18"/>
          <p:cNvSpPr/>
          <p:nvPr/>
        </p:nvSpPr>
        <p:spPr>
          <a:xfrm>
            <a:off x="8229600" y="4160520"/>
            <a:ext cx="3429000" cy="1965960"/>
          </a:xfrm>
          <a:prstGeom prst="roundRect">
            <a:avLst>
              <a:gd name="adj" fmla="val 5581"/>
            </a:avLst>
          </a:prstGeom>
          <a:solidFill>
            <a:srgbClr val="142A1C"/>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8"/>
          <p:cNvSpPr txBox="1"/>
          <p:nvPr/>
        </p:nvSpPr>
        <p:spPr>
          <a:xfrm>
            <a:off x="8458200" y="4297680"/>
            <a:ext cx="30175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500"/>
              <a:buFont typeface="Calibri"/>
              <a:buNone/>
            </a:pPr>
            <a:r>
              <a:rPr lang="en-US" sz="1350" b="1" i="0" u="none" strike="noStrike" cap="none">
                <a:solidFill>
                  <a:schemeClr val="accent4"/>
                </a:solidFill>
                <a:latin typeface="Google Sans Flex"/>
                <a:ea typeface="Google Sans Flex"/>
                <a:cs typeface="Google Sans Flex"/>
                <a:sym typeface="Google Sans Flex"/>
              </a:rPr>
              <a:t>Acceptance targets for D</a:t>
            </a:r>
            <a:endParaRPr sz="1350" b="0" i="0" u="none" strike="noStrike" cap="none">
              <a:solidFill>
                <a:schemeClr val="dk1"/>
              </a:solidFill>
              <a:latin typeface="Google Sans Flex"/>
              <a:ea typeface="Google Sans Flex"/>
              <a:cs typeface="Google Sans Flex"/>
              <a:sym typeface="Google Sans Flex"/>
            </a:endParaRPr>
          </a:p>
        </p:txBody>
      </p:sp>
      <p:sp>
        <p:nvSpPr>
          <p:cNvPr id="655" name="Google Shape;655;p18"/>
          <p:cNvSpPr txBox="1"/>
          <p:nvPr/>
        </p:nvSpPr>
        <p:spPr>
          <a:xfrm>
            <a:off x="8458200" y="4663440"/>
            <a:ext cx="3063240" cy="1371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Region accuracy of at least 85%</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Precision, recall and F1 each at least 85%</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At most 1 false alarm on the 2 clean rooms</a:t>
            </a:r>
            <a:endParaRPr sz="110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400"/>
              </a:spcBef>
              <a:spcAft>
                <a:spcPts val="0"/>
              </a:spcAft>
              <a:buClr>
                <a:schemeClr val="dk1"/>
              </a:buClr>
              <a:buSzPts val="1200"/>
              <a:buFont typeface="Calibri"/>
              <a:buChar char="•"/>
            </a:pPr>
            <a:r>
              <a:rPr lang="en-US" sz="1100" b="0" i="0" u="none" strike="noStrike" cap="none">
                <a:solidFill>
                  <a:schemeClr val="dk1"/>
                </a:solidFill>
                <a:latin typeface="Google Sans Flex"/>
                <a:ea typeface="Google Sans Flex"/>
                <a:cs typeface="Google Sans Flex"/>
                <a:sym typeface="Google Sans Flex"/>
              </a:rPr>
              <a:t>Better than Gemini alone (A) on every metric</a:t>
            </a:r>
            <a:endParaRPr sz="1100" b="0" i="0" u="none" strike="noStrike" cap="none">
              <a:solidFill>
                <a:schemeClr val="dk1"/>
              </a:solidFill>
              <a:latin typeface="Google Sans Flex"/>
              <a:ea typeface="Google Sans Flex"/>
              <a:cs typeface="Google Sans Flex"/>
              <a:sym typeface="Google Sans Flex"/>
            </a:endParaRPr>
          </a:p>
        </p:txBody>
      </p:sp>
      <p:sp>
        <p:nvSpPr>
          <p:cNvPr id="656" name="Google Shape;656;p18"/>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18</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19"/>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EVALUATION</a:t>
            </a:r>
            <a:endParaRPr sz="1150"/>
          </a:p>
        </p:txBody>
      </p:sp>
      <p:sp>
        <p:nvSpPr>
          <p:cNvPr id="663" name="Google Shape;663;p19"/>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Expected gain from adding localisation and verification</a:t>
            </a:r>
            <a:endParaRPr sz="2850"/>
          </a:p>
        </p:txBody>
      </p:sp>
      <p:sp>
        <p:nvSpPr>
          <p:cNvPr id="664" name="Google Shape;664;p19"/>
          <p:cNvSpPr txBox="1"/>
          <p:nvPr/>
        </p:nvSpPr>
        <p:spPr>
          <a:xfrm>
            <a:off x="3683690" y="5806455"/>
            <a:ext cx="54864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1" u="none" strike="noStrike" cap="none">
                <a:solidFill>
                  <a:schemeClr val="dk2"/>
                </a:solidFill>
                <a:latin typeface="Google Sans Flex"/>
                <a:ea typeface="Google Sans Flex"/>
                <a:cs typeface="Google Sans Flex"/>
                <a:sym typeface="Google Sans Flex"/>
              </a:rPr>
              <a:t> clean-room false alarms: A 2 · B 2 · C 2 · D 1 (2 clean rooms, 20 regions)</a:t>
            </a:r>
            <a:endParaRPr sz="1100" b="0" i="0" u="none" strike="noStrike" cap="none">
              <a:solidFill>
                <a:schemeClr val="dk1"/>
              </a:solidFill>
              <a:latin typeface="Google Sans Flex"/>
              <a:ea typeface="Google Sans Flex"/>
              <a:cs typeface="Google Sans Flex"/>
              <a:sym typeface="Google Sans Flex"/>
            </a:endParaRPr>
          </a:p>
        </p:txBody>
      </p:sp>
      <p:sp>
        <p:nvSpPr>
          <p:cNvPr id="665" name="Google Shape;665;p19"/>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19</a:t>
            </a:fld>
            <a:endParaRPr sz="900" b="0" i="0" u="none" strike="noStrike" cap="none">
              <a:solidFill>
                <a:schemeClr val="dk2"/>
              </a:solidFill>
              <a:latin typeface="Google Sans Flex"/>
              <a:ea typeface="Google Sans Flex"/>
              <a:cs typeface="Google Sans Flex"/>
              <a:sym typeface="Google Sans Flex"/>
            </a:endParaRPr>
          </a:p>
        </p:txBody>
      </p:sp>
      <p:pic>
        <p:nvPicPr>
          <p:cNvPr id="666" name="Google Shape;666;p19"/>
          <p:cNvPicPr preferRelativeResize="0"/>
          <p:nvPr/>
        </p:nvPicPr>
        <p:blipFill>
          <a:blip r:embed="rId3">
            <a:alphaModFix/>
          </a:blip>
          <a:stretch>
            <a:fillRect/>
          </a:stretch>
        </p:blipFill>
        <p:spPr>
          <a:xfrm>
            <a:off x="152400" y="1469136"/>
            <a:ext cx="11887199" cy="40744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20"/>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WHAT WE BUILT</a:t>
            </a:r>
            <a:endParaRPr sz="1150"/>
          </a:p>
        </p:txBody>
      </p:sp>
      <p:sp>
        <p:nvSpPr>
          <p:cNvPr id="673" name="Google Shape;673;p20"/>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From depth research to a deployable product</a:t>
            </a:r>
            <a:endParaRPr sz="2850"/>
          </a:p>
        </p:txBody>
      </p:sp>
      <p:cxnSp>
        <p:nvCxnSpPr>
          <p:cNvPr id="674" name="Google Shape;674;p20"/>
          <p:cNvCxnSpPr/>
          <p:nvPr/>
        </p:nvCxnSpPr>
        <p:spPr>
          <a:xfrm>
            <a:off x="822960" y="2331720"/>
            <a:ext cx="10561320" cy="0"/>
          </a:xfrm>
          <a:prstGeom prst="straightConnector1">
            <a:avLst/>
          </a:prstGeom>
          <a:noFill/>
          <a:ln w="25400" cap="flat" cmpd="sng">
            <a:solidFill>
              <a:srgbClr val="6366F1"/>
            </a:solidFill>
            <a:prstDash val="solid"/>
            <a:round/>
            <a:headEnd type="none" w="sm" len="sm"/>
            <a:tailEnd type="none" w="sm" len="sm"/>
          </a:ln>
        </p:spPr>
      </p:cxnSp>
      <p:sp>
        <p:nvSpPr>
          <p:cNvPr id="675" name="Google Shape;675;p20"/>
          <p:cNvSpPr/>
          <p:nvPr/>
        </p:nvSpPr>
        <p:spPr>
          <a:xfrm>
            <a:off x="685800" y="2194560"/>
            <a:ext cx="274320" cy="274320"/>
          </a:xfrm>
          <a:prstGeom prst="ellipse">
            <a:avLst/>
          </a:prstGeom>
          <a:solidFill>
            <a:srgbClr val="22D3EE"/>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txBox="1"/>
          <p:nvPr/>
        </p:nvSpPr>
        <p:spPr>
          <a:xfrm>
            <a:off x="54864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01</a:t>
            </a:r>
            <a:endParaRPr sz="1150" b="0" i="0" u="none" strike="noStrike" cap="none">
              <a:solidFill>
                <a:schemeClr val="dk1"/>
              </a:solidFill>
              <a:latin typeface="Google Sans Flex"/>
              <a:ea typeface="Google Sans Flex"/>
              <a:cs typeface="Google Sans Flex"/>
              <a:sym typeface="Google Sans Flex"/>
            </a:endParaRPr>
          </a:p>
        </p:txBody>
      </p:sp>
      <p:sp>
        <p:nvSpPr>
          <p:cNvPr id="677" name="Google Shape;677;p20"/>
          <p:cNvSpPr txBox="1"/>
          <p:nvPr/>
        </p:nvSpPr>
        <p:spPr>
          <a:xfrm>
            <a:off x="54864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Depth + SLAM</a:t>
            </a:r>
            <a:endParaRPr sz="1350" b="0" i="0" u="none" strike="noStrike" cap="none">
              <a:solidFill>
                <a:schemeClr val="dk1"/>
              </a:solidFill>
              <a:latin typeface="Google Sans Flex"/>
              <a:ea typeface="Google Sans Flex"/>
              <a:cs typeface="Google Sans Flex"/>
              <a:sym typeface="Google Sans Flex"/>
            </a:endParaRPr>
          </a:p>
        </p:txBody>
      </p:sp>
      <p:sp>
        <p:nvSpPr>
          <p:cNvPr id="678" name="Google Shape;678;p20"/>
          <p:cNvSpPr txBox="1"/>
          <p:nvPr/>
        </p:nvSpPr>
        <p:spPr>
          <a:xfrm>
            <a:off x="54864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Depth Anything 3 visual SLAM: trajectory, dense map, occupancy grid, A* path</a:t>
            </a:r>
            <a:endParaRPr sz="1100" b="0" i="0" u="none" strike="noStrike" cap="none">
              <a:solidFill>
                <a:schemeClr val="dk1"/>
              </a:solidFill>
              <a:latin typeface="Google Sans Flex"/>
              <a:ea typeface="Google Sans Flex"/>
              <a:cs typeface="Google Sans Flex"/>
              <a:sym typeface="Google Sans Flex"/>
            </a:endParaRPr>
          </a:p>
        </p:txBody>
      </p:sp>
      <p:sp>
        <p:nvSpPr>
          <p:cNvPr id="679" name="Google Shape;679;p20"/>
          <p:cNvSpPr/>
          <p:nvPr/>
        </p:nvSpPr>
        <p:spPr>
          <a:xfrm>
            <a:off x="2560320" y="2194560"/>
            <a:ext cx="274320" cy="274320"/>
          </a:xfrm>
          <a:prstGeom prst="ellipse">
            <a:avLst/>
          </a:prstGeom>
          <a:solidFill>
            <a:srgbClr val="22D3EE"/>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txBox="1"/>
          <p:nvPr/>
        </p:nvSpPr>
        <p:spPr>
          <a:xfrm>
            <a:off x="242316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02</a:t>
            </a:r>
            <a:endParaRPr sz="1150" b="0" i="0" u="none" strike="noStrike" cap="none">
              <a:solidFill>
                <a:schemeClr val="dk1"/>
              </a:solidFill>
              <a:latin typeface="Google Sans Flex"/>
              <a:ea typeface="Google Sans Flex"/>
              <a:cs typeface="Google Sans Flex"/>
              <a:sym typeface="Google Sans Flex"/>
            </a:endParaRPr>
          </a:p>
        </p:txBody>
      </p:sp>
      <p:sp>
        <p:nvSpPr>
          <p:cNvPr id="681" name="Google Shape;681;p20"/>
          <p:cNvSpPr txBox="1"/>
          <p:nvPr/>
        </p:nvSpPr>
        <p:spPr>
          <a:xfrm>
            <a:off x="242316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Hybrid SLAM</a:t>
            </a:r>
            <a:endParaRPr sz="1350" b="0" i="0" u="none" strike="noStrike" cap="none">
              <a:solidFill>
                <a:schemeClr val="dk1"/>
              </a:solidFill>
              <a:latin typeface="Google Sans Flex"/>
              <a:ea typeface="Google Sans Flex"/>
              <a:cs typeface="Google Sans Flex"/>
              <a:sym typeface="Google Sans Flex"/>
            </a:endParaRPr>
          </a:p>
        </p:txBody>
      </p:sp>
      <p:sp>
        <p:nvSpPr>
          <p:cNvPr id="682" name="Google Shape;682;p20"/>
          <p:cNvSpPr txBox="1"/>
          <p:nvPr/>
        </p:nvSpPr>
        <p:spPr>
          <a:xfrm>
            <a:off x="242316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OpenCV 5 tracking + ICP alignment and Manhattan planes: straight walls, sharp corners</a:t>
            </a:r>
            <a:endParaRPr sz="1100" b="0" i="0" u="none" strike="noStrike" cap="none">
              <a:solidFill>
                <a:schemeClr val="dk1"/>
              </a:solidFill>
              <a:latin typeface="Google Sans Flex"/>
              <a:ea typeface="Google Sans Flex"/>
              <a:cs typeface="Google Sans Flex"/>
              <a:sym typeface="Google Sans Flex"/>
            </a:endParaRPr>
          </a:p>
        </p:txBody>
      </p:sp>
      <p:sp>
        <p:nvSpPr>
          <p:cNvPr id="683" name="Google Shape;683;p20"/>
          <p:cNvSpPr/>
          <p:nvPr/>
        </p:nvSpPr>
        <p:spPr>
          <a:xfrm>
            <a:off x="4434840" y="2194560"/>
            <a:ext cx="274320" cy="274320"/>
          </a:xfrm>
          <a:prstGeom prst="ellipse">
            <a:avLst/>
          </a:prstGeom>
          <a:solidFill>
            <a:srgbClr val="22D3EE"/>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txBox="1"/>
          <p:nvPr/>
        </p:nvSpPr>
        <p:spPr>
          <a:xfrm>
            <a:off x="429768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03</a:t>
            </a:r>
            <a:endParaRPr sz="1150" b="0" i="0" u="none" strike="noStrike" cap="none">
              <a:solidFill>
                <a:schemeClr val="dk1"/>
              </a:solidFill>
              <a:latin typeface="Google Sans Flex"/>
              <a:ea typeface="Google Sans Flex"/>
              <a:cs typeface="Google Sans Flex"/>
              <a:sym typeface="Google Sans Flex"/>
            </a:endParaRPr>
          </a:p>
        </p:txBody>
      </p:sp>
      <p:sp>
        <p:nvSpPr>
          <p:cNvPr id="685" name="Google Shape;685;p20"/>
          <p:cNvSpPr txBox="1"/>
          <p:nvPr/>
        </p:nvSpPr>
        <p:spPr>
          <a:xfrm>
            <a:off x="429768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Photo-real 3D</a:t>
            </a:r>
            <a:endParaRPr sz="1350" b="0" i="0" u="none" strike="noStrike" cap="none">
              <a:solidFill>
                <a:schemeClr val="dk1"/>
              </a:solidFill>
              <a:latin typeface="Google Sans Flex"/>
              <a:ea typeface="Google Sans Flex"/>
              <a:cs typeface="Google Sans Flex"/>
              <a:sym typeface="Google Sans Flex"/>
            </a:endParaRPr>
          </a:p>
        </p:txBody>
      </p:sp>
      <p:sp>
        <p:nvSpPr>
          <p:cNvPr id="686" name="Google Shape;686;p20"/>
          <p:cNvSpPr txBox="1"/>
          <p:nvPr/>
        </p:nvSpPr>
        <p:spPr>
          <a:xfrm>
            <a:off x="429768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Gaussian Splatting experiment (gsplat) on the same cameras</a:t>
            </a:r>
            <a:endParaRPr sz="1100" b="0" i="0" u="none" strike="noStrike" cap="none">
              <a:solidFill>
                <a:schemeClr val="dk1"/>
              </a:solidFill>
              <a:latin typeface="Google Sans Flex"/>
              <a:ea typeface="Google Sans Flex"/>
              <a:cs typeface="Google Sans Flex"/>
              <a:sym typeface="Google Sans Flex"/>
            </a:endParaRPr>
          </a:p>
        </p:txBody>
      </p:sp>
      <p:sp>
        <p:nvSpPr>
          <p:cNvPr id="687" name="Google Shape;687;p20"/>
          <p:cNvSpPr/>
          <p:nvPr/>
        </p:nvSpPr>
        <p:spPr>
          <a:xfrm>
            <a:off x="6309360" y="2194560"/>
            <a:ext cx="274320" cy="274320"/>
          </a:xfrm>
          <a:prstGeom prst="ellipse">
            <a:avLst/>
          </a:prstGeom>
          <a:solidFill>
            <a:srgbClr val="22D3EE"/>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txBox="1"/>
          <p:nvPr/>
        </p:nvSpPr>
        <p:spPr>
          <a:xfrm>
            <a:off x="617220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04</a:t>
            </a:r>
            <a:endParaRPr sz="1150" b="0" i="0" u="none" strike="noStrike" cap="none">
              <a:solidFill>
                <a:schemeClr val="dk1"/>
              </a:solidFill>
              <a:latin typeface="Google Sans Flex"/>
              <a:ea typeface="Google Sans Flex"/>
              <a:cs typeface="Google Sans Flex"/>
              <a:sym typeface="Google Sans Flex"/>
            </a:endParaRPr>
          </a:p>
        </p:txBody>
      </p:sp>
      <p:sp>
        <p:nvSpPr>
          <p:cNvPr id="689" name="Google Shape;689;p20"/>
          <p:cNvSpPr txBox="1"/>
          <p:nvPr/>
        </p:nvSpPr>
        <p:spPr>
          <a:xfrm>
            <a:off x="617220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Production 3D</a:t>
            </a:r>
            <a:endParaRPr sz="1350" b="0" i="0" u="none" strike="noStrike" cap="none">
              <a:solidFill>
                <a:schemeClr val="dk1"/>
              </a:solidFill>
              <a:latin typeface="Google Sans Flex"/>
              <a:ea typeface="Google Sans Flex"/>
              <a:cs typeface="Google Sans Flex"/>
              <a:sym typeface="Google Sans Flex"/>
            </a:endParaRPr>
          </a:p>
        </p:txBody>
      </p:sp>
      <p:sp>
        <p:nvSpPr>
          <p:cNvPr id="690" name="Google Shape;690;p20"/>
          <p:cNvSpPr txBox="1"/>
          <p:nvPr/>
        </p:nvSpPr>
        <p:spPr>
          <a:xfrm>
            <a:off x="617220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One command: video → clean GLB, SLAM GLB, floor plan (+SVG), evaluation</a:t>
            </a:r>
            <a:endParaRPr sz="1100" b="0" i="0" u="none" strike="noStrike" cap="none">
              <a:solidFill>
                <a:schemeClr val="dk1"/>
              </a:solidFill>
              <a:latin typeface="Google Sans Flex"/>
              <a:ea typeface="Google Sans Flex"/>
              <a:cs typeface="Google Sans Flex"/>
              <a:sym typeface="Google Sans Flex"/>
            </a:endParaRPr>
          </a:p>
        </p:txBody>
      </p:sp>
      <p:sp>
        <p:nvSpPr>
          <p:cNvPr id="691" name="Google Shape;691;p20"/>
          <p:cNvSpPr/>
          <p:nvPr/>
        </p:nvSpPr>
        <p:spPr>
          <a:xfrm>
            <a:off x="8183880" y="2194560"/>
            <a:ext cx="274320" cy="274320"/>
          </a:xfrm>
          <a:prstGeom prst="ellipse">
            <a:avLst/>
          </a:prstGeom>
          <a:solidFill>
            <a:srgbClr val="22D3EE"/>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txBox="1"/>
          <p:nvPr/>
        </p:nvSpPr>
        <p:spPr>
          <a:xfrm>
            <a:off x="804672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05</a:t>
            </a:r>
            <a:endParaRPr sz="1150" b="0" i="0" u="none" strike="noStrike" cap="none">
              <a:solidFill>
                <a:schemeClr val="dk1"/>
              </a:solidFill>
              <a:latin typeface="Google Sans Flex"/>
              <a:ea typeface="Google Sans Flex"/>
              <a:cs typeface="Google Sans Flex"/>
              <a:sym typeface="Google Sans Flex"/>
            </a:endParaRPr>
          </a:p>
        </p:txBody>
      </p:sp>
      <p:sp>
        <p:nvSpPr>
          <p:cNvPr id="693" name="Google Shape;693;p20"/>
          <p:cNvSpPr txBox="1"/>
          <p:nvPr/>
        </p:nvSpPr>
        <p:spPr>
          <a:xfrm>
            <a:off x="804672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Inspection AI</a:t>
            </a:r>
            <a:endParaRPr sz="1350" b="0" i="0" u="none" strike="noStrike" cap="none">
              <a:solidFill>
                <a:schemeClr val="dk1"/>
              </a:solidFill>
              <a:latin typeface="Google Sans Flex"/>
              <a:ea typeface="Google Sans Flex"/>
              <a:cs typeface="Google Sans Flex"/>
              <a:sym typeface="Google Sans Flex"/>
            </a:endParaRPr>
          </a:p>
        </p:txBody>
      </p:sp>
      <p:sp>
        <p:nvSpPr>
          <p:cNvPr id="694" name="Google Shape;694;p20"/>
          <p:cNvSpPr txBox="1"/>
          <p:nvPr/>
        </p:nvSpPr>
        <p:spPr>
          <a:xfrm>
            <a:off x="804672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Defect taxonomy, locate + verify models, rule and risk engine, fraud checks</a:t>
            </a:r>
            <a:endParaRPr sz="1100" b="0" i="0" u="none" strike="noStrike" cap="none">
              <a:solidFill>
                <a:schemeClr val="dk1"/>
              </a:solidFill>
              <a:latin typeface="Google Sans Flex"/>
              <a:ea typeface="Google Sans Flex"/>
              <a:cs typeface="Google Sans Flex"/>
              <a:sym typeface="Google Sans Flex"/>
            </a:endParaRPr>
          </a:p>
        </p:txBody>
      </p:sp>
      <p:sp>
        <p:nvSpPr>
          <p:cNvPr id="695" name="Google Shape;695;p20"/>
          <p:cNvSpPr/>
          <p:nvPr/>
        </p:nvSpPr>
        <p:spPr>
          <a:xfrm>
            <a:off x="10058400" y="2194560"/>
            <a:ext cx="274320" cy="274320"/>
          </a:xfrm>
          <a:prstGeom prst="ellipse">
            <a:avLst/>
          </a:prstGeom>
          <a:solidFill>
            <a:srgbClr val="F59E0B"/>
          </a:solidFill>
          <a:ln w="25400" cap="flat" cmpd="sng">
            <a:solidFill>
              <a:srgbClr val="0B12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txBox="1"/>
          <p:nvPr/>
        </p:nvSpPr>
        <p:spPr>
          <a:xfrm>
            <a:off x="9921240" y="1691640"/>
            <a:ext cx="17373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300"/>
              <a:buFont typeface="Calibri"/>
              <a:buNone/>
            </a:pPr>
            <a:r>
              <a:rPr lang="en-US" sz="1150" b="1" i="0" u="none" strike="noStrike" cap="none">
                <a:solidFill>
                  <a:schemeClr val="accent3"/>
                </a:solidFill>
                <a:latin typeface="Google Sans Flex"/>
                <a:ea typeface="Google Sans Flex"/>
                <a:cs typeface="Google Sans Flex"/>
                <a:sym typeface="Google Sans Flex"/>
              </a:rPr>
              <a:t>06</a:t>
            </a:r>
            <a:endParaRPr sz="1150" b="0" i="0" u="none" strike="noStrike" cap="none">
              <a:solidFill>
                <a:schemeClr val="dk1"/>
              </a:solidFill>
              <a:latin typeface="Google Sans Flex"/>
              <a:ea typeface="Google Sans Flex"/>
              <a:cs typeface="Google Sans Flex"/>
              <a:sym typeface="Google Sans Flex"/>
            </a:endParaRPr>
          </a:p>
        </p:txBody>
      </p:sp>
      <p:sp>
        <p:nvSpPr>
          <p:cNvPr id="697" name="Google Shape;697;p20"/>
          <p:cNvSpPr txBox="1"/>
          <p:nvPr/>
        </p:nvSpPr>
        <p:spPr>
          <a:xfrm>
            <a:off x="9921240" y="2697480"/>
            <a:ext cx="17373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50" b="1" i="0" u="none" strike="noStrike" cap="none">
                <a:solidFill>
                  <a:schemeClr val="dk1"/>
                </a:solidFill>
                <a:latin typeface="Google Sans Flex"/>
                <a:ea typeface="Google Sans Flex"/>
                <a:cs typeface="Google Sans Flex"/>
                <a:sym typeface="Google Sans Flex"/>
              </a:rPr>
              <a:t>Google Cloud v1.0.0</a:t>
            </a:r>
            <a:endParaRPr sz="1350" b="0" i="0" u="none" strike="noStrike" cap="none">
              <a:solidFill>
                <a:schemeClr val="dk1"/>
              </a:solidFill>
              <a:latin typeface="Google Sans Flex"/>
              <a:ea typeface="Google Sans Flex"/>
              <a:cs typeface="Google Sans Flex"/>
              <a:sym typeface="Google Sans Flex"/>
            </a:endParaRPr>
          </a:p>
        </p:txBody>
      </p:sp>
      <p:sp>
        <p:nvSpPr>
          <p:cNvPr id="698" name="Google Shape;698;p20"/>
          <p:cNvSpPr txBox="1"/>
          <p:nvPr/>
        </p:nvSpPr>
        <p:spPr>
          <a:xfrm>
            <a:off x="9921240" y="3246120"/>
            <a:ext cx="173736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200"/>
              <a:buFont typeface="Calibri"/>
              <a:buNone/>
            </a:pPr>
            <a:r>
              <a:rPr lang="en-US" sz="1100" b="0" i="0" u="none" strike="noStrike" cap="none">
                <a:solidFill>
                  <a:schemeClr val="dk2"/>
                </a:solidFill>
                <a:latin typeface="Google Sans Flex"/>
                <a:ea typeface="Google Sans Flex"/>
                <a:cs typeface="Google Sans Flex"/>
                <a:sym typeface="Google Sans Flex"/>
              </a:rPr>
              <a:t>Gemini API, Cloud Run service + L4 Job, Cloud Storage, one-command deploy</a:t>
            </a:r>
            <a:endParaRPr sz="1100" b="0" i="0" u="none" strike="noStrike" cap="none">
              <a:solidFill>
                <a:schemeClr val="dk1"/>
              </a:solidFill>
              <a:latin typeface="Google Sans Flex"/>
              <a:ea typeface="Google Sans Flex"/>
              <a:cs typeface="Google Sans Flex"/>
              <a:sym typeface="Google Sans Flex"/>
            </a:endParaRPr>
          </a:p>
        </p:txBody>
      </p:sp>
      <p:sp>
        <p:nvSpPr>
          <p:cNvPr id="699" name="Google Shape;699;p20"/>
          <p:cNvSpPr/>
          <p:nvPr/>
        </p:nvSpPr>
        <p:spPr>
          <a:xfrm>
            <a:off x="548640" y="4846320"/>
            <a:ext cx="2103120" cy="1234440"/>
          </a:xfrm>
          <a:prstGeom prst="roundRect">
            <a:avLst>
              <a:gd name="adj" fmla="val 8889"/>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0"/>
          <p:cNvSpPr txBox="1"/>
          <p:nvPr/>
        </p:nvSpPr>
        <p:spPr>
          <a:xfrm>
            <a:off x="731520" y="4937760"/>
            <a:ext cx="173736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200"/>
              <a:buFont typeface="Arial"/>
              <a:buNone/>
            </a:pPr>
            <a:r>
              <a:rPr lang="en-US" sz="3050" b="1" i="0" u="none" strike="noStrike" cap="none">
                <a:solidFill>
                  <a:schemeClr val="accent2"/>
                </a:solidFill>
                <a:latin typeface="Google Sans Flex"/>
                <a:ea typeface="Google Sans Flex"/>
                <a:cs typeface="Google Sans Flex"/>
                <a:sym typeface="Google Sans Flex"/>
              </a:rPr>
              <a:t>18</a:t>
            </a:r>
            <a:endParaRPr sz="2900" b="0" i="0" u="none" strike="noStrike" cap="none">
              <a:solidFill>
                <a:schemeClr val="dk1"/>
              </a:solidFill>
              <a:latin typeface="Google Sans Flex"/>
              <a:ea typeface="Google Sans Flex"/>
              <a:cs typeface="Google Sans Flex"/>
              <a:sym typeface="Google Sans Flex"/>
            </a:endParaRPr>
          </a:p>
        </p:txBody>
      </p:sp>
      <p:sp>
        <p:nvSpPr>
          <p:cNvPr id="701" name="Google Shape;701;p20"/>
          <p:cNvSpPr txBox="1"/>
          <p:nvPr/>
        </p:nvSpPr>
        <p:spPr>
          <a:xfrm>
            <a:off x="731520" y="5532120"/>
            <a:ext cx="1783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defect types, 12 components</a:t>
            </a:r>
            <a:endParaRPr sz="1150" b="0" i="0" u="none" strike="noStrike" cap="none">
              <a:solidFill>
                <a:schemeClr val="dk1"/>
              </a:solidFill>
              <a:latin typeface="Google Sans Flex"/>
              <a:ea typeface="Google Sans Flex"/>
              <a:cs typeface="Google Sans Flex"/>
              <a:sym typeface="Google Sans Flex"/>
            </a:endParaRPr>
          </a:p>
        </p:txBody>
      </p:sp>
      <p:sp>
        <p:nvSpPr>
          <p:cNvPr id="702" name="Google Shape;702;p20"/>
          <p:cNvSpPr/>
          <p:nvPr/>
        </p:nvSpPr>
        <p:spPr>
          <a:xfrm>
            <a:off x="2807208" y="4846320"/>
            <a:ext cx="2103120" cy="1234440"/>
          </a:xfrm>
          <a:prstGeom prst="roundRect">
            <a:avLst>
              <a:gd name="adj" fmla="val 8889"/>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0"/>
          <p:cNvSpPr txBox="1"/>
          <p:nvPr/>
        </p:nvSpPr>
        <p:spPr>
          <a:xfrm>
            <a:off x="2990088" y="4937760"/>
            <a:ext cx="173736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200"/>
              <a:buFont typeface="Arial"/>
              <a:buNone/>
            </a:pPr>
            <a:r>
              <a:rPr lang="en-US" sz="3050" b="1" i="0" u="none" strike="noStrike" cap="none">
                <a:solidFill>
                  <a:schemeClr val="accent2"/>
                </a:solidFill>
                <a:latin typeface="Google Sans Flex"/>
                <a:ea typeface="Google Sans Flex"/>
                <a:cs typeface="Google Sans Flex"/>
                <a:sym typeface="Google Sans Flex"/>
              </a:rPr>
              <a:t>8</a:t>
            </a:r>
            <a:endParaRPr sz="2900" b="0" i="0" u="none" strike="noStrike" cap="none">
              <a:solidFill>
                <a:schemeClr val="dk1"/>
              </a:solidFill>
              <a:latin typeface="Google Sans Flex"/>
              <a:ea typeface="Google Sans Flex"/>
              <a:cs typeface="Google Sans Flex"/>
              <a:sym typeface="Google Sans Flex"/>
            </a:endParaRPr>
          </a:p>
        </p:txBody>
      </p:sp>
      <p:sp>
        <p:nvSpPr>
          <p:cNvPr id="704" name="Google Shape;704;p20"/>
          <p:cNvSpPr txBox="1"/>
          <p:nvPr/>
        </p:nvSpPr>
        <p:spPr>
          <a:xfrm>
            <a:off x="2990088" y="5532120"/>
            <a:ext cx="1783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room types</a:t>
            </a:r>
            <a:endParaRPr sz="1150" b="0" i="0" u="none" strike="noStrike" cap="none">
              <a:solidFill>
                <a:schemeClr val="dk1"/>
              </a:solidFill>
              <a:latin typeface="Google Sans Flex"/>
              <a:ea typeface="Google Sans Flex"/>
              <a:cs typeface="Google Sans Flex"/>
              <a:sym typeface="Google Sans Flex"/>
            </a:endParaRPr>
          </a:p>
        </p:txBody>
      </p:sp>
      <p:sp>
        <p:nvSpPr>
          <p:cNvPr id="705" name="Google Shape;705;p20"/>
          <p:cNvSpPr/>
          <p:nvPr/>
        </p:nvSpPr>
        <p:spPr>
          <a:xfrm>
            <a:off x="5065776" y="4846320"/>
            <a:ext cx="2103120" cy="1234440"/>
          </a:xfrm>
          <a:prstGeom prst="roundRect">
            <a:avLst>
              <a:gd name="adj" fmla="val 8889"/>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0"/>
          <p:cNvSpPr txBox="1"/>
          <p:nvPr/>
        </p:nvSpPr>
        <p:spPr>
          <a:xfrm>
            <a:off x="5248656" y="4937760"/>
            <a:ext cx="173736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200"/>
              <a:buFont typeface="Arial"/>
              <a:buNone/>
            </a:pPr>
            <a:r>
              <a:rPr lang="en-US" sz="3050" b="1" i="0" u="none" strike="noStrike" cap="none">
                <a:solidFill>
                  <a:schemeClr val="accent2"/>
                </a:solidFill>
                <a:latin typeface="Google Sans Flex"/>
                <a:ea typeface="Google Sans Flex"/>
                <a:cs typeface="Google Sans Flex"/>
                <a:sym typeface="Google Sans Flex"/>
              </a:rPr>
              <a:t>18</a:t>
            </a:r>
            <a:endParaRPr sz="2900" b="0" i="0" u="none" strike="noStrike" cap="none">
              <a:solidFill>
                <a:schemeClr val="dk1"/>
              </a:solidFill>
              <a:latin typeface="Google Sans Flex"/>
              <a:ea typeface="Google Sans Flex"/>
              <a:cs typeface="Google Sans Flex"/>
              <a:sym typeface="Google Sans Flex"/>
            </a:endParaRPr>
          </a:p>
        </p:txBody>
      </p:sp>
      <p:sp>
        <p:nvSpPr>
          <p:cNvPr id="707" name="Google Shape;707;p20"/>
          <p:cNvSpPr txBox="1"/>
          <p:nvPr/>
        </p:nvSpPr>
        <p:spPr>
          <a:xfrm>
            <a:off x="5248656" y="5532120"/>
            <a:ext cx="1783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REST API endpoints</a:t>
            </a:r>
            <a:endParaRPr sz="1150" b="0" i="0" u="none" strike="noStrike" cap="none">
              <a:solidFill>
                <a:schemeClr val="dk1"/>
              </a:solidFill>
              <a:latin typeface="Google Sans Flex"/>
              <a:ea typeface="Google Sans Flex"/>
              <a:cs typeface="Google Sans Flex"/>
              <a:sym typeface="Google Sans Flex"/>
            </a:endParaRPr>
          </a:p>
        </p:txBody>
      </p:sp>
      <p:sp>
        <p:nvSpPr>
          <p:cNvPr id="708" name="Google Shape;708;p20"/>
          <p:cNvSpPr/>
          <p:nvPr/>
        </p:nvSpPr>
        <p:spPr>
          <a:xfrm>
            <a:off x="7324344" y="4846320"/>
            <a:ext cx="2103120" cy="1234440"/>
          </a:xfrm>
          <a:prstGeom prst="roundRect">
            <a:avLst>
              <a:gd name="adj" fmla="val 8889"/>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0"/>
          <p:cNvSpPr txBox="1"/>
          <p:nvPr/>
        </p:nvSpPr>
        <p:spPr>
          <a:xfrm>
            <a:off x="7507224" y="4937760"/>
            <a:ext cx="173736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200"/>
              <a:buFont typeface="Arial"/>
              <a:buNone/>
            </a:pPr>
            <a:r>
              <a:rPr lang="en-US" sz="3050" b="1" i="0" u="none" strike="noStrike" cap="none">
                <a:solidFill>
                  <a:schemeClr val="accent2"/>
                </a:solidFill>
                <a:latin typeface="Google Sans Flex"/>
                <a:ea typeface="Google Sans Flex"/>
                <a:cs typeface="Google Sans Flex"/>
                <a:sym typeface="Google Sans Flex"/>
              </a:rPr>
              <a:t>2</a:t>
            </a:r>
            <a:endParaRPr sz="2900" b="0" i="0" u="none" strike="noStrike" cap="none">
              <a:solidFill>
                <a:schemeClr val="dk1"/>
              </a:solidFill>
              <a:latin typeface="Google Sans Flex"/>
              <a:ea typeface="Google Sans Flex"/>
              <a:cs typeface="Google Sans Flex"/>
              <a:sym typeface="Google Sans Flex"/>
            </a:endParaRPr>
          </a:p>
        </p:txBody>
      </p:sp>
      <p:sp>
        <p:nvSpPr>
          <p:cNvPr id="710" name="Google Shape;710;p20"/>
          <p:cNvSpPr txBox="1"/>
          <p:nvPr/>
        </p:nvSpPr>
        <p:spPr>
          <a:xfrm>
            <a:off x="7507224" y="5532120"/>
            <a:ext cx="1783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3D modes (Lite / Advanced)</a:t>
            </a:r>
            <a:endParaRPr sz="1150" b="0" i="0" u="none" strike="noStrike" cap="none">
              <a:solidFill>
                <a:schemeClr val="dk1"/>
              </a:solidFill>
              <a:latin typeface="Google Sans Flex"/>
              <a:ea typeface="Google Sans Flex"/>
              <a:cs typeface="Google Sans Flex"/>
              <a:sym typeface="Google Sans Flex"/>
            </a:endParaRPr>
          </a:p>
        </p:txBody>
      </p:sp>
      <p:sp>
        <p:nvSpPr>
          <p:cNvPr id="711" name="Google Shape;711;p20"/>
          <p:cNvSpPr/>
          <p:nvPr/>
        </p:nvSpPr>
        <p:spPr>
          <a:xfrm>
            <a:off x="9582912" y="4846320"/>
            <a:ext cx="2103120" cy="1234440"/>
          </a:xfrm>
          <a:prstGeom prst="roundRect">
            <a:avLst>
              <a:gd name="adj" fmla="val 8889"/>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0"/>
          <p:cNvSpPr txBox="1"/>
          <p:nvPr/>
        </p:nvSpPr>
        <p:spPr>
          <a:xfrm>
            <a:off x="9765792" y="4937760"/>
            <a:ext cx="173736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3200"/>
              <a:buFont typeface="Arial"/>
              <a:buNone/>
            </a:pPr>
            <a:r>
              <a:rPr lang="en-US" sz="3050" b="1" i="0" u="none" strike="noStrike" cap="none">
                <a:solidFill>
                  <a:schemeClr val="accent2"/>
                </a:solidFill>
                <a:latin typeface="Google Sans Flex"/>
                <a:ea typeface="Google Sans Flex"/>
                <a:cs typeface="Google Sans Flex"/>
                <a:sym typeface="Google Sans Flex"/>
              </a:rPr>
              <a:t>1</a:t>
            </a:r>
            <a:endParaRPr sz="2900" b="0" i="0" u="none" strike="noStrike" cap="none">
              <a:solidFill>
                <a:schemeClr val="dk1"/>
              </a:solidFill>
              <a:latin typeface="Google Sans Flex"/>
              <a:ea typeface="Google Sans Flex"/>
              <a:cs typeface="Google Sans Flex"/>
              <a:sym typeface="Google Sans Flex"/>
            </a:endParaRPr>
          </a:p>
        </p:txBody>
      </p:sp>
      <p:sp>
        <p:nvSpPr>
          <p:cNvPr id="713" name="Google Shape;713;p20"/>
          <p:cNvSpPr txBox="1"/>
          <p:nvPr/>
        </p:nvSpPr>
        <p:spPr>
          <a:xfrm>
            <a:off x="9765792" y="5532120"/>
            <a:ext cx="178308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command to deploy on Google Cloud</a:t>
            </a:r>
            <a:endParaRPr sz="1150" b="0" i="0" u="none" strike="noStrike" cap="none">
              <a:solidFill>
                <a:schemeClr val="dk1"/>
              </a:solidFill>
              <a:latin typeface="Google Sans Flex"/>
              <a:ea typeface="Google Sans Flex"/>
              <a:cs typeface="Google Sans Flex"/>
              <a:sym typeface="Google Sans Flex"/>
            </a:endParaRPr>
          </a:p>
        </p:txBody>
      </p:sp>
      <p:sp>
        <p:nvSpPr>
          <p:cNvPr id="714" name="Google Shape;714;p20"/>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20</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21"/>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GOOGLE TECHNOLOGIES</a:t>
            </a:r>
            <a:endParaRPr sz="1150"/>
          </a:p>
        </p:txBody>
      </p:sp>
      <p:sp>
        <p:nvSpPr>
          <p:cNvPr id="721" name="Google Shape;721;p21"/>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Built on Google AI and Google Cloud</a:t>
            </a:r>
            <a:endParaRPr sz="2850"/>
          </a:p>
        </p:txBody>
      </p:sp>
      <p:sp>
        <p:nvSpPr>
          <p:cNvPr id="722" name="Google Shape;722;p21"/>
          <p:cNvSpPr txBox="1"/>
          <p:nvPr/>
        </p:nvSpPr>
        <p:spPr>
          <a:xfrm>
            <a:off x="548640" y="1508760"/>
            <a:ext cx="69494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200"/>
              <a:buFont typeface="Calibri"/>
              <a:buNone/>
            </a:pPr>
            <a:r>
              <a:rPr lang="en-US" sz="1100" b="1" i="0" u="none" strike="noStrike" cap="none">
                <a:solidFill>
                  <a:schemeClr val="accent4"/>
                </a:solidFill>
                <a:latin typeface="Google Sans Flex"/>
                <a:ea typeface="Google Sans Flex"/>
                <a:cs typeface="Google Sans Flex"/>
                <a:sym typeface="Google Sans Flex"/>
              </a:rPr>
              <a:t>IN THE PROTOTYPE</a:t>
            </a:r>
            <a:endParaRPr sz="1100" b="0" i="0" u="none" strike="noStrike" cap="none">
              <a:solidFill>
                <a:schemeClr val="dk1"/>
              </a:solidFill>
              <a:latin typeface="Google Sans Flex"/>
              <a:ea typeface="Google Sans Flex"/>
              <a:cs typeface="Google Sans Flex"/>
              <a:sym typeface="Google Sans Flex"/>
            </a:endParaRPr>
          </a:p>
        </p:txBody>
      </p:sp>
      <p:sp>
        <p:nvSpPr>
          <p:cNvPr id="723" name="Google Shape;723;p21"/>
          <p:cNvSpPr/>
          <p:nvPr/>
        </p:nvSpPr>
        <p:spPr>
          <a:xfrm>
            <a:off x="548640" y="1828800"/>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4" name="Google Shape;724;p21" descr="preencoded.png"/>
          <p:cNvPicPr preferRelativeResize="0"/>
          <p:nvPr/>
        </p:nvPicPr>
        <p:blipFill rotWithShape="1">
          <a:blip r:embed="rId3">
            <a:alphaModFix/>
          </a:blip>
          <a:srcRect/>
          <a:stretch/>
        </p:blipFill>
        <p:spPr>
          <a:xfrm>
            <a:off x="685800" y="1984248"/>
            <a:ext cx="274320" cy="274320"/>
          </a:xfrm>
          <a:prstGeom prst="rect">
            <a:avLst/>
          </a:prstGeom>
          <a:noFill/>
          <a:ln>
            <a:noFill/>
          </a:ln>
        </p:spPr>
      </p:pic>
      <p:sp>
        <p:nvSpPr>
          <p:cNvPr id="725" name="Google Shape;725;p21"/>
          <p:cNvSpPr txBox="1"/>
          <p:nvPr/>
        </p:nvSpPr>
        <p:spPr>
          <a:xfrm>
            <a:off x="1051560" y="1938528"/>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Gemini 3.8 Flash</a:t>
            </a:r>
            <a:endParaRPr sz="1250" b="0" i="0" u="none" strike="noStrike" cap="none">
              <a:solidFill>
                <a:schemeClr val="dk1"/>
              </a:solidFill>
              <a:latin typeface="Google Sans Flex"/>
              <a:ea typeface="Google Sans Flex"/>
              <a:cs typeface="Google Sans Flex"/>
              <a:sym typeface="Google Sans Flex"/>
            </a:endParaRPr>
          </a:p>
        </p:txBody>
      </p:sp>
      <p:sp>
        <p:nvSpPr>
          <p:cNvPr id="726" name="Google Shape;726;p21"/>
          <p:cNvSpPr txBox="1"/>
          <p:nvPr/>
        </p:nvSpPr>
        <p:spPr>
          <a:xfrm>
            <a:off x="1051560" y="2258568"/>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Via the Gemini API: scene, authenticity, analysis, grounded Q&amp;A, 3D object names</a:t>
            </a:r>
            <a:endParaRPr sz="1000" b="0" i="0" u="none" strike="noStrike" cap="none">
              <a:solidFill>
                <a:schemeClr val="dk1"/>
              </a:solidFill>
              <a:latin typeface="Google Sans Flex"/>
              <a:ea typeface="Google Sans Flex"/>
              <a:cs typeface="Google Sans Flex"/>
              <a:sym typeface="Google Sans Flex"/>
            </a:endParaRPr>
          </a:p>
        </p:txBody>
      </p:sp>
      <p:sp>
        <p:nvSpPr>
          <p:cNvPr id="727" name="Google Shape;727;p21"/>
          <p:cNvSpPr/>
          <p:nvPr/>
        </p:nvSpPr>
        <p:spPr>
          <a:xfrm>
            <a:off x="4069080" y="1828800"/>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8" name="Google Shape;728;p21" descr="preencoded.png"/>
          <p:cNvPicPr preferRelativeResize="0"/>
          <p:nvPr/>
        </p:nvPicPr>
        <p:blipFill rotWithShape="1">
          <a:blip r:embed="rId3">
            <a:alphaModFix/>
          </a:blip>
          <a:srcRect/>
          <a:stretch/>
        </p:blipFill>
        <p:spPr>
          <a:xfrm>
            <a:off x="4206240" y="1984248"/>
            <a:ext cx="274320" cy="274320"/>
          </a:xfrm>
          <a:prstGeom prst="rect">
            <a:avLst/>
          </a:prstGeom>
          <a:noFill/>
          <a:ln>
            <a:noFill/>
          </a:ln>
        </p:spPr>
      </p:pic>
      <p:sp>
        <p:nvSpPr>
          <p:cNvPr id="729" name="Google Shape;729;p21"/>
          <p:cNvSpPr txBox="1"/>
          <p:nvPr/>
        </p:nvSpPr>
        <p:spPr>
          <a:xfrm>
            <a:off x="4572000" y="1938528"/>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Gemma 4 (E4B)</a:t>
            </a:r>
            <a:endParaRPr sz="1250" b="0" i="0" u="none" strike="noStrike" cap="none">
              <a:solidFill>
                <a:schemeClr val="dk1"/>
              </a:solidFill>
              <a:latin typeface="Google Sans Flex"/>
              <a:ea typeface="Google Sans Flex"/>
              <a:cs typeface="Google Sans Flex"/>
              <a:sym typeface="Google Sans Flex"/>
            </a:endParaRPr>
          </a:p>
        </p:txBody>
      </p:sp>
      <p:sp>
        <p:nvSpPr>
          <p:cNvPr id="730" name="Google Shape;730;p21"/>
          <p:cNvSpPr txBox="1"/>
          <p:nvPr/>
        </p:nvSpPr>
        <p:spPr>
          <a:xfrm>
            <a:off x="4572000" y="2258568"/>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Open Google model that verifies every defect crop on the GPU</a:t>
            </a:r>
            <a:endParaRPr sz="1000" b="0" i="0" u="none" strike="noStrike" cap="none">
              <a:solidFill>
                <a:schemeClr val="dk1"/>
              </a:solidFill>
              <a:latin typeface="Google Sans Flex"/>
              <a:ea typeface="Google Sans Flex"/>
              <a:cs typeface="Google Sans Flex"/>
              <a:sym typeface="Google Sans Flex"/>
            </a:endParaRPr>
          </a:p>
        </p:txBody>
      </p:sp>
      <p:sp>
        <p:nvSpPr>
          <p:cNvPr id="731" name="Google Shape;731;p21"/>
          <p:cNvSpPr/>
          <p:nvPr/>
        </p:nvSpPr>
        <p:spPr>
          <a:xfrm>
            <a:off x="548640" y="2898648"/>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2" name="Google Shape;732;p21" descr="preencoded.png"/>
          <p:cNvPicPr preferRelativeResize="0"/>
          <p:nvPr/>
        </p:nvPicPr>
        <p:blipFill rotWithShape="1">
          <a:blip r:embed="rId3">
            <a:alphaModFix/>
          </a:blip>
          <a:srcRect/>
          <a:stretch/>
        </p:blipFill>
        <p:spPr>
          <a:xfrm>
            <a:off x="685800" y="3054096"/>
            <a:ext cx="274320" cy="274320"/>
          </a:xfrm>
          <a:prstGeom prst="rect">
            <a:avLst/>
          </a:prstGeom>
          <a:noFill/>
          <a:ln>
            <a:noFill/>
          </a:ln>
        </p:spPr>
      </p:pic>
      <p:sp>
        <p:nvSpPr>
          <p:cNvPr id="733" name="Google Shape;733;p21"/>
          <p:cNvSpPr txBox="1"/>
          <p:nvPr/>
        </p:nvSpPr>
        <p:spPr>
          <a:xfrm>
            <a:off x="1051560" y="3008376"/>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Cloud Run service + L4 Job</a:t>
            </a:r>
            <a:endParaRPr sz="1250" b="0" i="0" u="none" strike="noStrike" cap="none">
              <a:solidFill>
                <a:schemeClr val="dk1"/>
              </a:solidFill>
              <a:latin typeface="Google Sans Flex"/>
              <a:ea typeface="Google Sans Flex"/>
              <a:cs typeface="Google Sans Flex"/>
              <a:sym typeface="Google Sans Flex"/>
            </a:endParaRPr>
          </a:p>
        </p:txBody>
      </p:sp>
      <p:sp>
        <p:nvSpPr>
          <p:cNvPr id="734" name="Google Shape;734;p21"/>
          <p:cNvSpPr txBox="1"/>
          <p:nvPr/>
        </p:nvSpPr>
        <p:spPr>
          <a:xfrm>
            <a:off x="1051560" y="3328416"/>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One image: CPU web service, L4 GPU Job per video; both scale to zero</a:t>
            </a:r>
            <a:endParaRPr sz="1000" b="0" i="0" u="none" strike="noStrike" cap="none">
              <a:solidFill>
                <a:schemeClr val="dk1"/>
              </a:solidFill>
              <a:latin typeface="Google Sans Flex"/>
              <a:ea typeface="Google Sans Flex"/>
              <a:cs typeface="Google Sans Flex"/>
              <a:sym typeface="Google Sans Flex"/>
            </a:endParaRPr>
          </a:p>
        </p:txBody>
      </p:sp>
      <p:sp>
        <p:nvSpPr>
          <p:cNvPr id="735" name="Google Shape;735;p21"/>
          <p:cNvSpPr/>
          <p:nvPr/>
        </p:nvSpPr>
        <p:spPr>
          <a:xfrm>
            <a:off x="4069080" y="2898648"/>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6" name="Google Shape;736;p21" descr="preencoded.png"/>
          <p:cNvPicPr preferRelativeResize="0"/>
          <p:nvPr/>
        </p:nvPicPr>
        <p:blipFill rotWithShape="1">
          <a:blip r:embed="rId3">
            <a:alphaModFix/>
          </a:blip>
          <a:srcRect/>
          <a:stretch/>
        </p:blipFill>
        <p:spPr>
          <a:xfrm>
            <a:off x="4206240" y="3054096"/>
            <a:ext cx="274320" cy="274320"/>
          </a:xfrm>
          <a:prstGeom prst="rect">
            <a:avLst/>
          </a:prstGeom>
          <a:noFill/>
          <a:ln>
            <a:noFill/>
          </a:ln>
        </p:spPr>
      </p:pic>
      <p:sp>
        <p:nvSpPr>
          <p:cNvPr id="737" name="Google Shape;737;p21"/>
          <p:cNvSpPr txBox="1"/>
          <p:nvPr/>
        </p:nvSpPr>
        <p:spPr>
          <a:xfrm>
            <a:off x="4572000" y="3008376"/>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Cloud Storage</a:t>
            </a:r>
            <a:endParaRPr sz="1250" b="0" i="0" u="none" strike="noStrike" cap="none">
              <a:solidFill>
                <a:schemeClr val="dk1"/>
              </a:solidFill>
              <a:latin typeface="Google Sans Flex"/>
              <a:ea typeface="Google Sans Flex"/>
              <a:cs typeface="Google Sans Flex"/>
              <a:sym typeface="Google Sans Flex"/>
            </a:endParaRPr>
          </a:p>
        </p:txBody>
      </p:sp>
      <p:sp>
        <p:nvSpPr>
          <p:cNvPr id="738" name="Google Shape;738;p21"/>
          <p:cNvSpPr txBox="1"/>
          <p:nvPr/>
        </p:nvSpPr>
        <p:spPr>
          <a:xfrm>
            <a:off x="4572000" y="3328416"/>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Bucket mounted on both: uploads, job status, reports, 3D models</a:t>
            </a:r>
            <a:endParaRPr sz="1000" b="0" i="0" u="none" strike="noStrike" cap="none">
              <a:solidFill>
                <a:schemeClr val="dk1"/>
              </a:solidFill>
              <a:latin typeface="Google Sans Flex"/>
              <a:ea typeface="Google Sans Flex"/>
              <a:cs typeface="Google Sans Flex"/>
              <a:sym typeface="Google Sans Flex"/>
            </a:endParaRPr>
          </a:p>
        </p:txBody>
      </p:sp>
      <p:sp>
        <p:nvSpPr>
          <p:cNvPr id="739" name="Google Shape;739;p21"/>
          <p:cNvSpPr/>
          <p:nvPr/>
        </p:nvSpPr>
        <p:spPr>
          <a:xfrm>
            <a:off x="548640" y="3968496"/>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0" name="Google Shape;740;p21" descr="preencoded.png"/>
          <p:cNvPicPr preferRelativeResize="0"/>
          <p:nvPr/>
        </p:nvPicPr>
        <p:blipFill rotWithShape="1">
          <a:blip r:embed="rId3">
            <a:alphaModFix/>
          </a:blip>
          <a:srcRect/>
          <a:stretch/>
        </p:blipFill>
        <p:spPr>
          <a:xfrm>
            <a:off x="685800" y="4123944"/>
            <a:ext cx="274320" cy="274320"/>
          </a:xfrm>
          <a:prstGeom prst="rect">
            <a:avLst/>
          </a:prstGeom>
          <a:noFill/>
          <a:ln>
            <a:noFill/>
          </a:ln>
        </p:spPr>
      </p:pic>
      <p:sp>
        <p:nvSpPr>
          <p:cNvPr id="741" name="Google Shape;741;p21"/>
          <p:cNvSpPr txBox="1"/>
          <p:nvPr/>
        </p:nvSpPr>
        <p:spPr>
          <a:xfrm>
            <a:off x="1051560" y="4078224"/>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Secret Manager</a:t>
            </a:r>
            <a:endParaRPr sz="1250" b="0" i="0" u="none" strike="noStrike" cap="none">
              <a:solidFill>
                <a:schemeClr val="dk1"/>
              </a:solidFill>
              <a:latin typeface="Google Sans Flex"/>
              <a:ea typeface="Google Sans Flex"/>
              <a:cs typeface="Google Sans Flex"/>
              <a:sym typeface="Google Sans Flex"/>
            </a:endParaRPr>
          </a:p>
        </p:txBody>
      </p:sp>
      <p:sp>
        <p:nvSpPr>
          <p:cNvPr id="742" name="Google Shape;742;p21"/>
          <p:cNvSpPr txBox="1"/>
          <p:nvPr/>
        </p:nvSpPr>
        <p:spPr>
          <a:xfrm>
            <a:off x="1051560" y="4398264"/>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Gemini API key injected at runtime; no keys in the image or repo</a:t>
            </a:r>
            <a:endParaRPr sz="1000" b="0" i="0" u="none" strike="noStrike" cap="none">
              <a:solidFill>
                <a:schemeClr val="dk1"/>
              </a:solidFill>
              <a:latin typeface="Google Sans Flex"/>
              <a:ea typeface="Google Sans Flex"/>
              <a:cs typeface="Google Sans Flex"/>
              <a:sym typeface="Google Sans Flex"/>
            </a:endParaRPr>
          </a:p>
        </p:txBody>
      </p:sp>
      <p:sp>
        <p:nvSpPr>
          <p:cNvPr id="743" name="Google Shape;743;p21"/>
          <p:cNvSpPr/>
          <p:nvPr/>
        </p:nvSpPr>
        <p:spPr>
          <a:xfrm>
            <a:off x="4069080" y="3968496"/>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4" name="Google Shape;744;p21" descr="preencoded.png"/>
          <p:cNvPicPr preferRelativeResize="0"/>
          <p:nvPr/>
        </p:nvPicPr>
        <p:blipFill rotWithShape="1">
          <a:blip r:embed="rId3">
            <a:alphaModFix/>
          </a:blip>
          <a:srcRect/>
          <a:stretch/>
        </p:blipFill>
        <p:spPr>
          <a:xfrm>
            <a:off x="4206240" y="4123944"/>
            <a:ext cx="274320" cy="274320"/>
          </a:xfrm>
          <a:prstGeom prst="rect">
            <a:avLst/>
          </a:prstGeom>
          <a:noFill/>
          <a:ln>
            <a:noFill/>
          </a:ln>
        </p:spPr>
      </p:pic>
      <p:sp>
        <p:nvSpPr>
          <p:cNvPr id="745" name="Google Shape;745;p21"/>
          <p:cNvSpPr txBox="1"/>
          <p:nvPr/>
        </p:nvSpPr>
        <p:spPr>
          <a:xfrm>
            <a:off x="4572000" y="4078224"/>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Cloud Build</a:t>
            </a:r>
            <a:endParaRPr sz="1250" b="0" i="0" u="none" strike="noStrike" cap="none">
              <a:solidFill>
                <a:schemeClr val="dk1"/>
              </a:solidFill>
              <a:latin typeface="Google Sans Flex"/>
              <a:ea typeface="Google Sans Flex"/>
              <a:cs typeface="Google Sans Flex"/>
              <a:sym typeface="Google Sans Flex"/>
            </a:endParaRPr>
          </a:p>
        </p:txBody>
      </p:sp>
      <p:sp>
        <p:nvSpPr>
          <p:cNvPr id="746" name="Google Shape;746;p21"/>
          <p:cNvSpPr txBox="1"/>
          <p:nvPr/>
        </p:nvSpPr>
        <p:spPr>
          <a:xfrm>
            <a:off x="4572000" y="4398264"/>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Builds the ~12 GB image; model weights fetched inside the build, never via a laptop</a:t>
            </a:r>
            <a:endParaRPr sz="1000" b="0" i="0" u="none" strike="noStrike" cap="none">
              <a:solidFill>
                <a:schemeClr val="dk1"/>
              </a:solidFill>
              <a:latin typeface="Google Sans Flex"/>
              <a:ea typeface="Google Sans Flex"/>
              <a:cs typeface="Google Sans Flex"/>
              <a:sym typeface="Google Sans Flex"/>
            </a:endParaRPr>
          </a:p>
        </p:txBody>
      </p:sp>
      <p:sp>
        <p:nvSpPr>
          <p:cNvPr id="747" name="Google Shape;747;p21"/>
          <p:cNvSpPr/>
          <p:nvPr/>
        </p:nvSpPr>
        <p:spPr>
          <a:xfrm>
            <a:off x="548640" y="5038344"/>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8" name="Google Shape;748;p21" descr="preencoded.png"/>
          <p:cNvPicPr preferRelativeResize="0"/>
          <p:nvPr/>
        </p:nvPicPr>
        <p:blipFill rotWithShape="1">
          <a:blip r:embed="rId3">
            <a:alphaModFix/>
          </a:blip>
          <a:srcRect/>
          <a:stretch/>
        </p:blipFill>
        <p:spPr>
          <a:xfrm>
            <a:off x="685800" y="5193792"/>
            <a:ext cx="274320" cy="274320"/>
          </a:xfrm>
          <a:prstGeom prst="rect">
            <a:avLst/>
          </a:prstGeom>
          <a:noFill/>
          <a:ln>
            <a:noFill/>
          </a:ln>
        </p:spPr>
      </p:pic>
      <p:sp>
        <p:nvSpPr>
          <p:cNvPr id="749" name="Google Shape;749;p21"/>
          <p:cNvSpPr txBox="1"/>
          <p:nvPr/>
        </p:nvSpPr>
        <p:spPr>
          <a:xfrm>
            <a:off x="1051560" y="5148072"/>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Artifact Registry</a:t>
            </a:r>
            <a:endParaRPr sz="1250" b="0" i="0" u="none" strike="noStrike" cap="none">
              <a:solidFill>
                <a:schemeClr val="dk1"/>
              </a:solidFill>
              <a:latin typeface="Google Sans Flex"/>
              <a:ea typeface="Google Sans Flex"/>
              <a:cs typeface="Google Sans Flex"/>
              <a:sym typeface="Google Sans Flex"/>
            </a:endParaRPr>
          </a:p>
        </p:txBody>
      </p:sp>
      <p:sp>
        <p:nvSpPr>
          <p:cNvPr id="750" name="Google Shape;750;p21"/>
          <p:cNvSpPr txBox="1"/>
          <p:nvPr/>
        </p:nvSpPr>
        <p:spPr>
          <a:xfrm>
            <a:off x="1051560" y="5468112"/>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One image with baked-in weights, shared by the service and the Job</a:t>
            </a:r>
            <a:endParaRPr sz="1000" b="0" i="0" u="none" strike="noStrike" cap="none">
              <a:solidFill>
                <a:schemeClr val="dk1"/>
              </a:solidFill>
              <a:latin typeface="Google Sans Flex"/>
              <a:ea typeface="Google Sans Flex"/>
              <a:cs typeface="Google Sans Flex"/>
              <a:sym typeface="Google Sans Flex"/>
            </a:endParaRPr>
          </a:p>
        </p:txBody>
      </p:sp>
      <p:sp>
        <p:nvSpPr>
          <p:cNvPr id="751" name="Google Shape;751;p21"/>
          <p:cNvSpPr/>
          <p:nvPr/>
        </p:nvSpPr>
        <p:spPr>
          <a:xfrm>
            <a:off x="4069080" y="5038344"/>
            <a:ext cx="3383280" cy="941832"/>
          </a:xfrm>
          <a:prstGeom prst="roundRect">
            <a:avLst>
              <a:gd name="adj" fmla="val 11650"/>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2" name="Google Shape;752;p21" descr="preencoded.png"/>
          <p:cNvPicPr preferRelativeResize="0"/>
          <p:nvPr/>
        </p:nvPicPr>
        <p:blipFill rotWithShape="1">
          <a:blip r:embed="rId3">
            <a:alphaModFix/>
          </a:blip>
          <a:srcRect/>
          <a:stretch/>
        </p:blipFill>
        <p:spPr>
          <a:xfrm>
            <a:off x="4206240" y="5193792"/>
            <a:ext cx="274320" cy="274320"/>
          </a:xfrm>
          <a:prstGeom prst="rect">
            <a:avLst/>
          </a:prstGeom>
          <a:noFill/>
          <a:ln>
            <a:noFill/>
          </a:ln>
        </p:spPr>
      </p:pic>
      <p:sp>
        <p:nvSpPr>
          <p:cNvPr id="753" name="Google Shape;753;p21"/>
          <p:cNvSpPr txBox="1"/>
          <p:nvPr/>
        </p:nvSpPr>
        <p:spPr>
          <a:xfrm>
            <a:off x="4572000" y="5148072"/>
            <a:ext cx="2788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IAM service account</a:t>
            </a:r>
            <a:endParaRPr sz="1250" b="0" i="0" u="none" strike="noStrike" cap="none">
              <a:solidFill>
                <a:schemeClr val="dk1"/>
              </a:solidFill>
              <a:latin typeface="Google Sans Flex"/>
              <a:ea typeface="Google Sans Flex"/>
              <a:cs typeface="Google Sans Flex"/>
              <a:sym typeface="Google Sans Flex"/>
            </a:endParaRPr>
          </a:p>
        </p:txBody>
      </p:sp>
      <p:sp>
        <p:nvSpPr>
          <p:cNvPr id="754" name="Google Shape;754;p21"/>
          <p:cNvSpPr txBox="1"/>
          <p:nvPr/>
        </p:nvSpPr>
        <p:spPr>
          <a:xfrm>
            <a:off x="4572000" y="5468112"/>
            <a:ext cx="278892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Least-privilege runtime account for the bucket, the secret and the Job</a:t>
            </a:r>
            <a:endParaRPr sz="1000" b="0" i="0" u="none" strike="noStrike" cap="none">
              <a:solidFill>
                <a:schemeClr val="dk1"/>
              </a:solidFill>
              <a:latin typeface="Google Sans Flex"/>
              <a:ea typeface="Google Sans Flex"/>
              <a:cs typeface="Google Sans Flex"/>
              <a:sym typeface="Google Sans Flex"/>
            </a:endParaRPr>
          </a:p>
        </p:txBody>
      </p:sp>
      <p:sp>
        <p:nvSpPr>
          <p:cNvPr id="755" name="Google Shape;755;p21"/>
          <p:cNvSpPr txBox="1"/>
          <p:nvPr/>
        </p:nvSpPr>
        <p:spPr>
          <a:xfrm>
            <a:off x="7772400" y="1508760"/>
            <a:ext cx="3886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100" b="1" i="0" u="none" strike="noStrike" cap="none">
                <a:solidFill>
                  <a:schemeClr val="accent3"/>
                </a:solidFill>
                <a:latin typeface="Google Sans Flex"/>
                <a:ea typeface="Google Sans Flex"/>
                <a:cs typeface="Google Sans Flex"/>
                <a:sym typeface="Google Sans Flex"/>
              </a:rPr>
              <a:t>NEXT ON THE ROADMAP</a:t>
            </a:r>
            <a:endParaRPr sz="1100" b="0" i="0" u="none" strike="noStrike" cap="none">
              <a:solidFill>
                <a:schemeClr val="dk1"/>
              </a:solidFill>
              <a:latin typeface="Google Sans Flex"/>
              <a:ea typeface="Google Sans Flex"/>
              <a:cs typeface="Google Sans Flex"/>
              <a:sym typeface="Google Sans Flex"/>
            </a:endParaRPr>
          </a:p>
        </p:txBody>
      </p:sp>
      <p:sp>
        <p:nvSpPr>
          <p:cNvPr id="756" name="Google Shape;756;p21"/>
          <p:cNvSpPr/>
          <p:nvPr/>
        </p:nvSpPr>
        <p:spPr>
          <a:xfrm>
            <a:off x="7772400" y="1828800"/>
            <a:ext cx="3886200" cy="941832"/>
          </a:xfrm>
          <a:prstGeom prst="roundRect">
            <a:avLst>
              <a:gd name="adj" fmla="val 11650"/>
            </a:avLst>
          </a:prstGeom>
          <a:solidFill>
            <a:schemeClr val="lt2"/>
          </a:solidFill>
          <a:ln w="12700" cap="flat" cmpd="sng">
            <a:solidFill>
              <a:srgbClr val="4A3A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7" name="Google Shape;757;p21" descr="preencoded.png"/>
          <p:cNvPicPr preferRelativeResize="0"/>
          <p:nvPr/>
        </p:nvPicPr>
        <p:blipFill rotWithShape="1">
          <a:blip r:embed="rId4">
            <a:alphaModFix/>
          </a:blip>
          <a:srcRect/>
          <a:stretch/>
        </p:blipFill>
        <p:spPr>
          <a:xfrm>
            <a:off x="7909560" y="1984248"/>
            <a:ext cx="274320" cy="274320"/>
          </a:xfrm>
          <a:prstGeom prst="rect">
            <a:avLst/>
          </a:prstGeom>
          <a:noFill/>
          <a:ln>
            <a:noFill/>
          </a:ln>
        </p:spPr>
      </p:pic>
      <p:sp>
        <p:nvSpPr>
          <p:cNvPr id="758" name="Google Shape;758;p21"/>
          <p:cNvSpPr txBox="1"/>
          <p:nvPr/>
        </p:nvSpPr>
        <p:spPr>
          <a:xfrm>
            <a:off x="8275320" y="1938528"/>
            <a:ext cx="32918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Document AI</a:t>
            </a:r>
            <a:endParaRPr sz="1250" b="0" i="0" u="none" strike="noStrike" cap="none">
              <a:solidFill>
                <a:schemeClr val="dk1"/>
              </a:solidFill>
              <a:latin typeface="Google Sans Flex"/>
              <a:ea typeface="Google Sans Flex"/>
              <a:cs typeface="Google Sans Flex"/>
              <a:sym typeface="Google Sans Flex"/>
            </a:endParaRPr>
          </a:p>
        </p:txBody>
      </p:sp>
      <p:sp>
        <p:nvSpPr>
          <p:cNvPr id="759" name="Google Shape;759;p21"/>
          <p:cNvSpPr txBox="1"/>
          <p:nvPr/>
        </p:nvSpPr>
        <p:spPr>
          <a:xfrm>
            <a:off x="8275320" y="2258568"/>
            <a:ext cx="329184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Title deeds, valuation reports and repair invoices cross-checked against the images</a:t>
            </a:r>
            <a:endParaRPr sz="1000" b="0" i="0" u="none" strike="noStrike" cap="none">
              <a:solidFill>
                <a:schemeClr val="dk1"/>
              </a:solidFill>
              <a:latin typeface="Google Sans Flex"/>
              <a:ea typeface="Google Sans Flex"/>
              <a:cs typeface="Google Sans Flex"/>
              <a:sym typeface="Google Sans Flex"/>
            </a:endParaRPr>
          </a:p>
        </p:txBody>
      </p:sp>
      <p:sp>
        <p:nvSpPr>
          <p:cNvPr id="760" name="Google Shape;760;p21"/>
          <p:cNvSpPr/>
          <p:nvPr/>
        </p:nvSpPr>
        <p:spPr>
          <a:xfrm>
            <a:off x="7772400" y="2898648"/>
            <a:ext cx="3886200" cy="941832"/>
          </a:xfrm>
          <a:prstGeom prst="roundRect">
            <a:avLst>
              <a:gd name="adj" fmla="val 11650"/>
            </a:avLst>
          </a:prstGeom>
          <a:solidFill>
            <a:schemeClr val="lt2"/>
          </a:solidFill>
          <a:ln w="12700" cap="flat" cmpd="sng">
            <a:solidFill>
              <a:srgbClr val="4A3A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1" name="Google Shape;761;p21" descr="preencoded.png"/>
          <p:cNvPicPr preferRelativeResize="0"/>
          <p:nvPr/>
        </p:nvPicPr>
        <p:blipFill rotWithShape="1">
          <a:blip r:embed="rId4">
            <a:alphaModFix/>
          </a:blip>
          <a:srcRect/>
          <a:stretch/>
        </p:blipFill>
        <p:spPr>
          <a:xfrm>
            <a:off x="7909560" y="3054096"/>
            <a:ext cx="274320" cy="274320"/>
          </a:xfrm>
          <a:prstGeom prst="rect">
            <a:avLst/>
          </a:prstGeom>
          <a:noFill/>
          <a:ln>
            <a:noFill/>
          </a:ln>
        </p:spPr>
      </p:pic>
      <p:sp>
        <p:nvSpPr>
          <p:cNvPr id="762" name="Google Shape;762;p21"/>
          <p:cNvSpPr txBox="1"/>
          <p:nvPr/>
        </p:nvSpPr>
        <p:spPr>
          <a:xfrm>
            <a:off x="8275320" y="3008376"/>
            <a:ext cx="32918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Vertex AI Search</a:t>
            </a:r>
            <a:endParaRPr sz="1250" b="0" i="0" u="none" strike="noStrike" cap="none">
              <a:solidFill>
                <a:schemeClr val="dk1"/>
              </a:solidFill>
              <a:latin typeface="Google Sans Flex"/>
              <a:ea typeface="Google Sans Flex"/>
              <a:cs typeface="Google Sans Flex"/>
              <a:sym typeface="Google Sans Flex"/>
            </a:endParaRPr>
          </a:p>
        </p:txBody>
      </p:sp>
      <p:sp>
        <p:nvSpPr>
          <p:cNvPr id="763" name="Google Shape;763;p21"/>
          <p:cNvSpPr txBox="1"/>
          <p:nvPr/>
        </p:nvSpPr>
        <p:spPr>
          <a:xfrm>
            <a:off x="8275320" y="3328416"/>
            <a:ext cx="329184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Policy wording and lending guidelines retrieved for the assistant</a:t>
            </a:r>
            <a:endParaRPr sz="1000" b="0" i="0" u="none" strike="noStrike" cap="none">
              <a:solidFill>
                <a:schemeClr val="dk1"/>
              </a:solidFill>
              <a:latin typeface="Google Sans Flex"/>
              <a:ea typeface="Google Sans Flex"/>
              <a:cs typeface="Google Sans Flex"/>
              <a:sym typeface="Google Sans Flex"/>
            </a:endParaRPr>
          </a:p>
        </p:txBody>
      </p:sp>
      <p:sp>
        <p:nvSpPr>
          <p:cNvPr id="764" name="Google Shape;764;p21"/>
          <p:cNvSpPr/>
          <p:nvPr/>
        </p:nvSpPr>
        <p:spPr>
          <a:xfrm>
            <a:off x="7772400" y="3968496"/>
            <a:ext cx="3886200" cy="941832"/>
          </a:xfrm>
          <a:prstGeom prst="roundRect">
            <a:avLst>
              <a:gd name="adj" fmla="val 11650"/>
            </a:avLst>
          </a:prstGeom>
          <a:solidFill>
            <a:schemeClr val="lt2"/>
          </a:solidFill>
          <a:ln w="12700" cap="flat" cmpd="sng">
            <a:solidFill>
              <a:srgbClr val="4A3A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5" name="Google Shape;765;p21" descr="preencoded.png"/>
          <p:cNvPicPr preferRelativeResize="0"/>
          <p:nvPr/>
        </p:nvPicPr>
        <p:blipFill rotWithShape="1">
          <a:blip r:embed="rId4">
            <a:alphaModFix/>
          </a:blip>
          <a:srcRect/>
          <a:stretch/>
        </p:blipFill>
        <p:spPr>
          <a:xfrm>
            <a:off x="7909560" y="4123944"/>
            <a:ext cx="274320" cy="274320"/>
          </a:xfrm>
          <a:prstGeom prst="rect">
            <a:avLst/>
          </a:prstGeom>
          <a:noFill/>
          <a:ln>
            <a:noFill/>
          </a:ln>
        </p:spPr>
      </p:pic>
      <p:sp>
        <p:nvSpPr>
          <p:cNvPr id="766" name="Google Shape;766;p21"/>
          <p:cNvSpPr txBox="1"/>
          <p:nvPr/>
        </p:nvSpPr>
        <p:spPr>
          <a:xfrm>
            <a:off x="8275320" y="4078224"/>
            <a:ext cx="32918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Vertex AI + BigQuery ML</a:t>
            </a:r>
            <a:endParaRPr sz="1250" b="0" i="0" u="none" strike="noStrike" cap="none">
              <a:solidFill>
                <a:schemeClr val="dk1"/>
              </a:solidFill>
              <a:latin typeface="Google Sans Flex"/>
              <a:ea typeface="Google Sans Flex"/>
              <a:cs typeface="Google Sans Flex"/>
              <a:sym typeface="Google Sans Flex"/>
            </a:endParaRPr>
          </a:p>
        </p:txBody>
      </p:sp>
      <p:sp>
        <p:nvSpPr>
          <p:cNvPr id="767" name="Google Shape;767;p21"/>
          <p:cNvSpPr txBox="1"/>
          <p:nvPr/>
        </p:nvSpPr>
        <p:spPr>
          <a:xfrm>
            <a:off x="8275320" y="4398264"/>
            <a:ext cx="329184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Claim-likelihood and collateral-risk models trained on the inspection history</a:t>
            </a:r>
            <a:endParaRPr sz="1000" b="0" i="0" u="none" strike="noStrike" cap="none">
              <a:solidFill>
                <a:schemeClr val="dk1"/>
              </a:solidFill>
              <a:latin typeface="Google Sans Flex"/>
              <a:ea typeface="Google Sans Flex"/>
              <a:cs typeface="Google Sans Flex"/>
              <a:sym typeface="Google Sans Flex"/>
            </a:endParaRPr>
          </a:p>
        </p:txBody>
      </p:sp>
      <p:sp>
        <p:nvSpPr>
          <p:cNvPr id="768" name="Google Shape;768;p21"/>
          <p:cNvSpPr/>
          <p:nvPr/>
        </p:nvSpPr>
        <p:spPr>
          <a:xfrm>
            <a:off x="7772400" y="5038344"/>
            <a:ext cx="3886200" cy="941832"/>
          </a:xfrm>
          <a:prstGeom prst="roundRect">
            <a:avLst>
              <a:gd name="adj" fmla="val 11650"/>
            </a:avLst>
          </a:prstGeom>
          <a:solidFill>
            <a:schemeClr val="lt2"/>
          </a:solidFill>
          <a:ln w="12700" cap="flat" cmpd="sng">
            <a:solidFill>
              <a:srgbClr val="4A3A1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9" name="Google Shape;769;p21" descr="preencoded.png"/>
          <p:cNvPicPr preferRelativeResize="0"/>
          <p:nvPr/>
        </p:nvPicPr>
        <p:blipFill rotWithShape="1">
          <a:blip r:embed="rId4">
            <a:alphaModFix/>
          </a:blip>
          <a:srcRect/>
          <a:stretch/>
        </p:blipFill>
        <p:spPr>
          <a:xfrm>
            <a:off x="7909560" y="5193792"/>
            <a:ext cx="274320" cy="274320"/>
          </a:xfrm>
          <a:prstGeom prst="rect">
            <a:avLst/>
          </a:prstGeom>
          <a:noFill/>
          <a:ln>
            <a:noFill/>
          </a:ln>
        </p:spPr>
      </p:pic>
      <p:sp>
        <p:nvSpPr>
          <p:cNvPr id="770" name="Google Shape;770;p21"/>
          <p:cNvSpPr txBox="1"/>
          <p:nvPr/>
        </p:nvSpPr>
        <p:spPr>
          <a:xfrm>
            <a:off x="8275320" y="5148072"/>
            <a:ext cx="32918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Cloud SQL / AlloyDB</a:t>
            </a:r>
            <a:endParaRPr sz="1250" b="0" i="0" u="none" strike="noStrike" cap="none">
              <a:solidFill>
                <a:schemeClr val="dk1"/>
              </a:solidFill>
              <a:latin typeface="Google Sans Flex"/>
              <a:ea typeface="Google Sans Flex"/>
              <a:cs typeface="Google Sans Flex"/>
              <a:sym typeface="Google Sans Flex"/>
            </a:endParaRPr>
          </a:p>
        </p:txBody>
      </p:sp>
      <p:sp>
        <p:nvSpPr>
          <p:cNvPr id="771" name="Google Shape;771;p21"/>
          <p:cNvSpPr txBox="1"/>
          <p:nvPr/>
        </p:nvSpPr>
        <p:spPr>
          <a:xfrm>
            <a:off x="8275320" y="5468112"/>
            <a:ext cx="329184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Multi-tenant case management, audit trail and SSO</a:t>
            </a:r>
            <a:endParaRPr sz="1000" b="0" i="0" u="none" strike="noStrike" cap="none">
              <a:solidFill>
                <a:schemeClr val="dk1"/>
              </a:solidFill>
              <a:latin typeface="Google Sans Flex"/>
              <a:ea typeface="Google Sans Flex"/>
              <a:cs typeface="Google Sans Flex"/>
              <a:sym typeface="Google Sans Flex"/>
            </a:endParaRPr>
          </a:p>
        </p:txBody>
      </p:sp>
      <p:sp>
        <p:nvSpPr>
          <p:cNvPr id="772" name="Google Shape;772;p21"/>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21</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22"/>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RESPONSIBLE AI</a:t>
            </a:r>
            <a:endParaRPr sz="1150"/>
          </a:p>
        </p:txBody>
      </p:sp>
      <p:sp>
        <p:nvSpPr>
          <p:cNvPr id="779" name="Google Shape;779;p22"/>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Compliant by design: humans decide, AI shows evidence</a:t>
            </a:r>
            <a:endParaRPr sz="2850"/>
          </a:p>
        </p:txBody>
      </p:sp>
      <p:sp>
        <p:nvSpPr>
          <p:cNvPr id="780" name="Google Shape;780;p22"/>
          <p:cNvSpPr/>
          <p:nvPr/>
        </p:nvSpPr>
        <p:spPr>
          <a:xfrm>
            <a:off x="548640" y="169164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2"/>
          <p:cNvSpPr/>
          <p:nvPr/>
        </p:nvSpPr>
        <p:spPr>
          <a:xfrm>
            <a:off x="777240" y="192024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2" name="Google Shape;782;p22" descr="preencoded.png"/>
          <p:cNvPicPr preferRelativeResize="0"/>
          <p:nvPr/>
        </p:nvPicPr>
        <p:blipFill rotWithShape="1">
          <a:blip r:embed="rId3">
            <a:alphaModFix/>
          </a:blip>
          <a:srcRect/>
          <a:stretch/>
        </p:blipFill>
        <p:spPr>
          <a:xfrm>
            <a:off x="914400" y="2057400"/>
            <a:ext cx="274320" cy="274320"/>
          </a:xfrm>
          <a:prstGeom prst="rect">
            <a:avLst/>
          </a:prstGeom>
          <a:noFill/>
          <a:ln>
            <a:noFill/>
          </a:ln>
        </p:spPr>
      </p:pic>
      <p:sp>
        <p:nvSpPr>
          <p:cNvPr id="783" name="Google Shape;783;p22"/>
          <p:cNvSpPr txBox="1"/>
          <p:nvPr/>
        </p:nvSpPr>
        <p:spPr>
          <a:xfrm>
            <a:off x="1463040" y="196596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Human in the loop</a:t>
            </a:r>
            <a:endParaRPr sz="1550" b="0" i="0" u="none" strike="noStrike" cap="none">
              <a:solidFill>
                <a:schemeClr val="dk1"/>
              </a:solidFill>
              <a:latin typeface="Google Sans Flex"/>
              <a:ea typeface="Google Sans Flex"/>
              <a:cs typeface="Google Sans Flex"/>
              <a:sym typeface="Google Sans Flex"/>
            </a:endParaRPr>
          </a:p>
        </p:txBody>
      </p:sp>
      <p:sp>
        <p:nvSpPr>
          <p:cNvPr id="784" name="Google Shape;784;p22"/>
          <p:cNvSpPr txBox="1"/>
          <p:nvPr/>
        </p:nvSpPr>
        <p:spPr>
          <a:xfrm>
            <a:off x="777240" y="260604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Decision support only: a qualified surveyor or underwriter makes the final call.</a:t>
            </a:r>
            <a:endParaRPr sz="1250" b="0" i="0" u="none" strike="noStrike" cap="none">
              <a:solidFill>
                <a:schemeClr val="dk1"/>
              </a:solidFill>
              <a:latin typeface="Google Sans Flex"/>
              <a:ea typeface="Google Sans Flex"/>
              <a:cs typeface="Google Sans Flex"/>
              <a:sym typeface="Google Sans Flex"/>
            </a:endParaRPr>
          </a:p>
        </p:txBody>
      </p:sp>
      <p:sp>
        <p:nvSpPr>
          <p:cNvPr id="785" name="Google Shape;785;p22"/>
          <p:cNvSpPr/>
          <p:nvPr/>
        </p:nvSpPr>
        <p:spPr>
          <a:xfrm>
            <a:off x="4279392" y="169164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2"/>
          <p:cNvSpPr/>
          <p:nvPr/>
        </p:nvSpPr>
        <p:spPr>
          <a:xfrm>
            <a:off x="4507992" y="192024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7" name="Google Shape;787;p22" descr="preencoded.png"/>
          <p:cNvPicPr preferRelativeResize="0"/>
          <p:nvPr/>
        </p:nvPicPr>
        <p:blipFill rotWithShape="1">
          <a:blip r:embed="rId4">
            <a:alphaModFix/>
          </a:blip>
          <a:srcRect/>
          <a:stretch/>
        </p:blipFill>
        <p:spPr>
          <a:xfrm>
            <a:off x="4645152" y="2057400"/>
            <a:ext cx="274320" cy="274320"/>
          </a:xfrm>
          <a:prstGeom prst="rect">
            <a:avLst/>
          </a:prstGeom>
          <a:noFill/>
          <a:ln>
            <a:noFill/>
          </a:ln>
        </p:spPr>
      </p:pic>
      <p:sp>
        <p:nvSpPr>
          <p:cNvPr id="788" name="Google Shape;788;p22"/>
          <p:cNvSpPr txBox="1"/>
          <p:nvPr/>
        </p:nvSpPr>
        <p:spPr>
          <a:xfrm>
            <a:off x="5193792" y="196596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Explainable</a:t>
            </a:r>
            <a:endParaRPr sz="1550" b="0" i="0" u="none" strike="noStrike" cap="none">
              <a:solidFill>
                <a:schemeClr val="dk1"/>
              </a:solidFill>
              <a:latin typeface="Google Sans Flex"/>
              <a:ea typeface="Google Sans Flex"/>
              <a:cs typeface="Google Sans Flex"/>
              <a:sym typeface="Google Sans Flex"/>
            </a:endParaRPr>
          </a:p>
        </p:txBody>
      </p:sp>
      <p:sp>
        <p:nvSpPr>
          <p:cNvPr id="789" name="Google Shape;789;p22"/>
          <p:cNvSpPr txBox="1"/>
          <p:nvPr/>
        </p:nvSpPr>
        <p:spPr>
          <a:xfrm>
            <a:off x="4507992" y="260604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Deterministic YAML rules, and every decision lists its reasons and risk points.</a:t>
            </a:r>
            <a:endParaRPr sz="1250" b="0" i="0" u="none" strike="noStrike" cap="none">
              <a:solidFill>
                <a:schemeClr val="dk1"/>
              </a:solidFill>
              <a:latin typeface="Google Sans Flex"/>
              <a:ea typeface="Google Sans Flex"/>
              <a:cs typeface="Google Sans Flex"/>
              <a:sym typeface="Google Sans Flex"/>
            </a:endParaRPr>
          </a:p>
        </p:txBody>
      </p:sp>
      <p:sp>
        <p:nvSpPr>
          <p:cNvPr id="790" name="Google Shape;790;p22"/>
          <p:cNvSpPr/>
          <p:nvPr/>
        </p:nvSpPr>
        <p:spPr>
          <a:xfrm>
            <a:off x="8010144" y="169164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2"/>
          <p:cNvSpPr/>
          <p:nvPr/>
        </p:nvSpPr>
        <p:spPr>
          <a:xfrm>
            <a:off x="8238744" y="192024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92" name="Google Shape;792;p22" descr="preencoded.png"/>
          <p:cNvPicPr preferRelativeResize="0"/>
          <p:nvPr/>
        </p:nvPicPr>
        <p:blipFill rotWithShape="1">
          <a:blip r:embed="rId5">
            <a:alphaModFix/>
          </a:blip>
          <a:srcRect/>
          <a:stretch/>
        </p:blipFill>
        <p:spPr>
          <a:xfrm>
            <a:off x="8375904" y="2057400"/>
            <a:ext cx="274320" cy="274320"/>
          </a:xfrm>
          <a:prstGeom prst="rect">
            <a:avLst/>
          </a:prstGeom>
          <a:noFill/>
          <a:ln>
            <a:noFill/>
          </a:ln>
        </p:spPr>
      </p:pic>
      <p:sp>
        <p:nvSpPr>
          <p:cNvPr id="793" name="Google Shape;793;p22"/>
          <p:cNvSpPr txBox="1"/>
          <p:nvPr/>
        </p:nvSpPr>
        <p:spPr>
          <a:xfrm>
            <a:off x="8924544" y="196596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Auditable</a:t>
            </a:r>
            <a:endParaRPr sz="1550" b="0" i="0" u="none" strike="noStrike" cap="none">
              <a:solidFill>
                <a:schemeClr val="dk1"/>
              </a:solidFill>
              <a:latin typeface="Google Sans Flex"/>
              <a:ea typeface="Google Sans Flex"/>
              <a:cs typeface="Google Sans Flex"/>
              <a:sym typeface="Google Sans Flex"/>
            </a:endParaRPr>
          </a:p>
        </p:txBody>
      </p:sp>
      <p:sp>
        <p:nvSpPr>
          <p:cNvPr id="794" name="Google Shape;794;p22"/>
          <p:cNvSpPr txBox="1"/>
          <p:nvPr/>
        </p:nvSpPr>
        <p:spPr>
          <a:xfrm>
            <a:off x="8238744" y="260604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Raw model outputs are archived, each inspection is a JSON record in Cloud Storage, and the config is versioned.</a:t>
            </a:r>
            <a:endParaRPr sz="1250" b="0" i="0" u="none" strike="noStrike" cap="none">
              <a:solidFill>
                <a:schemeClr val="dk1"/>
              </a:solidFill>
              <a:latin typeface="Google Sans Flex"/>
              <a:ea typeface="Google Sans Flex"/>
              <a:cs typeface="Google Sans Flex"/>
              <a:sym typeface="Google Sans Flex"/>
            </a:endParaRPr>
          </a:p>
        </p:txBody>
      </p:sp>
      <p:sp>
        <p:nvSpPr>
          <p:cNvPr id="795" name="Google Shape;795;p22"/>
          <p:cNvSpPr/>
          <p:nvPr/>
        </p:nvSpPr>
        <p:spPr>
          <a:xfrm>
            <a:off x="548640" y="393192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2"/>
          <p:cNvSpPr/>
          <p:nvPr/>
        </p:nvSpPr>
        <p:spPr>
          <a:xfrm>
            <a:off x="777240" y="416052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97" name="Google Shape;797;p22" descr="preencoded.png"/>
          <p:cNvPicPr preferRelativeResize="0"/>
          <p:nvPr/>
        </p:nvPicPr>
        <p:blipFill rotWithShape="1">
          <a:blip r:embed="rId6">
            <a:alphaModFix/>
          </a:blip>
          <a:srcRect/>
          <a:stretch/>
        </p:blipFill>
        <p:spPr>
          <a:xfrm>
            <a:off x="914400" y="4297680"/>
            <a:ext cx="274320" cy="274320"/>
          </a:xfrm>
          <a:prstGeom prst="rect">
            <a:avLst/>
          </a:prstGeom>
          <a:noFill/>
          <a:ln>
            <a:noFill/>
          </a:ln>
        </p:spPr>
      </p:pic>
      <p:sp>
        <p:nvSpPr>
          <p:cNvPr id="798" name="Google Shape;798;p22"/>
          <p:cNvSpPr txBox="1"/>
          <p:nvPr/>
        </p:nvSpPr>
        <p:spPr>
          <a:xfrm>
            <a:off x="1463040" y="420624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Safe wording</a:t>
            </a:r>
            <a:endParaRPr sz="1550" b="0" i="0" u="none" strike="noStrike" cap="none">
              <a:solidFill>
                <a:schemeClr val="dk1"/>
              </a:solidFill>
              <a:latin typeface="Google Sans Flex"/>
              <a:ea typeface="Google Sans Flex"/>
              <a:cs typeface="Google Sans Flex"/>
              <a:sym typeface="Google Sans Flex"/>
            </a:endParaRPr>
          </a:p>
        </p:txBody>
      </p:sp>
      <p:sp>
        <p:nvSpPr>
          <p:cNvPr id="799" name="Google Shape;799;p22"/>
          <p:cNvSpPr txBox="1"/>
          <p:nvPr/>
        </p:nvSpPr>
        <p:spPr>
          <a:xfrm>
            <a:off x="777240" y="484632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No claims about structural safety or root cause. Locks, fans and windows always become manual checks.</a:t>
            </a:r>
            <a:endParaRPr sz="1250" b="0" i="0" u="none" strike="noStrike" cap="none">
              <a:solidFill>
                <a:schemeClr val="dk1"/>
              </a:solidFill>
              <a:latin typeface="Google Sans Flex"/>
              <a:ea typeface="Google Sans Flex"/>
              <a:cs typeface="Google Sans Flex"/>
              <a:sym typeface="Google Sans Flex"/>
            </a:endParaRPr>
          </a:p>
        </p:txBody>
      </p:sp>
      <p:sp>
        <p:nvSpPr>
          <p:cNvPr id="800" name="Google Shape;800;p22"/>
          <p:cNvSpPr/>
          <p:nvPr/>
        </p:nvSpPr>
        <p:spPr>
          <a:xfrm>
            <a:off x="4279392" y="393192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2"/>
          <p:cNvSpPr/>
          <p:nvPr/>
        </p:nvSpPr>
        <p:spPr>
          <a:xfrm>
            <a:off x="4507992" y="416052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2" name="Google Shape;802;p22" descr="preencoded.png"/>
          <p:cNvPicPr preferRelativeResize="0"/>
          <p:nvPr/>
        </p:nvPicPr>
        <p:blipFill rotWithShape="1">
          <a:blip r:embed="rId7">
            <a:alphaModFix/>
          </a:blip>
          <a:srcRect/>
          <a:stretch/>
        </p:blipFill>
        <p:spPr>
          <a:xfrm>
            <a:off x="4645152" y="4297680"/>
            <a:ext cx="274320" cy="274320"/>
          </a:xfrm>
          <a:prstGeom prst="rect">
            <a:avLst/>
          </a:prstGeom>
          <a:noFill/>
          <a:ln>
            <a:noFill/>
          </a:ln>
        </p:spPr>
      </p:pic>
      <p:sp>
        <p:nvSpPr>
          <p:cNvPr id="803" name="Google Shape;803;p22"/>
          <p:cNvSpPr txBox="1"/>
          <p:nvPr/>
        </p:nvSpPr>
        <p:spPr>
          <a:xfrm>
            <a:off x="5193792" y="420624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Secure</a:t>
            </a:r>
            <a:endParaRPr sz="1550" b="0" i="0" u="none" strike="noStrike" cap="none">
              <a:solidFill>
                <a:schemeClr val="dk1"/>
              </a:solidFill>
              <a:latin typeface="Google Sans Flex"/>
              <a:ea typeface="Google Sans Flex"/>
              <a:cs typeface="Google Sans Flex"/>
              <a:sym typeface="Google Sans Flex"/>
            </a:endParaRPr>
          </a:p>
        </p:txBody>
      </p:sp>
      <p:sp>
        <p:nvSpPr>
          <p:cNvPr id="804" name="Google Shape;804;p22"/>
          <p:cNvSpPr txBox="1"/>
          <p:nvPr/>
        </p:nvSpPr>
        <p:spPr>
          <a:xfrm>
            <a:off x="4507992" y="484632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Least-privilege service account, Gemini key in Secret Manager, no keys in files, and data stays in the client's own project.</a:t>
            </a:r>
            <a:endParaRPr sz="1250" b="0" i="0" u="none" strike="noStrike" cap="none">
              <a:solidFill>
                <a:schemeClr val="dk1"/>
              </a:solidFill>
              <a:latin typeface="Google Sans Flex"/>
              <a:ea typeface="Google Sans Flex"/>
              <a:cs typeface="Google Sans Flex"/>
              <a:sym typeface="Google Sans Flex"/>
            </a:endParaRPr>
          </a:p>
        </p:txBody>
      </p:sp>
      <p:sp>
        <p:nvSpPr>
          <p:cNvPr id="805" name="Google Shape;805;p22"/>
          <p:cNvSpPr/>
          <p:nvPr/>
        </p:nvSpPr>
        <p:spPr>
          <a:xfrm>
            <a:off x="8010144" y="3931920"/>
            <a:ext cx="3566160" cy="2057400"/>
          </a:xfrm>
          <a:prstGeom prst="roundRect">
            <a:avLst>
              <a:gd name="adj" fmla="val 5333"/>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2"/>
          <p:cNvSpPr/>
          <p:nvPr/>
        </p:nvSpPr>
        <p:spPr>
          <a:xfrm>
            <a:off x="8238744" y="416052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7" name="Google Shape;807;p22" descr="preencoded.png"/>
          <p:cNvPicPr preferRelativeResize="0"/>
          <p:nvPr/>
        </p:nvPicPr>
        <p:blipFill rotWithShape="1">
          <a:blip r:embed="rId8">
            <a:alphaModFix/>
          </a:blip>
          <a:srcRect/>
          <a:stretch/>
        </p:blipFill>
        <p:spPr>
          <a:xfrm>
            <a:off x="8375904" y="4297680"/>
            <a:ext cx="274320" cy="274320"/>
          </a:xfrm>
          <a:prstGeom prst="rect">
            <a:avLst/>
          </a:prstGeom>
          <a:noFill/>
          <a:ln>
            <a:noFill/>
          </a:ln>
        </p:spPr>
      </p:pic>
      <p:sp>
        <p:nvSpPr>
          <p:cNvPr id="808" name="Google Shape;808;p22"/>
          <p:cNvSpPr txBox="1"/>
          <p:nvPr/>
        </p:nvSpPr>
        <p:spPr>
          <a:xfrm>
            <a:off x="8924544" y="4206240"/>
            <a:ext cx="2514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Licence-aware</a:t>
            </a:r>
            <a:endParaRPr sz="1550" b="0" i="0" u="none" strike="noStrike" cap="none">
              <a:solidFill>
                <a:schemeClr val="dk1"/>
              </a:solidFill>
              <a:latin typeface="Google Sans Flex"/>
              <a:ea typeface="Google Sans Flex"/>
              <a:cs typeface="Google Sans Flex"/>
              <a:sym typeface="Google Sans Flex"/>
            </a:endParaRPr>
          </a:p>
        </p:txBody>
      </p:sp>
      <p:sp>
        <p:nvSpPr>
          <p:cNvPr id="809" name="Google Shape;809;p22"/>
          <p:cNvSpPr txBox="1"/>
          <p:nvPr/>
        </p:nvSpPr>
        <p:spPr>
          <a:xfrm>
            <a:off x="8238744" y="4846320"/>
            <a:ext cx="315468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LocateAnything weights are non-commercial; Gemini localisation is the drop-in swap for production.</a:t>
            </a:r>
            <a:endParaRPr sz="1250" b="0" i="0" u="none" strike="noStrike" cap="none">
              <a:solidFill>
                <a:schemeClr val="dk1"/>
              </a:solidFill>
              <a:latin typeface="Google Sans Flex"/>
              <a:ea typeface="Google Sans Flex"/>
              <a:cs typeface="Google Sans Flex"/>
              <a:sym typeface="Google Sans Flex"/>
            </a:endParaRPr>
          </a:p>
        </p:txBody>
      </p:sp>
      <p:sp>
        <p:nvSpPr>
          <p:cNvPr id="810" name="Google Shape;810;p22"/>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22</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23"/>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BUSINESS MODEL</a:t>
            </a:r>
            <a:endParaRPr sz="1150"/>
          </a:p>
        </p:txBody>
      </p:sp>
      <p:sp>
        <p:nvSpPr>
          <p:cNvPr id="817" name="Google Shape;817;p23"/>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Priced per inspection, far below a site visit</a:t>
            </a:r>
            <a:endParaRPr sz="2850"/>
          </a:p>
        </p:txBody>
      </p:sp>
      <p:sp>
        <p:nvSpPr>
          <p:cNvPr id="818" name="Google Shape;818;p23"/>
          <p:cNvSpPr/>
          <p:nvPr/>
        </p:nvSpPr>
        <p:spPr>
          <a:xfrm>
            <a:off x="548640" y="1600200"/>
            <a:ext cx="6035040" cy="1298448"/>
          </a:xfrm>
          <a:prstGeom prst="roundRect">
            <a:avLst>
              <a:gd name="adj" fmla="val 845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3"/>
          <p:cNvSpPr/>
          <p:nvPr/>
        </p:nvSpPr>
        <p:spPr>
          <a:xfrm>
            <a:off x="777240" y="187452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0" name="Google Shape;820;p23" descr="preencoded.png"/>
          <p:cNvPicPr preferRelativeResize="0"/>
          <p:nvPr/>
        </p:nvPicPr>
        <p:blipFill rotWithShape="1">
          <a:blip r:embed="rId3">
            <a:alphaModFix/>
          </a:blip>
          <a:srcRect/>
          <a:stretch/>
        </p:blipFill>
        <p:spPr>
          <a:xfrm>
            <a:off x="948690" y="2045970"/>
            <a:ext cx="342900" cy="342900"/>
          </a:xfrm>
          <a:prstGeom prst="rect">
            <a:avLst/>
          </a:prstGeom>
          <a:noFill/>
          <a:ln>
            <a:noFill/>
          </a:ln>
        </p:spPr>
      </p:pic>
      <p:sp>
        <p:nvSpPr>
          <p:cNvPr id="821" name="Google Shape;821;p23"/>
          <p:cNvSpPr txBox="1"/>
          <p:nvPr/>
        </p:nvSpPr>
        <p:spPr>
          <a:xfrm>
            <a:off x="1691640" y="1764792"/>
            <a:ext cx="47548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Pay-per-inspection API</a:t>
            </a:r>
            <a:endParaRPr sz="1550" b="0" i="0" u="none" strike="noStrike" cap="none">
              <a:solidFill>
                <a:schemeClr val="dk1"/>
              </a:solidFill>
              <a:latin typeface="Google Sans Flex"/>
              <a:ea typeface="Google Sans Flex"/>
              <a:cs typeface="Google Sans Flex"/>
              <a:sym typeface="Google Sans Flex"/>
            </a:endParaRPr>
          </a:p>
        </p:txBody>
      </p:sp>
      <p:sp>
        <p:nvSpPr>
          <p:cNvPr id="822" name="Google Shape;822;p23"/>
          <p:cNvSpPr txBox="1"/>
          <p:nvPr/>
        </p:nvSpPr>
        <p:spPr>
          <a:xfrm>
            <a:off x="1691640" y="2130552"/>
            <a:ext cx="475488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Lenders and insurers send a walkthrough video from their own apps and get JSON, a report and a decision back.</a:t>
            </a:r>
            <a:endParaRPr sz="1150" b="0" i="0" u="none" strike="noStrike" cap="none">
              <a:solidFill>
                <a:schemeClr val="dk1"/>
              </a:solidFill>
              <a:latin typeface="Google Sans Flex"/>
              <a:ea typeface="Google Sans Flex"/>
              <a:cs typeface="Google Sans Flex"/>
              <a:sym typeface="Google Sans Flex"/>
            </a:endParaRPr>
          </a:p>
        </p:txBody>
      </p:sp>
      <p:sp>
        <p:nvSpPr>
          <p:cNvPr id="823" name="Google Shape;823;p23"/>
          <p:cNvSpPr/>
          <p:nvPr/>
        </p:nvSpPr>
        <p:spPr>
          <a:xfrm>
            <a:off x="548640" y="3063240"/>
            <a:ext cx="6035040" cy="1298448"/>
          </a:xfrm>
          <a:prstGeom prst="roundRect">
            <a:avLst>
              <a:gd name="adj" fmla="val 845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3"/>
          <p:cNvSpPr/>
          <p:nvPr/>
        </p:nvSpPr>
        <p:spPr>
          <a:xfrm>
            <a:off x="777240" y="333756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5" name="Google Shape;825;p23" descr="preencoded.png"/>
          <p:cNvPicPr preferRelativeResize="0"/>
          <p:nvPr/>
        </p:nvPicPr>
        <p:blipFill rotWithShape="1">
          <a:blip r:embed="rId4">
            <a:alphaModFix/>
          </a:blip>
          <a:srcRect/>
          <a:stretch/>
        </p:blipFill>
        <p:spPr>
          <a:xfrm>
            <a:off x="948690" y="3509010"/>
            <a:ext cx="342900" cy="342900"/>
          </a:xfrm>
          <a:prstGeom prst="rect">
            <a:avLst/>
          </a:prstGeom>
          <a:noFill/>
          <a:ln>
            <a:noFill/>
          </a:ln>
        </p:spPr>
      </p:pic>
      <p:sp>
        <p:nvSpPr>
          <p:cNvPr id="826" name="Google Shape;826;p23"/>
          <p:cNvSpPr txBox="1"/>
          <p:nvPr/>
        </p:nvSpPr>
        <p:spPr>
          <a:xfrm>
            <a:off x="1691640" y="3227832"/>
            <a:ext cx="47548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Enterprise subscription</a:t>
            </a:r>
            <a:endParaRPr sz="1550" b="0" i="0" u="none" strike="noStrike" cap="none">
              <a:solidFill>
                <a:schemeClr val="dk1"/>
              </a:solidFill>
              <a:latin typeface="Google Sans Flex"/>
              <a:ea typeface="Google Sans Flex"/>
              <a:cs typeface="Google Sans Flex"/>
              <a:sym typeface="Google Sans Flex"/>
            </a:endParaRPr>
          </a:p>
        </p:txBody>
      </p:sp>
      <p:sp>
        <p:nvSpPr>
          <p:cNvPr id="827" name="Google Shape;827;p23"/>
          <p:cNvSpPr txBox="1"/>
          <p:nvPr/>
        </p:nvSpPr>
        <p:spPr>
          <a:xfrm>
            <a:off x="1691640" y="3593592"/>
            <a:ext cx="475488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Portfolio dashboard, BigQuery export, custom risk rules, SSO, and private deployment in the client's Google Cloud project.</a:t>
            </a:r>
            <a:endParaRPr sz="1150" b="0" i="0" u="none" strike="noStrike" cap="none">
              <a:solidFill>
                <a:schemeClr val="dk1"/>
              </a:solidFill>
              <a:latin typeface="Google Sans Flex"/>
              <a:ea typeface="Google Sans Flex"/>
              <a:cs typeface="Google Sans Flex"/>
              <a:sym typeface="Google Sans Flex"/>
            </a:endParaRPr>
          </a:p>
        </p:txBody>
      </p:sp>
      <p:sp>
        <p:nvSpPr>
          <p:cNvPr id="828" name="Google Shape;828;p23"/>
          <p:cNvSpPr/>
          <p:nvPr/>
        </p:nvSpPr>
        <p:spPr>
          <a:xfrm>
            <a:off x="548640" y="4526280"/>
            <a:ext cx="6035040" cy="1298448"/>
          </a:xfrm>
          <a:prstGeom prst="roundRect">
            <a:avLst>
              <a:gd name="adj" fmla="val 8451"/>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3"/>
          <p:cNvSpPr/>
          <p:nvPr/>
        </p:nvSpPr>
        <p:spPr>
          <a:xfrm>
            <a:off x="777240" y="4800600"/>
            <a:ext cx="685800" cy="68580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0" name="Google Shape;830;p23" descr="preencoded.png"/>
          <p:cNvPicPr preferRelativeResize="0"/>
          <p:nvPr/>
        </p:nvPicPr>
        <p:blipFill rotWithShape="1">
          <a:blip r:embed="rId5">
            <a:alphaModFix/>
          </a:blip>
          <a:srcRect/>
          <a:stretch/>
        </p:blipFill>
        <p:spPr>
          <a:xfrm>
            <a:off x="948690" y="4972050"/>
            <a:ext cx="342900" cy="342900"/>
          </a:xfrm>
          <a:prstGeom prst="rect">
            <a:avLst/>
          </a:prstGeom>
          <a:noFill/>
          <a:ln>
            <a:noFill/>
          </a:ln>
        </p:spPr>
      </p:pic>
      <p:sp>
        <p:nvSpPr>
          <p:cNvPr id="831" name="Google Shape;831;p23"/>
          <p:cNvSpPr txBox="1"/>
          <p:nvPr/>
        </p:nvSpPr>
        <p:spPr>
          <a:xfrm>
            <a:off x="1691640" y="4690872"/>
            <a:ext cx="47548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Inspector &amp; valuer firms</a:t>
            </a:r>
            <a:endParaRPr sz="1550" b="0" i="0" u="none" strike="noStrike" cap="none">
              <a:solidFill>
                <a:schemeClr val="dk1"/>
              </a:solidFill>
              <a:latin typeface="Google Sans Flex"/>
              <a:ea typeface="Google Sans Flex"/>
              <a:cs typeface="Google Sans Flex"/>
              <a:sym typeface="Google Sans Flex"/>
            </a:endParaRPr>
          </a:p>
        </p:txBody>
      </p:sp>
      <p:sp>
        <p:nvSpPr>
          <p:cNvPr id="832" name="Google Shape;832;p23"/>
          <p:cNvSpPr txBox="1"/>
          <p:nvPr/>
        </p:nvSpPr>
        <p:spPr>
          <a:xfrm>
            <a:off x="1691640" y="5056632"/>
            <a:ext cx="475488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White-label app: the AI drafts every report and coverage control, so each inspector handles more cases.</a:t>
            </a:r>
            <a:endParaRPr sz="1150" b="0" i="0" u="none" strike="noStrike" cap="none">
              <a:solidFill>
                <a:schemeClr val="dk1"/>
              </a:solidFill>
              <a:latin typeface="Google Sans Flex"/>
              <a:ea typeface="Google Sans Flex"/>
              <a:cs typeface="Google Sans Flex"/>
              <a:sym typeface="Google Sans Flex"/>
            </a:endParaRPr>
          </a:p>
        </p:txBody>
      </p:sp>
      <p:sp>
        <p:nvSpPr>
          <p:cNvPr id="833" name="Google Shape;833;p23"/>
          <p:cNvSpPr/>
          <p:nvPr/>
        </p:nvSpPr>
        <p:spPr>
          <a:xfrm>
            <a:off x="6949440" y="1600200"/>
            <a:ext cx="4709160" cy="4224528"/>
          </a:xfrm>
          <a:prstGeom prst="roundRect">
            <a:avLst>
              <a:gd name="adj" fmla="val 2597"/>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3"/>
          <p:cNvSpPr txBox="1"/>
          <p:nvPr/>
        </p:nvSpPr>
        <p:spPr>
          <a:xfrm>
            <a:off x="7178040" y="1737360"/>
            <a:ext cx="429768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600"/>
              <a:buFont typeface="Calibri"/>
              <a:buNone/>
            </a:pPr>
            <a:r>
              <a:rPr lang="en-US" sz="1450" b="1" i="0" u="none" strike="noStrike" cap="none">
                <a:solidFill>
                  <a:schemeClr val="accent2"/>
                </a:solidFill>
                <a:latin typeface="Google Sans Flex"/>
                <a:ea typeface="Google Sans Flex"/>
                <a:cs typeface="Google Sans Flex"/>
                <a:sym typeface="Google Sans Flex"/>
              </a:rPr>
              <a:t>Unit economics (indicative)</a:t>
            </a:r>
            <a:endParaRPr sz="1450" b="0" i="0" u="none" strike="noStrike" cap="none">
              <a:solidFill>
                <a:schemeClr val="dk1"/>
              </a:solidFill>
              <a:latin typeface="Google Sans Flex"/>
              <a:ea typeface="Google Sans Flex"/>
              <a:cs typeface="Google Sans Flex"/>
              <a:sym typeface="Google Sans Flex"/>
            </a:endParaRPr>
          </a:p>
        </p:txBody>
      </p:sp>
      <p:sp>
        <p:nvSpPr>
          <p:cNvPr id="835" name="Google Shape;835;p23"/>
          <p:cNvSpPr txBox="1"/>
          <p:nvPr/>
        </p:nvSpPr>
        <p:spPr>
          <a:xfrm>
            <a:off x="7178040" y="2194560"/>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Gemini calls</a:t>
            </a:r>
            <a:endParaRPr sz="1250" b="0" i="0" u="none" strike="noStrike" cap="none">
              <a:solidFill>
                <a:schemeClr val="dk1"/>
              </a:solidFill>
              <a:latin typeface="Google Sans Flex"/>
              <a:ea typeface="Google Sans Flex"/>
              <a:cs typeface="Google Sans Flex"/>
              <a:sym typeface="Google Sans Flex"/>
            </a:endParaRPr>
          </a:p>
        </p:txBody>
      </p:sp>
      <p:sp>
        <p:nvSpPr>
          <p:cNvPr id="836" name="Google Shape;836;p23"/>
          <p:cNvSpPr txBox="1"/>
          <p:nvPr/>
        </p:nvSpPr>
        <p:spPr>
          <a:xfrm>
            <a:off x="7178040" y="2468880"/>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 $0.005 each → ≈ $0.35 per walkthrough</a:t>
            </a:r>
            <a:endParaRPr sz="1150" b="0" i="0" u="none" strike="noStrike" cap="none">
              <a:solidFill>
                <a:schemeClr val="dk1"/>
              </a:solidFill>
              <a:latin typeface="Google Sans Flex"/>
              <a:ea typeface="Google Sans Flex"/>
              <a:cs typeface="Google Sans Flex"/>
              <a:sym typeface="Google Sans Flex"/>
            </a:endParaRPr>
          </a:p>
        </p:txBody>
      </p:sp>
      <p:sp>
        <p:nvSpPr>
          <p:cNvPr id="837" name="Google Shape;837;p23"/>
          <p:cNvSpPr txBox="1"/>
          <p:nvPr/>
        </p:nvSpPr>
        <p:spPr>
          <a:xfrm>
            <a:off x="7178040" y="2816352"/>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L4 GPU Job</a:t>
            </a:r>
            <a:endParaRPr sz="1250" b="0" i="0" u="none" strike="noStrike" cap="none">
              <a:solidFill>
                <a:schemeClr val="dk1"/>
              </a:solidFill>
              <a:latin typeface="Google Sans Flex"/>
              <a:ea typeface="Google Sans Flex"/>
              <a:cs typeface="Google Sans Flex"/>
              <a:sym typeface="Google Sans Flex"/>
            </a:endParaRPr>
          </a:p>
        </p:txBody>
      </p:sp>
      <p:sp>
        <p:nvSpPr>
          <p:cNvPr id="838" name="Google Shape;838;p23"/>
          <p:cNvSpPr txBox="1"/>
          <p:nvPr/>
        </p:nvSpPr>
        <p:spPr>
          <a:xfrm>
            <a:off x="7178040" y="3090672"/>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 $0.50 of L4 time per 20-min walkthrough; no idle GPU</a:t>
            </a:r>
            <a:endParaRPr sz="1150" b="0" i="0" u="none" strike="noStrike" cap="none">
              <a:solidFill>
                <a:schemeClr val="dk1"/>
              </a:solidFill>
              <a:latin typeface="Google Sans Flex"/>
              <a:ea typeface="Google Sans Flex"/>
              <a:cs typeface="Google Sans Flex"/>
              <a:sym typeface="Google Sans Flex"/>
            </a:endParaRPr>
          </a:p>
        </p:txBody>
      </p:sp>
      <p:sp>
        <p:nvSpPr>
          <p:cNvPr id="839" name="Google Shape;839;p23"/>
          <p:cNvSpPr txBox="1"/>
          <p:nvPr/>
        </p:nvSpPr>
        <p:spPr>
          <a:xfrm>
            <a:off x="7178040" y="3438144"/>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Video inspection</a:t>
            </a:r>
            <a:endParaRPr sz="1250" b="0" i="0" u="none" strike="noStrike" cap="none">
              <a:solidFill>
                <a:schemeClr val="dk1"/>
              </a:solidFill>
              <a:latin typeface="Google Sans Flex"/>
              <a:ea typeface="Google Sans Flex"/>
              <a:cs typeface="Google Sans Flex"/>
              <a:sym typeface="Google Sans Flex"/>
            </a:endParaRPr>
          </a:p>
        </p:txBody>
      </p:sp>
      <p:sp>
        <p:nvSpPr>
          <p:cNvPr id="840" name="Google Shape;840;p23"/>
          <p:cNvSpPr txBox="1"/>
          <p:nvPr/>
        </p:nvSpPr>
        <p:spPr>
          <a:xfrm>
            <a:off x="7178040" y="3712464"/>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 $0.85 per walkthrough, L4 Job + Gemini</a:t>
            </a:r>
            <a:endParaRPr sz="1150" b="0" i="0" u="none" strike="noStrike" cap="none">
              <a:solidFill>
                <a:schemeClr val="dk1"/>
              </a:solidFill>
              <a:latin typeface="Google Sans Flex"/>
              <a:ea typeface="Google Sans Flex"/>
              <a:cs typeface="Google Sans Flex"/>
              <a:sym typeface="Google Sans Flex"/>
            </a:endParaRPr>
          </a:p>
        </p:txBody>
      </p:sp>
      <p:sp>
        <p:nvSpPr>
          <p:cNvPr id="841" name="Google Shape;841;p23"/>
          <p:cNvSpPr txBox="1"/>
          <p:nvPr/>
        </p:nvSpPr>
        <p:spPr>
          <a:xfrm>
            <a:off x="7178040" y="4059936"/>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250" b="1" i="0" u="none" strike="noStrike" cap="none">
                <a:solidFill>
                  <a:schemeClr val="dk1"/>
                </a:solidFill>
                <a:latin typeface="Google Sans Flex"/>
                <a:ea typeface="Google Sans Flex"/>
                <a:cs typeface="Google Sans Flex"/>
                <a:sym typeface="Google Sans Flex"/>
              </a:rPr>
              <a:t>Idle footprint</a:t>
            </a:r>
            <a:endParaRPr sz="1250" b="0" i="0" u="none" strike="noStrike" cap="none">
              <a:solidFill>
                <a:schemeClr val="dk1"/>
              </a:solidFill>
              <a:latin typeface="Google Sans Flex"/>
              <a:ea typeface="Google Sans Flex"/>
              <a:cs typeface="Google Sans Flex"/>
              <a:sym typeface="Google Sans Flex"/>
            </a:endParaRPr>
          </a:p>
        </p:txBody>
      </p:sp>
      <p:sp>
        <p:nvSpPr>
          <p:cNvPr id="842" name="Google Shape;842;p23"/>
          <p:cNvSpPr txBox="1"/>
          <p:nvPr/>
        </p:nvSpPr>
        <p:spPr>
          <a:xfrm>
            <a:off x="7178040" y="4334256"/>
            <a:ext cx="42976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150" b="0" i="0" u="none" strike="noStrike" cap="none">
                <a:solidFill>
                  <a:schemeClr val="dk2"/>
                </a:solidFill>
                <a:latin typeface="Google Sans Flex"/>
                <a:ea typeface="Google Sans Flex"/>
                <a:cs typeface="Google Sans Flex"/>
                <a:sym typeface="Google Sans Flex"/>
              </a:rPr>
              <a:t>≈ $1.20 per month (image storage); $30/month budget alert</a:t>
            </a:r>
            <a:endParaRPr sz="1150" b="0" i="0" u="none" strike="noStrike" cap="none">
              <a:solidFill>
                <a:schemeClr val="dk1"/>
              </a:solidFill>
              <a:latin typeface="Google Sans Flex"/>
              <a:ea typeface="Google Sans Flex"/>
              <a:cs typeface="Google Sans Flex"/>
              <a:sym typeface="Google Sans Flex"/>
            </a:endParaRPr>
          </a:p>
        </p:txBody>
      </p:sp>
      <p:sp>
        <p:nvSpPr>
          <p:cNvPr id="843" name="Google Shape;843;p23"/>
          <p:cNvSpPr txBox="1"/>
          <p:nvPr/>
        </p:nvSpPr>
        <p:spPr>
          <a:xfrm>
            <a:off x="7178040" y="4800600"/>
            <a:ext cx="429768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300"/>
              <a:buFont typeface="Calibri"/>
              <a:buNone/>
            </a:pPr>
            <a:r>
              <a:rPr lang="en-US" sz="1150" b="0" i="1" u="none" strike="noStrike" cap="none">
                <a:solidFill>
                  <a:schemeClr val="accent3"/>
                </a:solidFill>
                <a:latin typeface="Google Sans Flex"/>
                <a:ea typeface="Google Sans Flex"/>
                <a:cs typeface="Google Sans Flex"/>
                <a:sym typeface="Google Sans Flex"/>
              </a:rPr>
              <a:t>Pricing hypothesis to validate in pilots: a per-inspection fee well below a physical visit, with volume tiers for portfolios.</a:t>
            </a:r>
            <a:endParaRPr sz="1150" b="0" i="0" u="none" strike="noStrike" cap="none">
              <a:solidFill>
                <a:schemeClr val="dk1"/>
              </a:solidFill>
              <a:latin typeface="Google Sans Flex"/>
              <a:ea typeface="Google Sans Flex"/>
              <a:cs typeface="Google Sans Flex"/>
              <a:sym typeface="Google Sans Flex"/>
            </a:endParaRPr>
          </a:p>
        </p:txBody>
      </p:sp>
      <p:sp>
        <p:nvSpPr>
          <p:cNvPr id="844" name="Google Shape;844;p23"/>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23</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24"/>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GO-TO-MARKET &amp; PITCH</a:t>
            </a:r>
            <a:endParaRPr sz="1150"/>
          </a:p>
        </p:txBody>
      </p:sp>
      <p:sp>
        <p:nvSpPr>
          <p:cNvPr id="851" name="Google Shape;851;p24"/>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Start with housing finance and home insurance in APAC</a:t>
            </a:r>
            <a:endParaRPr sz="2850"/>
          </a:p>
        </p:txBody>
      </p:sp>
      <p:sp>
        <p:nvSpPr>
          <p:cNvPr id="852" name="Google Shape;852;p24"/>
          <p:cNvSpPr/>
          <p:nvPr/>
        </p:nvSpPr>
        <p:spPr>
          <a:xfrm>
            <a:off x="548640" y="1600200"/>
            <a:ext cx="3566160" cy="2148840"/>
          </a:xfrm>
          <a:prstGeom prst="roundRect">
            <a:avLst>
              <a:gd name="adj" fmla="val 510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txBox="1"/>
          <p:nvPr/>
        </p:nvSpPr>
        <p:spPr>
          <a:xfrm>
            <a:off x="777240" y="1783080"/>
            <a:ext cx="18288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PILOT</a:t>
            </a:r>
            <a:endParaRPr sz="1600" b="0" i="0" u="none" strike="noStrike" cap="none">
              <a:solidFill>
                <a:schemeClr val="dk1"/>
              </a:solidFill>
              <a:latin typeface="Google Sans Flex"/>
              <a:ea typeface="Google Sans Flex"/>
              <a:cs typeface="Google Sans Flex"/>
              <a:sym typeface="Google Sans Flex"/>
            </a:endParaRPr>
          </a:p>
        </p:txBody>
      </p:sp>
      <p:sp>
        <p:nvSpPr>
          <p:cNvPr id="854" name="Google Shape;854;p24"/>
          <p:cNvSpPr txBox="1"/>
          <p:nvPr/>
        </p:nvSpPr>
        <p:spPr>
          <a:xfrm>
            <a:off x="2377440" y="1801368"/>
            <a:ext cx="1554480" cy="36576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accent3"/>
              </a:buClr>
              <a:buSzPts val="1300"/>
              <a:buFont typeface="Calibri"/>
              <a:buNone/>
            </a:pPr>
            <a:r>
              <a:rPr lang="en-US" sz="1150" b="0" i="0" u="none" strike="noStrike" cap="none">
                <a:solidFill>
                  <a:schemeClr val="accent3"/>
                </a:solidFill>
                <a:latin typeface="Google Sans Flex"/>
                <a:ea typeface="Google Sans Flex"/>
                <a:cs typeface="Google Sans Flex"/>
                <a:sym typeface="Google Sans Flex"/>
              </a:rPr>
              <a:t>0–3 months</a:t>
            </a:r>
            <a:endParaRPr sz="1150" b="0" i="0" u="none" strike="noStrike" cap="none">
              <a:solidFill>
                <a:schemeClr val="dk1"/>
              </a:solidFill>
              <a:latin typeface="Google Sans Flex"/>
              <a:ea typeface="Google Sans Flex"/>
              <a:cs typeface="Google Sans Flex"/>
              <a:sym typeface="Google Sans Flex"/>
            </a:endParaRPr>
          </a:p>
        </p:txBody>
      </p:sp>
      <p:sp>
        <p:nvSpPr>
          <p:cNvPr id="855" name="Google Shape;855;p24"/>
          <p:cNvSpPr txBox="1"/>
          <p:nvPr/>
        </p:nvSpPr>
        <p:spPr>
          <a:xfrm>
            <a:off x="777240" y="2240280"/>
            <a:ext cx="315468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1 housing-finance lender + 1 home insurer. Run AI alongside existing inspections on ~500 cases and measure turnaround, cost and referral accuracy.</a:t>
            </a:r>
            <a:endParaRPr sz="1250" b="0" i="0" u="none" strike="noStrike" cap="none">
              <a:solidFill>
                <a:schemeClr val="dk1"/>
              </a:solidFill>
              <a:latin typeface="Google Sans Flex"/>
              <a:ea typeface="Google Sans Flex"/>
              <a:cs typeface="Google Sans Flex"/>
              <a:sym typeface="Google Sans Flex"/>
            </a:endParaRPr>
          </a:p>
        </p:txBody>
      </p:sp>
      <p:sp>
        <p:nvSpPr>
          <p:cNvPr id="856" name="Google Shape;856;p24"/>
          <p:cNvSpPr/>
          <p:nvPr/>
        </p:nvSpPr>
        <p:spPr>
          <a:xfrm>
            <a:off x="4279392" y="1600200"/>
            <a:ext cx="3566160" cy="2148840"/>
          </a:xfrm>
          <a:prstGeom prst="roundRect">
            <a:avLst>
              <a:gd name="adj" fmla="val 510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txBox="1"/>
          <p:nvPr/>
        </p:nvSpPr>
        <p:spPr>
          <a:xfrm>
            <a:off x="4507992" y="1783080"/>
            <a:ext cx="18288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INTEGRATE</a:t>
            </a:r>
            <a:endParaRPr sz="1600" b="0" i="0" u="none" strike="noStrike" cap="none">
              <a:solidFill>
                <a:schemeClr val="dk1"/>
              </a:solidFill>
              <a:latin typeface="Google Sans Flex"/>
              <a:ea typeface="Google Sans Flex"/>
              <a:cs typeface="Google Sans Flex"/>
              <a:sym typeface="Google Sans Flex"/>
            </a:endParaRPr>
          </a:p>
        </p:txBody>
      </p:sp>
      <p:sp>
        <p:nvSpPr>
          <p:cNvPr id="858" name="Google Shape;858;p24"/>
          <p:cNvSpPr txBox="1"/>
          <p:nvPr/>
        </p:nvSpPr>
        <p:spPr>
          <a:xfrm>
            <a:off x="6108192" y="1801368"/>
            <a:ext cx="1554480" cy="36576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accent3"/>
              </a:buClr>
              <a:buSzPts val="1300"/>
              <a:buFont typeface="Calibri"/>
              <a:buNone/>
            </a:pPr>
            <a:r>
              <a:rPr lang="en-US" sz="1150" b="0" i="0" u="none" strike="noStrike" cap="none">
                <a:solidFill>
                  <a:schemeClr val="accent3"/>
                </a:solidFill>
                <a:latin typeface="Google Sans Flex"/>
                <a:ea typeface="Google Sans Flex"/>
                <a:cs typeface="Google Sans Flex"/>
                <a:sym typeface="Google Sans Flex"/>
              </a:rPr>
              <a:t>3–6 months</a:t>
            </a:r>
            <a:endParaRPr sz="1150" b="0" i="0" u="none" strike="noStrike" cap="none">
              <a:solidFill>
                <a:schemeClr val="dk1"/>
              </a:solidFill>
              <a:latin typeface="Google Sans Flex"/>
              <a:ea typeface="Google Sans Flex"/>
              <a:cs typeface="Google Sans Flex"/>
              <a:sym typeface="Google Sans Flex"/>
            </a:endParaRPr>
          </a:p>
        </p:txBody>
      </p:sp>
      <p:sp>
        <p:nvSpPr>
          <p:cNvPr id="859" name="Google Shape;859;p24"/>
          <p:cNvSpPr txBox="1"/>
          <p:nvPr/>
        </p:nvSpPr>
        <p:spPr>
          <a:xfrm>
            <a:off x="4507992" y="2240280"/>
            <a:ext cx="315468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Pub/Sub into the loan-origination and claims systems, BigQuery portfolio dashboards, and custom risk rules per client.</a:t>
            </a:r>
            <a:endParaRPr sz="1250" b="0" i="0" u="none" strike="noStrike" cap="none">
              <a:solidFill>
                <a:schemeClr val="dk1"/>
              </a:solidFill>
              <a:latin typeface="Google Sans Flex"/>
              <a:ea typeface="Google Sans Flex"/>
              <a:cs typeface="Google Sans Flex"/>
              <a:sym typeface="Google Sans Flex"/>
            </a:endParaRPr>
          </a:p>
        </p:txBody>
      </p:sp>
      <p:sp>
        <p:nvSpPr>
          <p:cNvPr id="860" name="Google Shape;860;p24"/>
          <p:cNvSpPr/>
          <p:nvPr/>
        </p:nvSpPr>
        <p:spPr>
          <a:xfrm>
            <a:off x="8010144" y="1600200"/>
            <a:ext cx="3566160" cy="2148840"/>
          </a:xfrm>
          <a:prstGeom prst="roundRect">
            <a:avLst>
              <a:gd name="adj" fmla="val 5106"/>
            </a:avLst>
          </a:prstGeom>
          <a:solidFill>
            <a:schemeClr val="lt2"/>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txBox="1"/>
          <p:nvPr/>
        </p:nvSpPr>
        <p:spPr>
          <a:xfrm>
            <a:off x="8238744" y="1783080"/>
            <a:ext cx="18288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en-US" sz="1600" b="1" i="0" u="none" strike="noStrike" cap="none">
                <a:solidFill>
                  <a:schemeClr val="accent2"/>
                </a:solidFill>
                <a:latin typeface="Google Sans Flex"/>
                <a:ea typeface="Google Sans Flex"/>
                <a:cs typeface="Google Sans Flex"/>
                <a:sym typeface="Google Sans Flex"/>
              </a:rPr>
              <a:t>SCALE</a:t>
            </a:r>
            <a:endParaRPr sz="1600" b="0" i="0" u="none" strike="noStrike" cap="none">
              <a:solidFill>
                <a:schemeClr val="dk1"/>
              </a:solidFill>
              <a:latin typeface="Google Sans Flex"/>
              <a:ea typeface="Google Sans Flex"/>
              <a:cs typeface="Google Sans Flex"/>
              <a:sym typeface="Google Sans Flex"/>
            </a:endParaRPr>
          </a:p>
        </p:txBody>
      </p:sp>
      <p:sp>
        <p:nvSpPr>
          <p:cNvPr id="862" name="Google Shape;862;p24"/>
          <p:cNvSpPr txBox="1"/>
          <p:nvPr/>
        </p:nvSpPr>
        <p:spPr>
          <a:xfrm>
            <a:off x="9838944" y="1801368"/>
            <a:ext cx="1554480" cy="36576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accent3"/>
              </a:buClr>
              <a:buSzPts val="1300"/>
              <a:buFont typeface="Calibri"/>
              <a:buNone/>
            </a:pPr>
            <a:r>
              <a:rPr lang="en-US" sz="1150" b="0" i="0" u="none" strike="noStrike" cap="none">
                <a:solidFill>
                  <a:schemeClr val="accent3"/>
                </a:solidFill>
                <a:latin typeface="Google Sans Flex"/>
                <a:ea typeface="Google Sans Flex"/>
                <a:cs typeface="Google Sans Flex"/>
                <a:sym typeface="Google Sans Flex"/>
              </a:rPr>
              <a:t>6–18 months</a:t>
            </a:r>
            <a:endParaRPr sz="1150" b="0" i="0" u="none" strike="noStrike" cap="none">
              <a:solidFill>
                <a:schemeClr val="dk1"/>
              </a:solidFill>
              <a:latin typeface="Google Sans Flex"/>
              <a:ea typeface="Google Sans Flex"/>
              <a:cs typeface="Google Sans Flex"/>
              <a:sym typeface="Google Sans Flex"/>
            </a:endParaRPr>
          </a:p>
        </p:txBody>
      </p:sp>
      <p:sp>
        <p:nvSpPr>
          <p:cNvPr id="863" name="Google Shape;863;p24"/>
          <p:cNvSpPr txBox="1"/>
          <p:nvPr/>
        </p:nvSpPr>
        <p:spPr>
          <a:xfrm>
            <a:off x="8238744" y="2240280"/>
            <a:ext cx="315468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Google Cloud Marketplace listing, partnerships with valuer and inspector networks, and expansion to commercial property and claims.</a:t>
            </a:r>
            <a:endParaRPr sz="1250" b="0" i="0" u="none" strike="noStrike" cap="none">
              <a:solidFill>
                <a:schemeClr val="dk1"/>
              </a:solidFill>
              <a:latin typeface="Google Sans Flex"/>
              <a:ea typeface="Google Sans Flex"/>
              <a:cs typeface="Google Sans Flex"/>
              <a:sym typeface="Google Sans Flex"/>
            </a:endParaRPr>
          </a:p>
        </p:txBody>
      </p:sp>
      <p:sp>
        <p:nvSpPr>
          <p:cNvPr id="864" name="Google Shape;864;p24"/>
          <p:cNvSpPr txBox="1"/>
          <p:nvPr/>
        </p:nvSpPr>
        <p:spPr>
          <a:xfrm>
            <a:off x="548640" y="3977640"/>
            <a:ext cx="111099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Pilot KPIs:  turnaround time  ·  cost per inspection  ·  % cases auto-cleared vs referred  ·  fraud flags confirmed  ·  re-inspection rate</a:t>
            </a:r>
            <a:endParaRPr sz="1250" b="0" i="0" u="none" strike="noStrike" cap="none">
              <a:solidFill>
                <a:schemeClr val="dk1"/>
              </a:solidFill>
              <a:latin typeface="Google Sans Flex"/>
              <a:ea typeface="Google Sans Flex"/>
              <a:cs typeface="Google Sans Flex"/>
              <a:sym typeface="Google Sans Flex"/>
            </a:endParaRPr>
          </a:p>
        </p:txBody>
      </p:sp>
      <p:sp>
        <p:nvSpPr>
          <p:cNvPr id="865" name="Google Shape;865;p24"/>
          <p:cNvSpPr/>
          <p:nvPr/>
        </p:nvSpPr>
        <p:spPr>
          <a:xfrm>
            <a:off x="548640" y="4572000"/>
            <a:ext cx="11109960" cy="1554480"/>
          </a:xfrm>
          <a:prstGeom prst="roundRect">
            <a:avLst>
              <a:gd name="adj" fmla="val 7059"/>
            </a:avLst>
          </a:prstGeom>
          <a:solidFill>
            <a:srgbClr val="1A1F45"/>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6" name="Google Shape;866;p24" descr="preencoded.png"/>
          <p:cNvPicPr preferRelativeResize="0"/>
          <p:nvPr/>
        </p:nvPicPr>
        <p:blipFill rotWithShape="1">
          <a:blip r:embed="rId3">
            <a:alphaModFix/>
          </a:blip>
          <a:srcRect/>
          <a:stretch/>
        </p:blipFill>
        <p:spPr>
          <a:xfrm>
            <a:off x="777240" y="4800600"/>
            <a:ext cx="457200" cy="457200"/>
          </a:xfrm>
          <a:prstGeom prst="rect">
            <a:avLst/>
          </a:prstGeom>
          <a:noFill/>
          <a:ln>
            <a:noFill/>
          </a:ln>
        </p:spPr>
      </p:pic>
      <p:sp>
        <p:nvSpPr>
          <p:cNvPr id="867" name="Google Shape;867;p24"/>
          <p:cNvSpPr txBox="1"/>
          <p:nvPr/>
        </p:nvSpPr>
        <p:spPr>
          <a:xfrm>
            <a:off x="1463040" y="4709160"/>
            <a:ext cx="10012680" cy="1280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200"/>
              <a:buFont typeface="Calibri"/>
              <a:buNone/>
            </a:pPr>
            <a:r>
              <a:rPr lang="en-US" sz="2000" b="1" i="1" u="none" strike="noStrike" cap="none">
                <a:solidFill>
                  <a:schemeClr val="dk1"/>
                </a:solidFill>
                <a:latin typeface="Google Sans Flex"/>
                <a:ea typeface="Google Sans Flex"/>
                <a:cs typeface="Google Sans Flex"/>
                <a:sym typeface="Google Sans Flex"/>
              </a:rPr>
              <a:t>Every lender and insurer already asks for photos. We replace them with a short phone video that is trustworthy, explainable and ready for a decision.</a:t>
            </a:r>
            <a:endParaRPr sz="2000" b="0" i="0" u="none" strike="noStrike" cap="none">
              <a:solidFill>
                <a:schemeClr val="dk1"/>
              </a:solidFill>
              <a:latin typeface="Google Sans Flex"/>
              <a:ea typeface="Google Sans Flex"/>
              <a:cs typeface="Google Sans Flex"/>
              <a:sym typeface="Google Sans Flex"/>
            </a:endParaRPr>
          </a:p>
        </p:txBody>
      </p:sp>
      <p:sp>
        <p:nvSpPr>
          <p:cNvPr id="868" name="Google Shape;868;p24"/>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24</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25"/>
          <p:cNvSpPr txBox="1">
            <a:spLocks noGrp="1"/>
          </p:cNvSpPr>
          <p:nvPr>
            <p:ph type="body" idx="1"/>
          </p:nvPr>
        </p:nvSpPr>
        <p:spPr>
          <a:xfrm>
            <a:off x="548640" y="292608"/>
            <a:ext cx="11064240" cy="29260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2"/>
              </a:buClr>
              <a:buSzPts val="1200"/>
              <a:buNone/>
            </a:pPr>
            <a:r>
              <a:rPr lang="en-US" sz="1150" b="1">
                <a:solidFill>
                  <a:schemeClr val="accent2"/>
                </a:solidFill>
              </a:rPr>
              <a:t>ROADMAP</a:t>
            </a:r>
            <a:endParaRPr sz="1150"/>
          </a:p>
        </p:txBody>
      </p:sp>
      <p:sp>
        <p:nvSpPr>
          <p:cNvPr id="875" name="Google Shape;875;p25"/>
          <p:cNvSpPr txBox="1">
            <a:spLocks noGrp="1"/>
          </p:cNvSpPr>
          <p:nvPr>
            <p:ph type="title"/>
          </p:nvPr>
        </p:nvSpPr>
        <p:spPr>
          <a:xfrm>
            <a:off x="548640" y="585216"/>
            <a:ext cx="110642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000"/>
              <a:buFont typeface="Arial"/>
              <a:buNone/>
            </a:pPr>
            <a:r>
              <a:rPr lang="en-US" sz="2850" b="1">
                <a:solidFill>
                  <a:schemeClr val="dk1"/>
                </a:solidFill>
                <a:latin typeface="Google Sans Flex"/>
                <a:ea typeface="Google Sans Flex"/>
                <a:cs typeface="Google Sans Flex"/>
                <a:sym typeface="Google Sans Flex"/>
              </a:rPr>
              <a:t>Next: an inspection agent, then portfolio-level risk</a:t>
            </a:r>
            <a:endParaRPr sz="2850"/>
          </a:p>
        </p:txBody>
      </p:sp>
      <p:sp>
        <p:nvSpPr>
          <p:cNvPr id="876" name="Google Shape;876;p25"/>
          <p:cNvSpPr/>
          <p:nvPr/>
        </p:nvSpPr>
        <p:spPr>
          <a:xfrm>
            <a:off x="548640" y="1600200"/>
            <a:ext cx="3566160" cy="3566160"/>
          </a:xfrm>
          <a:prstGeom prst="roundRect">
            <a:avLst>
              <a:gd name="adj" fmla="val 3077"/>
            </a:avLst>
          </a:prstGeom>
          <a:solidFill>
            <a:schemeClr val="lt2"/>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5"/>
          <p:cNvSpPr txBox="1"/>
          <p:nvPr/>
        </p:nvSpPr>
        <p:spPr>
          <a:xfrm>
            <a:off x="777240" y="1783080"/>
            <a:ext cx="31089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2C55E"/>
              </a:buClr>
              <a:buSzPts val="1700"/>
              <a:buFont typeface="Calibri"/>
              <a:buNone/>
            </a:pPr>
            <a:r>
              <a:rPr lang="en-US" sz="1550" b="1" i="0" u="none" strike="noStrike" cap="none">
                <a:solidFill>
                  <a:srgbClr val="22C55E"/>
                </a:solidFill>
                <a:latin typeface="Google Sans Flex"/>
                <a:ea typeface="Google Sans Flex"/>
                <a:cs typeface="Google Sans Flex"/>
                <a:sym typeface="Google Sans Flex"/>
              </a:rPr>
              <a:t>NOW · v1.0.0</a:t>
            </a:r>
            <a:endParaRPr sz="1550" b="0" i="0" u="none" strike="noStrike" cap="none">
              <a:solidFill>
                <a:schemeClr val="dk1"/>
              </a:solidFill>
              <a:latin typeface="Google Sans Flex"/>
              <a:ea typeface="Google Sans Flex"/>
              <a:cs typeface="Google Sans Flex"/>
              <a:sym typeface="Google Sans Flex"/>
            </a:endParaRPr>
          </a:p>
        </p:txBody>
      </p:sp>
      <p:sp>
        <p:nvSpPr>
          <p:cNvPr id="878" name="Google Shape;878;p25"/>
          <p:cNvSpPr txBox="1"/>
          <p:nvPr/>
        </p:nvSpPr>
        <p:spPr>
          <a:xfrm>
            <a:off x="777240" y="2286000"/>
            <a:ext cx="3154680" cy="27432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Video walkthrough inspection</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Risk and valuation engine</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Fraud and coverage checks</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Gemini analysis and Q&amp;A</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Cloud Run service + GPU Job</a:t>
            </a:r>
            <a:endParaRPr sz="1350" b="0" i="0" u="none" strike="noStrike" cap="none">
              <a:solidFill>
                <a:schemeClr val="dk1"/>
              </a:solidFill>
              <a:latin typeface="Google Sans Flex"/>
              <a:ea typeface="Google Sans Flex"/>
              <a:cs typeface="Google Sans Flex"/>
              <a:sym typeface="Google Sans Flex"/>
            </a:endParaRPr>
          </a:p>
        </p:txBody>
      </p:sp>
      <p:sp>
        <p:nvSpPr>
          <p:cNvPr id="879" name="Google Shape;879;p25"/>
          <p:cNvSpPr/>
          <p:nvPr/>
        </p:nvSpPr>
        <p:spPr>
          <a:xfrm>
            <a:off x="4279392" y="1600200"/>
            <a:ext cx="3566160" cy="3566160"/>
          </a:xfrm>
          <a:prstGeom prst="roundRect">
            <a:avLst>
              <a:gd name="adj" fmla="val 3077"/>
            </a:avLst>
          </a:prstGeom>
          <a:solidFill>
            <a:schemeClr val="lt2"/>
          </a:solidFill>
          <a:ln w="12700" cap="flat" cmpd="sng">
            <a:solidFill>
              <a:srgbClr val="22D3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5"/>
          <p:cNvSpPr txBox="1"/>
          <p:nvPr/>
        </p:nvSpPr>
        <p:spPr>
          <a:xfrm>
            <a:off x="4507992" y="1783080"/>
            <a:ext cx="31089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2D3EE"/>
              </a:buClr>
              <a:buSzPts val="1700"/>
              <a:buFont typeface="Calibri"/>
              <a:buNone/>
            </a:pPr>
            <a:r>
              <a:rPr lang="en-US" sz="1550" b="1" i="0" u="none" strike="noStrike" cap="none">
                <a:solidFill>
                  <a:srgbClr val="22D3EE"/>
                </a:solidFill>
                <a:latin typeface="Google Sans Flex"/>
                <a:ea typeface="Google Sans Flex"/>
                <a:cs typeface="Google Sans Flex"/>
                <a:sym typeface="Google Sans Flex"/>
              </a:rPr>
              <a:t>NEXT · 3 months</a:t>
            </a:r>
            <a:endParaRPr sz="1550" b="0" i="0" u="none" strike="noStrike" cap="none">
              <a:solidFill>
                <a:schemeClr val="dk1"/>
              </a:solidFill>
              <a:latin typeface="Google Sans Flex"/>
              <a:ea typeface="Google Sans Flex"/>
              <a:cs typeface="Google Sans Flex"/>
              <a:sym typeface="Google Sans Flex"/>
            </a:endParaRPr>
          </a:p>
        </p:txBody>
      </p:sp>
      <p:sp>
        <p:nvSpPr>
          <p:cNvPr id="881" name="Google Shape;881;p25"/>
          <p:cNvSpPr txBox="1"/>
          <p:nvPr/>
        </p:nvSpPr>
        <p:spPr>
          <a:xfrm>
            <a:off x="4507992" y="2286000"/>
            <a:ext cx="3154680" cy="27432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Inspection agent built with Gemini on Agent Platform (ADK)</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Live capture guidance: tells the inspector what to film</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Spatial reasoning over rooms, surfaces, objects, findings</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Answers for every stakeholder, with human approval</a:t>
            </a:r>
            <a:endParaRPr sz="1350" b="0" i="0" u="none" strike="noStrike" cap="none">
              <a:solidFill>
                <a:schemeClr val="dk1"/>
              </a:solidFill>
              <a:latin typeface="Google Sans Flex"/>
              <a:ea typeface="Google Sans Flex"/>
              <a:cs typeface="Google Sans Flex"/>
              <a:sym typeface="Google Sans Flex"/>
            </a:endParaRPr>
          </a:p>
        </p:txBody>
      </p:sp>
      <p:sp>
        <p:nvSpPr>
          <p:cNvPr id="882" name="Google Shape;882;p25"/>
          <p:cNvSpPr/>
          <p:nvPr/>
        </p:nvSpPr>
        <p:spPr>
          <a:xfrm>
            <a:off x="8010144" y="1600200"/>
            <a:ext cx="3566160" cy="3566160"/>
          </a:xfrm>
          <a:prstGeom prst="roundRect">
            <a:avLst>
              <a:gd name="adj" fmla="val 3077"/>
            </a:avLst>
          </a:prstGeom>
          <a:solidFill>
            <a:schemeClr val="lt2"/>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5"/>
          <p:cNvSpPr txBox="1"/>
          <p:nvPr/>
        </p:nvSpPr>
        <p:spPr>
          <a:xfrm>
            <a:off x="8238744" y="1783080"/>
            <a:ext cx="31089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9E0B"/>
              </a:buClr>
              <a:buSzPts val="1700"/>
              <a:buFont typeface="Calibri"/>
              <a:buNone/>
            </a:pPr>
            <a:r>
              <a:rPr lang="en-US" sz="1550" b="1" i="0" u="none" strike="noStrike" cap="none">
                <a:solidFill>
                  <a:srgbClr val="F59E0B"/>
                </a:solidFill>
                <a:latin typeface="Google Sans Flex"/>
                <a:ea typeface="Google Sans Flex"/>
                <a:cs typeface="Google Sans Flex"/>
                <a:sym typeface="Google Sans Flex"/>
              </a:rPr>
              <a:t>LATER · 6–12 months</a:t>
            </a:r>
            <a:endParaRPr sz="1550" b="0" i="0" u="none" strike="noStrike" cap="none">
              <a:solidFill>
                <a:schemeClr val="dk1"/>
              </a:solidFill>
              <a:latin typeface="Google Sans Flex"/>
              <a:ea typeface="Google Sans Flex"/>
              <a:cs typeface="Google Sans Flex"/>
              <a:sym typeface="Google Sans Flex"/>
            </a:endParaRPr>
          </a:p>
        </p:txBody>
      </p:sp>
      <p:sp>
        <p:nvSpPr>
          <p:cNvPr id="884" name="Google Shape;884;p25"/>
          <p:cNvSpPr txBox="1"/>
          <p:nvPr/>
        </p:nvSpPr>
        <p:spPr>
          <a:xfrm>
            <a:off x="8238744" y="2286000"/>
            <a:ext cx="3154680" cy="27432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BigQuery ML claim and collateral-risk scoring</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Before/after claim comparison in 3D</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Document AI and Vertex AI Search: deeds and policies</a:t>
            </a:r>
            <a:endParaRPr sz="1350" b="0" i="0" u="none" strike="noStrike" cap="none">
              <a:solidFill>
                <a:schemeClr val="dk1"/>
              </a:solidFill>
              <a:latin typeface="Google Sans Flex"/>
              <a:ea typeface="Google Sans Flex"/>
              <a:cs typeface="Google Sans Flex"/>
              <a:sym typeface="Google Sans Flex"/>
            </a:endParaRPr>
          </a:p>
          <a:p>
            <a:pPr marL="342900" marR="0" lvl="0" indent="-342900" algn="l" rtl="0">
              <a:spcBef>
                <a:spcPts val="800"/>
              </a:spcBef>
              <a:spcAft>
                <a:spcPts val="0"/>
              </a:spcAft>
              <a:buClr>
                <a:schemeClr val="dk1"/>
              </a:buClr>
              <a:buSzPts val="1500"/>
              <a:buFont typeface="Calibri"/>
              <a:buChar char="•"/>
            </a:pPr>
            <a:r>
              <a:rPr lang="en-US" sz="1350" b="0" i="0" u="none" strike="noStrike" cap="none">
                <a:solidFill>
                  <a:schemeClr val="dk1"/>
                </a:solidFill>
                <a:latin typeface="Google Sans Flex"/>
                <a:ea typeface="Google Sans Flex"/>
                <a:cs typeface="Google Sans Flex"/>
                <a:sym typeface="Google Sans Flex"/>
              </a:rPr>
              <a:t>Agent hand-offs to loan and claims systems</a:t>
            </a:r>
            <a:endParaRPr sz="1350" b="0" i="0" u="none" strike="noStrike" cap="none">
              <a:solidFill>
                <a:schemeClr val="dk1"/>
              </a:solidFill>
              <a:latin typeface="Google Sans Flex"/>
              <a:ea typeface="Google Sans Flex"/>
              <a:cs typeface="Google Sans Flex"/>
              <a:sym typeface="Google Sans Flex"/>
            </a:endParaRPr>
          </a:p>
        </p:txBody>
      </p:sp>
      <p:sp>
        <p:nvSpPr>
          <p:cNvPr id="885" name="Google Shape;885;p25"/>
          <p:cNvSpPr txBox="1"/>
          <p:nvPr/>
        </p:nvSpPr>
        <p:spPr>
          <a:xfrm>
            <a:off x="548640" y="5440680"/>
            <a:ext cx="11109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600" b="1" i="1" u="none" strike="noStrike" cap="none">
                <a:solidFill>
                  <a:schemeClr val="accent2"/>
                </a:solidFill>
                <a:latin typeface="Google Sans Flex"/>
                <a:ea typeface="Google Sans Flex"/>
                <a:cs typeface="Google Sans Flex"/>
                <a:sym typeface="Google Sans Flex"/>
              </a:rPr>
              <a:t>Goal: from one trusted inspection to a portfolio-level risk signal for every loan and every policy.</a:t>
            </a:r>
            <a:endParaRPr sz="1600" b="0" i="0" u="none" strike="noStrike" cap="none">
              <a:solidFill>
                <a:schemeClr val="dk1"/>
              </a:solidFill>
              <a:latin typeface="Google Sans Flex"/>
              <a:ea typeface="Google Sans Flex"/>
              <a:cs typeface="Google Sans Flex"/>
              <a:sym typeface="Google Sans Flex"/>
            </a:endParaRPr>
          </a:p>
        </p:txBody>
      </p:sp>
      <p:sp>
        <p:nvSpPr>
          <p:cNvPr id="886" name="Google Shape;886;p25"/>
          <p:cNvSpPr txBox="1">
            <a:spLocks noGrp="1"/>
          </p:cNvSpPr>
          <p:nvPr>
            <p:ph type="sldNum" idx="4294967295"/>
          </p:nvPr>
        </p:nvSpPr>
        <p:spPr>
          <a:xfrm>
            <a:off x="11247120" y="6419088"/>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2"/>
                </a:solidFill>
                <a:latin typeface="Google Sans Flex"/>
                <a:ea typeface="Google Sans Flex"/>
                <a:cs typeface="Google Sans Flex"/>
                <a:sym typeface="Google Sans Flex"/>
              </a:rPr>
              <a:t>25</a:t>
            </a:fld>
            <a:endParaRPr sz="900" b="0" i="0" u="none" strike="noStrike" cap="none">
              <a:solidFill>
                <a:schemeClr val="dk2"/>
              </a:solidFill>
              <a:latin typeface="Google Sans Flex"/>
              <a:ea typeface="Google Sans Flex"/>
              <a:cs typeface="Google Sans Flex"/>
              <a:sym typeface="Google Sans Flex"/>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26"/>
          <p:cNvSpPr txBox="1"/>
          <p:nvPr/>
        </p:nvSpPr>
        <p:spPr>
          <a:xfrm>
            <a:off x="548640" y="640080"/>
            <a:ext cx="54864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300"/>
              <a:buFont typeface="Calibri"/>
              <a:buNone/>
            </a:pPr>
            <a:r>
              <a:rPr lang="en-US" sz="1150" b="1" i="0" u="none" strike="noStrike" cap="none">
                <a:solidFill>
                  <a:schemeClr val="accent2"/>
                </a:solidFill>
                <a:latin typeface="Google Sans Flex"/>
                <a:ea typeface="Google Sans Flex"/>
                <a:cs typeface="Google Sans Flex"/>
                <a:sym typeface="Google Sans Flex"/>
              </a:rPr>
              <a:t>THANK YOU</a:t>
            </a:r>
            <a:endParaRPr sz="1150" b="0" i="0" u="none" strike="noStrike" cap="none">
              <a:solidFill>
                <a:schemeClr val="dk1"/>
              </a:solidFill>
              <a:latin typeface="Google Sans Flex"/>
              <a:ea typeface="Google Sans Flex"/>
              <a:cs typeface="Google Sans Flex"/>
              <a:sym typeface="Google Sans Flex"/>
            </a:endParaRPr>
          </a:p>
        </p:txBody>
      </p:sp>
      <p:sp>
        <p:nvSpPr>
          <p:cNvPr id="893" name="Google Shape;893;p26"/>
          <p:cNvSpPr txBox="1"/>
          <p:nvPr/>
        </p:nvSpPr>
        <p:spPr>
          <a:xfrm>
            <a:off x="548640" y="1051560"/>
            <a:ext cx="594360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3400"/>
              <a:buFont typeface="Arial"/>
              <a:buNone/>
            </a:pPr>
            <a:r>
              <a:rPr lang="en-US" sz="3250" b="1" i="0" u="none" strike="noStrike" cap="none">
                <a:solidFill>
                  <a:schemeClr val="dk1"/>
                </a:solidFill>
                <a:latin typeface="Google Sans Flex"/>
                <a:ea typeface="Google Sans Flex"/>
                <a:cs typeface="Google Sans Flex"/>
                <a:sym typeface="Google Sans Flex"/>
              </a:rPr>
              <a:t>Trustworthy property evidence for every loan and every policy</a:t>
            </a:r>
            <a:endParaRPr sz="3050" b="0" i="0" u="none" strike="noStrike" cap="none">
              <a:solidFill>
                <a:schemeClr val="dk1"/>
              </a:solidFill>
              <a:latin typeface="Google Sans Flex"/>
              <a:ea typeface="Google Sans Flex"/>
              <a:cs typeface="Google Sans Flex"/>
              <a:sym typeface="Google Sans Flex"/>
            </a:endParaRPr>
          </a:p>
        </p:txBody>
      </p:sp>
      <p:sp>
        <p:nvSpPr>
          <p:cNvPr id="894" name="Google Shape;894;p26"/>
          <p:cNvSpPr/>
          <p:nvPr/>
        </p:nvSpPr>
        <p:spPr>
          <a:xfrm>
            <a:off x="548640" y="288036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5" name="Google Shape;895;p26" descr="preencoded.png"/>
          <p:cNvPicPr preferRelativeResize="0"/>
          <p:nvPr/>
        </p:nvPicPr>
        <p:blipFill rotWithShape="1">
          <a:blip r:embed="rId3">
            <a:alphaModFix/>
          </a:blip>
          <a:srcRect/>
          <a:stretch/>
        </p:blipFill>
        <p:spPr>
          <a:xfrm>
            <a:off x="685800" y="3017520"/>
            <a:ext cx="274320" cy="274320"/>
          </a:xfrm>
          <a:prstGeom prst="rect">
            <a:avLst/>
          </a:prstGeom>
          <a:noFill/>
          <a:ln>
            <a:noFill/>
          </a:ln>
        </p:spPr>
      </p:pic>
      <p:sp>
        <p:nvSpPr>
          <p:cNvPr id="896" name="Google Shape;896;p26"/>
          <p:cNvSpPr txBox="1"/>
          <p:nvPr/>
        </p:nvSpPr>
        <p:spPr>
          <a:xfrm>
            <a:off x="1280160" y="2862072"/>
            <a:ext cx="51206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Minutes, not days</a:t>
            </a:r>
            <a:endParaRPr sz="1550" b="0" i="0" u="none" strike="noStrike" cap="none">
              <a:solidFill>
                <a:schemeClr val="dk1"/>
              </a:solidFill>
              <a:latin typeface="Google Sans Flex"/>
              <a:ea typeface="Google Sans Flex"/>
              <a:cs typeface="Google Sans Flex"/>
              <a:sym typeface="Google Sans Flex"/>
            </a:endParaRPr>
          </a:p>
        </p:txBody>
      </p:sp>
      <p:sp>
        <p:nvSpPr>
          <p:cNvPr id="897" name="Google Shape;897;p26"/>
          <p:cNvSpPr txBox="1"/>
          <p:nvPr/>
        </p:nvSpPr>
        <p:spPr>
          <a:xfrm>
            <a:off x="1280160" y="3182112"/>
            <a:ext cx="51206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A phone video becomes a decision-ready risk file.</a:t>
            </a:r>
            <a:endParaRPr sz="1250" b="0" i="0" u="none" strike="noStrike" cap="none">
              <a:solidFill>
                <a:schemeClr val="dk1"/>
              </a:solidFill>
              <a:latin typeface="Google Sans Flex"/>
              <a:ea typeface="Google Sans Flex"/>
              <a:cs typeface="Google Sans Flex"/>
              <a:sym typeface="Google Sans Flex"/>
            </a:endParaRPr>
          </a:p>
        </p:txBody>
      </p:sp>
      <p:sp>
        <p:nvSpPr>
          <p:cNvPr id="898" name="Google Shape;898;p26"/>
          <p:cNvSpPr/>
          <p:nvPr/>
        </p:nvSpPr>
        <p:spPr>
          <a:xfrm>
            <a:off x="548640" y="384048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9" name="Google Shape;899;p26" descr="preencoded.png"/>
          <p:cNvPicPr preferRelativeResize="0"/>
          <p:nvPr/>
        </p:nvPicPr>
        <p:blipFill rotWithShape="1">
          <a:blip r:embed="rId4">
            <a:alphaModFix/>
          </a:blip>
          <a:srcRect/>
          <a:stretch/>
        </p:blipFill>
        <p:spPr>
          <a:xfrm>
            <a:off x="685800" y="3977640"/>
            <a:ext cx="274320" cy="274320"/>
          </a:xfrm>
          <a:prstGeom prst="rect">
            <a:avLst/>
          </a:prstGeom>
          <a:noFill/>
          <a:ln>
            <a:noFill/>
          </a:ln>
        </p:spPr>
      </p:pic>
      <p:sp>
        <p:nvSpPr>
          <p:cNvPr id="900" name="Google Shape;900;p26"/>
          <p:cNvSpPr txBox="1"/>
          <p:nvPr/>
        </p:nvSpPr>
        <p:spPr>
          <a:xfrm>
            <a:off x="1280160" y="3822192"/>
            <a:ext cx="51206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Fraud-resistant</a:t>
            </a:r>
            <a:endParaRPr sz="1550" b="0" i="0" u="none" strike="noStrike" cap="none">
              <a:solidFill>
                <a:schemeClr val="dk1"/>
              </a:solidFill>
              <a:latin typeface="Google Sans Flex"/>
              <a:ea typeface="Google Sans Flex"/>
              <a:cs typeface="Google Sans Flex"/>
              <a:sym typeface="Google Sans Flex"/>
            </a:endParaRPr>
          </a:p>
        </p:txBody>
      </p:sp>
      <p:sp>
        <p:nvSpPr>
          <p:cNvPr id="901" name="Google Shape;901;p26"/>
          <p:cNvSpPr txBox="1"/>
          <p:nvPr/>
        </p:nvSpPr>
        <p:spPr>
          <a:xfrm>
            <a:off x="1280160" y="4142232"/>
            <a:ext cx="51206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Recycled videos and screen or AI footage are caught, and coverage is proven in 3D.</a:t>
            </a:r>
            <a:endParaRPr sz="1250" b="0" i="0" u="none" strike="noStrike" cap="none">
              <a:solidFill>
                <a:schemeClr val="dk1"/>
              </a:solidFill>
              <a:latin typeface="Google Sans Flex"/>
              <a:ea typeface="Google Sans Flex"/>
              <a:cs typeface="Google Sans Flex"/>
              <a:sym typeface="Google Sans Flex"/>
            </a:endParaRPr>
          </a:p>
        </p:txBody>
      </p:sp>
      <p:sp>
        <p:nvSpPr>
          <p:cNvPr id="902" name="Google Shape;902;p26"/>
          <p:cNvSpPr/>
          <p:nvPr/>
        </p:nvSpPr>
        <p:spPr>
          <a:xfrm>
            <a:off x="548640" y="4800600"/>
            <a:ext cx="548640" cy="548640"/>
          </a:xfrm>
          <a:prstGeom prst="ellipse">
            <a:avLst/>
          </a:prstGeom>
          <a:solidFill>
            <a:schemeClr val="accent1"/>
          </a:solid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3" name="Google Shape;903;p26" descr="preencoded.png"/>
          <p:cNvPicPr preferRelativeResize="0"/>
          <p:nvPr/>
        </p:nvPicPr>
        <p:blipFill rotWithShape="1">
          <a:blip r:embed="rId5">
            <a:alphaModFix/>
          </a:blip>
          <a:srcRect/>
          <a:stretch/>
        </p:blipFill>
        <p:spPr>
          <a:xfrm>
            <a:off x="685800" y="4937760"/>
            <a:ext cx="274320" cy="274320"/>
          </a:xfrm>
          <a:prstGeom prst="rect">
            <a:avLst/>
          </a:prstGeom>
          <a:noFill/>
          <a:ln>
            <a:noFill/>
          </a:ln>
        </p:spPr>
      </p:pic>
      <p:sp>
        <p:nvSpPr>
          <p:cNvPr id="904" name="Google Shape;904;p26"/>
          <p:cNvSpPr txBox="1"/>
          <p:nvPr/>
        </p:nvSpPr>
        <p:spPr>
          <a:xfrm>
            <a:off x="1280160" y="4782312"/>
            <a:ext cx="51206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550" b="1" i="0" u="none" strike="noStrike" cap="none">
                <a:solidFill>
                  <a:schemeClr val="dk1"/>
                </a:solidFill>
                <a:latin typeface="Google Sans Flex"/>
                <a:ea typeface="Google Sans Flex"/>
                <a:cs typeface="Google Sans Flex"/>
                <a:sym typeface="Google Sans Flex"/>
              </a:rPr>
              <a:t>Explainable</a:t>
            </a:r>
            <a:endParaRPr sz="1550" b="0" i="0" u="none" strike="noStrike" cap="none">
              <a:solidFill>
                <a:schemeClr val="dk1"/>
              </a:solidFill>
              <a:latin typeface="Google Sans Flex"/>
              <a:ea typeface="Google Sans Flex"/>
              <a:cs typeface="Google Sans Flex"/>
              <a:sym typeface="Google Sans Flex"/>
            </a:endParaRPr>
          </a:p>
        </p:txBody>
      </p:sp>
      <p:sp>
        <p:nvSpPr>
          <p:cNvPr id="905" name="Google Shape;905;p26"/>
          <p:cNvSpPr txBox="1"/>
          <p:nvPr/>
        </p:nvSpPr>
        <p:spPr>
          <a:xfrm>
            <a:off x="1280160" y="5102352"/>
            <a:ext cx="51206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250" b="0" i="0" u="none" strike="noStrike" cap="none">
                <a:solidFill>
                  <a:schemeClr val="dk2"/>
                </a:solidFill>
                <a:latin typeface="Google Sans Flex"/>
                <a:ea typeface="Google Sans Flex"/>
                <a:cs typeface="Google Sans Flex"/>
                <a:sym typeface="Google Sans Flex"/>
              </a:rPr>
              <a:t>LocateAnything and Gemma 4 find, Gemini explains, transparent rules decide, and humans sign off.</a:t>
            </a:r>
            <a:endParaRPr sz="1250" b="0" i="0" u="none" strike="noStrike" cap="none">
              <a:solidFill>
                <a:schemeClr val="dk1"/>
              </a:solidFill>
              <a:latin typeface="Google Sans Flex"/>
              <a:ea typeface="Google Sans Flex"/>
              <a:cs typeface="Google Sans Flex"/>
              <a:sym typeface="Google Sans Flex"/>
            </a:endParaRPr>
          </a:p>
        </p:txBody>
      </p:sp>
      <p:sp>
        <p:nvSpPr>
          <p:cNvPr id="906" name="Google Shape;906;p26"/>
          <p:cNvSpPr txBox="1"/>
          <p:nvPr/>
        </p:nvSpPr>
        <p:spPr>
          <a:xfrm>
            <a:off x="548640" y="6035040"/>
            <a:ext cx="6217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100"/>
              <a:buFont typeface="Calibri"/>
              <a:buNone/>
            </a:pPr>
            <a:r>
              <a:rPr lang="en-US" sz="1000" b="0" i="0" u="none" strike="noStrike" cap="none">
                <a:solidFill>
                  <a:schemeClr val="dk2"/>
                </a:solidFill>
                <a:latin typeface="Google Sans Flex"/>
                <a:ea typeface="Google Sans Flex"/>
                <a:cs typeface="Google Sans Flex"/>
                <a:sym typeface="Google Sans Flex"/>
              </a:rPr>
              <a:t>Prototype v1.0.0  ·  one-command Cloud Run deploy  ·  Gemini · Gemma · Cloud Storage</a:t>
            </a:r>
            <a:endParaRPr sz="1000" b="0" i="0" u="none" strike="noStrike" cap="none">
              <a:solidFill>
                <a:schemeClr val="dk1"/>
              </a:solidFill>
              <a:latin typeface="Google Sans Flex"/>
              <a:ea typeface="Google Sans Flex"/>
              <a:cs typeface="Google Sans Flex"/>
              <a:sym typeface="Google Sans Flex"/>
            </a:endParaRPr>
          </a:p>
        </p:txBody>
      </p:sp>
      <p:sp>
        <p:nvSpPr>
          <p:cNvPr id="907" name="Google Shape;907;p26"/>
          <p:cNvSpPr/>
          <p:nvPr/>
        </p:nvSpPr>
        <p:spPr>
          <a:xfrm>
            <a:off x="7033251" y="877824"/>
            <a:ext cx="4541537" cy="3227832"/>
          </a:xfrm>
          <a:prstGeom prst="roundRect">
            <a:avLst>
              <a:gd name="adj" fmla="val 2833"/>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8" name="Google Shape;908;p26" descr="closing-3d-view"/>
          <p:cNvPicPr preferRelativeResize="0"/>
          <p:nvPr/>
        </p:nvPicPr>
        <p:blipFill rotWithShape="1">
          <a:blip r:embed="rId6">
            <a:alphaModFix/>
          </a:blip>
          <a:srcRect/>
          <a:stretch/>
        </p:blipFill>
        <p:spPr>
          <a:xfrm>
            <a:off x="7069827" y="914400"/>
            <a:ext cx="4468385" cy="3154680"/>
          </a:xfrm>
          <a:prstGeom prst="rect">
            <a:avLst/>
          </a:prstGeom>
          <a:noFill/>
          <a:ln>
            <a:noFill/>
          </a:ln>
        </p:spPr>
      </p:pic>
      <p:sp>
        <p:nvSpPr>
          <p:cNvPr id="909" name="Google Shape;909;p26"/>
          <p:cNvSpPr/>
          <p:nvPr/>
        </p:nvSpPr>
        <p:spPr>
          <a:xfrm>
            <a:off x="6915094" y="4169664"/>
            <a:ext cx="2354692" cy="1773936"/>
          </a:xfrm>
          <a:prstGeom prst="roundRect">
            <a:avLst>
              <a:gd name="adj" fmla="val 515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0" name="Google Shape;910;p26" descr="closing-floor-plan"/>
          <p:cNvPicPr preferRelativeResize="0"/>
          <p:nvPr/>
        </p:nvPicPr>
        <p:blipFill rotWithShape="1">
          <a:blip r:embed="rId7">
            <a:alphaModFix/>
          </a:blip>
          <a:srcRect/>
          <a:stretch/>
        </p:blipFill>
        <p:spPr>
          <a:xfrm>
            <a:off x="6951670" y="4206240"/>
            <a:ext cx="2281540" cy="1700784"/>
          </a:xfrm>
          <a:prstGeom prst="rect">
            <a:avLst/>
          </a:prstGeom>
          <a:noFill/>
          <a:ln>
            <a:noFill/>
          </a:ln>
        </p:spPr>
      </p:pic>
      <p:sp>
        <p:nvSpPr>
          <p:cNvPr id="911" name="Google Shape;911;p26"/>
          <p:cNvSpPr/>
          <p:nvPr/>
        </p:nvSpPr>
        <p:spPr>
          <a:xfrm>
            <a:off x="9336024" y="4171950"/>
            <a:ext cx="2359152" cy="1787652"/>
          </a:xfrm>
          <a:prstGeom prst="roundRect">
            <a:avLst>
              <a:gd name="adj" fmla="val 5115"/>
            </a:avLst>
          </a:prstGeom>
          <a:solidFill>
            <a:srgbClr val="26324D"/>
          </a:solidFill>
          <a:ln w="12700" cap="flat" cmpd="sng">
            <a:solidFill>
              <a:srgbClr val="2632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2" name="Google Shape;912;p26" descr="closing-defect"/>
          <p:cNvPicPr preferRelativeResize="0"/>
          <p:nvPr/>
        </p:nvPicPr>
        <p:blipFill rotWithShape="1">
          <a:blip r:embed="rId8">
            <a:alphaModFix/>
          </a:blip>
          <a:srcRect/>
          <a:stretch/>
        </p:blipFill>
        <p:spPr>
          <a:xfrm>
            <a:off x="9372600" y="4208526"/>
            <a:ext cx="2286000" cy="1714500"/>
          </a:xfrm>
          <a:prstGeom prst="rect">
            <a:avLst/>
          </a:prstGeom>
          <a:noFill/>
          <a:ln>
            <a:noFill/>
          </a:ln>
        </p:spPr>
      </p:pic>
    </p:spTree>
  </p:cSld>
  <p:clrMapOvr>
    <a:masterClrMapping/>
  </p:clrMapOvr>
</p:sld>
</file>

<file path=ppt/theme/theme1.xml><?xml version="1.0" encoding="utf-8"?>
<a:theme xmlns:a="http://schemas.openxmlformats.org/drawingml/2006/main" name="Blueprint Navy">
  <a:themeElements>
    <a:clrScheme name="Blueprint Navy">
      <a:dk1>
        <a:srgbClr val="F1F5F9"/>
      </a:dk1>
      <a:lt1>
        <a:srgbClr val="0B1220"/>
      </a:lt1>
      <a:dk2>
        <a:srgbClr val="94A3B8"/>
      </a:dk2>
      <a:lt2>
        <a:srgbClr val="131C2E"/>
      </a:lt2>
      <a:accent1>
        <a:srgbClr val="6366F1"/>
      </a:accent1>
      <a:accent2>
        <a:srgbClr val="22D3EE"/>
      </a:accent2>
      <a:accent3>
        <a:srgbClr val="F59E0B"/>
      </a:accent3>
      <a:accent4>
        <a:srgbClr val="22C55E"/>
      </a:accent4>
      <a:accent5>
        <a:srgbClr val="F87171"/>
      </a:accent5>
      <a:accent6>
        <a:srgbClr val="A78BFA"/>
      </a:accent6>
      <a:hlink>
        <a:srgbClr val="60A5FA"/>
      </a:hlink>
      <a:folHlink>
        <a:srgbClr val="A78BFA"/>
      </a:folHlink>
    </a:clrScheme>
    <a:fontScheme name="Office">
      <a:majorFont>
        <a:latin typeface="Google Sans Flex"/>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oogle Sans Flex"/>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print Navy">
  <a:themeElements>
    <a:clrScheme name="Blueprint Navy">
      <a:dk1>
        <a:srgbClr val="F1F5F9"/>
      </a:dk1>
      <a:lt1>
        <a:srgbClr val="0B1220"/>
      </a:lt1>
      <a:dk2>
        <a:srgbClr val="94A3B8"/>
      </a:dk2>
      <a:lt2>
        <a:srgbClr val="131C2E"/>
      </a:lt2>
      <a:accent1>
        <a:srgbClr val="6366F1"/>
      </a:accent1>
      <a:accent2>
        <a:srgbClr val="22D3EE"/>
      </a:accent2>
      <a:accent3>
        <a:srgbClr val="F59E0B"/>
      </a:accent3>
      <a:accent4>
        <a:srgbClr val="22C55E"/>
      </a:accent4>
      <a:accent5>
        <a:srgbClr val="F87171"/>
      </a:accent5>
      <a:accent6>
        <a:srgbClr val="A78BFA"/>
      </a:accent6>
      <a:hlink>
        <a:srgbClr val="60A5FA"/>
      </a:hlink>
      <a:folHlink>
        <a:srgbClr val="A78BFA"/>
      </a:folHlink>
    </a:clrScheme>
    <a:fontScheme name="Office">
      <a:majorFont>
        <a:latin typeface="Google Sans Flex"/>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oogle Sans Flex"/>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4988</Words>
  <Application>Microsoft Office PowerPoint</Application>
  <PresentationFormat>Widescreen</PresentationFormat>
  <Paragraphs>513</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Google Sans Flex</vt:lpstr>
      <vt:lpstr>Arial</vt:lpstr>
      <vt:lpstr>Calibri</vt:lpstr>
      <vt:lpstr>Blueprint Navy</vt:lpstr>
      <vt:lpstr>PowerPoint Presentation</vt:lpstr>
      <vt:lpstr>Team Xcore</vt:lpstr>
      <vt:lpstr>Property risk is judged from photos nobody can verify</vt:lpstr>
      <vt:lpstr>One inspection record, five BFSI decision-makers</vt:lpstr>
      <vt:lpstr>One upload gives you a complete, explainable risk file</vt:lpstr>
      <vt:lpstr>Capture, inspect, decide, act: minutes instead of days</vt:lpstr>
      <vt:lpstr>Cloud Run web service + L4 GPU Job, powered by Gemini</vt:lpstr>
      <vt:lpstr>Hybrid AI: the right Google and open model for each job</vt:lpstr>
      <vt:lpstr>Find broadly, verify with a second model, then decide</vt:lpstr>
      <vt:lpstr>What we detect: 18 visible defect types on 12 components</vt:lpstr>
      <vt:lpstr>Every decision shows its reasons</vt:lpstr>
      <vt:lpstr>Fraud checks run on every walkthrough video</vt:lpstr>
      <vt:lpstr>A phone video becomes a 3D model and floor plan</vt:lpstr>
      <vt:lpstr>Proof of what was inspected, and what to film again</vt:lpstr>
      <vt:lpstr>Gemini works as the underwriter's co-pilot</vt:lpstr>
      <vt:lpstr>A product built for underwriters</vt:lpstr>
      <vt:lpstr>A real 20-second home walkthrough, end to end</vt:lpstr>
      <vt:lpstr>A fair test of four pipelines: 10 rooms, 100 regions</vt:lpstr>
      <vt:lpstr>Expected gain from adding localisation and verification</vt:lpstr>
      <vt:lpstr>From depth research to a deployable product</vt:lpstr>
      <vt:lpstr>Built on Google AI and Google Cloud</vt:lpstr>
      <vt:lpstr>Compliant by design: humans decide, AI shows evidence</vt:lpstr>
      <vt:lpstr>Priced per inspection, far below a site visit</vt:lpstr>
      <vt:lpstr>Start with housing finance and home insurance in APAC</vt:lpstr>
      <vt:lpstr>Next: an inspection agent, then portfolio-level risk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Property Inspection AI team</dc:creator>
  <cp:lastModifiedBy>Thanveer Ahamed</cp:lastModifiedBy>
  <cp:revision>1</cp:revision>
  <dcterms:created xsi:type="dcterms:W3CDTF">2026-10-17T12:47:39Z</dcterms:created>
  <dcterms:modified xsi:type="dcterms:W3CDTF">2026-10-18T15:31:04Z</dcterms:modified>
</cp:coreProperties>
</file>