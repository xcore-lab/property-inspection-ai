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2" roundtripDataSignature="AMtx7mjOeDR1zCLjFyjkW6tyZyZfzfbbT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31036B6-43F4-4ACD-AB0D-61CEB253AA53}">
  <a:tblStyle styleId="{431036B6-43F4-4ACD-AB0D-61CEB253AA5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10" Type="http://schemas.openxmlformats.org/officeDocument/2006/relationships/slide" Target="slides/slide5.xml"/><Relationship Id="rId32" Type="http://customschemas.google.com/relationships/presentationmetadata" Target="meta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with the one-liner: a 20-second phone video becomes an underwriting-ready property risk file. We are in the BFSI track. Everything you will see is real output from our working prototype, built on Gemini, Gemma and Google Cloud.</a:t>
            </a:r>
            <a:endParaRP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are Team Xcore. Thanveer Ahamed leads Gen AI: the Gemini and Gemma reasoning, verification and the underwriting assistant. Janitha Prathapa leads vision AI: defect detection, depth, SLAM, the 3D model and the coverage map. Dinal Fernando is the solution architect for the Google Cloud deployment.</a:t>
            </a:r>
            <a:endParaRPr/>
          </a:p>
        </p:txBody>
      </p:sp>
      <p:sp>
        <p:nvSpPr>
          <p:cNvPr id="46" name="Google Shape;4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Property risk drives mortgages and home insurance, yet it is still judged from self-reported photos or slow site visits. Insurance fraud is estimated at $308.6B a year in the US alone, about $45B of it in property and casualty. Name the five pains: slow visits, unverifiable photos, no proof of coverage, subjective grading and collateral overvaluation.</a:t>
            </a:r>
            <a:endParaRPr/>
          </a:p>
        </p:txBody>
      </p:sp>
      <p:sp>
        <p:nvSpPr>
          <p:cNvPr id="74" name="Google Shape;7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inspection record serves five decision-makers: lenders get collateral condition and valuation impact, underwriters get perils and premium loading, claims teams get fraud-checked evidence, inspectors get an AI-drafted report, and owners get a transparent report. Everything lands in BigQuery and Pub/Sub, so each team's system can use it.</a:t>
            </a:r>
            <a:endParaRPr/>
          </a:p>
        </p:txBody>
      </p:sp>
      <p:sp>
        <p:nvSpPr>
          <p:cNvPr id="114" name="Google Shape;11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 live app. One walkthrough video gives defects, a grade, risk, perils, repair cost, valuation impact, premium loading, a decision with reasons and fraud flags. The same video gives the 3D model, floor plan and coverage map.</a:t>
            </a:r>
            <a:endParaRPr/>
          </a:p>
        </p:txBody>
      </p:sp>
      <p:sp>
        <p:nvSpPr>
          <p:cNvPr id="149" name="Google Shape;14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steps: capture, AI inspection, risk decision, act. A 20-second walkthrough takes about 10.6 minutes end to end on a laptop GPU. In the cloud a Lite video costs about one dollar, of which Gemini is about 35 cents, and nothing while idle because Cloud Run scales to zero.</a:t>
            </a:r>
            <a:endParaRPr/>
          </a:p>
        </p:txBody>
      </p:sp>
      <p:sp>
        <p:nvSpPr>
          <p:cNvPr id="190" name="Google Shape;19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 name="Google Shape;228;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Architecture: a single Cloud Run service with an L4 GPU runs the API, the web UI, the local models and the 3D engine. Gemini on Vertex AI provides reasoning. Results go to Cloud Storage, BigQuery and Pub/Sub. Deployment is one script, with a least-privilege service account and no keys.</a:t>
            </a:r>
            <a:endParaRPr/>
          </a:p>
        </p:txBody>
      </p:sp>
      <p:sp>
        <p:nvSpPr>
          <p:cNvPr id="229" name="Google Shape;229;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Hybrid AI: Gemini for scene understanding, authenticity and explanations, LocateAnything for high-recall boxes, and Gemma 4 to verify each box on a full-resolution crop. Rules, not an LLM, make the final decision, so it is auditable. Switching two environment variables runs everything on Gemini.</a:t>
            </a:r>
            <a:endParaRPr/>
          </a:p>
        </p:txBody>
      </p:sp>
      <p:sp>
        <p:nvSpPr>
          <p:cNvPr id="285" name="Google Shape;28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3" name="Google Shape;29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AI keyframe chosen from the video runs through this pipeline. Pipeline detail: quality and integrity checks come first, then Gemini identifies the room and components, so we only search for relevant defects. LocateAnything proposes boxes and Gemma verifies each one. The rule engine then assigns Detected, Needs review or Not detected. These images are real outputs.</a:t>
            </a:r>
            <a:endParaRPr/>
          </a:p>
        </p:txBody>
      </p:sp>
      <p:sp>
        <p:nvSpPr>
          <p:cNvPr id="294" name="Google Shape;29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Scope: 18 visible defect types across 12 components in 8 room types: walls, ceilings, floors, tiles, grout, countertops, doors, locks, windows, trim and kitchen exhausts. Cracks and deformation get a structural note, and water damage and mold get a moisture note. Operation checks such as locks and windows are always manual. Furniture, cupboards and carpets are out of scope by design.</a:t>
            </a:r>
            <a:endParaRPr/>
          </a:p>
        </p:txBody>
      </p:sp>
      <p:sp>
        <p:nvSpPr>
          <p:cNvPr id="329" name="Google Shape;329;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Explainability is what lets a bank or insurer adopt this. The condition score is a transparent formula, the grades are A to E, and there are six decision outcomes. The rules sit in YAML that the client owns. Gemini explains the decision but never changes it.</a:t>
            </a:r>
            <a:endParaRPr/>
          </a:p>
        </p:txBody>
      </p:sp>
      <p:sp>
        <p:nvSpPr>
          <p:cNvPr id="393" name="Google Shape;39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Fraud: every AI keyframe is fingerprinted and compared with every property, so a recycled walkthrough is caught; in our own test a re-uploaded clip was flagged REFER: evidence integrity. Gemini checks each keyframe for screen recordings, renders and AI imagery, blurred frames are dropped, every finding is traceable to its frame and wall, and incomplete coverage triggers a REFER. Any high flag goes to a human.</a:t>
            </a:r>
            <a:endParaRPr/>
          </a:p>
        </p:txBody>
      </p:sp>
      <p:sp>
        <p:nvSpPr>
          <p:cNvPr id="436" name="Google Shape;43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phone video becomes a 3D digital twin: Depth Anything 3 for depth, OpenCV 5 SLAM for camera poses, and TSDF fusion for the surface, with walls, floor, ceiling and doors detected and objects named by Gemini. Outputs include GLB models, a floor plan and navigation maps.</a:t>
            </a:r>
            <a:endParaRPr/>
          </a:p>
        </p:txBody>
      </p:sp>
      <p:sp>
        <p:nvSpPr>
          <p:cNvPr id="479" name="Google Shape;47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6" name="Google Shape;5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our key differentiator. Every 10 cm of surface is checked against every frame, so we can prove what the AI actually inspected. Keyframes are picked by set cover and findings are pinned in 3D. Below 60% coverage the case is referred, with an exact list of what to film again.</a:t>
            </a:r>
            <a:endParaRPr/>
          </a:p>
        </p:txBody>
      </p:sp>
      <p:sp>
        <p:nvSpPr>
          <p:cNvPr id="517" name="Google Shape;5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Gemini acts as the underwriter's co-pilot. It writes a property analysis covering causes, an action plan, insurance and lending views and site-visit questions, and it answers questions grounded in this inspection's data, citing issue IDs. Guardrail: it explains but cannot change results.</a:t>
            </a:r>
            <a:endParaRPr/>
          </a:p>
        </p:txBody>
      </p:sp>
      <p:sp>
        <p:nvSpPr>
          <p:cNvPr id="545" name="Google Shape;54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UX: a portfolio dashboard with grade and decision distributions, video upload with a live 3D-scan progress view in Lite or Advanced mode, an interactive 3D viewer with Gemini Q&amp;A, reports in three formats and an OpenAPI interface.</a:t>
            </a:r>
            <a:endParaRPr/>
          </a:p>
        </p:txBody>
      </p:sp>
      <p:sp>
        <p:nvSpPr>
          <p:cNvPr id="565" name="Google Shape;56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Case study on a real home: a 19.6-second video, 197 SLAM frames, 15 AI keyframes, 24.5 square metres measured, and seven possible defects (door and window damage, a loose and a missing lock, a wall stain and possible mold) pinned in 3D for review. The grade is A, yet the decision is REFER because only 42.5% of surfaces were AI-inspected. The system is honest about what it did not see.</a:t>
            </a:r>
            <a:endParaRPr/>
          </a:p>
        </p:txBody>
      </p:sp>
      <p:sp>
        <p:nvSpPr>
          <p:cNvPr id="582" name="Google Shape;58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evaluation design compares four pipelines fairly: A is Gemini alone, B is LocateAnything plus Gemini, C is Gemma 4 plus Gemini without the localiser, and D, our pipeline, is Gemma 4 plus LocateAnything plus Gemini. The test set is 10 rooms, 5 living rooms and 5 bedrooms, including 2 clean controls, with 100 annotated regions. Everything is fixed in advance: the same images, schema, Gemini settings and decision rule. Our targets for D are at least 85% accuracy, at least 85% precision, recall and F1, at most one false alarm on the clean rooms, and a clear win over Gemini alone on every metric.</a:t>
            </a:r>
            <a:endParaRPr/>
          </a:p>
        </p:txBody>
      </p:sp>
      <p:sp>
        <p:nvSpPr>
          <p:cNvPr id="616" name="Google Shape;61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9" name="Google Shape;6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 explicit that the chart is a simulated example of the report, not a measured result. It shows the gain we expect: localisation and verification should cut both misses and false alarms, especially on clean rooms. Gemma 4 plus Gemini (C) helps, but it is still below D, because the localiser finds small defects that a full-image check misses. Next, we run this protocol on the shipped pipeline D and replace these values with measured ones.</a:t>
            </a:r>
            <a:endParaRPr/>
          </a:p>
        </p:txBody>
      </p:sp>
      <p:sp>
        <p:nvSpPr>
          <p:cNvPr id="660" name="Google Shape;6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was a real engineering journey: depth SLAM research, a hybrid OpenCV 5 SLAM, a Gaussian-splatting experiment and a production 3D pipeline, then the inspection AI and the Google Cloud version. In numbers: 18 defect types, 8 room types, 11 API endpoints, and deployment in one command.</a:t>
            </a:r>
            <a:endParaRPr/>
          </a:p>
        </p:txBody>
      </p:sp>
      <p:sp>
        <p:nvSpPr>
          <p:cNvPr id="670" name="Google Shape;67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Google technology: Gemini on Vertex AI, Gemma 4, Cloud Run with an L4, Cloud Storage, BigQuery, Pub/Sub, Cloud Build and IAM are in the prototype. Next come Document AI for deeds and valuation reports, Vertex AI Search for policy wording, BigQuery ML for risk scoring and AlloyDB.</a:t>
            </a:r>
            <a:endParaRPr/>
          </a:p>
        </p:txBody>
      </p:sp>
      <p:sp>
        <p:nvSpPr>
          <p:cNvPr id="718" name="Google Shape;71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5" name="Google Shape;775;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Responsible AI: a human makes every final decision, the rules are explainable, everything is auditable, the wording is safe, the system is secure, and we respect licences. We tell clients that LocateAnything is non-commercial, and Gemini localisation is the drop-in swap.</a:t>
            </a:r>
            <a:endParaRPr/>
          </a:p>
        </p:txBody>
      </p:sp>
      <p:sp>
        <p:nvSpPr>
          <p:cNvPr id="776" name="Google Shape;776;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Business model: a pay-per-inspection API, enterprise subscriptions and white-label tools for inspector firms. Unit economics: about 35 cents of Gemini per walkthrough, and about one dollar per Lite video including GPU time at about 1.42 dollars an hour. Pricing per inspection would sit well below a physical visit, to be validated in pilots.</a:t>
            </a:r>
            <a:endParaRPr/>
          </a:p>
        </p:txBody>
      </p:sp>
      <p:sp>
        <p:nvSpPr>
          <p:cNvPr id="814" name="Google Shape;81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Go-to-market: start with housing finance and home insurance in APAC. Pilot alongside existing inspections, integrate through Pub/Sub, then scale through Google Cloud Marketplace and valuer networks. Close on the pitch line in the quote.</a:t>
            </a:r>
            <a:endParaRPr/>
          </a:p>
        </p:txBody>
      </p:sp>
      <p:sp>
        <p:nvSpPr>
          <p:cNvPr id="848" name="Google Shape;84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1" name="Google Shape;871;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Roadmap: guided mobile capture, Document AI, Vertex AI Search and a commercial localiser next, then BigQuery ML risk scoring, before/after claim comparison and multilingual reports.</a:t>
            </a:r>
            <a:endParaRPr/>
          </a:p>
        </p:txBody>
      </p:sp>
      <p:sp>
        <p:nvSpPr>
          <p:cNvPr id="872" name="Google Shape;872;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9" name="Google Shape;889;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trustworthy property evidence for every loan and every policy. Minutes not days, fraud-resistant, explainable. Thank you, and we are happy to run a live demo.</a:t>
            </a:r>
            <a:endParaRPr/>
          </a:p>
        </p:txBody>
      </p:sp>
      <p:sp>
        <p:nvSpPr>
          <p:cNvPr id="890" name="Google Shape;890;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RO">
  <p:cSld name="HERO">
    <p:bg>
      <p:bgPr>
        <a:blipFill>
          <a:blip r:embed="rId2">
            <a:alphaModFix/>
          </a:blip>
          <a:stretch>
            <a:fillRect/>
          </a:stretch>
        </a:blip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9"/>
          <p:cNvSpPr/>
          <p:nvPr/>
        </p:nvSpPr>
        <p:spPr>
          <a:xfrm>
            <a:off x="548640" y="6446520"/>
            <a:ext cx="9144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Property Inspection AI  ·  Google Cloud AI Builder Cup 2026  ·  Intelligent Risk, Fraud &amp; Financial Experiences</a:t>
            </a:r>
            <a:endParaRPr b="0" i="0" sz="1000" u="none" cap="none" strike="noStrike">
              <a:solidFill>
                <a:schemeClr val="dk1"/>
              </a:solidFill>
              <a:latin typeface="Calibri"/>
              <a:ea typeface="Calibri"/>
              <a:cs typeface="Calibri"/>
              <a:sym typeface="Calibri"/>
            </a:endParaRPr>
          </a:p>
        </p:txBody>
      </p:sp>
      <p:sp>
        <p:nvSpPr>
          <p:cNvPr id="14" name="Google Shape;14;p29"/>
          <p:cNvSpPr txBox="1"/>
          <p:nvPr>
            <p:ph idx="1" type="body"/>
          </p:nvPr>
        </p:nvSpPr>
        <p:spPr>
          <a:xfrm>
            <a:off x="548640" y="292608"/>
            <a:ext cx="11064240" cy="292608"/>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40"/>
              </a:spcBef>
              <a:spcAft>
                <a:spcPts val="0"/>
              </a:spcAft>
              <a:buClr>
                <a:schemeClr val="accent2"/>
              </a:buClr>
              <a:buSzPts val="1200"/>
              <a:buFont typeface="Arial"/>
              <a:buNone/>
              <a:defRPr b="1" i="0" sz="1200" u="none" cap="none" strike="noStrike">
                <a:solidFill>
                  <a:schemeClr val="accent2"/>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 name="Google Shape;15;p29"/>
          <p:cNvSpPr txBox="1"/>
          <p:nvPr>
            <p:ph type="title"/>
          </p:nvPr>
        </p:nvSpPr>
        <p:spPr>
          <a:xfrm>
            <a:off x="548640" y="585216"/>
            <a:ext cx="11064240" cy="73152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3000"/>
              <a:buFont typeface="Arial"/>
              <a:buNone/>
              <a:defRPr b="1" i="0" sz="30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29"/>
          <p:cNvSpPr txBox="1"/>
          <p:nvPr>
            <p:ph idx="12"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1000" u="none" cap="none" strike="noStrike">
                <a:solidFill>
                  <a:schemeClr val="dk2"/>
                </a:solidFill>
                <a:latin typeface="Calibri"/>
                <a:ea typeface="Calibri"/>
                <a:cs typeface="Calibri"/>
                <a:sym typeface="Calibri"/>
              </a:defRPr>
            </a:lvl1pPr>
            <a:lvl2pPr indent="0" lvl="1" marL="0" marR="0" algn="r">
              <a:spcBef>
                <a:spcPts val="0"/>
              </a:spcBef>
              <a:buNone/>
              <a:defRPr b="0" i="0" sz="1000" u="none" cap="none" strike="noStrike">
                <a:solidFill>
                  <a:schemeClr val="dk2"/>
                </a:solidFill>
                <a:latin typeface="Calibri"/>
                <a:ea typeface="Calibri"/>
                <a:cs typeface="Calibri"/>
                <a:sym typeface="Calibri"/>
              </a:defRPr>
            </a:lvl2pPr>
            <a:lvl3pPr indent="0" lvl="2" marL="0" marR="0" algn="r">
              <a:spcBef>
                <a:spcPts val="0"/>
              </a:spcBef>
              <a:buNone/>
              <a:defRPr b="0" i="0" sz="1000" u="none" cap="none" strike="noStrike">
                <a:solidFill>
                  <a:schemeClr val="dk2"/>
                </a:solidFill>
                <a:latin typeface="Calibri"/>
                <a:ea typeface="Calibri"/>
                <a:cs typeface="Calibri"/>
                <a:sym typeface="Calibri"/>
              </a:defRPr>
            </a:lvl3pPr>
            <a:lvl4pPr indent="0" lvl="3" marL="0" marR="0" algn="r">
              <a:spcBef>
                <a:spcPts val="0"/>
              </a:spcBef>
              <a:buNone/>
              <a:defRPr b="0" i="0" sz="1000" u="none" cap="none" strike="noStrike">
                <a:solidFill>
                  <a:schemeClr val="dk2"/>
                </a:solidFill>
                <a:latin typeface="Calibri"/>
                <a:ea typeface="Calibri"/>
                <a:cs typeface="Calibri"/>
                <a:sym typeface="Calibri"/>
              </a:defRPr>
            </a:lvl4pPr>
            <a:lvl5pPr indent="0" lvl="4" marL="0" marR="0" algn="r">
              <a:spcBef>
                <a:spcPts val="0"/>
              </a:spcBef>
              <a:buNone/>
              <a:defRPr b="0" i="0" sz="1000" u="none" cap="none" strike="noStrike">
                <a:solidFill>
                  <a:schemeClr val="dk2"/>
                </a:solidFill>
                <a:latin typeface="Calibri"/>
                <a:ea typeface="Calibri"/>
                <a:cs typeface="Calibri"/>
                <a:sym typeface="Calibri"/>
              </a:defRPr>
            </a:lvl5pPr>
            <a:lvl6pPr indent="0" lvl="5" marL="0" marR="0" algn="r">
              <a:spcBef>
                <a:spcPts val="0"/>
              </a:spcBef>
              <a:buNone/>
              <a:defRPr b="0" i="0" sz="1000" u="none" cap="none" strike="noStrike">
                <a:solidFill>
                  <a:schemeClr val="dk2"/>
                </a:solidFill>
                <a:latin typeface="Calibri"/>
                <a:ea typeface="Calibri"/>
                <a:cs typeface="Calibri"/>
                <a:sym typeface="Calibri"/>
              </a:defRPr>
            </a:lvl6pPr>
            <a:lvl7pPr indent="0" lvl="6" marL="0" marR="0" algn="r">
              <a:spcBef>
                <a:spcPts val="0"/>
              </a:spcBef>
              <a:buNone/>
              <a:defRPr b="0" i="0" sz="1000" u="none" cap="none" strike="noStrike">
                <a:solidFill>
                  <a:schemeClr val="dk2"/>
                </a:solidFill>
                <a:latin typeface="Calibri"/>
                <a:ea typeface="Calibri"/>
                <a:cs typeface="Calibri"/>
                <a:sym typeface="Calibri"/>
              </a:defRPr>
            </a:lvl7pPr>
            <a:lvl8pPr indent="0" lvl="7" marL="0" marR="0" algn="r">
              <a:spcBef>
                <a:spcPts val="0"/>
              </a:spcBef>
              <a:buNone/>
              <a:defRPr b="0" i="0" sz="1000" u="none" cap="none" strike="noStrike">
                <a:solidFill>
                  <a:schemeClr val="dk2"/>
                </a:solidFill>
                <a:latin typeface="Calibri"/>
                <a:ea typeface="Calibri"/>
                <a:cs typeface="Calibri"/>
                <a:sym typeface="Calibri"/>
              </a:defRPr>
            </a:lvl8pPr>
            <a:lvl9pPr indent="0" lvl="8" marL="0" marR="0" algn="r">
              <a:spcBef>
                <a:spcPts val="0"/>
              </a:spcBef>
              <a:buNone/>
              <a:defRPr b="0" i="0" sz="1000" u="none" cap="none" strike="noStrike">
                <a:solidFill>
                  <a:schemeClr val="dk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7"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27"/>
          <p:cNvSpPr txBox="1"/>
          <p:nvPr>
            <p:ph idx="12"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chemeClr val="dk2"/>
                </a:solidFill>
                <a:latin typeface="Calibri"/>
                <a:ea typeface="Calibri"/>
                <a:cs typeface="Calibri"/>
                <a:sym typeface="Calibri"/>
              </a:defRPr>
            </a:lvl1pPr>
            <a:lvl2pPr indent="0" lvl="1" marL="0" marR="0" rtl="0" algn="r">
              <a:spcBef>
                <a:spcPts val="0"/>
              </a:spcBef>
              <a:buNone/>
              <a:defRPr b="0" i="0" sz="1000" u="none" cap="none" strike="noStrike">
                <a:solidFill>
                  <a:schemeClr val="dk2"/>
                </a:solidFill>
                <a:latin typeface="Calibri"/>
                <a:ea typeface="Calibri"/>
                <a:cs typeface="Calibri"/>
                <a:sym typeface="Calibri"/>
              </a:defRPr>
            </a:lvl2pPr>
            <a:lvl3pPr indent="0" lvl="2" marL="0" marR="0" rtl="0" algn="r">
              <a:spcBef>
                <a:spcPts val="0"/>
              </a:spcBef>
              <a:buNone/>
              <a:defRPr b="0" i="0" sz="1000" u="none" cap="none" strike="noStrike">
                <a:solidFill>
                  <a:schemeClr val="dk2"/>
                </a:solidFill>
                <a:latin typeface="Calibri"/>
                <a:ea typeface="Calibri"/>
                <a:cs typeface="Calibri"/>
                <a:sym typeface="Calibri"/>
              </a:defRPr>
            </a:lvl3pPr>
            <a:lvl4pPr indent="0" lvl="3" marL="0" marR="0" rtl="0" algn="r">
              <a:spcBef>
                <a:spcPts val="0"/>
              </a:spcBef>
              <a:buNone/>
              <a:defRPr b="0" i="0" sz="1000" u="none" cap="none" strike="noStrike">
                <a:solidFill>
                  <a:schemeClr val="dk2"/>
                </a:solidFill>
                <a:latin typeface="Calibri"/>
                <a:ea typeface="Calibri"/>
                <a:cs typeface="Calibri"/>
                <a:sym typeface="Calibri"/>
              </a:defRPr>
            </a:lvl4pPr>
            <a:lvl5pPr indent="0" lvl="4" marL="0" marR="0" rtl="0" algn="r">
              <a:spcBef>
                <a:spcPts val="0"/>
              </a:spcBef>
              <a:buNone/>
              <a:defRPr b="0" i="0" sz="1000" u="none" cap="none" strike="noStrike">
                <a:solidFill>
                  <a:schemeClr val="dk2"/>
                </a:solidFill>
                <a:latin typeface="Calibri"/>
                <a:ea typeface="Calibri"/>
                <a:cs typeface="Calibri"/>
                <a:sym typeface="Calibri"/>
              </a:defRPr>
            </a:lvl5pPr>
            <a:lvl6pPr indent="0" lvl="5" marL="0" marR="0" rtl="0" algn="r">
              <a:spcBef>
                <a:spcPts val="0"/>
              </a:spcBef>
              <a:buNone/>
              <a:defRPr b="0" i="0" sz="1000" u="none" cap="none" strike="noStrike">
                <a:solidFill>
                  <a:schemeClr val="dk2"/>
                </a:solidFill>
                <a:latin typeface="Calibri"/>
                <a:ea typeface="Calibri"/>
                <a:cs typeface="Calibri"/>
                <a:sym typeface="Calibri"/>
              </a:defRPr>
            </a:lvl6pPr>
            <a:lvl7pPr indent="0" lvl="6" marL="0" marR="0" rtl="0" algn="r">
              <a:spcBef>
                <a:spcPts val="0"/>
              </a:spcBef>
              <a:buNone/>
              <a:defRPr b="0" i="0" sz="1000" u="none" cap="none" strike="noStrike">
                <a:solidFill>
                  <a:schemeClr val="dk2"/>
                </a:solidFill>
                <a:latin typeface="Calibri"/>
                <a:ea typeface="Calibri"/>
                <a:cs typeface="Calibri"/>
                <a:sym typeface="Calibri"/>
              </a:defRPr>
            </a:lvl7pPr>
            <a:lvl8pPr indent="0" lvl="7" marL="0" marR="0" rtl="0" algn="r">
              <a:spcBef>
                <a:spcPts val="0"/>
              </a:spcBef>
              <a:buNone/>
              <a:defRPr b="0" i="0" sz="1000" u="none" cap="none" strike="noStrike">
                <a:solidFill>
                  <a:schemeClr val="dk2"/>
                </a:solidFill>
                <a:latin typeface="Calibri"/>
                <a:ea typeface="Calibri"/>
                <a:cs typeface="Calibri"/>
                <a:sym typeface="Calibri"/>
              </a:defRPr>
            </a:lvl8pPr>
            <a:lvl9pPr indent="0" lvl="8" marL="0" marR="0" rtl="0" algn="r">
              <a:spcBef>
                <a:spcPts val="0"/>
              </a:spcBef>
              <a:buNone/>
              <a:defRPr b="0" i="0" sz="1000" u="none" cap="none" strike="noStrike">
                <a:solidFill>
                  <a:schemeClr val="dk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jp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image" Target="../media/image17.png"/><Relationship Id="rId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5.png"/></Relationships>
</file>

<file path=ppt/slides/_rels/slide5.xml.rels><?xml version="1.0" encoding="UTF-8" standalone="yes"?><Relationships xmlns="http://schemas.openxmlformats.org/package/2006/relationships"><Relationship Id="rId11" Type="http://schemas.openxmlformats.org/officeDocument/2006/relationships/image" Target="../media/image28.png"/><Relationship Id="rId10" Type="http://schemas.openxmlformats.org/officeDocument/2006/relationships/image" Target="../media/image22.png"/><Relationship Id="rId13" Type="http://schemas.openxmlformats.org/officeDocument/2006/relationships/image" Target="../media/image35.png"/><Relationship Id="rId12" Type="http://schemas.openxmlformats.org/officeDocument/2006/relationships/image" Target="../media/image21.png"/><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image" Target="../media/image20.png"/><Relationship Id="rId9" Type="http://schemas.openxmlformats.org/officeDocument/2006/relationships/image" Target="../media/image30.png"/><Relationship Id="rId5" Type="http://schemas.openxmlformats.org/officeDocument/2006/relationships/image" Target="../media/image33.png"/><Relationship Id="rId6" Type="http://schemas.openxmlformats.org/officeDocument/2006/relationships/image" Target="../media/image29.png"/><Relationship Id="rId7" Type="http://schemas.openxmlformats.org/officeDocument/2006/relationships/image" Target="../media/image24.png"/><Relationship Id="rId8"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6.png"/><Relationship Id="rId4" Type="http://schemas.openxmlformats.org/officeDocument/2006/relationships/image" Target="../media/image23.png"/><Relationship Id="rId5" Type="http://schemas.openxmlformats.org/officeDocument/2006/relationships/image" Target="../media/image38.png"/><Relationship Id="rId6" Type="http://schemas.openxmlformats.org/officeDocument/2006/relationships/image" Target="../media/image34.png"/><Relationship Id="rId7" Type="http://schemas.openxmlformats.org/officeDocument/2006/relationships/image" Target="../media/image3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7.jpg"/><Relationship Id="rId4" Type="http://schemas.openxmlformats.org/officeDocument/2006/relationships/image" Target="../media/image61.jpg"/><Relationship Id="rId5" Type="http://schemas.openxmlformats.org/officeDocument/2006/relationships/image" Target="../media/image39.jpg"/><Relationship Id="rId6"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1.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4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2.png"/><Relationship Id="rId4" Type="http://schemas.openxmlformats.org/officeDocument/2006/relationships/image" Target="../media/image48.png"/><Relationship Id="rId9" Type="http://schemas.openxmlformats.org/officeDocument/2006/relationships/image" Target="../media/image44.jp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50.png"/><Relationship Id="rId8"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5.jpg"/><Relationship Id="rId4" Type="http://schemas.openxmlformats.org/officeDocument/2006/relationships/image" Target="../media/image53.jpg"/><Relationship Id="rId9" Type="http://schemas.openxmlformats.org/officeDocument/2006/relationships/image" Target="../media/image60.jpg"/><Relationship Id="rId5" Type="http://schemas.openxmlformats.org/officeDocument/2006/relationships/image" Target="../media/image52.jpg"/><Relationship Id="rId6" Type="http://schemas.openxmlformats.org/officeDocument/2006/relationships/image" Target="../media/image64.jpg"/><Relationship Id="rId7" Type="http://schemas.openxmlformats.org/officeDocument/2006/relationships/image" Target="../media/image56.jpg"/><Relationship Id="rId8" Type="http://schemas.openxmlformats.org/officeDocument/2006/relationships/image" Target="../media/image5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9.jpg"/><Relationship Id="rId4" Type="http://schemas.openxmlformats.org/officeDocument/2006/relationships/image" Target="../media/image62.jpg"/><Relationship Id="rId5" Type="http://schemas.openxmlformats.org/officeDocument/2006/relationships/image" Target="../media/image63.png"/><Relationship Id="rId6" Type="http://schemas.openxmlformats.org/officeDocument/2006/relationships/image" Target="../media/image58.png"/><Relationship Id="rId7" Type="http://schemas.openxmlformats.org/officeDocument/2006/relationships/image" Target="../media/image54.png"/><Relationship Id="rId8" Type="http://schemas.openxmlformats.org/officeDocument/2006/relationships/image" Target="../media/image6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5.jpg"/><Relationship Id="rId4" Type="http://schemas.openxmlformats.org/officeDocument/2006/relationships/image" Target="../media/image6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3.jpg"/><Relationship Id="rId4" Type="http://schemas.openxmlformats.org/officeDocument/2006/relationships/image" Target="../media/image7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5.png"/><Relationship Id="rId4" Type="http://schemas.openxmlformats.org/officeDocument/2006/relationships/image" Target="../media/image9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1.png"/><Relationship Id="rId4" Type="http://schemas.openxmlformats.org/officeDocument/2006/relationships/image" Target="../media/image79.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3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5.png"/><Relationship Id="rId4" Type="http://schemas.openxmlformats.org/officeDocument/2006/relationships/image" Target="../media/image87.png"/><Relationship Id="rId5" Type="http://schemas.openxmlformats.org/officeDocument/2006/relationships/image" Target="../media/image9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94.png"/><Relationship Id="rId4" Type="http://schemas.openxmlformats.org/officeDocument/2006/relationships/image" Target="../media/image2.png"/><Relationship Id="rId5" Type="http://schemas.openxmlformats.org/officeDocument/2006/relationships/image" Target="../media/image34.png"/><Relationship Id="rId6" Type="http://schemas.openxmlformats.org/officeDocument/2006/relationships/image" Target="../media/image57.jpg"/><Relationship Id="rId7" Type="http://schemas.openxmlformats.org/officeDocument/2006/relationships/image" Target="../media/image64.jpg"/><Relationship Id="rId8" Type="http://schemas.openxmlformats.org/officeDocument/2006/relationships/image" Target="../media/image39.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1"/>
          <p:cNvSpPr txBox="1"/>
          <p:nvPr/>
        </p:nvSpPr>
        <p:spPr>
          <a:xfrm>
            <a:off x="548640" y="548640"/>
            <a:ext cx="58521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GOOGLE CLOUD AI BUILDER CUP 2026  ·  BFSI TRACK</a:t>
            </a:r>
            <a:endParaRPr b="0" i="0" sz="1200" u="none" cap="none" strike="noStrike">
              <a:solidFill>
                <a:schemeClr val="dk1"/>
              </a:solidFill>
              <a:latin typeface="Calibri"/>
              <a:ea typeface="Calibri"/>
              <a:cs typeface="Calibri"/>
              <a:sym typeface="Calibri"/>
            </a:endParaRPr>
          </a:p>
        </p:txBody>
      </p:sp>
      <p:sp>
        <p:nvSpPr>
          <p:cNvPr id="24" name="Google Shape;24;p1"/>
          <p:cNvSpPr txBox="1"/>
          <p:nvPr/>
        </p:nvSpPr>
        <p:spPr>
          <a:xfrm>
            <a:off x="548640" y="960120"/>
            <a:ext cx="603504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4400"/>
              <a:buFont typeface="Arial"/>
              <a:buNone/>
            </a:pPr>
            <a:r>
              <a:rPr b="1" i="0" lang="en-US" sz="4400" u="none" cap="none" strike="noStrike">
                <a:solidFill>
                  <a:schemeClr val="dk1"/>
                </a:solidFill>
                <a:latin typeface="Arial"/>
                <a:ea typeface="Arial"/>
                <a:cs typeface="Arial"/>
                <a:sym typeface="Arial"/>
              </a:rPr>
              <a:t>Property Inspection AI</a:t>
            </a:r>
            <a:endParaRPr b="0" i="0" sz="4400" u="none" cap="none" strike="noStrike">
              <a:solidFill>
                <a:schemeClr val="dk1"/>
              </a:solidFill>
              <a:latin typeface="Calibri"/>
              <a:ea typeface="Calibri"/>
              <a:cs typeface="Calibri"/>
              <a:sym typeface="Calibri"/>
            </a:endParaRPr>
          </a:p>
        </p:txBody>
      </p:sp>
      <p:sp>
        <p:nvSpPr>
          <p:cNvPr id="25" name="Google Shape;25;p1"/>
          <p:cNvSpPr txBox="1"/>
          <p:nvPr/>
        </p:nvSpPr>
        <p:spPr>
          <a:xfrm>
            <a:off x="548640" y="1920240"/>
            <a:ext cx="566928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2200"/>
              <a:buFont typeface="Calibri"/>
              <a:buNone/>
            </a:pPr>
            <a:r>
              <a:rPr b="0" i="1" lang="en-US" sz="2200" u="none" cap="none" strike="noStrike">
                <a:solidFill>
                  <a:schemeClr val="accent6"/>
                </a:solidFill>
                <a:latin typeface="Calibri"/>
                <a:ea typeface="Calibri"/>
                <a:cs typeface="Calibri"/>
                <a:sym typeface="Calibri"/>
              </a:rPr>
              <a:t>From a 20-second phone video to an underwriting-ready property risk file</a:t>
            </a:r>
            <a:endParaRPr b="0" i="0" sz="2200" u="none" cap="none" strike="noStrike">
              <a:solidFill>
                <a:schemeClr val="dk1"/>
              </a:solidFill>
              <a:latin typeface="Calibri"/>
              <a:ea typeface="Calibri"/>
              <a:cs typeface="Calibri"/>
              <a:sym typeface="Calibri"/>
            </a:endParaRPr>
          </a:p>
        </p:txBody>
      </p:sp>
      <p:sp>
        <p:nvSpPr>
          <p:cNvPr id="26" name="Google Shape;26;p1"/>
          <p:cNvSpPr txBox="1"/>
          <p:nvPr/>
        </p:nvSpPr>
        <p:spPr>
          <a:xfrm>
            <a:off x="548640" y="2880360"/>
            <a:ext cx="557784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500"/>
              <a:buFont typeface="Calibri"/>
              <a:buNone/>
            </a:pPr>
            <a:r>
              <a:rPr b="0" i="0" lang="en-US" sz="1500" u="none" cap="none" strike="noStrike">
                <a:solidFill>
                  <a:schemeClr val="dk2"/>
                </a:solidFill>
                <a:latin typeface="Calibri"/>
                <a:ea typeface="Calibri"/>
                <a:cs typeface="Calibri"/>
                <a:sym typeface="Calibri"/>
              </a:rPr>
              <a:t>Defects, condition grade, repair cost, valuation impact, fraud signals and a 3D proof of what was inspected, built for mortgage lenders, insurers and property inspectors.</a:t>
            </a:r>
            <a:endParaRPr b="0" i="0" sz="1500" u="none" cap="none" strike="noStrike">
              <a:solidFill>
                <a:schemeClr val="dk1"/>
              </a:solidFill>
              <a:latin typeface="Calibri"/>
              <a:ea typeface="Calibri"/>
              <a:cs typeface="Calibri"/>
              <a:sym typeface="Calibri"/>
            </a:endParaRPr>
          </a:p>
        </p:txBody>
      </p:sp>
      <p:sp>
        <p:nvSpPr>
          <p:cNvPr id="27" name="Google Shape;27;p1"/>
          <p:cNvSpPr/>
          <p:nvPr/>
        </p:nvSpPr>
        <p:spPr>
          <a:xfrm>
            <a:off x="548640" y="4069080"/>
            <a:ext cx="1691640" cy="329184"/>
          </a:xfrm>
          <a:prstGeom prst="roundRect">
            <a:avLst>
              <a:gd fmla="val 50000" name="adj"/>
            </a:avLst>
          </a:prstGeom>
          <a:solidFill>
            <a:srgbClr val="22D3EE">
              <a:alpha val="20000"/>
            </a:srgbClr>
          </a:solidFill>
          <a:ln cap="flat" cmpd="sng" w="12700">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txBox="1"/>
          <p:nvPr/>
        </p:nvSpPr>
        <p:spPr>
          <a:xfrm>
            <a:off x="548640" y="4069080"/>
            <a:ext cx="16916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200"/>
              <a:buFont typeface="Calibri"/>
              <a:buNone/>
            </a:pPr>
            <a:r>
              <a:rPr b="1" i="0" lang="en-US" sz="1200" u="none" cap="none" strike="noStrike">
                <a:solidFill>
                  <a:srgbClr val="22D3EE"/>
                </a:solidFill>
                <a:latin typeface="Calibri"/>
                <a:ea typeface="Calibri"/>
                <a:cs typeface="Calibri"/>
                <a:sym typeface="Calibri"/>
              </a:rPr>
              <a:t>Gemini 3.8 Flash</a:t>
            </a:r>
            <a:endParaRPr b="0" i="0" sz="1200" u="none" cap="none" strike="noStrike">
              <a:solidFill>
                <a:schemeClr val="dk1"/>
              </a:solidFill>
              <a:latin typeface="Calibri"/>
              <a:ea typeface="Calibri"/>
              <a:cs typeface="Calibri"/>
              <a:sym typeface="Calibri"/>
            </a:endParaRPr>
          </a:p>
        </p:txBody>
      </p:sp>
      <p:sp>
        <p:nvSpPr>
          <p:cNvPr id="29" name="Google Shape;29;p1"/>
          <p:cNvSpPr/>
          <p:nvPr/>
        </p:nvSpPr>
        <p:spPr>
          <a:xfrm>
            <a:off x="2377440" y="4069080"/>
            <a:ext cx="1051560" cy="329184"/>
          </a:xfrm>
          <a:prstGeom prst="roundRect">
            <a:avLst>
              <a:gd fmla="val 50000" name="adj"/>
            </a:avLst>
          </a:prstGeom>
          <a:solidFill>
            <a:srgbClr val="22D3EE">
              <a:alpha val="20000"/>
            </a:srgbClr>
          </a:solidFill>
          <a:ln cap="flat" cmpd="sng" w="12700">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1"/>
          <p:cNvSpPr txBox="1"/>
          <p:nvPr/>
        </p:nvSpPr>
        <p:spPr>
          <a:xfrm>
            <a:off x="2377440" y="4069080"/>
            <a:ext cx="105156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200"/>
              <a:buFont typeface="Calibri"/>
              <a:buNone/>
            </a:pPr>
            <a:r>
              <a:rPr b="1" i="0" lang="en-US" sz="1200" u="none" cap="none" strike="noStrike">
                <a:solidFill>
                  <a:srgbClr val="22D3EE"/>
                </a:solidFill>
                <a:latin typeface="Calibri"/>
                <a:ea typeface="Calibri"/>
                <a:cs typeface="Calibri"/>
                <a:sym typeface="Calibri"/>
              </a:rPr>
              <a:t>Gemma 4</a:t>
            </a:r>
            <a:endParaRPr b="0" i="0" sz="1200" u="none" cap="none" strike="noStrike">
              <a:solidFill>
                <a:schemeClr val="dk1"/>
              </a:solidFill>
              <a:latin typeface="Calibri"/>
              <a:ea typeface="Calibri"/>
              <a:cs typeface="Calibri"/>
              <a:sym typeface="Calibri"/>
            </a:endParaRPr>
          </a:p>
        </p:txBody>
      </p:sp>
      <p:sp>
        <p:nvSpPr>
          <p:cNvPr id="31" name="Google Shape;31;p1"/>
          <p:cNvSpPr/>
          <p:nvPr/>
        </p:nvSpPr>
        <p:spPr>
          <a:xfrm>
            <a:off x="3566160" y="4069080"/>
            <a:ext cx="1143000" cy="329184"/>
          </a:xfrm>
          <a:prstGeom prst="roundRect">
            <a:avLst>
              <a:gd fmla="val 50000" name="adj"/>
            </a:avLst>
          </a:prstGeom>
          <a:solidFill>
            <a:srgbClr val="6366F1">
              <a:alpha val="20000"/>
            </a:srgbClr>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1"/>
          <p:cNvSpPr txBox="1"/>
          <p:nvPr/>
        </p:nvSpPr>
        <p:spPr>
          <a:xfrm>
            <a:off x="3566160" y="4069080"/>
            <a:ext cx="114300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366F1"/>
              </a:buClr>
              <a:buSzPts val="1200"/>
              <a:buFont typeface="Calibri"/>
              <a:buNone/>
            </a:pPr>
            <a:r>
              <a:rPr b="1" i="0" lang="en-US" sz="1200" u="none" cap="none" strike="noStrike">
                <a:solidFill>
                  <a:srgbClr val="6366F1"/>
                </a:solidFill>
                <a:latin typeface="Calibri"/>
                <a:ea typeface="Calibri"/>
                <a:cs typeface="Calibri"/>
                <a:sym typeface="Calibri"/>
              </a:rPr>
              <a:t>Vertex AI</a:t>
            </a:r>
            <a:endParaRPr b="0" i="0" sz="1200" u="none" cap="none" strike="noStrike">
              <a:solidFill>
                <a:schemeClr val="dk1"/>
              </a:solidFill>
              <a:latin typeface="Calibri"/>
              <a:ea typeface="Calibri"/>
              <a:cs typeface="Calibri"/>
              <a:sym typeface="Calibri"/>
            </a:endParaRPr>
          </a:p>
        </p:txBody>
      </p:sp>
      <p:sp>
        <p:nvSpPr>
          <p:cNvPr id="33" name="Google Shape;33;p1"/>
          <p:cNvSpPr/>
          <p:nvPr/>
        </p:nvSpPr>
        <p:spPr>
          <a:xfrm>
            <a:off x="548640" y="4507992"/>
            <a:ext cx="1554480" cy="329184"/>
          </a:xfrm>
          <a:prstGeom prst="roundRect">
            <a:avLst>
              <a:gd fmla="val 50000" name="adj"/>
            </a:avLst>
          </a:prstGeom>
          <a:solidFill>
            <a:srgbClr val="6366F1">
              <a:alpha val="20000"/>
            </a:srgbClr>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1"/>
          <p:cNvSpPr txBox="1"/>
          <p:nvPr/>
        </p:nvSpPr>
        <p:spPr>
          <a:xfrm>
            <a:off x="548640" y="4507992"/>
            <a:ext cx="155448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366F1"/>
              </a:buClr>
              <a:buSzPts val="1200"/>
              <a:buFont typeface="Calibri"/>
              <a:buNone/>
            </a:pPr>
            <a:r>
              <a:rPr b="1" i="0" lang="en-US" sz="1200" u="none" cap="none" strike="noStrike">
                <a:solidFill>
                  <a:srgbClr val="6366F1"/>
                </a:solidFill>
                <a:latin typeface="Calibri"/>
                <a:ea typeface="Calibri"/>
                <a:cs typeface="Calibri"/>
                <a:sym typeface="Calibri"/>
              </a:rPr>
              <a:t>Cloud Run + L4</a:t>
            </a:r>
            <a:endParaRPr b="0" i="0" sz="1200" u="none" cap="none" strike="noStrike">
              <a:solidFill>
                <a:schemeClr val="dk1"/>
              </a:solidFill>
              <a:latin typeface="Calibri"/>
              <a:ea typeface="Calibri"/>
              <a:cs typeface="Calibri"/>
              <a:sym typeface="Calibri"/>
            </a:endParaRPr>
          </a:p>
        </p:txBody>
      </p:sp>
      <p:sp>
        <p:nvSpPr>
          <p:cNvPr id="35" name="Google Shape;35;p1"/>
          <p:cNvSpPr/>
          <p:nvPr/>
        </p:nvSpPr>
        <p:spPr>
          <a:xfrm>
            <a:off x="2240280" y="4507992"/>
            <a:ext cx="1143000" cy="329184"/>
          </a:xfrm>
          <a:prstGeom prst="roundRect">
            <a:avLst>
              <a:gd fmla="val 50000" name="adj"/>
            </a:avLst>
          </a:prstGeom>
          <a:solidFill>
            <a:srgbClr val="6366F1">
              <a:alpha val="20000"/>
            </a:srgbClr>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1"/>
          <p:cNvSpPr txBox="1"/>
          <p:nvPr/>
        </p:nvSpPr>
        <p:spPr>
          <a:xfrm>
            <a:off x="2240280" y="4507992"/>
            <a:ext cx="114300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366F1"/>
              </a:buClr>
              <a:buSzPts val="1200"/>
              <a:buFont typeface="Calibri"/>
              <a:buNone/>
            </a:pPr>
            <a:r>
              <a:rPr b="1" i="0" lang="en-US" sz="1200" u="none" cap="none" strike="noStrike">
                <a:solidFill>
                  <a:srgbClr val="6366F1"/>
                </a:solidFill>
                <a:latin typeface="Calibri"/>
                <a:ea typeface="Calibri"/>
                <a:cs typeface="Calibri"/>
                <a:sym typeface="Calibri"/>
              </a:rPr>
              <a:t>BigQuery</a:t>
            </a:r>
            <a:endParaRPr b="0" i="0" sz="1200" u="none" cap="none" strike="noStrike">
              <a:solidFill>
                <a:schemeClr val="dk1"/>
              </a:solidFill>
              <a:latin typeface="Calibri"/>
              <a:ea typeface="Calibri"/>
              <a:cs typeface="Calibri"/>
              <a:sym typeface="Calibri"/>
            </a:endParaRPr>
          </a:p>
        </p:txBody>
      </p:sp>
      <p:sp>
        <p:nvSpPr>
          <p:cNvPr id="37" name="Google Shape;37;p1"/>
          <p:cNvSpPr/>
          <p:nvPr/>
        </p:nvSpPr>
        <p:spPr>
          <a:xfrm>
            <a:off x="3520440" y="4507992"/>
            <a:ext cx="1005840" cy="329184"/>
          </a:xfrm>
          <a:prstGeom prst="roundRect">
            <a:avLst>
              <a:gd fmla="val 50000" name="adj"/>
            </a:avLst>
          </a:prstGeom>
          <a:solidFill>
            <a:srgbClr val="6366F1">
              <a:alpha val="20000"/>
            </a:srgbClr>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
          <p:cNvSpPr txBox="1"/>
          <p:nvPr/>
        </p:nvSpPr>
        <p:spPr>
          <a:xfrm>
            <a:off x="3520440" y="4507992"/>
            <a:ext cx="1005840"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366F1"/>
              </a:buClr>
              <a:buSzPts val="1200"/>
              <a:buFont typeface="Calibri"/>
              <a:buNone/>
            </a:pPr>
            <a:r>
              <a:rPr b="1" i="0" lang="en-US" sz="1200" u="none" cap="none" strike="noStrike">
                <a:solidFill>
                  <a:srgbClr val="6366F1"/>
                </a:solidFill>
                <a:latin typeface="Calibri"/>
                <a:ea typeface="Calibri"/>
                <a:cs typeface="Calibri"/>
                <a:sym typeface="Calibri"/>
              </a:rPr>
              <a:t>Pub/Sub</a:t>
            </a:r>
            <a:endParaRPr b="0" i="0" sz="1200" u="none" cap="none" strike="noStrike">
              <a:solidFill>
                <a:schemeClr val="dk1"/>
              </a:solidFill>
              <a:latin typeface="Calibri"/>
              <a:ea typeface="Calibri"/>
              <a:cs typeface="Calibri"/>
              <a:sym typeface="Calibri"/>
            </a:endParaRPr>
          </a:p>
        </p:txBody>
      </p:sp>
      <p:sp>
        <p:nvSpPr>
          <p:cNvPr id="39" name="Google Shape;39;p1"/>
          <p:cNvSpPr txBox="1"/>
          <p:nvPr/>
        </p:nvSpPr>
        <p:spPr>
          <a:xfrm>
            <a:off x="548640" y="6172200"/>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Team Xcore  ·  Track: Intelligent Risk, Fraud &amp; Financial Experiences  ·  Prototype v1.0.0  ·  October 2026</a:t>
            </a:r>
            <a:endParaRPr b="0" i="0" sz="1100" u="none" cap="none" strike="noStrike">
              <a:solidFill>
                <a:schemeClr val="dk1"/>
              </a:solidFill>
              <a:latin typeface="Calibri"/>
              <a:ea typeface="Calibri"/>
              <a:cs typeface="Calibri"/>
              <a:sym typeface="Calibri"/>
            </a:endParaRPr>
          </a:p>
        </p:txBody>
      </p:sp>
      <p:pic>
        <p:nvPicPr>
          <p:cNvPr descr="Team Xcore logo" id="40" name="Google Shape;40;p1"/>
          <p:cNvPicPr preferRelativeResize="0"/>
          <p:nvPr/>
        </p:nvPicPr>
        <p:blipFill rotWithShape="1">
          <a:blip r:embed="rId3">
            <a:alphaModFix/>
          </a:blip>
          <a:srcRect b="0" l="0" r="0" t="0"/>
          <a:stretch/>
        </p:blipFill>
        <p:spPr>
          <a:xfrm>
            <a:off x="10744200" y="320040"/>
            <a:ext cx="914400" cy="914400"/>
          </a:xfrm>
          <a:prstGeom prst="rect">
            <a:avLst/>
          </a:prstGeom>
          <a:noFill/>
          <a:ln>
            <a:noFill/>
          </a:ln>
        </p:spPr>
      </p:pic>
      <p:pic>
        <p:nvPicPr>
          <p:cNvPr descr="Concept illustration: phone video, 3D digital twin with defects, floor plan and risk dashboard" id="41" name="Google Shape;41;p1"/>
          <p:cNvPicPr preferRelativeResize="0"/>
          <p:nvPr/>
        </p:nvPicPr>
        <p:blipFill rotWithShape="1">
          <a:blip r:embed="rId4">
            <a:alphaModFix/>
          </a:blip>
          <a:srcRect b="0" l="0" r="0" t="0"/>
          <a:stretch/>
        </p:blipFill>
        <p:spPr>
          <a:xfrm>
            <a:off x="6446520" y="1188720"/>
            <a:ext cx="4892040" cy="4892040"/>
          </a:xfrm>
          <a:prstGeom prst="rect">
            <a:avLst/>
          </a:prstGeom>
          <a:noFill/>
          <a:ln>
            <a:noFill/>
          </a:ln>
        </p:spPr>
      </p:pic>
      <p:sp>
        <p:nvSpPr>
          <p:cNvPr id="42" name="Google Shape;42;p1"/>
          <p:cNvSpPr txBox="1"/>
          <p:nvPr/>
        </p:nvSpPr>
        <p:spPr>
          <a:xfrm>
            <a:off x="6629400" y="6053328"/>
            <a:ext cx="5074920"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100"/>
              <a:buFont typeface="Calibri"/>
              <a:buNone/>
            </a:pPr>
            <a:r>
              <a:rPr b="0" i="1" lang="en-US" sz="1100" u="none" cap="none" strike="noStrike">
                <a:solidFill>
                  <a:schemeClr val="dk2"/>
                </a:solidFill>
                <a:latin typeface="Calibri"/>
                <a:ea typeface="Calibri"/>
                <a:cs typeface="Calibri"/>
                <a:sym typeface="Calibri"/>
              </a:rPr>
              <a:t>Concept illustration of the product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 name="Shape 47"/>
        <p:cNvGrpSpPr/>
        <p:nvPr/>
      </p:nvGrpSpPr>
      <p:grpSpPr>
        <a:xfrm>
          <a:off x="0" y="0"/>
          <a:ext cx="0" cy="0"/>
          <a:chOff x="0" y="0"/>
          <a:chExt cx="0" cy="0"/>
        </a:xfrm>
      </p:grpSpPr>
      <p:sp>
        <p:nvSpPr>
          <p:cNvPr id="48" name="Google Shape;48;p2"/>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THE TEAM</a:t>
            </a:r>
            <a:endParaRPr sz="1200"/>
          </a:p>
        </p:txBody>
      </p:sp>
      <p:sp>
        <p:nvSpPr>
          <p:cNvPr id="49" name="Google Shape;49;p2"/>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Team Xcore</a:t>
            </a:r>
            <a:endParaRPr sz="3000"/>
          </a:p>
        </p:txBody>
      </p:sp>
      <p:pic>
        <p:nvPicPr>
          <p:cNvPr descr="Team Xcore logo" id="50" name="Google Shape;50;p2"/>
          <p:cNvPicPr preferRelativeResize="0"/>
          <p:nvPr/>
        </p:nvPicPr>
        <p:blipFill rotWithShape="1">
          <a:blip r:embed="rId3">
            <a:alphaModFix/>
          </a:blip>
          <a:srcRect b="0" l="0" r="0" t="0"/>
          <a:stretch/>
        </p:blipFill>
        <p:spPr>
          <a:xfrm>
            <a:off x="685800" y="1600200"/>
            <a:ext cx="2743200" cy="2743200"/>
          </a:xfrm>
          <a:prstGeom prst="rect">
            <a:avLst/>
          </a:prstGeom>
          <a:noFill/>
          <a:ln>
            <a:noFill/>
          </a:ln>
        </p:spPr>
      </p:pic>
      <p:sp>
        <p:nvSpPr>
          <p:cNvPr id="51" name="Google Shape;51;p2"/>
          <p:cNvSpPr txBox="1"/>
          <p:nvPr/>
        </p:nvSpPr>
        <p:spPr>
          <a:xfrm>
            <a:off x="548640" y="4526280"/>
            <a:ext cx="301752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Three builders covering Gen AI, vision and cloud architecture, from research to a deployed product.</a:t>
            </a:r>
            <a:endParaRPr b="0" i="0" sz="1400" u="none" cap="none" strike="noStrike">
              <a:solidFill>
                <a:schemeClr val="dk1"/>
              </a:solidFill>
              <a:latin typeface="Calibri"/>
              <a:ea typeface="Calibri"/>
              <a:cs typeface="Calibri"/>
              <a:sym typeface="Calibri"/>
            </a:endParaRPr>
          </a:p>
        </p:txBody>
      </p:sp>
      <p:sp>
        <p:nvSpPr>
          <p:cNvPr id="52" name="Google Shape;52;p2"/>
          <p:cNvSpPr/>
          <p:nvPr/>
        </p:nvSpPr>
        <p:spPr>
          <a:xfrm>
            <a:off x="3977640" y="1600200"/>
            <a:ext cx="2423160" cy="3931920"/>
          </a:xfrm>
          <a:prstGeom prst="roundRect">
            <a:avLst>
              <a:gd fmla="val 4528"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4325112" y="1801368"/>
            <a:ext cx="1737360" cy="1737360"/>
          </a:xfrm>
          <a:prstGeom prst="ellipse">
            <a:avLst/>
          </a:prstGeom>
          <a:solidFill>
            <a:srgbClr val="6366F1"/>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anveer Ahamed" id="54" name="Google Shape;54;p2"/>
          <p:cNvPicPr preferRelativeResize="0"/>
          <p:nvPr/>
        </p:nvPicPr>
        <p:blipFill rotWithShape="1">
          <a:blip r:embed="rId4">
            <a:alphaModFix/>
          </a:blip>
          <a:srcRect b="0" l="0" r="0" t="0"/>
          <a:stretch/>
        </p:blipFill>
        <p:spPr>
          <a:xfrm>
            <a:off x="4389120" y="1865376"/>
            <a:ext cx="1609344" cy="1609344"/>
          </a:xfrm>
          <a:prstGeom prst="rect">
            <a:avLst/>
          </a:prstGeom>
          <a:noFill/>
          <a:ln>
            <a:noFill/>
          </a:ln>
        </p:spPr>
      </p:pic>
      <p:sp>
        <p:nvSpPr>
          <p:cNvPr id="55" name="Google Shape;55;p2"/>
          <p:cNvSpPr txBox="1"/>
          <p:nvPr/>
        </p:nvSpPr>
        <p:spPr>
          <a:xfrm>
            <a:off x="4114800" y="3749040"/>
            <a:ext cx="214884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Thanveer Ahamed</a:t>
            </a:r>
            <a:endParaRPr b="0" i="0" sz="1700" u="none" cap="none" strike="noStrike">
              <a:solidFill>
                <a:schemeClr val="dk1"/>
              </a:solidFill>
              <a:latin typeface="Calibri"/>
              <a:ea typeface="Calibri"/>
              <a:cs typeface="Calibri"/>
              <a:sym typeface="Calibri"/>
            </a:endParaRPr>
          </a:p>
        </p:txBody>
      </p:sp>
      <p:sp>
        <p:nvSpPr>
          <p:cNvPr id="56" name="Google Shape;56;p2"/>
          <p:cNvSpPr txBox="1"/>
          <p:nvPr/>
        </p:nvSpPr>
        <p:spPr>
          <a:xfrm>
            <a:off x="4114800" y="4114800"/>
            <a:ext cx="214884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Gen AI Lead</a:t>
            </a:r>
            <a:endParaRPr b="0" i="0" sz="1400" u="none" cap="none" strike="noStrike">
              <a:solidFill>
                <a:schemeClr val="dk1"/>
              </a:solidFill>
              <a:latin typeface="Calibri"/>
              <a:ea typeface="Calibri"/>
              <a:cs typeface="Calibri"/>
              <a:sym typeface="Calibri"/>
            </a:endParaRPr>
          </a:p>
        </p:txBody>
      </p:sp>
      <p:sp>
        <p:nvSpPr>
          <p:cNvPr id="57" name="Google Shape;57;p2"/>
          <p:cNvSpPr txBox="1"/>
          <p:nvPr/>
        </p:nvSpPr>
        <p:spPr>
          <a:xfrm>
            <a:off x="4160520" y="4526280"/>
            <a:ext cx="205740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Gemini and Gemma reasoning, prompts, verification, analysis and the underwriting assistant</a:t>
            </a:r>
            <a:endParaRPr b="0" i="0" sz="1200" u="none" cap="none" strike="noStrike">
              <a:solidFill>
                <a:schemeClr val="dk1"/>
              </a:solidFill>
              <a:latin typeface="Calibri"/>
              <a:ea typeface="Calibri"/>
              <a:cs typeface="Calibri"/>
              <a:sym typeface="Calibri"/>
            </a:endParaRPr>
          </a:p>
        </p:txBody>
      </p:sp>
      <p:sp>
        <p:nvSpPr>
          <p:cNvPr id="58" name="Google Shape;58;p2"/>
          <p:cNvSpPr/>
          <p:nvPr/>
        </p:nvSpPr>
        <p:spPr>
          <a:xfrm>
            <a:off x="6583680" y="1600200"/>
            <a:ext cx="2423160" cy="3931920"/>
          </a:xfrm>
          <a:prstGeom prst="roundRect">
            <a:avLst>
              <a:gd fmla="val 4528"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6931152" y="1801368"/>
            <a:ext cx="1737360" cy="1737360"/>
          </a:xfrm>
          <a:prstGeom prst="ellipse">
            <a:avLst/>
          </a:prstGeom>
          <a:solidFill>
            <a:srgbClr val="6366F1"/>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Janitha Prathapa" id="60" name="Google Shape;60;p2"/>
          <p:cNvPicPr preferRelativeResize="0"/>
          <p:nvPr/>
        </p:nvPicPr>
        <p:blipFill rotWithShape="1">
          <a:blip r:embed="rId5">
            <a:alphaModFix/>
          </a:blip>
          <a:srcRect b="0" l="0" r="0" t="0"/>
          <a:stretch/>
        </p:blipFill>
        <p:spPr>
          <a:xfrm>
            <a:off x="6995160" y="1865376"/>
            <a:ext cx="1609344" cy="1609344"/>
          </a:xfrm>
          <a:prstGeom prst="rect">
            <a:avLst/>
          </a:prstGeom>
          <a:noFill/>
          <a:ln>
            <a:noFill/>
          </a:ln>
        </p:spPr>
      </p:pic>
      <p:sp>
        <p:nvSpPr>
          <p:cNvPr id="61" name="Google Shape;61;p2"/>
          <p:cNvSpPr txBox="1"/>
          <p:nvPr/>
        </p:nvSpPr>
        <p:spPr>
          <a:xfrm>
            <a:off x="6720840" y="3749040"/>
            <a:ext cx="214884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Janitha Prathapa</a:t>
            </a:r>
            <a:endParaRPr b="0" i="0" sz="1700" u="none" cap="none" strike="noStrike">
              <a:solidFill>
                <a:schemeClr val="dk1"/>
              </a:solidFill>
              <a:latin typeface="Calibri"/>
              <a:ea typeface="Calibri"/>
              <a:cs typeface="Calibri"/>
              <a:sym typeface="Calibri"/>
            </a:endParaRPr>
          </a:p>
        </p:txBody>
      </p:sp>
      <p:sp>
        <p:nvSpPr>
          <p:cNvPr id="62" name="Google Shape;62;p2"/>
          <p:cNvSpPr txBox="1"/>
          <p:nvPr/>
        </p:nvSpPr>
        <p:spPr>
          <a:xfrm>
            <a:off x="6720840" y="4114800"/>
            <a:ext cx="214884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Vision AI Lead</a:t>
            </a:r>
            <a:endParaRPr b="0" i="0" sz="1400" u="none" cap="none" strike="noStrike">
              <a:solidFill>
                <a:schemeClr val="dk1"/>
              </a:solidFill>
              <a:latin typeface="Calibri"/>
              <a:ea typeface="Calibri"/>
              <a:cs typeface="Calibri"/>
              <a:sym typeface="Calibri"/>
            </a:endParaRPr>
          </a:p>
        </p:txBody>
      </p:sp>
      <p:sp>
        <p:nvSpPr>
          <p:cNvPr id="63" name="Google Shape;63;p2"/>
          <p:cNvSpPr txBox="1"/>
          <p:nvPr/>
        </p:nvSpPr>
        <p:spPr>
          <a:xfrm>
            <a:off x="6766560" y="4526280"/>
            <a:ext cx="205740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Defect detection, Depth Anything 3, SLAM, 3D model, floor plan and coverage map</a:t>
            </a:r>
            <a:endParaRPr b="0" i="0" sz="1200" u="none" cap="none" strike="noStrike">
              <a:solidFill>
                <a:schemeClr val="dk1"/>
              </a:solidFill>
              <a:latin typeface="Calibri"/>
              <a:ea typeface="Calibri"/>
              <a:cs typeface="Calibri"/>
              <a:sym typeface="Calibri"/>
            </a:endParaRPr>
          </a:p>
        </p:txBody>
      </p:sp>
      <p:sp>
        <p:nvSpPr>
          <p:cNvPr id="64" name="Google Shape;64;p2"/>
          <p:cNvSpPr/>
          <p:nvPr/>
        </p:nvSpPr>
        <p:spPr>
          <a:xfrm>
            <a:off x="9189720" y="1600200"/>
            <a:ext cx="2423160" cy="3931920"/>
          </a:xfrm>
          <a:prstGeom prst="roundRect">
            <a:avLst>
              <a:gd fmla="val 4528"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9537192" y="1801368"/>
            <a:ext cx="1737360" cy="1737360"/>
          </a:xfrm>
          <a:prstGeom prst="ellipse">
            <a:avLst/>
          </a:prstGeom>
          <a:solidFill>
            <a:srgbClr val="6366F1"/>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inal Fernando" id="66" name="Google Shape;66;p2"/>
          <p:cNvPicPr preferRelativeResize="0"/>
          <p:nvPr/>
        </p:nvPicPr>
        <p:blipFill rotWithShape="1">
          <a:blip r:embed="rId6">
            <a:alphaModFix/>
          </a:blip>
          <a:srcRect b="0" l="0" r="0" t="0"/>
          <a:stretch/>
        </p:blipFill>
        <p:spPr>
          <a:xfrm>
            <a:off x="9601200" y="1865376"/>
            <a:ext cx="1609344" cy="1609344"/>
          </a:xfrm>
          <a:prstGeom prst="rect">
            <a:avLst/>
          </a:prstGeom>
          <a:noFill/>
          <a:ln>
            <a:noFill/>
          </a:ln>
        </p:spPr>
      </p:pic>
      <p:sp>
        <p:nvSpPr>
          <p:cNvPr id="67" name="Google Shape;67;p2"/>
          <p:cNvSpPr txBox="1"/>
          <p:nvPr/>
        </p:nvSpPr>
        <p:spPr>
          <a:xfrm>
            <a:off x="9326880" y="3749040"/>
            <a:ext cx="2148840"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Dinal Fernando</a:t>
            </a:r>
            <a:endParaRPr b="0" i="0" sz="1700" u="none" cap="none" strike="noStrike">
              <a:solidFill>
                <a:schemeClr val="dk1"/>
              </a:solidFill>
              <a:latin typeface="Calibri"/>
              <a:ea typeface="Calibri"/>
              <a:cs typeface="Calibri"/>
              <a:sym typeface="Calibri"/>
            </a:endParaRPr>
          </a:p>
        </p:txBody>
      </p:sp>
      <p:sp>
        <p:nvSpPr>
          <p:cNvPr id="68" name="Google Shape;68;p2"/>
          <p:cNvSpPr txBox="1"/>
          <p:nvPr/>
        </p:nvSpPr>
        <p:spPr>
          <a:xfrm>
            <a:off x="9326880" y="4114800"/>
            <a:ext cx="2148840"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Solution Architect</a:t>
            </a:r>
            <a:endParaRPr b="0" i="0" sz="1400" u="none" cap="none" strike="noStrike">
              <a:solidFill>
                <a:schemeClr val="dk1"/>
              </a:solidFill>
              <a:latin typeface="Calibri"/>
              <a:ea typeface="Calibri"/>
              <a:cs typeface="Calibri"/>
              <a:sym typeface="Calibri"/>
            </a:endParaRPr>
          </a:p>
        </p:txBody>
      </p:sp>
      <p:sp>
        <p:nvSpPr>
          <p:cNvPr id="69" name="Google Shape;69;p2"/>
          <p:cNvSpPr txBox="1"/>
          <p:nvPr/>
        </p:nvSpPr>
        <p:spPr>
          <a:xfrm>
            <a:off x="9372600" y="4526280"/>
            <a:ext cx="205740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Google Cloud architecture: Cloud Run, Vertex AI, BigQuery, Pub/Sub and deployment</a:t>
            </a:r>
            <a:endParaRPr b="0" i="0" sz="1200" u="none" cap="none" strike="noStrike">
              <a:solidFill>
                <a:schemeClr val="dk1"/>
              </a:solidFill>
              <a:latin typeface="Calibri"/>
              <a:ea typeface="Calibri"/>
              <a:cs typeface="Calibri"/>
              <a:sym typeface="Calibri"/>
            </a:endParaRPr>
          </a:p>
        </p:txBody>
      </p:sp>
      <p:sp>
        <p:nvSpPr>
          <p:cNvPr id="70" name="Google Shape;70;p2"/>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3"/>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THE PROBLEM</a:t>
            </a:r>
            <a:endParaRPr sz="1200"/>
          </a:p>
        </p:txBody>
      </p:sp>
      <p:sp>
        <p:nvSpPr>
          <p:cNvPr id="77" name="Google Shape;77;p3"/>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Property risk is judged from photos nobody can verify</a:t>
            </a:r>
            <a:endParaRPr sz="3000"/>
          </a:p>
        </p:txBody>
      </p:sp>
      <p:sp>
        <p:nvSpPr>
          <p:cNvPr id="78" name="Google Shape;78;p3"/>
          <p:cNvSpPr/>
          <p:nvPr/>
        </p:nvSpPr>
        <p:spPr>
          <a:xfrm>
            <a:off x="548640" y="1600200"/>
            <a:ext cx="420624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3"/>
          <p:cNvSpPr txBox="1"/>
          <p:nvPr/>
        </p:nvSpPr>
        <p:spPr>
          <a:xfrm>
            <a:off x="777240" y="1737360"/>
            <a:ext cx="384048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600"/>
              <a:buFont typeface="Arial"/>
              <a:buNone/>
            </a:pPr>
            <a:r>
              <a:rPr b="1" i="0" lang="en-US" sz="3600" u="none" cap="none" strike="noStrike">
                <a:solidFill>
                  <a:schemeClr val="accent3"/>
                </a:solidFill>
                <a:latin typeface="Arial"/>
                <a:ea typeface="Arial"/>
                <a:cs typeface="Arial"/>
                <a:sym typeface="Arial"/>
              </a:rPr>
              <a:t>$308.6B</a:t>
            </a:r>
            <a:endParaRPr b="0" i="0" sz="3600" u="none" cap="none" strike="noStrike">
              <a:solidFill>
                <a:schemeClr val="dk1"/>
              </a:solidFill>
              <a:latin typeface="Calibri"/>
              <a:ea typeface="Calibri"/>
              <a:cs typeface="Calibri"/>
              <a:sym typeface="Calibri"/>
            </a:endParaRPr>
          </a:p>
        </p:txBody>
      </p:sp>
      <p:sp>
        <p:nvSpPr>
          <p:cNvPr id="80" name="Google Shape;80;p3"/>
          <p:cNvSpPr txBox="1"/>
          <p:nvPr/>
        </p:nvSpPr>
        <p:spPr>
          <a:xfrm>
            <a:off x="777240" y="2331720"/>
            <a:ext cx="38404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estimated yearly US insurance fraud, all lines</a:t>
            </a:r>
            <a:endParaRPr b="0" i="0" sz="1400" u="none" cap="none" strike="noStrike">
              <a:solidFill>
                <a:schemeClr val="dk1"/>
              </a:solidFill>
              <a:latin typeface="Calibri"/>
              <a:ea typeface="Calibri"/>
              <a:cs typeface="Calibri"/>
              <a:sym typeface="Calibri"/>
            </a:endParaRPr>
          </a:p>
        </p:txBody>
      </p:sp>
      <p:sp>
        <p:nvSpPr>
          <p:cNvPr id="81" name="Google Shape;81;p3"/>
          <p:cNvSpPr txBox="1"/>
          <p:nvPr/>
        </p:nvSpPr>
        <p:spPr>
          <a:xfrm>
            <a:off x="777240" y="2606040"/>
            <a:ext cx="38404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1" lang="en-US" sz="1000" u="none" cap="none" strike="noStrike">
                <a:solidFill>
                  <a:schemeClr val="dk2"/>
                </a:solidFill>
                <a:latin typeface="Calibri"/>
                <a:ea typeface="Calibri"/>
                <a:cs typeface="Calibri"/>
                <a:sym typeface="Calibri"/>
              </a:rPr>
              <a:t>Coalition Against Insurance Fraud, 2022</a:t>
            </a:r>
            <a:endParaRPr b="0" i="0" sz="1000" u="none" cap="none" strike="noStrike">
              <a:solidFill>
                <a:schemeClr val="dk1"/>
              </a:solidFill>
              <a:latin typeface="Calibri"/>
              <a:ea typeface="Calibri"/>
              <a:cs typeface="Calibri"/>
              <a:sym typeface="Calibri"/>
            </a:endParaRPr>
          </a:p>
        </p:txBody>
      </p:sp>
      <p:sp>
        <p:nvSpPr>
          <p:cNvPr id="82" name="Google Shape;82;p3"/>
          <p:cNvSpPr/>
          <p:nvPr/>
        </p:nvSpPr>
        <p:spPr>
          <a:xfrm>
            <a:off x="548640" y="3108960"/>
            <a:ext cx="420624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3"/>
          <p:cNvSpPr txBox="1"/>
          <p:nvPr/>
        </p:nvSpPr>
        <p:spPr>
          <a:xfrm>
            <a:off x="777240" y="3246120"/>
            <a:ext cx="384048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600"/>
              <a:buFont typeface="Arial"/>
              <a:buNone/>
            </a:pPr>
            <a:r>
              <a:rPr b="1" i="0" lang="en-US" sz="3600" u="none" cap="none" strike="noStrike">
                <a:solidFill>
                  <a:schemeClr val="accent3"/>
                </a:solidFill>
                <a:latin typeface="Arial"/>
                <a:ea typeface="Arial"/>
                <a:cs typeface="Arial"/>
                <a:sym typeface="Arial"/>
              </a:rPr>
              <a:t>~$45B</a:t>
            </a:r>
            <a:endParaRPr b="0" i="0" sz="3600" u="none" cap="none" strike="noStrike">
              <a:solidFill>
                <a:schemeClr val="dk1"/>
              </a:solidFill>
              <a:latin typeface="Calibri"/>
              <a:ea typeface="Calibri"/>
              <a:cs typeface="Calibri"/>
              <a:sym typeface="Calibri"/>
            </a:endParaRPr>
          </a:p>
        </p:txBody>
      </p:sp>
      <p:sp>
        <p:nvSpPr>
          <p:cNvPr id="84" name="Google Shape;84;p3"/>
          <p:cNvSpPr txBox="1"/>
          <p:nvPr/>
        </p:nvSpPr>
        <p:spPr>
          <a:xfrm>
            <a:off x="777240" y="3840480"/>
            <a:ext cx="38404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of that in property &amp; casualty insurance</a:t>
            </a:r>
            <a:endParaRPr b="0" i="0" sz="1400" u="none" cap="none" strike="noStrike">
              <a:solidFill>
                <a:schemeClr val="dk1"/>
              </a:solidFill>
              <a:latin typeface="Calibri"/>
              <a:ea typeface="Calibri"/>
              <a:cs typeface="Calibri"/>
              <a:sym typeface="Calibri"/>
            </a:endParaRPr>
          </a:p>
        </p:txBody>
      </p:sp>
      <p:sp>
        <p:nvSpPr>
          <p:cNvPr id="85" name="Google Shape;85;p3"/>
          <p:cNvSpPr txBox="1"/>
          <p:nvPr/>
        </p:nvSpPr>
        <p:spPr>
          <a:xfrm>
            <a:off x="777240" y="4114800"/>
            <a:ext cx="38404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1" lang="en-US" sz="1000" u="none" cap="none" strike="noStrike">
                <a:solidFill>
                  <a:schemeClr val="dk2"/>
                </a:solidFill>
                <a:latin typeface="Calibri"/>
                <a:ea typeface="Calibri"/>
                <a:cs typeface="Calibri"/>
                <a:sym typeface="Calibri"/>
              </a:rPr>
              <a:t>same study</a:t>
            </a:r>
            <a:endParaRPr b="0" i="0" sz="1000" u="none" cap="none" strike="noStrike">
              <a:solidFill>
                <a:schemeClr val="dk1"/>
              </a:solidFill>
              <a:latin typeface="Calibri"/>
              <a:ea typeface="Calibri"/>
              <a:cs typeface="Calibri"/>
              <a:sym typeface="Calibri"/>
            </a:endParaRPr>
          </a:p>
        </p:txBody>
      </p:sp>
      <p:sp>
        <p:nvSpPr>
          <p:cNvPr id="86" name="Google Shape;86;p3"/>
          <p:cNvSpPr/>
          <p:nvPr/>
        </p:nvSpPr>
        <p:spPr>
          <a:xfrm>
            <a:off x="548640" y="4617720"/>
            <a:ext cx="420624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3"/>
          <p:cNvSpPr txBox="1"/>
          <p:nvPr/>
        </p:nvSpPr>
        <p:spPr>
          <a:xfrm>
            <a:off x="777240" y="4754880"/>
            <a:ext cx="384048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600"/>
              <a:buFont typeface="Arial"/>
              <a:buNone/>
            </a:pPr>
            <a:r>
              <a:rPr b="1" i="0" lang="en-US" sz="3600" u="none" cap="none" strike="noStrike">
                <a:solidFill>
                  <a:schemeClr val="accent2"/>
                </a:solidFill>
                <a:latin typeface="Arial"/>
                <a:ea typeface="Arial"/>
                <a:cs typeface="Arial"/>
                <a:sym typeface="Arial"/>
              </a:rPr>
              <a:t>$4.5–12.5B</a:t>
            </a:r>
            <a:endParaRPr b="0" i="0" sz="3600" u="none" cap="none" strike="noStrike">
              <a:solidFill>
                <a:schemeClr val="dk1"/>
              </a:solidFill>
              <a:latin typeface="Calibri"/>
              <a:ea typeface="Calibri"/>
              <a:cs typeface="Calibri"/>
              <a:sym typeface="Calibri"/>
            </a:endParaRPr>
          </a:p>
        </p:txBody>
      </p:sp>
      <p:sp>
        <p:nvSpPr>
          <p:cNvPr id="88" name="Google Shape;88;p3"/>
          <p:cNvSpPr txBox="1"/>
          <p:nvPr/>
        </p:nvSpPr>
        <p:spPr>
          <a:xfrm>
            <a:off x="777240" y="5349240"/>
            <a:ext cx="38404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global home-inspection services market, 2025</a:t>
            </a:r>
            <a:endParaRPr b="0" i="0" sz="1400" u="none" cap="none" strike="noStrike">
              <a:solidFill>
                <a:schemeClr val="dk1"/>
              </a:solidFill>
              <a:latin typeface="Calibri"/>
              <a:ea typeface="Calibri"/>
              <a:cs typeface="Calibri"/>
              <a:sym typeface="Calibri"/>
            </a:endParaRPr>
          </a:p>
        </p:txBody>
      </p:sp>
      <p:sp>
        <p:nvSpPr>
          <p:cNvPr id="89" name="Google Shape;89;p3"/>
          <p:cNvSpPr txBox="1"/>
          <p:nvPr/>
        </p:nvSpPr>
        <p:spPr>
          <a:xfrm>
            <a:off x="777240" y="5623560"/>
            <a:ext cx="38404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1" lang="en-US" sz="1000" u="none" cap="none" strike="noStrike">
                <a:solidFill>
                  <a:schemeClr val="dk2"/>
                </a:solidFill>
                <a:latin typeface="Calibri"/>
                <a:ea typeface="Calibri"/>
                <a:cs typeface="Calibri"/>
                <a:sym typeface="Calibri"/>
              </a:rPr>
              <a:t>industry market reports</a:t>
            </a:r>
            <a:endParaRPr b="0" i="0" sz="1000" u="none" cap="none" strike="noStrike">
              <a:solidFill>
                <a:schemeClr val="dk1"/>
              </a:solidFill>
              <a:latin typeface="Calibri"/>
              <a:ea typeface="Calibri"/>
              <a:cs typeface="Calibri"/>
              <a:sym typeface="Calibri"/>
            </a:endParaRPr>
          </a:p>
        </p:txBody>
      </p:sp>
      <p:sp>
        <p:nvSpPr>
          <p:cNvPr id="90" name="Google Shape;90;p3"/>
          <p:cNvSpPr/>
          <p:nvPr/>
        </p:nvSpPr>
        <p:spPr>
          <a:xfrm>
            <a:off x="5166360" y="1645920"/>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1" name="Google Shape;91;p3"/>
          <p:cNvPicPr preferRelativeResize="0"/>
          <p:nvPr/>
        </p:nvPicPr>
        <p:blipFill rotWithShape="1">
          <a:blip r:embed="rId3">
            <a:alphaModFix/>
          </a:blip>
          <a:srcRect b="0" l="0" r="0" t="0"/>
          <a:stretch/>
        </p:blipFill>
        <p:spPr>
          <a:xfrm>
            <a:off x="5292090" y="1771650"/>
            <a:ext cx="251460" cy="251460"/>
          </a:xfrm>
          <a:prstGeom prst="rect">
            <a:avLst/>
          </a:prstGeom>
          <a:noFill/>
          <a:ln>
            <a:noFill/>
          </a:ln>
        </p:spPr>
      </p:pic>
      <p:sp>
        <p:nvSpPr>
          <p:cNvPr id="92" name="Google Shape;92;p3"/>
          <p:cNvSpPr txBox="1"/>
          <p:nvPr/>
        </p:nvSpPr>
        <p:spPr>
          <a:xfrm>
            <a:off x="5852160" y="1600200"/>
            <a:ext cx="57607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Slow, costly site visits</a:t>
            </a:r>
            <a:endParaRPr b="0" i="0" sz="1700" u="none" cap="none" strike="noStrike">
              <a:solidFill>
                <a:schemeClr val="dk1"/>
              </a:solidFill>
              <a:latin typeface="Calibri"/>
              <a:ea typeface="Calibri"/>
              <a:cs typeface="Calibri"/>
              <a:sym typeface="Calibri"/>
            </a:endParaRPr>
          </a:p>
        </p:txBody>
      </p:sp>
      <p:sp>
        <p:nvSpPr>
          <p:cNvPr id="93" name="Google Shape;93;p3"/>
          <p:cNvSpPr txBox="1"/>
          <p:nvPr/>
        </p:nvSpPr>
        <p:spPr>
          <a:xfrm>
            <a:off x="5852160" y="1938528"/>
            <a:ext cx="57607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Lenders and insurers wait days for an inspector; remote cases go unchecked.</a:t>
            </a:r>
            <a:endParaRPr b="0" i="0" sz="1400" u="none" cap="none" strike="noStrike">
              <a:solidFill>
                <a:schemeClr val="dk1"/>
              </a:solidFill>
              <a:latin typeface="Calibri"/>
              <a:ea typeface="Calibri"/>
              <a:cs typeface="Calibri"/>
              <a:sym typeface="Calibri"/>
            </a:endParaRPr>
          </a:p>
        </p:txBody>
      </p:sp>
      <p:sp>
        <p:nvSpPr>
          <p:cNvPr id="94" name="Google Shape;94;p3"/>
          <p:cNvSpPr/>
          <p:nvPr/>
        </p:nvSpPr>
        <p:spPr>
          <a:xfrm>
            <a:off x="5166360" y="2551176"/>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5" name="Google Shape;95;p3"/>
          <p:cNvPicPr preferRelativeResize="0"/>
          <p:nvPr/>
        </p:nvPicPr>
        <p:blipFill rotWithShape="1">
          <a:blip r:embed="rId4">
            <a:alphaModFix/>
          </a:blip>
          <a:srcRect b="0" l="0" r="0" t="0"/>
          <a:stretch/>
        </p:blipFill>
        <p:spPr>
          <a:xfrm>
            <a:off x="5292090" y="2676906"/>
            <a:ext cx="251460" cy="251460"/>
          </a:xfrm>
          <a:prstGeom prst="rect">
            <a:avLst/>
          </a:prstGeom>
          <a:noFill/>
          <a:ln>
            <a:noFill/>
          </a:ln>
        </p:spPr>
      </p:pic>
      <p:sp>
        <p:nvSpPr>
          <p:cNvPr id="96" name="Google Shape;96;p3"/>
          <p:cNvSpPr txBox="1"/>
          <p:nvPr/>
        </p:nvSpPr>
        <p:spPr>
          <a:xfrm>
            <a:off x="5852160" y="2505456"/>
            <a:ext cx="57607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Unverifiable self-reported photos</a:t>
            </a:r>
            <a:endParaRPr b="0" i="0" sz="1700" u="none" cap="none" strike="noStrike">
              <a:solidFill>
                <a:schemeClr val="dk1"/>
              </a:solidFill>
              <a:latin typeface="Calibri"/>
              <a:ea typeface="Calibri"/>
              <a:cs typeface="Calibri"/>
              <a:sym typeface="Calibri"/>
            </a:endParaRPr>
          </a:p>
        </p:txBody>
      </p:sp>
      <p:sp>
        <p:nvSpPr>
          <p:cNvPr id="97" name="Google Shape;97;p3"/>
          <p:cNvSpPr txBox="1"/>
          <p:nvPr/>
        </p:nvSpPr>
        <p:spPr>
          <a:xfrm>
            <a:off x="5852160" y="2843784"/>
            <a:ext cx="57607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Photos get reused, edited, shot off a screen or taken at another property.</a:t>
            </a:r>
            <a:endParaRPr b="0" i="0" sz="1400" u="none" cap="none" strike="noStrike">
              <a:solidFill>
                <a:schemeClr val="dk1"/>
              </a:solidFill>
              <a:latin typeface="Calibri"/>
              <a:ea typeface="Calibri"/>
              <a:cs typeface="Calibri"/>
              <a:sym typeface="Calibri"/>
            </a:endParaRPr>
          </a:p>
        </p:txBody>
      </p:sp>
      <p:sp>
        <p:nvSpPr>
          <p:cNvPr id="98" name="Google Shape;98;p3"/>
          <p:cNvSpPr/>
          <p:nvPr/>
        </p:nvSpPr>
        <p:spPr>
          <a:xfrm>
            <a:off x="5166360" y="3456432"/>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9" name="Google Shape;99;p3"/>
          <p:cNvPicPr preferRelativeResize="0"/>
          <p:nvPr/>
        </p:nvPicPr>
        <p:blipFill rotWithShape="1">
          <a:blip r:embed="rId5">
            <a:alphaModFix/>
          </a:blip>
          <a:srcRect b="0" l="0" r="0" t="0"/>
          <a:stretch/>
        </p:blipFill>
        <p:spPr>
          <a:xfrm>
            <a:off x="5292090" y="3582162"/>
            <a:ext cx="251460" cy="251460"/>
          </a:xfrm>
          <a:prstGeom prst="rect">
            <a:avLst/>
          </a:prstGeom>
          <a:noFill/>
          <a:ln>
            <a:noFill/>
          </a:ln>
        </p:spPr>
      </p:pic>
      <p:sp>
        <p:nvSpPr>
          <p:cNvPr id="100" name="Google Shape;100;p3"/>
          <p:cNvSpPr txBox="1"/>
          <p:nvPr/>
        </p:nvSpPr>
        <p:spPr>
          <a:xfrm>
            <a:off x="5852160" y="3410712"/>
            <a:ext cx="57607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No proof of what was inspected</a:t>
            </a:r>
            <a:endParaRPr b="0" i="0" sz="1700" u="none" cap="none" strike="noStrike">
              <a:solidFill>
                <a:schemeClr val="dk1"/>
              </a:solidFill>
              <a:latin typeface="Calibri"/>
              <a:ea typeface="Calibri"/>
              <a:cs typeface="Calibri"/>
              <a:sym typeface="Calibri"/>
            </a:endParaRPr>
          </a:p>
        </p:txBody>
      </p:sp>
      <p:sp>
        <p:nvSpPr>
          <p:cNvPr id="101" name="Google Shape;101;p3"/>
          <p:cNvSpPr txBox="1"/>
          <p:nvPr/>
        </p:nvSpPr>
        <p:spPr>
          <a:xfrm>
            <a:off x="5852160" y="3749040"/>
            <a:ext cx="57607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Nobody can tell which walls or ceilings a remote inspection actually covered.</a:t>
            </a:r>
            <a:endParaRPr b="0" i="0" sz="1400" u="none" cap="none" strike="noStrike">
              <a:solidFill>
                <a:schemeClr val="dk1"/>
              </a:solidFill>
              <a:latin typeface="Calibri"/>
              <a:ea typeface="Calibri"/>
              <a:cs typeface="Calibri"/>
              <a:sym typeface="Calibri"/>
            </a:endParaRPr>
          </a:p>
        </p:txBody>
      </p:sp>
      <p:sp>
        <p:nvSpPr>
          <p:cNvPr id="102" name="Google Shape;102;p3"/>
          <p:cNvSpPr/>
          <p:nvPr/>
        </p:nvSpPr>
        <p:spPr>
          <a:xfrm>
            <a:off x="5166360" y="4361688"/>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3" name="Google Shape;103;p3"/>
          <p:cNvPicPr preferRelativeResize="0"/>
          <p:nvPr/>
        </p:nvPicPr>
        <p:blipFill rotWithShape="1">
          <a:blip r:embed="rId6">
            <a:alphaModFix/>
          </a:blip>
          <a:srcRect b="0" l="0" r="0" t="0"/>
          <a:stretch/>
        </p:blipFill>
        <p:spPr>
          <a:xfrm>
            <a:off x="5292090" y="4487418"/>
            <a:ext cx="251460" cy="251460"/>
          </a:xfrm>
          <a:prstGeom prst="rect">
            <a:avLst/>
          </a:prstGeom>
          <a:noFill/>
          <a:ln>
            <a:noFill/>
          </a:ln>
        </p:spPr>
      </p:pic>
      <p:sp>
        <p:nvSpPr>
          <p:cNvPr id="104" name="Google Shape;104;p3"/>
          <p:cNvSpPr txBox="1"/>
          <p:nvPr/>
        </p:nvSpPr>
        <p:spPr>
          <a:xfrm>
            <a:off x="5852160" y="4315968"/>
            <a:ext cx="57607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Subjective, inconsistent grading</a:t>
            </a:r>
            <a:endParaRPr b="0" i="0" sz="1700" u="none" cap="none" strike="noStrike">
              <a:solidFill>
                <a:schemeClr val="dk1"/>
              </a:solidFill>
              <a:latin typeface="Calibri"/>
              <a:ea typeface="Calibri"/>
              <a:cs typeface="Calibri"/>
              <a:sym typeface="Calibri"/>
            </a:endParaRPr>
          </a:p>
        </p:txBody>
      </p:sp>
      <p:sp>
        <p:nvSpPr>
          <p:cNvPr id="105" name="Google Shape;105;p3"/>
          <p:cNvSpPr txBox="1"/>
          <p:nvPr/>
        </p:nvSpPr>
        <p:spPr>
          <a:xfrm>
            <a:off x="5852160" y="4654296"/>
            <a:ext cx="57607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Two inspectors grade the same room differently, and the reasons go unrecorded.</a:t>
            </a:r>
            <a:endParaRPr b="0" i="0" sz="1400" u="none" cap="none" strike="noStrike">
              <a:solidFill>
                <a:schemeClr val="dk1"/>
              </a:solidFill>
              <a:latin typeface="Calibri"/>
              <a:ea typeface="Calibri"/>
              <a:cs typeface="Calibri"/>
              <a:sym typeface="Calibri"/>
            </a:endParaRPr>
          </a:p>
        </p:txBody>
      </p:sp>
      <p:sp>
        <p:nvSpPr>
          <p:cNvPr id="106" name="Google Shape;106;p3"/>
          <p:cNvSpPr/>
          <p:nvPr/>
        </p:nvSpPr>
        <p:spPr>
          <a:xfrm>
            <a:off x="5166360" y="5266944"/>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7" name="Google Shape;107;p3"/>
          <p:cNvPicPr preferRelativeResize="0"/>
          <p:nvPr/>
        </p:nvPicPr>
        <p:blipFill rotWithShape="1">
          <a:blip r:embed="rId7">
            <a:alphaModFix/>
          </a:blip>
          <a:srcRect b="0" l="0" r="0" t="0"/>
          <a:stretch/>
        </p:blipFill>
        <p:spPr>
          <a:xfrm>
            <a:off x="5292090" y="5392674"/>
            <a:ext cx="251460" cy="251460"/>
          </a:xfrm>
          <a:prstGeom prst="rect">
            <a:avLst/>
          </a:prstGeom>
          <a:noFill/>
          <a:ln>
            <a:noFill/>
          </a:ln>
        </p:spPr>
      </p:pic>
      <p:sp>
        <p:nvSpPr>
          <p:cNvPr id="108" name="Google Shape;108;p3"/>
          <p:cNvSpPr txBox="1"/>
          <p:nvPr/>
        </p:nvSpPr>
        <p:spPr>
          <a:xfrm>
            <a:off x="5852160" y="5221224"/>
            <a:ext cx="57607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Collateral overvaluation</a:t>
            </a:r>
            <a:endParaRPr b="0" i="0" sz="1700" u="none" cap="none" strike="noStrike">
              <a:solidFill>
                <a:schemeClr val="dk1"/>
              </a:solidFill>
              <a:latin typeface="Calibri"/>
              <a:ea typeface="Calibri"/>
              <a:cs typeface="Calibri"/>
              <a:sym typeface="Calibri"/>
            </a:endParaRPr>
          </a:p>
        </p:txBody>
      </p:sp>
      <p:sp>
        <p:nvSpPr>
          <p:cNvPr id="109" name="Google Shape;109;p3"/>
          <p:cNvSpPr txBox="1"/>
          <p:nvPr/>
        </p:nvSpPr>
        <p:spPr>
          <a:xfrm>
            <a:off x="5852160" y="5559552"/>
            <a:ext cx="57607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Regulators such as the RBI have flagged inflated valuations in housing-finance fraud.</a:t>
            </a:r>
            <a:endParaRPr b="0" i="0" sz="1400" u="none" cap="none" strike="noStrike">
              <a:solidFill>
                <a:schemeClr val="dk1"/>
              </a:solidFill>
              <a:latin typeface="Calibri"/>
              <a:ea typeface="Calibri"/>
              <a:cs typeface="Calibri"/>
              <a:sym typeface="Calibri"/>
            </a:endParaRPr>
          </a:p>
        </p:txBody>
      </p:sp>
      <p:sp>
        <p:nvSpPr>
          <p:cNvPr id="110" name="Google Shape;110;p3"/>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4"/>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WHO IT SERVES</a:t>
            </a:r>
            <a:endParaRPr sz="1200"/>
          </a:p>
        </p:txBody>
      </p:sp>
      <p:sp>
        <p:nvSpPr>
          <p:cNvPr id="117" name="Google Shape;117;p4"/>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One inspection record, five BFSI decision-makers</a:t>
            </a:r>
            <a:endParaRPr sz="3000"/>
          </a:p>
        </p:txBody>
      </p:sp>
      <p:sp>
        <p:nvSpPr>
          <p:cNvPr id="118" name="Google Shape;118;p4"/>
          <p:cNvSpPr/>
          <p:nvPr/>
        </p:nvSpPr>
        <p:spPr>
          <a:xfrm>
            <a:off x="548640" y="1600200"/>
            <a:ext cx="2103120" cy="3657600"/>
          </a:xfrm>
          <a:prstGeom prst="roundRect">
            <a:avLst>
              <a:gd fmla="val 521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777240" y="1874520"/>
            <a:ext cx="640080" cy="64008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0" name="Google Shape;120;p4"/>
          <p:cNvPicPr preferRelativeResize="0"/>
          <p:nvPr/>
        </p:nvPicPr>
        <p:blipFill rotWithShape="1">
          <a:blip r:embed="rId3">
            <a:alphaModFix/>
          </a:blip>
          <a:srcRect b="0" l="0" r="0" t="0"/>
          <a:stretch/>
        </p:blipFill>
        <p:spPr>
          <a:xfrm>
            <a:off x="937260" y="2034540"/>
            <a:ext cx="320040" cy="320040"/>
          </a:xfrm>
          <a:prstGeom prst="rect">
            <a:avLst/>
          </a:prstGeom>
          <a:noFill/>
          <a:ln>
            <a:noFill/>
          </a:ln>
        </p:spPr>
      </p:pic>
      <p:sp>
        <p:nvSpPr>
          <p:cNvPr id="121" name="Google Shape;121;p4"/>
          <p:cNvSpPr txBox="1"/>
          <p:nvPr/>
        </p:nvSpPr>
        <p:spPr>
          <a:xfrm>
            <a:off x="777240" y="2697480"/>
            <a:ext cx="16916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Mortgage lenders, HFCs &amp; NBFCs</a:t>
            </a:r>
            <a:endParaRPr b="0" i="0" sz="1600" u="none" cap="none" strike="noStrike">
              <a:solidFill>
                <a:schemeClr val="dk1"/>
              </a:solidFill>
              <a:latin typeface="Calibri"/>
              <a:ea typeface="Calibri"/>
              <a:cs typeface="Calibri"/>
              <a:sym typeface="Calibri"/>
            </a:endParaRPr>
          </a:p>
        </p:txBody>
      </p:sp>
      <p:sp>
        <p:nvSpPr>
          <p:cNvPr id="122" name="Google Shape;122;p4"/>
          <p:cNvSpPr txBox="1"/>
          <p:nvPr/>
        </p:nvSpPr>
        <p:spPr>
          <a:xfrm>
            <a:off x="777240" y="3474720"/>
            <a:ext cx="169164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Collateral condition grade, valuation impact %, repair retention and a REFER flag before disbursal and over the loan's life.</a:t>
            </a:r>
            <a:endParaRPr b="0" i="0" sz="1400" u="none" cap="none" strike="noStrike">
              <a:solidFill>
                <a:schemeClr val="dk1"/>
              </a:solidFill>
              <a:latin typeface="Calibri"/>
              <a:ea typeface="Calibri"/>
              <a:cs typeface="Calibri"/>
              <a:sym typeface="Calibri"/>
            </a:endParaRPr>
          </a:p>
        </p:txBody>
      </p:sp>
      <p:sp>
        <p:nvSpPr>
          <p:cNvPr id="123" name="Google Shape;123;p4"/>
          <p:cNvSpPr/>
          <p:nvPr/>
        </p:nvSpPr>
        <p:spPr>
          <a:xfrm>
            <a:off x="2807208" y="1600200"/>
            <a:ext cx="2103120" cy="3657600"/>
          </a:xfrm>
          <a:prstGeom prst="roundRect">
            <a:avLst>
              <a:gd fmla="val 521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3035808" y="1874520"/>
            <a:ext cx="640080" cy="64008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5" name="Google Shape;125;p4"/>
          <p:cNvPicPr preferRelativeResize="0"/>
          <p:nvPr/>
        </p:nvPicPr>
        <p:blipFill rotWithShape="1">
          <a:blip r:embed="rId4">
            <a:alphaModFix/>
          </a:blip>
          <a:srcRect b="0" l="0" r="0" t="0"/>
          <a:stretch/>
        </p:blipFill>
        <p:spPr>
          <a:xfrm>
            <a:off x="3195828" y="2034540"/>
            <a:ext cx="320040" cy="320040"/>
          </a:xfrm>
          <a:prstGeom prst="rect">
            <a:avLst/>
          </a:prstGeom>
          <a:noFill/>
          <a:ln>
            <a:noFill/>
          </a:ln>
        </p:spPr>
      </p:pic>
      <p:sp>
        <p:nvSpPr>
          <p:cNvPr id="126" name="Google Shape;126;p4"/>
          <p:cNvSpPr txBox="1"/>
          <p:nvPr/>
        </p:nvSpPr>
        <p:spPr>
          <a:xfrm>
            <a:off x="3035808" y="2697480"/>
            <a:ext cx="16916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Insurers: underwriting</a:t>
            </a:r>
            <a:endParaRPr b="0" i="0" sz="1600" u="none" cap="none" strike="noStrike">
              <a:solidFill>
                <a:schemeClr val="dk1"/>
              </a:solidFill>
              <a:latin typeface="Calibri"/>
              <a:ea typeface="Calibri"/>
              <a:cs typeface="Calibri"/>
              <a:sym typeface="Calibri"/>
            </a:endParaRPr>
          </a:p>
        </p:txBody>
      </p:sp>
      <p:sp>
        <p:nvSpPr>
          <p:cNvPr id="127" name="Google Shape;127;p4"/>
          <p:cNvSpPr txBox="1"/>
          <p:nvPr/>
        </p:nvSpPr>
        <p:spPr>
          <a:xfrm>
            <a:off x="3035808" y="3474720"/>
            <a:ext cx="169164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Insurance perils, risk level and a premium-loading suggestion at quote and renewal, without a site visit for low-risk homes.</a:t>
            </a:r>
            <a:endParaRPr b="0" i="0" sz="1400" u="none" cap="none" strike="noStrike">
              <a:solidFill>
                <a:schemeClr val="dk1"/>
              </a:solidFill>
              <a:latin typeface="Calibri"/>
              <a:ea typeface="Calibri"/>
              <a:cs typeface="Calibri"/>
              <a:sym typeface="Calibri"/>
            </a:endParaRPr>
          </a:p>
        </p:txBody>
      </p:sp>
      <p:sp>
        <p:nvSpPr>
          <p:cNvPr id="128" name="Google Shape;128;p4"/>
          <p:cNvSpPr/>
          <p:nvPr/>
        </p:nvSpPr>
        <p:spPr>
          <a:xfrm>
            <a:off x="5065776" y="1600200"/>
            <a:ext cx="2103120" cy="3657600"/>
          </a:xfrm>
          <a:prstGeom prst="roundRect">
            <a:avLst>
              <a:gd fmla="val 521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4"/>
          <p:cNvSpPr/>
          <p:nvPr/>
        </p:nvSpPr>
        <p:spPr>
          <a:xfrm>
            <a:off x="5294376" y="1874520"/>
            <a:ext cx="640080" cy="64008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0" name="Google Shape;130;p4"/>
          <p:cNvPicPr preferRelativeResize="0"/>
          <p:nvPr/>
        </p:nvPicPr>
        <p:blipFill rotWithShape="1">
          <a:blip r:embed="rId5">
            <a:alphaModFix/>
          </a:blip>
          <a:srcRect b="0" l="0" r="0" t="0"/>
          <a:stretch/>
        </p:blipFill>
        <p:spPr>
          <a:xfrm>
            <a:off x="5454396" y="2034540"/>
            <a:ext cx="320040" cy="320040"/>
          </a:xfrm>
          <a:prstGeom prst="rect">
            <a:avLst/>
          </a:prstGeom>
          <a:noFill/>
          <a:ln>
            <a:noFill/>
          </a:ln>
        </p:spPr>
      </p:pic>
      <p:sp>
        <p:nvSpPr>
          <p:cNvPr id="131" name="Google Shape;131;p4"/>
          <p:cNvSpPr txBox="1"/>
          <p:nvPr/>
        </p:nvSpPr>
        <p:spPr>
          <a:xfrm>
            <a:off x="5294376" y="2697480"/>
            <a:ext cx="16916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Insurers: claims</a:t>
            </a:r>
            <a:endParaRPr b="0" i="0" sz="1600" u="none" cap="none" strike="noStrike">
              <a:solidFill>
                <a:schemeClr val="dk1"/>
              </a:solidFill>
              <a:latin typeface="Calibri"/>
              <a:ea typeface="Calibri"/>
              <a:cs typeface="Calibri"/>
              <a:sym typeface="Calibri"/>
            </a:endParaRPr>
          </a:p>
        </p:txBody>
      </p:sp>
      <p:sp>
        <p:nvSpPr>
          <p:cNvPr id="132" name="Google Shape;132;p4"/>
          <p:cNvSpPr txBox="1"/>
          <p:nvPr/>
        </p:nvSpPr>
        <p:spPr>
          <a:xfrm>
            <a:off x="5294376" y="3474720"/>
            <a:ext cx="169164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Claim-ready evidence with an indicative repair-cost range, plus recycled-video and screen or AI-footage detection.</a:t>
            </a:r>
            <a:endParaRPr b="0" i="0" sz="1400" u="none" cap="none" strike="noStrike">
              <a:solidFill>
                <a:schemeClr val="dk1"/>
              </a:solidFill>
              <a:latin typeface="Calibri"/>
              <a:ea typeface="Calibri"/>
              <a:cs typeface="Calibri"/>
              <a:sym typeface="Calibri"/>
            </a:endParaRPr>
          </a:p>
        </p:txBody>
      </p:sp>
      <p:sp>
        <p:nvSpPr>
          <p:cNvPr id="133" name="Google Shape;133;p4"/>
          <p:cNvSpPr/>
          <p:nvPr/>
        </p:nvSpPr>
        <p:spPr>
          <a:xfrm>
            <a:off x="7324344" y="1600200"/>
            <a:ext cx="2103120" cy="3657600"/>
          </a:xfrm>
          <a:prstGeom prst="roundRect">
            <a:avLst>
              <a:gd fmla="val 521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7552944" y="1874520"/>
            <a:ext cx="640080" cy="64008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5" name="Google Shape;135;p4"/>
          <p:cNvPicPr preferRelativeResize="0"/>
          <p:nvPr/>
        </p:nvPicPr>
        <p:blipFill rotWithShape="1">
          <a:blip r:embed="rId6">
            <a:alphaModFix/>
          </a:blip>
          <a:srcRect b="0" l="0" r="0" t="0"/>
          <a:stretch/>
        </p:blipFill>
        <p:spPr>
          <a:xfrm>
            <a:off x="7712964" y="2034540"/>
            <a:ext cx="320040" cy="320040"/>
          </a:xfrm>
          <a:prstGeom prst="rect">
            <a:avLst/>
          </a:prstGeom>
          <a:noFill/>
          <a:ln>
            <a:noFill/>
          </a:ln>
        </p:spPr>
      </p:pic>
      <p:sp>
        <p:nvSpPr>
          <p:cNvPr id="136" name="Google Shape;136;p4"/>
          <p:cNvSpPr txBox="1"/>
          <p:nvPr/>
        </p:nvSpPr>
        <p:spPr>
          <a:xfrm>
            <a:off x="7552944" y="2697480"/>
            <a:ext cx="16916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Inspectors &amp; valuers</a:t>
            </a:r>
            <a:endParaRPr b="0" i="0" sz="1600" u="none" cap="none" strike="noStrike">
              <a:solidFill>
                <a:schemeClr val="dk1"/>
              </a:solidFill>
              <a:latin typeface="Calibri"/>
              <a:ea typeface="Calibri"/>
              <a:cs typeface="Calibri"/>
              <a:sym typeface="Calibri"/>
            </a:endParaRPr>
          </a:p>
        </p:txBody>
      </p:sp>
      <p:sp>
        <p:nvSpPr>
          <p:cNvPr id="137" name="Google Shape;137;p4"/>
          <p:cNvSpPr txBox="1"/>
          <p:nvPr/>
        </p:nvSpPr>
        <p:spPr>
          <a:xfrm>
            <a:off x="7552944" y="3474720"/>
            <a:ext cx="169164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The AI drafts the report and the coverage map shows what to film again, so one inspector can supervise many remote inspections.</a:t>
            </a:r>
            <a:endParaRPr b="0" i="0" sz="1400" u="none" cap="none" strike="noStrike">
              <a:solidFill>
                <a:schemeClr val="dk1"/>
              </a:solidFill>
              <a:latin typeface="Calibri"/>
              <a:ea typeface="Calibri"/>
              <a:cs typeface="Calibri"/>
              <a:sym typeface="Calibri"/>
            </a:endParaRPr>
          </a:p>
        </p:txBody>
      </p:sp>
      <p:sp>
        <p:nvSpPr>
          <p:cNvPr id="138" name="Google Shape;138;p4"/>
          <p:cNvSpPr/>
          <p:nvPr/>
        </p:nvSpPr>
        <p:spPr>
          <a:xfrm>
            <a:off x="9582912" y="1600200"/>
            <a:ext cx="2103120" cy="3657600"/>
          </a:xfrm>
          <a:prstGeom prst="roundRect">
            <a:avLst>
              <a:gd fmla="val 521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4"/>
          <p:cNvSpPr/>
          <p:nvPr/>
        </p:nvSpPr>
        <p:spPr>
          <a:xfrm>
            <a:off x="9811512" y="1874520"/>
            <a:ext cx="640080" cy="64008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0" name="Google Shape;140;p4"/>
          <p:cNvPicPr preferRelativeResize="0"/>
          <p:nvPr/>
        </p:nvPicPr>
        <p:blipFill rotWithShape="1">
          <a:blip r:embed="rId7">
            <a:alphaModFix/>
          </a:blip>
          <a:srcRect b="0" l="0" r="0" t="0"/>
          <a:stretch/>
        </p:blipFill>
        <p:spPr>
          <a:xfrm>
            <a:off x="9971532" y="2034540"/>
            <a:ext cx="320040" cy="320040"/>
          </a:xfrm>
          <a:prstGeom prst="rect">
            <a:avLst/>
          </a:prstGeom>
          <a:noFill/>
          <a:ln>
            <a:noFill/>
          </a:ln>
        </p:spPr>
      </p:pic>
      <p:sp>
        <p:nvSpPr>
          <p:cNvPr id="141" name="Google Shape;141;p4"/>
          <p:cNvSpPr txBox="1"/>
          <p:nvPr/>
        </p:nvSpPr>
        <p:spPr>
          <a:xfrm>
            <a:off x="9811512" y="2697480"/>
            <a:ext cx="169164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Real estate, owners &amp; buyers</a:t>
            </a:r>
            <a:endParaRPr b="0" i="0" sz="1600" u="none" cap="none" strike="noStrike">
              <a:solidFill>
                <a:schemeClr val="dk1"/>
              </a:solidFill>
              <a:latin typeface="Calibri"/>
              <a:ea typeface="Calibri"/>
              <a:cs typeface="Calibri"/>
              <a:sym typeface="Calibri"/>
            </a:endParaRPr>
          </a:p>
        </p:txBody>
      </p:sp>
      <p:sp>
        <p:nvSpPr>
          <p:cNvPr id="142" name="Google Shape;142;p4"/>
          <p:cNvSpPr txBox="1"/>
          <p:nvPr/>
        </p:nvSpPr>
        <p:spPr>
          <a:xfrm>
            <a:off x="9811512" y="3474720"/>
            <a:ext cx="169164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 transparent condition report, 3D model and floor plan, with fraud-resistant evidence for listings and sales.</a:t>
            </a:r>
            <a:endParaRPr b="0" i="0" sz="1400" u="none" cap="none" strike="noStrike">
              <a:solidFill>
                <a:schemeClr val="dk1"/>
              </a:solidFill>
              <a:latin typeface="Calibri"/>
              <a:ea typeface="Calibri"/>
              <a:cs typeface="Calibri"/>
              <a:sym typeface="Calibri"/>
            </a:endParaRPr>
          </a:p>
        </p:txBody>
      </p:sp>
      <p:sp>
        <p:nvSpPr>
          <p:cNvPr id="143" name="Google Shape;143;p4"/>
          <p:cNvSpPr/>
          <p:nvPr/>
        </p:nvSpPr>
        <p:spPr>
          <a:xfrm>
            <a:off x="548640" y="5440680"/>
            <a:ext cx="11109960" cy="685800"/>
          </a:xfrm>
          <a:prstGeom prst="roundRect">
            <a:avLst>
              <a:gd fmla="val 16000" name="adj"/>
            </a:avLst>
          </a:prstGeom>
          <a:solidFill>
            <a:srgbClr val="1A1F45"/>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
          <p:cNvSpPr txBox="1"/>
          <p:nvPr/>
        </p:nvSpPr>
        <p:spPr>
          <a:xfrm>
            <a:off x="777240" y="5440680"/>
            <a:ext cx="1069848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Same evidence, one record: every inspection is a BigQuery row and a Pub/Sub event that each team's own system can use</a:t>
            </a:r>
            <a:endParaRPr b="0" i="0" sz="1500" u="none" cap="none" strike="noStrike">
              <a:solidFill>
                <a:schemeClr val="dk1"/>
              </a:solidFill>
              <a:latin typeface="Calibri"/>
              <a:ea typeface="Calibri"/>
              <a:cs typeface="Calibri"/>
              <a:sym typeface="Calibri"/>
            </a:endParaRPr>
          </a:p>
        </p:txBody>
      </p:sp>
      <p:sp>
        <p:nvSpPr>
          <p:cNvPr id="145" name="Google Shape;145;p4"/>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5"/>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THE SOLUTION</a:t>
            </a:r>
            <a:endParaRPr sz="1200"/>
          </a:p>
        </p:txBody>
      </p:sp>
      <p:sp>
        <p:nvSpPr>
          <p:cNvPr id="152" name="Google Shape;152;p5"/>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One upload gives you a complete, explainable risk file</a:t>
            </a:r>
            <a:endParaRPr sz="3000"/>
          </a:p>
        </p:txBody>
      </p:sp>
      <p:sp>
        <p:nvSpPr>
          <p:cNvPr id="153" name="Google Shape;153;p5"/>
          <p:cNvSpPr/>
          <p:nvPr/>
        </p:nvSpPr>
        <p:spPr>
          <a:xfrm>
            <a:off x="512064" y="1563787"/>
            <a:ext cx="6382512" cy="4507667"/>
          </a:xfrm>
          <a:prstGeom prst="roundRect">
            <a:avLst>
              <a:gd fmla="val 2029"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nspection-result-screenshot" id="154" name="Google Shape;154;p5"/>
          <p:cNvPicPr preferRelativeResize="0"/>
          <p:nvPr/>
        </p:nvPicPr>
        <p:blipFill rotWithShape="1">
          <a:blip r:embed="rId3">
            <a:alphaModFix/>
          </a:blip>
          <a:srcRect b="0" l="0" r="0" t="0"/>
          <a:stretch/>
        </p:blipFill>
        <p:spPr>
          <a:xfrm>
            <a:off x="548640" y="1600363"/>
            <a:ext cx="6309360" cy="4434515"/>
          </a:xfrm>
          <a:prstGeom prst="rect">
            <a:avLst/>
          </a:prstGeom>
          <a:noFill/>
          <a:ln>
            <a:noFill/>
          </a:ln>
        </p:spPr>
      </p:pic>
      <p:sp>
        <p:nvSpPr>
          <p:cNvPr id="155" name="Google Shape;155;p5"/>
          <p:cNvSpPr txBox="1"/>
          <p:nvPr/>
        </p:nvSpPr>
        <p:spPr>
          <a:xfrm>
            <a:off x="548640" y="6080760"/>
            <a:ext cx="63093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1" lang="en-US" sz="1100" u="none" cap="none" strike="noStrike">
                <a:solidFill>
                  <a:schemeClr val="dk2"/>
                </a:solidFill>
                <a:latin typeface="Calibri"/>
                <a:ea typeface="Calibri"/>
                <a:cs typeface="Calibri"/>
                <a:sym typeface="Calibri"/>
              </a:rPr>
              <a:t>Live app: walkthrough report with the 3D model, findings, condition grade and underwriting decision</a:t>
            </a:r>
            <a:endParaRPr b="0" i="0" sz="1100" u="none" cap="none" strike="noStrike">
              <a:solidFill>
                <a:schemeClr val="dk1"/>
              </a:solidFill>
              <a:latin typeface="Calibri"/>
              <a:ea typeface="Calibri"/>
              <a:cs typeface="Calibri"/>
              <a:sym typeface="Calibri"/>
            </a:endParaRPr>
          </a:p>
        </p:txBody>
      </p:sp>
      <p:sp>
        <p:nvSpPr>
          <p:cNvPr id="156" name="Google Shape;156;p5"/>
          <p:cNvSpPr/>
          <p:nvPr/>
        </p:nvSpPr>
        <p:spPr>
          <a:xfrm>
            <a:off x="7269480" y="1600200"/>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7" name="Google Shape;157;p5"/>
          <p:cNvPicPr preferRelativeResize="0"/>
          <p:nvPr/>
        </p:nvPicPr>
        <p:blipFill rotWithShape="1">
          <a:blip r:embed="rId4">
            <a:alphaModFix/>
          </a:blip>
          <a:srcRect b="0" l="0" r="0" t="0"/>
          <a:stretch/>
        </p:blipFill>
        <p:spPr>
          <a:xfrm>
            <a:off x="7356348" y="1687068"/>
            <a:ext cx="173736" cy="173736"/>
          </a:xfrm>
          <a:prstGeom prst="rect">
            <a:avLst/>
          </a:prstGeom>
          <a:noFill/>
          <a:ln>
            <a:noFill/>
          </a:ln>
        </p:spPr>
      </p:pic>
      <p:sp>
        <p:nvSpPr>
          <p:cNvPr id="158" name="Google Shape;158;p5"/>
          <p:cNvSpPr txBox="1"/>
          <p:nvPr/>
        </p:nvSpPr>
        <p:spPr>
          <a:xfrm>
            <a:off x="7772400" y="1600200"/>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Defects localised and verified</a:t>
            </a:r>
            <a:endParaRPr b="0" i="0" sz="1500" u="none" cap="none" strike="noStrike">
              <a:solidFill>
                <a:schemeClr val="dk1"/>
              </a:solidFill>
              <a:latin typeface="Calibri"/>
              <a:ea typeface="Calibri"/>
              <a:cs typeface="Calibri"/>
              <a:sym typeface="Calibri"/>
            </a:endParaRPr>
          </a:p>
        </p:txBody>
      </p:sp>
      <p:sp>
        <p:nvSpPr>
          <p:cNvPr id="159" name="Google Shape;159;p5"/>
          <p:cNvSpPr/>
          <p:nvPr/>
        </p:nvSpPr>
        <p:spPr>
          <a:xfrm>
            <a:off x="7269480" y="2048256"/>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0" name="Google Shape;160;p5"/>
          <p:cNvPicPr preferRelativeResize="0"/>
          <p:nvPr/>
        </p:nvPicPr>
        <p:blipFill rotWithShape="1">
          <a:blip r:embed="rId5">
            <a:alphaModFix/>
          </a:blip>
          <a:srcRect b="0" l="0" r="0" t="0"/>
          <a:stretch/>
        </p:blipFill>
        <p:spPr>
          <a:xfrm>
            <a:off x="7356348" y="2135124"/>
            <a:ext cx="173736" cy="173736"/>
          </a:xfrm>
          <a:prstGeom prst="rect">
            <a:avLst/>
          </a:prstGeom>
          <a:noFill/>
          <a:ln>
            <a:noFill/>
          </a:ln>
        </p:spPr>
      </p:pic>
      <p:sp>
        <p:nvSpPr>
          <p:cNvPr id="161" name="Google Shape;161;p5"/>
          <p:cNvSpPr txBox="1"/>
          <p:nvPr/>
        </p:nvSpPr>
        <p:spPr>
          <a:xfrm>
            <a:off x="7772400" y="2048256"/>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Condition grade A–E (0–100 score)</a:t>
            </a:r>
            <a:endParaRPr b="0" i="0" sz="1500" u="none" cap="none" strike="noStrike">
              <a:solidFill>
                <a:schemeClr val="dk1"/>
              </a:solidFill>
              <a:latin typeface="Calibri"/>
              <a:ea typeface="Calibri"/>
              <a:cs typeface="Calibri"/>
              <a:sym typeface="Calibri"/>
            </a:endParaRPr>
          </a:p>
        </p:txBody>
      </p:sp>
      <p:sp>
        <p:nvSpPr>
          <p:cNvPr id="162" name="Google Shape;162;p5"/>
          <p:cNvSpPr/>
          <p:nvPr/>
        </p:nvSpPr>
        <p:spPr>
          <a:xfrm>
            <a:off x="7269480" y="2496312"/>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3" name="Google Shape;163;p5"/>
          <p:cNvPicPr preferRelativeResize="0"/>
          <p:nvPr/>
        </p:nvPicPr>
        <p:blipFill rotWithShape="1">
          <a:blip r:embed="rId6">
            <a:alphaModFix/>
          </a:blip>
          <a:srcRect b="0" l="0" r="0" t="0"/>
          <a:stretch/>
        </p:blipFill>
        <p:spPr>
          <a:xfrm>
            <a:off x="7356348" y="2583180"/>
            <a:ext cx="173736" cy="173736"/>
          </a:xfrm>
          <a:prstGeom prst="rect">
            <a:avLst/>
          </a:prstGeom>
          <a:noFill/>
          <a:ln>
            <a:noFill/>
          </a:ln>
        </p:spPr>
      </p:pic>
      <p:sp>
        <p:nvSpPr>
          <p:cNvPr id="164" name="Google Shape;164;p5"/>
          <p:cNvSpPr txBox="1"/>
          <p:nvPr/>
        </p:nvSpPr>
        <p:spPr>
          <a:xfrm>
            <a:off x="7772400" y="2496312"/>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Risk level and insurance perils</a:t>
            </a:r>
            <a:endParaRPr b="0" i="0" sz="1500" u="none" cap="none" strike="noStrike">
              <a:solidFill>
                <a:schemeClr val="dk1"/>
              </a:solidFill>
              <a:latin typeface="Calibri"/>
              <a:ea typeface="Calibri"/>
              <a:cs typeface="Calibri"/>
              <a:sym typeface="Calibri"/>
            </a:endParaRPr>
          </a:p>
        </p:txBody>
      </p:sp>
      <p:sp>
        <p:nvSpPr>
          <p:cNvPr id="165" name="Google Shape;165;p5"/>
          <p:cNvSpPr/>
          <p:nvPr/>
        </p:nvSpPr>
        <p:spPr>
          <a:xfrm>
            <a:off x="7269480" y="2944368"/>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6" name="Google Shape;166;p5"/>
          <p:cNvPicPr preferRelativeResize="0"/>
          <p:nvPr/>
        </p:nvPicPr>
        <p:blipFill rotWithShape="1">
          <a:blip r:embed="rId7">
            <a:alphaModFix/>
          </a:blip>
          <a:srcRect b="0" l="0" r="0" t="0"/>
          <a:stretch/>
        </p:blipFill>
        <p:spPr>
          <a:xfrm>
            <a:off x="7356348" y="3031236"/>
            <a:ext cx="173736" cy="173736"/>
          </a:xfrm>
          <a:prstGeom prst="rect">
            <a:avLst/>
          </a:prstGeom>
          <a:noFill/>
          <a:ln>
            <a:noFill/>
          </a:ln>
        </p:spPr>
      </p:pic>
      <p:sp>
        <p:nvSpPr>
          <p:cNvPr id="167" name="Google Shape;167;p5"/>
          <p:cNvSpPr txBox="1"/>
          <p:nvPr/>
        </p:nvSpPr>
        <p:spPr>
          <a:xfrm>
            <a:off x="7772400" y="2944368"/>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Indicative repair-cost range</a:t>
            </a:r>
            <a:endParaRPr b="0" i="0" sz="1500" u="none" cap="none" strike="noStrike">
              <a:solidFill>
                <a:schemeClr val="dk1"/>
              </a:solidFill>
              <a:latin typeface="Calibri"/>
              <a:ea typeface="Calibri"/>
              <a:cs typeface="Calibri"/>
              <a:sym typeface="Calibri"/>
            </a:endParaRPr>
          </a:p>
        </p:txBody>
      </p:sp>
      <p:sp>
        <p:nvSpPr>
          <p:cNvPr id="168" name="Google Shape;168;p5"/>
          <p:cNvSpPr/>
          <p:nvPr/>
        </p:nvSpPr>
        <p:spPr>
          <a:xfrm>
            <a:off x="7269480" y="3392424"/>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69" name="Google Shape;169;p5"/>
          <p:cNvPicPr preferRelativeResize="0"/>
          <p:nvPr/>
        </p:nvPicPr>
        <p:blipFill rotWithShape="1">
          <a:blip r:embed="rId8">
            <a:alphaModFix/>
          </a:blip>
          <a:srcRect b="0" l="0" r="0" t="0"/>
          <a:stretch/>
        </p:blipFill>
        <p:spPr>
          <a:xfrm>
            <a:off x="7356348" y="3479292"/>
            <a:ext cx="173736" cy="173736"/>
          </a:xfrm>
          <a:prstGeom prst="rect">
            <a:avLst/>
          </a:prstGeom>
          <a:noFill/>
          <a:ln>
            <a:noFill/>
          </a:ln>
        </p:spPr>
      </p:pic>
      <p:sp>
        <p:nvSpPr>
          <p:cNvPr id="170" name="Google Shape;170;p5"/>
          <p:cNvSpPr txBox="1"/>
          <p:nvPr/>
        </p:nvSpPr>
        <p:spPr>
          <a:xfrm>
            <a:off x="7772400" y="3392424"/>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Valuation and collateral impact</a:t>
            </a:r>
            <a:endParaRPr b="0" i="0" sz="1500" u="none" cap="none" strike="noStrike">
              <a:solidFill>
                <a:schemeClr val="dk1"/>
              </a:solidFill>
              <a:latin typeface="Calibri"/>
              <a:ea typeface="Calibri"/>
              <a:cs typeface="Calibri"/>
              <a:sym typeface="Calibri"/>
            </a:endParaRPr>
          </a:p>
        </p:txBody>
      </p:sp>
      <p:sp>
        <p:nvSpPr>
          <p:cNvPr id="171" name="Google Shape;171;p5"/>
          <p:cNvSpPr/>
          <p:nvPr/>
        </p:nvSpPr>
        <p:spPr>
          <a:xfrm>
            <a:off x="7269480" y="3840480"/>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2" name="Google Shape;172;p5"/>
          <p:cNvPicPr preferRelativeResize="0"/>
          <p:nvPr/>
        </p:nvPicPr>
        <p:blipFill rotWithShape="1">
          <a:blip r:embed="rId9">
            <a:alphaModFix/>
          </a:blip>
          <a:srcRect b="0" l="0" r="0" t="0"/>
          <a:stretch/>
        </p:blipFill>
        <p:spPr>
          <a:xfrm>
            <a:off x="7356348" y="3927348"/>
            <a:ext cx="173736" cy="173736"/>
          </a:xfrm>
          <a:prstGeom prst="rect">
            <a:avLst/>
          </a:prstGeom>
          <a:noFill/>
          <a:ln>
            <a:noFill/>
          </a:ln>
        </p:spPr>
      </p:pic>
      <p:sp>
        <p:nvSpPr>
          <p:cNvPr id="173" name="Google Shape;173;p5"/>
          <p:cNvSpPr txBox="1"/>
          <p:nvPr/>
        </p:nvSpPr>
        <p:spPr>
          <a:xfrm>
            <a:off x="7772400" y="3840480"/>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Premium-loading suggestion</a:t>
            </a:r>
            <a:endParaRPr b="0" i="0" sz="1500" u="none" cap="none" strike="noStrike">
              <a:solidFill>
                <a:schemeClr val="dk1"/>
              </a:solidFill>
              <a:latin typeface="Calibri"/>
              <a:ea typeface="Calibri"/>
              <a:cs typeface="Calibri"/>
              <a:sym typeface="Calibri"/>
            </a:endParaRPr>
          </a:p>
        </p:txBody>
      </p:sp>
      <p:sp>
        <p:nvSpPr>
          <p:cNvPr id="174" name="Google Shape;174;p5"/>
          <p:cNvSpPr/>
          <p:nvPr/>
        </p:nvSpPr>
        <p:spPr>
          <a:xfrm>
            <a:off x="7269480" y="4288536"/>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5" name="Google Shape;175;p5"/>
          <p:cNvPicPr preferRelativeResize="0"/>
          <p:nvPr/>
        </p:nvPicPr>
        <p:blipFill rotWithShape="1">
          <a:blip r:embed="rId10">
            <a:alphaModFix/>
          </a:blip>
          <a:srcRect b="0" l="0" r="0" t="0"/>
          <a:stretch/>
        </p:blipFill>
        <p:spPr>
          <a:xfrm>
            <a:off x="7356348" y="4375404"/>
            <a:ext cx="173736" cy="173736"/>
          </a:xfrm>
          <a:prstGeom prst="rect">
            <a:avLst/>
          </a:prstGeom>
          <a:noFill/>
          <a:ln>
            <a:noFill/>
          </a:ln>
        </p:spPr>
      </p:pic>
      <p:sp>
        <p:nvSpPr>
          <p:cNvPr id="176" name="Google Shape;176;p5"/>
          <p:cNvSpPr txBox="1"/>
          <p:nvPr/>
        </p:nvSpPr>
        <p:spPr>
          <a:xfrm>
            <a:off x="7772400" y="4288536"/>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Underwriting decision with reasons</a:t>
            </a:r>
            <a:endParaRPr b="0" i="0" sz="1500" u="none" cap="none" strike="noStrike">
              <a:solidFill>
                <a:schemeClr val="dk1"/>
              </a:solidFill>
              <a:latin typeface="Calibri"/>
              <a:ea typeface="Calibri"/>
              <a:cs typeface="Calibri"/>
              <a:sym typeface="Calibri"/>
            </a:endParaRPr>
          </a:p>
        </p:txBody>
      </p:sp>
      <p:sp>
        <p:nvSpPr>
          <p:cNvPr id="177" name="Google Shape;177;p5"/>
          <p:cNvSpPr/>
          <p:nvPr/>
        </p:nvSpPr>
        <p:spPr>
          <a:xfrm>
            <a:off x="7269480" y="4736592"/>
            <a:ext cx="347472" cy="347472"/>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8" name="Google Shape;178;p5"/>
          <p:cNvPicPr preferRelativeResize="0"/>
          <p:nvPr/>
        </p:nvPicPr>
        <p:blipFill rotWithShape="1">
          <a:blip r:embed="rId11">
            <a:alphaModFix/>
          </a:blip>
          <a:srcRect b="0" l="0" r="0" t="0"/>
          <a:stretch/>
        </p:blipFill>
        <p:spPr>
          <a:xfrm>
            <a:off x="7356348" y="4823460"/>
            <a:ext cx="173736" cy="173736"/>
          </a:xfrm>
          <a:prstGeom prst="rect">
            <a:avLst/>
          </a:prstGeom>
          <a:noFill/>
          <a:ln>
            <a:noFill/>
          </a:ln>
        </p:spPr>
      </p:pic>
      <p:sp>
        <p:nvSpPr>
          <p:cNvPr id="179" name="Google Shape;179;p5"/>
          <p:cNvSpPr txBox="1"/>
          <p:nvPr/>
        </p:nvSpPr>
        <p:spPr>
          <a:xfrm>
            <a:off x="7772400" y="4736592"/>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Evidence-integrity (fraud) flags</a:t>
            </a:r>
            <a:endParaRPr b="0" i="0" sz="1500" u="none" cap="none" strike="noStrike">
              <a:solidFill>
                <a:schemeClr val="dk1"/>
              </a:solidFill>
              <a:latin typeface="Calibri"/>
              <a:ea typeface="Calibri"/>
              <a:cs typeface="Calibri"/>
              <a:sym typeface="Calibri"/>
            </a:endParaRPr>
          </a:p>
        </p:txBody>
      </p:sp>
      <p:sp>
        <p:nvSpPr>
          <p:cNvPr id="180" name="Google Shape;180;p5"/>
          <p:cNvSpPr/>
          <p:nvPr/>
        </p:nvSpPr>
        <p:spPr>
          <a:xfrm>
            <a:off x="7269480" y="5184648"/>
            <a:ext cx="347472" cy="347472"/>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1" name="Google Shape;181;p5"/>
          <p:cNvPicPr preferRelativeResize="0"/>
          <p:nvPr/>
        </p:nvPicPr>
        <p:blipFill rotWithShape="1">
          <a:blip r:embed="rId12">
            <a:alphaModFix/>
          </a:blip>
          <a:srcRect b="0" l="0" r="0" t="0"/>
          <a:stretch/>
        </p:blipFill>
        <p:spPr>
          <a:xfrm>
            <a:off x="7356348" y="5271516"/>
            <a:ext cx="173736" cy="173736"/>
          </a:xfrm>
          <a:prstGeom prst="rect">
            <a:avLst/>
          </a:prstGeom>
          <a:noFill/>
          <a:ln>
            <a:noFill/>
          </a:ln>
        </p:spPr>
      </p:pic>
      <p:sp>
        <p:nvSpPr>
          <p:cNvPr id="182" name="Google Shape;182;p5"/>
          <p:cNvSpPr txBox="1"/>
          <p:nvPr/>
        </p:nvSpPr>
        <p:spPr>
          <a:xfrm>
            <a:off x="7772400" y="5184648"/>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3D model, floor plan, coverage map</a:t>
            </a:r>
            <a:endParaRPr b="0" i="0" sz="1500" u="none" cap="none" strike="noStrike">
              <a:solidFill>
                <a:schemeClr val="dk1"/>
              </a:solidFill>
              <a:latin typeface="Calibri"/>
              <a:ea typeface="Calibri"/>
              <a:cs typeface="Calibri"/>
              <a:sym typeface="Calibri"/>
            </a:endParaRPr>
          </a:p>
        </p:txBody>
      </p:sp>
      <p:sp>
        <p:nvSpPr>
          <p:cNvPr id="183" name="Google Shape;183;p5"/>
          <p:cNvSpPr/>
          <p:nvPr/>
        </p:nvSpPr>
        <p:spPr>
          <a:xfrm>
            <a:off x="7269480" y="5632704"/>
            <a:ext cx="347472" cy="347472"/>
          </a:xfrm>
          <a:prstGeom prst="ellipse">
            <a:avLst/>
          </a:prstGeom>
          <a:solidFill>
            <a:schemeClr val="accent2"/>
          </a:solidFill>
          <a:ln cap="flat" cmpd="sng" w="12700">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4" name="Google Shape;184;p5"/>
          <p:cNvPicPr preferRelativeResize="0"/>
          <p:nvPr/>
        </p:nvPicPr>
        <p:blipFill rotWithShape="1">
          <a:blip r:embed="rId13">
            <a:alphaModFix/>
          </a:blip>
          <a:srcRect b="0" l="0" r="0" t="0"/>
          <a:stretch/>
        </p:blipFill>
        <p:spPr>
          <a:xfrm>
            <a:off x="7356348" y="5719572"/>
            <a:ext cx="173736" cy="173736"/>
          </a:xfrm>
          <a:prstGeom prst="rect">
            <a:avLst/>
          </a:prstGeom>
          <a:noFill/>
          <a:ln>
            <a:noFill/>
          </a:ln>
        </p:spPr>
      </p:pic>
      <p:sp>
        <p:nvSpPr>
          <p:cNvPr id="185" name="Google Shape;185;p5"/>
          <p:cNvSpPr txBox="1"/>
          <p:nvPr/>
        </p:nvSpPr>
        <p:spPr>
          <a:xfrm>
            <a:off x="7772400" y="5632704"/>
            <a:ext cx="393192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0" i="0" lang="en-US" sz="1500" u="none" cap="none" strike="noStrike">
                <a:solidFill>
                  <a:schemeClr val="dk1"/>
                </a:solidFill>
                <a:latin typeface="Calibri"/>
                <a:ea typeface="Calibri"/>
                <a:cs typeface="Calibri"/>
                <a:sym typeface="Calibri"/>
              </a:rPr>
              <a:t>Gemini analysis and underwriter Q&amp;A</a:t>
            </a:r>
            <a:endParaRPr b="0" i="0" sz="1500" u="none" cap="none" strike="noStrike">
              <a:solidFill>
                <a:schemeClr val="dk1"/>
              </a:solidFill>
              <a:latin typeface="Calibri"/>
              <a:ea typeface="Calibri"/>
              <a:cs typeface="Calibri"/>
              <a:sym typeface="Calibri"/>
            </a:endParaRPr>
          </a:p>
        </p:txBody>
      </p:sp>
      <p:sp>
        <p:nvSpPr>
          <p:cNvPr id="186" name="Google Shape;186;p5"/>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6"/>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HOW IT WORKS</a:t>
            </a:r>
            <a:endParaRPr sz="1200"/>
          </a:p>
        </p:txBody>
      </p:sp>
      <p:sp>
        <p:nvSpPr>
          <p:cNvPr id="193" name="Google Shape;193;p6"/>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Capture, inspect, decide, act: minutes instead of days</a:t>
            </a:r>
            <a:endParaRPr sz="3000"/>
          </a:p>
        </p:txBody>
      </p:sp>
      <p:sp>
        <p:nvSpPr>
          <p:cNvPr id="194" name="Google Shape;194;p6"/>
          <p:cNvSpPr/>
          <p:nvPr/>
        </p:nvSpPr>
        <p:spPr>
          <a:xfrm>
            <a:off x="548640" y="1691640"/>
            <a:ext cx="2606040" cy="3246120"/>
          </a:xfrm>
          <a:prstGeom prst="roundRect">
            <a:avLst>
              <a:gd fmla="val 421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6"/>
          <p:cNvSpPr/>
          <p:nvPr/>
        </p:nvSpPr>
        <p:spPr>
          <a:xfrm>
            <a:off x="777240" y="196596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6" name="Google Shape;196;p6"/>
          <p:cNvPicPr preferRelativeResize="0"/>
          <p:nvPr/>
        </p:nvPicPr>
        <p:blipFill rotWithShape="1">
          <a:blip r:embed="rId3">
            <a:alphaModFix/>
          </a:blip>
          <a:srcRect b="0" l="0" r="0" t="0"/>
          <a:stretch/>
        </p:blipFill>
        <p:spPr>
          <a:xfrm>
            <a:off x="948690" y="2137410"/>
            <a:ext cx="342900" cy="342900"/>
          </a:xfrm>
          <a:prstGeom prst="rect">
            <a:avLst/>
          </a:prstGeom>
          <a:noFill/>
          <a:ln>
            <a:noFill/>
          </a:ln>
        </p:spPr>
      </p:pic>
      <p:sp>
        <p:nvSpPr>
          <p:cNvPr id="197" name="Google Shape;197;p6"/>
          <p:cNvSpPr txBox="1"/>
          <p:nvPr/>
        </p:nvSpPr>
        <p:spPr>
          <a:xfrm>
            <a:off x="777240" y="2834640"/>
            <a:ext cx="21945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900"/>
              <a:buFont typeface="Calibri"/>
              <a:buNone/>
            </a:pPr>
            <a:r>
              <a:rPr b="1" i="0" lang="en-US" sz="1900" u="none" cap="none" strike="noStrike">
                <a:solidFill>
                  <a:schemeClr val="accent2"/>
                </a:solidFill>
                <a:latin typeface="Calibri"/>
                <a:ea typeface="Calibri"/>
                <a:cs typeface="Calibri"/>
                <a:sym typeface="Calibri"/>
              </a:rPr>
              <a:t>1  Capture</a:t>
            </a:r>
            <a:endParaRPr b="0" i="0" sz="1900" u="none" cap="none" strike="noStrike">
              <a:solidFill>
                <a:schemeClr val="dk1"/>
              </a:solidFill>
              <a:latin typeface="Calibri"/>
              <a:ea typeface="Calibri"/>
              <a:cs typeface="Calibri"/>
              <a:sym typeface="Calibri"/>
            </a:endParaRPr>
          </a:p>
        </p:txBody>
      </p:sp>
      <p:sp>
        <p:nvSpPr>
          <p:cNvPr id="198" name="Google Shape;198;p6"/>
          <p:cNvSpPr txBox="1"/>
          <p:nvPr/>
        </p:nvSpPr>
        <p:spPr>
          <a:xfrm>
            <a:off x="777240" y="3291840"/>
            <a:ext cx="219456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Walk through the property with a phone and upload the video. No special hardware.</a:t>
            </a:r>
            <a:endParaRPr b="0" i="0" sz="1400" u="none" cap="none" strike="noStrike">
              <a:solidFill>
                <a:schemeClr val="dk1"/>
              </a:solidFill>
              <a:latin typeface="Calibri"/>
              <a:ea typeface="Calibri"/>
              <a:cs typeface="Calibri"/>
              <a:sym typeface="Calibri"/>
            </a:endParaRPr>
          </a:p>
        </p:txBody>
      </p:sp>
      <p:pic>
        <p:nvPicPr>
          <p:cNvPr descr="preencoded.png" id="199" name="Google Shape;199;p6"/>
          <p:cNvPicPr preferRelativeResize="0"/>
          <p:nvPr/>
        </p:nvPicPr>
        <p:blipFill rotWithShape="1">
          <a:blip r:embed="rId4">
            <a:alphaModFix/>
          </a:blip>
          <a:srcRect b="0" l="0" r="0" t="0"/>
          <a:stretch/>
        </p:blipFill>
        <p:spPr>
          <a:xfrm>
            <a:off x="3191256" y="3154680"/>
            <a:ext cx="137160" cy="228600"/>
          </a:xfrm>
          <a:prstGeom prst="rect">
            <a:avLst/>
          </a:prstGeom>
          <a:noFill/>
          <a:ln>
            <a:noFill/>
          </a:ln>
        </p:spPr>
      </p:pic>
      <p:sp>
        <p:nvSpPr>
          <p:cNvPr id="200" name="Google Shape;200;p6"/>
          <p:cNvSpPr/>
          <p:nvPr/>
        </p:nvSpPr>
        <p:spPr>
          <a:xfrm>
            <a:off x="3364992" y="1691640"/>
            <a:ext cx="2606040" cy="3246120"/>
          </a:xfrm>
          <a:prstGeom prst="roundRect">
            <a:avLst>
              <a:gd fmla="val 421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6"/>
          <p:cNvSpPr/>
          <p:nvPr/>
        </p:nvSpPr>
        <p:spPr>
          <a:xfrm>
            <a:off x="3593592" y="196596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2" name="Google Shape;202;p6"/>
          <p:cNvPicPr preferRelativeResize="0"/>
          <p:nvPr/>
        </p:nvPicPr>
        <p:blipFill rotWithShape="1">
          <a:blip r:embed="rId5">
            <a:alphaModFix/>
          </a:blip>
          <a:srcRect b="0" l="0" r="0" t="0"/>
          <a:stretch/>
        </p:blipFill>
        <p:spPr>
          <a:xfrm>
            <a:off x="3765042" y="2137410"/>
            <a:ext cx="342900" cy="342900"/>
          </a:xfrm>
          <a:prstGeom prst="rect">
            <a:avLst/>
          </a:prstGeom>
          <a:noFill/>
          <a:ln>
            <a:noFill/>
          </a:ln>
        </p:spPr>
      </p:pic>
      <p:sp>
        <p:nvSpPr>
          <p:cNvPr id="203" name="Google Shape;203;p6"/>
          <p:cNvSpPr txBox="1"/>
          <p:nvPr/>
        </p:nvSpPr>
        <p:spPr>
          <a:xfrm>
            <a:off x="3593592" y="2834640"/>
            <a:ext cx="21945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900"/>
              <a:buFont typeface="Calibri"/>
              <a:buNone/>
            </a:pPr>
            <a:r>
              <a:rPr b="1" i="0" lang="en-US" sz="1900" u="none" cap="none" strike="noStrike">
                <a:solidFill>
                  <a:schemeClr val="accent2"/>
                </a:solidFill>
                <a:latin typeface="Calibri"/>
                <a:ea typeface="Calibri"/>
                <a:cs typeface="Calibri"/>
                <a:sym typeface="Calibri"/>
              </a:rPr>
              <a:t>2  AI inspection</a:t>
            </a:r>
            <a:endParaRPr b="0" i="0" sz="1900" u="none" cap="none" strike="noStrike">
              <a:solidFill>
                <a:schemeClr val="dk1"/>
              </a:solidFill>
              <a:latin typeface="Calibri"/>
              <a:ea typeface="Calibri"/>
              <a:cs typeface="Calibri"/>
              <a:sym typeface="Calibri"/>
            </a:endParaRPr>
          </a:p>
        </p:txBody>
      </p:sp>
      <p:sp>
        <p:nvSpPr>
          <p:cNvPr id="204" name="Google Shape;204;p6"/>
          <p:cNvSpPr txBox="1"/>
          <p:nvPr/>
        </p:nvSpPr>
        <p:spPr>
          <a:xfrm>
            <a:off x="3593592" y="3291840"/>
            <a:ext cx="219456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On each AI keyframe, Gemini reads the room, LocateAnything finds candidate defects and Gemma 4 verifies each one.</a:t>
            </a:r>
            <a:endParaRPr b="0" i="0" sz="1400" u="none" cap="none" strike="noStrike">
              <a:solidFill>
                <a:schemeClr val="dk1"/>
              </a:solidFill>
              <a:latin typeface="Calibri"/>
              <a:ea typeface="Calibri"/>
              <a:cs typeface="Calibri"/>
              <a:sym typeface="Calibri"/>
            </a:endParaRPr>
          </a:p>
        </p:txBody>
      </p:sp>
      <p:pic>
        <p:nvPicPr>
          <p:cNvPr descr="preencoded.png" id="205" name="Google Shape;205;p6"/>
          <p:cNvPicPr preferRelativeResize="0"/>
          <p:nvPr/>
        </p:nvPicPr>
        <p:blipFill rotWithShape="1">
          <a:blip r:embed="rId4">
            <a:alphaModFix/>
          </a:blip>
          <a:srcRect b="0" l="0" r="0" t="0"/>
          <a:stretch/>
        </p:blipFill>
        <p:spPr>
          <a:xfrm>
            <a:off x="6007608" y="3154680"/>
            <a:ext cx="137160" cy="228600"/>
          </a:xfrm>
          <a:prstGeom prst="rect">
            <a:avLst/>
          </a:prstGeom>
          <a:noFill/>
          <a:ln>
            <a:noFill/>
          </a:ln>
        </p:spPr>
      </p:pic>
      <p:sp>
        <p:nvSpPr>
          <p:cNvPr id="206" name="Google Shape;206;p6"/>
          <p:cNvSpPr/>
          <p:nvPr/>
        </p:nvSpPr>
        <p:spPr>
          <a:xfrm>
            <a:off x="6181344" y="1691640"/>
            <a:ext cx="2606040" cy="3246120"/>
          </a:xfrm>
          <a:prstGeom prst="roundRect">
            <a:avLst>
              <a:gd fmla="val 421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6"/>
          <p:cNvSpPr/>
          <p:nvPr/>
        </p:nvSpPr>
        <p:spPr>
          <a:xfrm>
            <a:off x="6409944" y="196596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08" name="Google Shape;208;p6"/>
          <p:cNvPicPr preferRelativeResize="0"/>
          <p:nvPr/>
        </p:nvPicPr>
        <p:blipFill rotWithShape="1">
          <a:blip r:embed="rId6">
            <a:alphaModFix/>
          </a:blip>
          <a:srcRect b="0" l="0" r="0" t="0"/>
          <a:stretch/>
        </p:blipFill>
        <p:spPr>
          <a:xfrm>
            <a:off x="6581394" y="2137410"/>
            <a:ext cx="342900" cy="342900"/>
          </a:xfrm>
          <a:prstGeom prst="rect">
            <a:avLst/>
          </a:prstGeom>
          <a:noFill/>
          <a:ln>
            <a:noFill/>
          </a:ln>
        </p:spPr>
      </p:pic>
      <p:sp>
        <p:nvSpPr>
          <p:cNvPr id="209" name="Google Shape;209;p6"/>
          <p:cNvSpPr txBox="1"/>
          <p:nvPr/>
        </p:nvSpPr>
        <p:spPr>
          <a:xfrm>
            <a:off x="6409944" y="2834640"/>
            <a:ext cx="21945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900"/>
              <a:buFont typeface="Calibri"/>
              <a:buNone/>
            </a:pPr>
            <a:r>
              <a:rPr b="1" i="0" lang="en-US" sz="1900" u="none" cap="none" strike="noStrike">
                <a:solidFill>
                  <a:schemeClr val="accent2"/>
                </a:solidFill>
                <a:latin typeface="Calibri"/>
                <a:ea typeface="Calibri"/>
                <a:cs typeface="Calibri"/>
                <a:sym typeface="Calibri"/>
              </a:rPr>
              <a:t>3  Risk decision</a:t>
            </a:r>
            <a:endParaRPr b="0" i="0" sz="1900" u="none" cap="none" strike="noStrike">
              <a:solidFill>
                <a:schemeClr val="dk1"/>
              </a:solidFill>
              <a:latin typeface="Calibri"/>
              <a:ea typeface="Calibri"/>
              <a:cs typeface="Calibri"/>
              <a:sym typeface="Calibri"/>
            </a:endParaRPr>
          </a:p>
        </p:txBody>
      </p:sp>
      <p:sp>
        <p:nvSpPr>
          <p:cNvPr id="210" name="Google Shape;210;p6"/>
          <p:cNvSpPr txBox="1"/>
          <p:nvPr/>
        </p:nvSpPr>
        <p:spPr>
          <a:xfrm>
            <a:off x="6409944" y="3291840"/>
            <a:ext cx="219456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 transparent rule engine sets the grade, perils, repair cost, valuation, premium and decision; Gemini explains it.</a:t>
            </a:r>
            <a:endParaRPr b="0" i="0" sz="1400" u="none" cap="none" strike="noStrike">
              <a:solidFill>
                <a:schemeClr val="dk1"/>
              </a:solidFill>
              <a:latin typeface="Calibri"/>
              <a:ea typeface="Calibri"/>
              <a:cs typeface="Calibri"/>
              <a:sym typeface="Calibri"/>
            </a:endParaRPr>
          </a:p>
        </p:txBody>
      </p:sp>
      <p:pic>
        <p:nvPicPr>
          <p:cNvPr descr="preencoded.png" id="211" name="Google Shape;211;p6"/>
          <p:cNvPicPr preferRelativeResize="0"/>
          <p:nvPr/>
        </p:nvPicPr>
        <p:blipFill rotWithShape="1">
          <a:blip r:embed="rId4">
            <a:alphaModFix/>
          </a:blip>
          <a:srcRect b="0" l="0" r="0" t="0"/>
          <a:stretch/>
        </p:blipFill>
        <p:spPr>
          <a:xfrm>
            <a:off x="8823960" y="3154680"/>
            <a:ext cx="137160" cy="228600"/>
          </a:xfrm>
          <a:prstGeom prst="rect">
            <a:avLst/>
          </a:prstGeom>
          <a:noFill/>
          <a:ln>
            <a:noFill/>
          </a:ln>
        </p:spPr>
      </p:pic>
      <p:sp>
        <p:nvSpPr>
          <p:cNvPr id="212" name="Google Shape;212;p6"/>
          <p:cNvSpPr/>
          <p:nvPr/>
        </p:nvSpPr>
        <p:spPr>
          <a:xfrm>
            <a:off x="8997696" y="1691640"/>
            <a:ext cx="2606040" cy="3246120"/>
          </a:xfrm>
          <a:prstGeom prst="roundRect">
            <a:avLst>
              <a:gd fmla="val 421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6"/>
          <p:cNvSpPr/>
          <p:nvPr/>
        </p:nvSpPr>
        <p:spPr>
          <a:xfrm>
            <a:off x="9226296" y="196596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4" name="Google Shape;214;p6"/>
          <p:cNvPicPr preferRelativeResize="0"/>
          <p:nvPr/>
        </p:nvPicPr>
        <p:blipFill rotWithShape="1">
          <a:blip r:embed="rId7">
            <a:alphaModFix/>
          </a:blip>
          <a:srcRect b="0" l="0" r="0" t="0"/>
          <a:stretch/>
        </p:blipFill>
        <p:spPr>
          <a:xfrm>
            <a:off x="9397746" y="2137410"/>
            <a:ext cx="342900" cy="342900"/>
          </a:xfrm>
          <a:prstGeom prst="rect">
            <a:avLst/>
          </a:prstGeom>
          <a:noFill/>
          <a:ln>
            <a:noFill/>
          </a:ln>
        </p:spPr>
      </p:pic>
      <p:sp>
        <p:nvSpPr>
          <p:cNvPr id="215" name="Google Shape;215;p6"/>
          <p:cNvSpPr txBox="1"/>
          <p:nvPr/>
        </p:nvSpPr>
        <p:spPr>
          <a:xfrm>
            <a:off x="9226296" y="2834640"/>
            <a:ext cx="21945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900"/>
              <a:buFont typeface="Calibri"/>
              <a:buNone/>
            </a:pPr>
            <a:r>
              <a:rPr b="1" i="0" lang="en-US" sz="1900" u="none" cap="none" strike="noStrike">
                <a:solidFill>
                  <a:schemeClr val="accent2"/>
                </a:solidFill>
                <a:latin typeface="Calibri"/>
                <a:ea typeface="Calibri"/>
                <a:cs typeface="Calibri"/>
                <a:sym typeface="Calibri"/>
              </a:rPr>
              <a:t>4  Act</a:t>
            </a:r>
            <a:endParaRPr b="0" i="0" sz="1900" u="none" cap="none" strike="noStrike">
              <a:solidFill>
                <a:schemeClr val="dk1"/>
              </a:solidFill>
              <a:latin typeface="Calibri"/>
              <a:ea typeface="Calibri"/>
              <a:cs typeface="Calibri"/>
              <a:sym typeface="Calibri"/>
            </a:endParaRPr>
          </a:p>
        </p:txBody>
      </p:sp>
      <p:sp>
        <p:nvSpPr>
          <p:cNvPr id="216" name="Google Shape;216;p6"/>
          <p:cNvSpPr txBox="1"/>
          <p:nvPr/>
        </p:nvSpPr>
        <p:spPr>
          <a:xfrm>
            <a:off x="9226296" y="3291840"/>
            <a:ext cx="2194560"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HTML/PDF-ready report, Gemini Q&amp;A, a BigQuery row for portfolio analytics and a Pub/Sub event for underwriting and claims systems.</a:t>
            </a:r>
            <a:endParaRPr b="0" i="0" sz="1400" u="none" cap="none" strike="noStrike">
              <a:solidFill>
                <a:schemeClr val="dk1"/>
              </a:solidFill>
              <a:latin typeface="Calibri"/>
              <a:ea typeface="Calibri"/>
              <a:cs typeface="Calibri"/>
              <a:sym typeface="Calibri"/>
            </a:endParaRPr>
          </a:p>
        </p:txBody>
      </p:sp>
      <p:sp>
        <p:nvSpPr>
          <p:cNvPr id="217" name="Google Shape;217;p6"/>
          <p:cNvSpPr txBox="1"/>
          <p:nvPr/>
        </p:nvSpPr>
        <p:spPr>
          <a:xfrm>
            <a:off x="548640" y="5166360"/>
            <a:ext cx="26060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000"/>
              <a:buFont typeface="Arial"/>
              <a:buNone/>
            </a:pPr>
            <a:r>
              <a:rPr b="1" i="0" lang="en-US" sz="3000" u="none" cap="none" strike="noStrike">
                <a:solidFill>
                  <a:schemeClr val="accent3"/>
                </a:solidFill>
                <a:latin typeface="Arial"/>
                <a:ea typeface="Arial"/>
                <a:cs typeface="Arial"/>
                <a:sym typeface="Arial"/>
              </a:rPr>
              <a:t>10.6 min</a:t>
            </a:r>
            <a:endParaRPr b="0" i="0" sz="3000" u="none" cap="none" strike="noStrike">
              <a:solidFill>
                <a:schemeClr val="dk1"/>
              </a:solidFill>
              <a:latin typeface="Calibri"/>
              <a:ea typeface="Calibri"/>
              <a:cs typeface="Calibri"/>
              <a:sym typeface="Calibri"/>
            </a:endParaRPr>
          </a:p>
        </p:txBody>
      </p:sp>
      <p:sp>
        <p:nvSpPr>
          <p:cNvPr id="218" name="Google Shape;218;p6"/>
          <p:cNvSpPr txBox="1"/>
          <p:nvPr/>
        </p:nvSpPr>
        <p:spPr>
          <a:xfrm>
            <a:off x="548640" y="5715000"/>
            <a:ext cx="2606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end to end for a 20 s video, laptop GPU</a:t>
            </a:r>
            <a:endParaRPr b="0" i="0" sz="1300" u="none" cap="none" strike="noStrike">
              <a:solidFill>
                <a:schemeClr val="dk1"/>
              </a:solidFill>
              <a:latin typeface="Calibri"/>
              <a:ea typeface="Calibri"/>
              <a:cs typeface="Calibri"/>
              <a:sym typeface="Calibri"/>
            </a:endParaRPr>
          </a:p>
        </p:txBody>
      </p:sp>
      <p:sp>
        <p:nvSpPr>
          <p:cNvPr id="219" name="Google Shape;219;p6"/>
          <p:cNvSpPr txBox="1"/>
          <p:nvPr/>
        </p:nvSpPr>
        <p:spPr>
          <a:xfrm>
            <a:off x="3364992" y="5166360"/>
            <a:ext cx="26060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000"/>
              <a:buFont typeface="Arial"/>
              <a:buNone/>
            </a:pPr>
            <a:r>
              <a:rPr b="1" i="0" lang="en-US" sz="3000" u="none" cap="none" strike="noStrike">
                <a:solidFill>
                  <a:schemeClr val="accent3"/>
                </a:solidFill>
                <a:latin typeface="Arial"/>
                <a:ea typeface="Arial"/>
                <a:cs typeface="Arial"/>
                <a:sym typeface="Arial"/>
              </a:rPr>
              <a:t>≈ $1</a:t>
            </a:r>
            <a:endParaRPr b="0" i="0" sz="3000" u="none" cap="none" strike="noStrike">
              <a:solidFill>
                <a:schemeClr val="dk1"/>
              </a:solidFill>
              <a:latin typeface="Calibri"/>
              <a:ea typeface="Calibri"/>
              <a:cs typeface="Calibri"/>
              <a:sym typeface="Calibri"/>
            </a:endParaRPr>
          </a:p>
        </p:txBody>
      </p:sp>
      <p:sp>
        <p:nvSpPr>
          <p:cNvPr id="220" name="Google Shape;220;p6"/>
          <p:cNvSpPr txBox="1"/>
          <p:nvPr/>
        </p:nvSpPr>
        <p:spPr>
          <a:xfrm>
            <a:off x="3364992" y="5715000"/>
            <a:ext cx="2606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cloud cost per Lite video, GPU + Gemini</a:t>
            </a:r>
            <a:endParaRPr b="0" i="0" sz="1300" u="none" cap="none" strike="noStrike">
              <a:solidFill>
                <a:schemeClr val="dk1"/>
              </a:solidFill>
              <a:latin typeface="Calibri"/>
              <a:ea typeface="Calibri"/>
              <a:cs typeface="Calibri"/>
              <a:sym typeface="Calibri"/>
            </a:endParaRPr>
          </a:p>
        </p:txBody>
      </p:sp>
      <p:sp>
        <p:nvSpPr>
          <p:cNvPr id="221" name="Google Shape;221;p6"/>
          <p:cNvSpPr txBox="1"/>
          <p:nvPr/>
        </p:nvSpPr>
        <p:spPr>
          <a:xfrm>
            <a:off x="6181344" y="5166360"/>
            <a:ext cx="26060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000"/>
              <a:buFont typeface="Arial"/>
              <a:buNone/>
            </a:pPr>
            <a:r>
              <a:rPr b="1" i="0" lang="en-US" sz="3000" u="none" cap="none" strike="noStrike">
                <a:solidFill>
                  <a:schemeClr val="accent3"/>
                </a:solidFill>
                <a:latin typeface="Arial"/>
                <a:ea typeface="Arial"/>
                <a:cs typeface="Arial"/>
                <a:sym typeface="Arial"/>
              </a:rPr>
              <a:t>≈ $0.35</a:t>
            </a:r>
            <a:endParaRPr b="0" i="0" sz="3000" u="none" cap="none" strike="noStrike">
              <a:solidFill>
                <a:schemeClr val="dk1"/>
              </a:solidFill>
              <a:latin typeface="Calibri"/>
              <a:ea typeface="Calibri"/>
              <a:cs typeface="Calibri"/>
              <a:sym typeface="Calibri"/>
            </a:endParaRPr>
          </a:p>
        </p:txBody>
      </p:sp>
      <p:sp>
        <p:nvSpPr>
          <p:cNvPr id="222" name="Google Shape;222;p6"/>
          <p:cNvSpPr txBox="1"/>
          <p:nvPr/>
        </p:nvSpPr>
        <p:spPr>
          <a:xfrm>
            <a:off x="6181344" y="5715000"/>
            <a:ext cx="2606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Gemini cost per walkthrough</a:t>
            </a:r>
            <a:endParaRPr b="0" i="0" sz="1300" u="none" cap="none" strike="noStrike">
              <a:solidFill>
                <a:schemeClr val="dk1"/>
              </a:solidFill>
              <a:latin typeface="Calibri"/>
              <a:ea typeface="Calibri"/>
              <a:cs typeface="Calibri"/>
              <a:sym typeface="Calibri"/>
            </a:endParaRPr>
          </a:p>
        </p:txBody>
      </p:sp>
      <p:sp>
        <p:nvSpPr>
          <p:cNvPr id="223" name="Google Shape;223;p6"/>
          <p:cNvSpPr txBox="1"/>
          <p:nvPr/>
        </p:nvSpPr>
        <p:spPr>
          <a:xfrm>
            <a:off x="8997696" y="5166360"/>
            <a:ext cx="260604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3000"/>
              <a:buFont typeface="Arial"/>
              <a:buNone/>
            </a:pPr>
            <a:r>
              <a:rPr b="1" i="0" lang="en-US" sz="3000" u="none" cap="none" strike="noStrike">
                <a:solidFill>
                  <a:schemeClr val="accent3"/>
                </a:solidFill>
                <a:latin typeface="Arial"/>
                <a:ea typeface="Arial"/>
                <a:cs typeface="Arial"/>
                <a:sym typeface="Arial"/>
              </a:rPr>
              <a:t>$0</a:t>
            </a:r>
            <a:endParaRPr b="0" i="0" sz="3000" u="none" cap="none" strike="noStrike">
              <a:solidFill>
                <a:schemeClr val="dk1"/>
              </a:solidFill>
              <a:latin typeface="Calibri"/>
              <a:ea typeface="Calibri"/>
              <a:cs typeface="Calibri"/>
              <a:sym typeface="Calibri"/>
            </a:endParaRPr>
          </a:p>
        </p:txBody>
      </p:sp>
      <p:sp>
        <p:nvSpPr>
          <p:cNvPr id="224" name="Google Shape;224;p6"/>
          <p:cNvSpPr txBox="1"/>
          <p:nvPr/>
        </p:nvSpPr>
        <p:spPr>
          <a:xfrm>
            <a:off x="8997696" y="5715000"/>
            <a:ext cx="2606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GPU cost when idle: scales to zero</a:t>
            </a:r>
            <a:endParaRPr b="0" i="0" sz="1300" u="none" cap="none" strike="noStrike">
              <a:solidFill>
                <a:schemeClr val="dk1"/>
              </a:solidFill>
              <a:latin typeface="Calibri"/>
              <a:ea typeface="Calibri"/>
              <a:cs typeface="Calibri"/>
              <a:sym typeface="Calibri"/>
            </a:endParaRPr>
          </a:p>
        </p:txBody>
      </p:sp>
      <p:sp>
        <p:nvSpPr>
          <p:cNvPr id="225" name="Google Shape;225;p6"/>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7"/>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SOLUTION ARCHITECTURE</a:t>
            </a:r>
            <a:endParaRPr sz="1200"/>
          </a:p>
        </p:txBody>
      </p:sp>
      <p:sp>
        <p:nvSpPr>
          <p:cNvPr id="232" name="Google Shape;232;p7"/>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One Cloud Run service, powered by Gemini on Vertex AI</a:t>
            </a:r>
            <a:endParaRPr sz="3000"/>
          </a:p>
        </p:txBody>
      </p:sp>
      <p:sp>
        <p:nvSpPr>
          <p:cNvPr id="233" name="Google Shape;233;p7"/>
          <p:cNvSpPr txBox="1"/>
          <p:nvPr/>
        </p:nvSpPr>
        <p:spPr>
          <a:xfrm>
            <a:off x="548640" y="1463040"/>
            <a:ext cx="210312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i="0" lang="en-US" sz="1100" u="none" cap="none" strike="noStrike">
                <a:solidFill>
                  <a:schemeClr val="dk2"/>
                </a:solidFill>
                <a:latin typeface="Calibri"/>
                <a:ea typeface="Calibri"/>
                <a:cs typeface="Calibri"/>
                <a:sym typeface="Calibri"/>
              </a:rPr>
              <a:t>USERS</a:t>
            </a:r>
            <a:endParaRPr b="0" i="0" sz="1100" u="none" cap="none" strike="noStrike">
              <a:solidFill>
                <a:schemeClr val="dk1"/>
              </a:solidFill>
              <a:latin typeface="Calibri"/>
              <a:ea typeface="Calibri"/>
              <a:cs typeface="Calibri"/>
              <a:sym typeface="Calibri"/>
            </a:endParaRPr>
          </a:p>
        </p:txBody>
      </p:sp>
      <p:sp>
        <p:nvSpPr>
          <p:cNvPr id="234" name="Google Shape;234;p7"/>
          <p:cNvSpPr/>
          <p:nvPr/>
        </p:nvSpPr>
        <p:spPr>
          <a:xfrm>
            <a:off x="548640" y="1737360"/>
            <a:ext cx="2103120" cy="1051560"/>
          </a:xfrm>
          <a:prstGeom prst="roundRect">
            <a:avLst>
              <a:gd fmla="val 6957" name="adj"/>
            </a:avLst>
          </a:prstGeom>
          <a:solidFill>
            <a:srgbClr val="131C2E"/>
          </a:solidFill>
          <a:ln cap="flat" cmpd="sng" w="15875">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7"/>
          <p:cNvSpPr txBox="1"/>
          <p:nvPr/>
        </p:nvSpPr>
        <p:spPr>
          <a:xfrm>
            <a:off x="658368" y="1810512"/>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C55E"/>
              </a:buClr>
              <a:buSzPts val="1300"/>
              <a:buFont typeface="Calibri"/>
              <a:buNone/>
            </a:pPr>
            <a:r>
              <a:rPr b="1" i="0" lang="en-US" sz="1300" u="none" cap="none" strike="noStrike">
                <a:solidFill>
                  <a:srgbClr val="22C55E"/>
                </a:solidFill>
                <a:latin typeface="Calibri"/>
                <a:ea typeface="Calibri"/>
                <a:cs typeface="Calibri"/>
                <a:sym typeface="Calibri"/>
              </a:rPr>
              <a:t>Inspector / owner</a:t>
            </a:r>
            <a:endParaRPr b="0" i="0" sz="1300" u="none" cap="none" strike="noStrike">
              <a:solidFill>
                <a:schemeClr val="dk1"/>
              </a:solidFill>
              <a:latin typeface="Calibri"/>
              <a:ea typeface="Calibri"/>
              <a:cs typeface="Calibri"/>
              <a:sym typeface="Calibri"/>
            </a:endParaRPr>
          </a:p>
        </p:txBody>
      </p:sp>
      <p:sp>
        <p:nvSpPr>
          <p:cNvPr id="236" name="Google Shape;236;p7"/>
          <p:cNvSpPr txBox="1"/>
          <p:nvPr/>
        </p:nvSpPr>
        <p:spPr>
          <a:xfrm>
            <a:off x="658368" y="2084832"/>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Phone walkthrough video via the web app</a:t>
            </a:r>
            <a:endParaRPr b="0" i="0" sz="1100" u="none" cap="none" strike="noStrike">
              <a:solidFill>
                <a:schemeClr val="dk1"/>
              </a:solidFill>
              <a:latin typeface="Calibri"/>
              <a:ea typeface="Calibri"/>
              <a:cs typeface="Calibri"/>
              <a:sym typeface="Calibri"/>
            </a:endParaRPr>
          </a:p>
        </p:txBody>
      </p:sp>
      <p:sp>
        <p:nvSpPr>
          <p:cNvPr id="237" name="Google Shape;237;p7"/>
          <p:cNvSpPr/>
          <p:nvPr/>
        </p:nvSpPr>
        <p:spPr>
          <a:xfrm>
            <a:off x="548640" y="2971800"/>
            <a:ext cx="2103120" cy="1051560"/>
          </a:xfrm>
          <a:prstGeom prst="roundRect">
            <a:avLst>
              <a:gd fmla="val 6957" name="adj"/>
            </a:avLst>
          </a:prstGeom>
          <a:solidFill>
            <a:srgbClr val="131C2E"/>
          </a:solidFill>
          <a:ln cap="flat" cmpd="sng" w="15875">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7"/>
          <p:cNvSpPr txBox="1"/>
          <p:nvPr/>
        </p:nvSpPr>
        <p:spPr>
          <a:xfrm>
            <a:off x="658368" y="3044952"/>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C55E"/>
              </a:buClr>
              <a:buSzPts val="1300"/>
              <a:buFont typeface="Calibri"/>
              <a:buNone/>
            </a:pPr>
            <a:r>
              <a:rPr b="1" i="0" lang="en-US" sz="1300" u="none" cap="none" strike="noStrike">
                <a:solidFill>
                  <a:srgbClr val="22C55E"/>
                </a:solidFill>
                <a:latin typeface="Calibri"/>
                <a:ea typeface="Calibri"/>
                <a:cs typeface="Calibri"/>
                <a:sym typeface="Calibri"/>
              </a:rPr>
              <a:t>Underwriter / claims</a:t>
            </a:r>
            <a:endParaRPr b="0" i="0" sz="1300" u="none" cap="none" strike="noStrike">
              <a:solidFill>
                <a:schemeClr val="dk1"/>
              </a:solidFill>
              <a:latin typeface="Calibri"/>
              <a:ea typeface="Calibri"/>
              <a:cs typeface="Calibri"/>
              <a:sym typeface="Calibri"/>
            </a:endParaRPr>
          </a:p>
        </p:txBody>
      </p:sp>
      <p:sp>
        <p:nvSpPr>
          <p:cNvPr id="239" name="Google Shape;239;p7"/>
          <p:cNvSpPr txBox="1"/>
          <p:nvPr/>
        </p:nvSpPr>
        <p:spPr>
          <a:xfrm>
            <a:off x="658368" y="3319272"/>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Dashboard, reports, Ask Gemini</a:t>
            </a:r>
            <a:endParaRPr b="0" i="0" sz="1100" u="none" cap="none" strike="noStrike">
              <a:solidFill>
                <a:schemeClr val="dk1"/>
              </a:solidFill>
              <a:latin typeface="Calibri"/>
              <a:ea typeface="Calibri"/>
              <a:cs typeface="Calibri"/>
              <a:sym typeface="Calibri"/>
            </a:endParaRPr>
          </a:p>
        </p:txBody>
      </p:sp>
      <p:sp>
        <p:nvSpPr>
          <p:cNvPr id="240" name="Google Shape;240;p7"/>
          <p:cNvSpPr/>
          <p:nvPr/>
        </p:nvSpPr>
        <p:spPr>
          <a:xfrm>
            <a:off x="548640" y="4206240"/>
            <a:ext cx="2103120" cy="1051560"/>
          </a:xfrm>
          <a:prstGeom prst="roundRect">
            <a:avLst>
              <a:gd fmla="val 6957" name="adj"/>
            </a:avLst>
          </a:prstGeom>
          <a:solidFill>
            <a:srgbClr val="131C2E"/>
          </a:solidFill>
          <a:ln cap="flat" cmpd="sng" w="15875">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7"/>
          <p:cNvSpPr txBox="1"/>
          <p:nvPr/>
        </p:nvSpPr>
        <p:spPr>
          <a:xfrm>
            <a:off x="658368" y="4279392"/>
            <a:ext cx="188366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C55E"/>
              </a:buClr>
              <a:buSzPts val="1300"/>
              <a:buFont typeface="Calibri"/>
              <a:buNone/>
            </a:pPr>
            <a:r>
              <a:rPr b="1" i="0" lang="en-US" sz="1300" u="none" cap="none" strike="noStrike">
                <a:solidFill>
                  <a:srgbClr val="22C55E"/>
                </a:solidFill>
                <a:latin typeface="Calibri"/>
                <a:ea typeface="Calibri"/>
                <a:cs typeface="Calibri"/>
                <a:sym typeface="Calibri"/>
              </a:rPr>
              <a:t>Core systems</a:t>
            </a:r>
            <a:endParaRPr b="0" i="0" sz="1300" u="none" cap="none" strike="noStrike">
              <a:solidFill>
                <a:schemeClr val="dk1"/>
              </a:solidFill>
              <a:latin typeface="Calibri"/>
              <a:ea typeface="Calibri"/>
              <a:cs typeface="Calibri"/>
              <a:sym typeface="Calibri"/>
            </a:endParaRPr>
          </a:p>
        </p:txBody>
      </p:sp>
      <p:sp>
        <p:nvSpPr>
          <p:cNvPr id="242" name="Google Shape;242;p7"/>
          <p:cNvSpPr txBox="1"/>
          <p:nvPr/>
        </p:nvSpPr>
        <p:spPr>
          <a:xfrm>
            <a:off x="658368" y="4553712"/>
            <a:ext cx="188366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LOS, policy admin and claims via REST API</a:t>
            </a:r>
            <a:endParaRPr b="0" i="0" sz="1100" u="none" cap="none" strike="noStrike">
              <a:solidFill>
                <a:schemeClr val="dk1"/>
              </a:solidFill>
              <a:latin typeface="Calibri"/>
              <a:ea typeface="Calibri"/>
              <a:cs typeface="Calibri"/>
              <a:sym typeface="Calibri"/>
            </a:endParaRPr>
          </a:p>
        </p:txBody>
      </p:sp>
      <p:sp>
        <p:nvSpPr>
          <p:cNvPr id="243" name="Google Shape;243;p7"/>
          <p:cNvSpPr/>
          <p:nvPr/>
        </p:nvSpPr>
        <p:spPr>
          <a:xfrm>
            <a:off x="3063240" y="1463040"/>
            <a:ext cx="5120640" cy="4206240"/>
          </a:xfrm>
          <a:prstGeom prst="roundRect">
            <a:avLst>
              <a:gd fmla="val 2174" name="adj"/>
            </a:avLst>
          </a:prstGeom>
          <a:solidFill>
            <a:srgbClr val="101830"/>
          </a:solidFill>
          <a:ln cap="flat" cmpd="sng" w="25400">
            <a:solidFill>
              <a:srgbClr val="6366F1"/>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7"/>
          <p:cNvSpPr txBox="1"/>
          <p:nvPr/>
        </p:nvSpPr>
        <p:spPr>
          <a:xfrm>
            <a:off x="3246120" y="1554480"/>
            <a:ext cx="48463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300"/>
              <a:buFont typeface="Calibri"/>
              <a:buNone/>
            </a:pPr>
            <a:r>
              <a:rPr b="1" i="0" lang="en-US" sz="1300" u="none" cap="none" strike="noStrike">
                <a:solidFill>
                  <a:schemeClr val="accent1"/>
                </a:solidFill>
                <a:latin typeface="Calibri"/>
                <a:ea typeface="Calibri"/>
                <a:cs typeface="Calibri"/>
                <a:sym typeface="Calibri"/>
              </a:rPr>
              <a:t>Cloud Run  ·  FastAPI + web UI  ·  NVIDIA L4 GPU</a:t>
            </a:r>
            <a:endParaRPr b="0" i="0" sz="1300" u="none" cap="none" strike="noStrike">
              <a:solidFill>
                <a:schemeClr val="dk1"/>
              </a:solidFill>
              <a:latin typeface="Calibri"/>
              <a:ea typeface="Calibri"/>
              <a:cs typeface="Calibri"/>
              <a:sym typeface="Calibri"/>
            </a:endParaRPr>
          </a:p>
        </p:txBody>
      </p:sp>
      <p:sp>
        <p:nvSpPr>
          <p:cNvPr id="245" name="Google Shape;245;p7"/>
          <p:cNvSpPr/>
          <p:nvPr/>
        </p:nvSpPr>
        <p:spPr>
          <a:xfrm>
            <a:off x="3246120" y="1920240"/>
            <a:ext cx="2286000" cy="1143000"/>
          </a:xfrm>
          <a:prstGeom prst="roundRect">
            <a:avLst>
              <a:gd fmla="val 6400" name="adj"/>
            </a:avLst>
          </a:prstGeom>
          <a:solidFill>
            <a:srgbClr val="131C2E"/>
          </a:solidFill>
          <a:ln cap="flat" cmpd="sng" w="15875">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7"/>
          <p:cNvSpPr txBox="1"/>
          <p:nvPr/>
        </p:nvSpPr>
        <p:spPr>
          <a:xfrm>
            <a:off x="3355848" y="1993392"/>
            <a:ext cx="206654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300"/>
              <a:buFont typeface="Calibri"/>
              <a:buNone/>
            </a:pPr>
            <a:r>
              <a:rPr b="1" i="0" lang="en-US" sz="1300" u="none" cap="none" strike="noStrike">
                <a:solidFill>
                  <a:srgbClr val="22D3EE"/>
                </a:solidFill>
                <a:latin typeface="Calibri"/>
                <a:ea typeface="Calibri"/>
                <a:cs typeface="Calibri"/>
                <a:sym typeface="Calibri"/>
              </a:rPr>
              <a:t>Keyframe pipeline</a:t>
            </a:r>
            <a:endParaRPr b="0" i="0" sz="1300" u="none" cap="none" strike="noStrike">
              <a:solidFill>
                <a:schemeClr val="dk1"/>
              </a:solidFill>
              <a:latin typeface="Calibri"/>
              <a:ea typeface="Calibri"/>
              <a:cs typeface="Calibri"/>
              <a:sym typeface="Calibri"/>
            </a:endParaRPr>
          </a:p>
        </p:txBody>
      </p:sp>
      <p:sp>
        <p:nvSpPr>
          <p:cNvPr id="247" name="Google Shape;247;p7"/>
          <p:cNvSpPr txBox="1"/>
          <p:nvPr/>
        </p:nvSpPr>
        <p:spPr>
          <a:xfrm>
            <a:off x="3355848" y="2267712"/>
            <a:ext cx="2066544"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Quality + integrity checks, prompt router, NMS, crops</a:t>
            </a:r>
            <a:endParaRPr b="0" i="0" sz="1100" u="none" cap="none" strike="noStrike">
              <a:solidFill>
                <a:schemeClr val="dk1"/>
              </a:solidFill>
              <a:latin typeface="Calibri"/>
              <a:ea typeface="Calibri"/>
              <a:cs typeface="Calibri"/>
              <a:sym typeface="Calibri"/>
            </a:endParaRPr>
          </a:p>
        </p:txBody>
      </p:sp>
      <p:sp>
        <p:nvSpPr>
          <p:cNvPr id="248" name="Google Shape;248;p7"/>
          <p:cNvSpPr/>
          <p:nvPr/>
        </p:nvSpPr>
        <p:spPr>
          <a:xfrm>
            <a:off x="5715000" y="1920240"/>
            <a:ext cx="2286000" cy="1143000"/>
          </a:xfrm>
          <a:prstGeom prst="roundRect">
            <a:avLst>
              <a:gd fmla="val 6400" name="adj"/>
            </a:avLst>
          </a:prstGeom>
          <a:solidFill>
            <a:srgbClr val="131C2E"/>
          </a:solidFill>
          <a:ln cap="flat" cmpd="sng" w="15875">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7"/>
          <p:cNvSpPr txBox="1"/>
          <p:nvPr/>
        </p:nvSpPr>
        <p:spPr>
          <a:xfrm>
            <a:off x="5824728" y="1993392"/>
            <a:ext cx="206654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300"/>
              <a:buFont typeface="Calibri"/>
              <a:buNone/>
            </a:pPr>
            <a:r>
              <a:rPr b="1" i="0" lang="en-US" sz="1300" u="none" cap="none" strike="noStrike">
                <a:solidFill>
                  <a:srgbClr val="22D3EE"/>
                </a:solidFill>
                <a:latin typeface="Calibri"/>
                <a:ea typeface="Calibri"/>
                <a:cs typeface="Calibri"/>
                <a:sym typeface="Calibri"/>
              </a:rPr>
              <a:t>Local GPU models</a:t>
            </a:r>
            <a:endParaRPr b="0" i="0" sz="1300" u="none" cap="none" strike="noStrike">
              <a:solidFill>
                <a:schemeClr val="dk1"/>
              </a:solidFill>
              <a:latin typeface="Calibri"/>
              <a:ea typeface="Calibri"/>
              <a:cs typeface="Calibri"/>
              <a:sym typeface="Calibri"/>
            </a:endParaRPr>
          </a:p>
        </p:txBody>
      </p:sp>
      <p:sp>
        <p:nvSpPr>
          <p:cNvPr id="250" name="Google Shape;250;p7"/>
          <p:cNvSpPr txBox="1"/>
          <p:nvPr/>
        </p:nvSpPr>
        <p:spPr>
          <a:xfrm>
            <a:off x="5824728" y="2267712"/>
            <a:ext cx="2066544"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LocateAnything-3B (boxes)</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Gemma 4 E4B (verify), llama.cpp</a:t>
            </a:r>
            <a:endParaRPr b="0" i="0" sz="1100" u="none" cap="none" strike="noStrike">
              <a:solidFill>
                <a:schemeClr val="dk1"/>
              </a:solidFill>
              <a:latin typeface="Calibri"/>
              <a:ea typeface="Calibri"/>
              <a:cs typeface="Calibri"/>
              <a:sym typeface="Calibri"/>
            </a:endParaRPr>
          </a:p>
        </p:txBody>
      </p:sp>
      <p:sp>
        <p:nvSpPr>
          <p:cNvPr id="251" name="Google Shape;251;p7"/>
          <p:cNvSpPr/>
          <p:nvPr/>
        </p:nvSpPr>
        <p:spPr>
          <a:xfrm>
            <a:off x="3246120" y="3200400"/>
            <a:ext cx="2286000" cy="1143000"/>
          </a:xfrm>
          <a:prstGeom prst="roundRect">
            <a:avLst>
              <a:gd fmla="val 6400" name="adj"/>
            </a:avLst>
          </a:prstGeom>
          <a:solidFill>
            <a:srgbClr val="131C2E"/>
          </a:solidFill>
          <a:ln cap="flat" cmpd="sng" w="15875">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7"/>
          <p:cNvSpPr txBox="1"/>
          <p:nvPr/>
        </p:nvSpPr>
        <p:spPr>
          <a:xfrm>
            <a:off x="3355848" y="3273552"/>
            <a:ext cx="206654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300"/>
              <a:buFont typeface="Calibri"/>
              <a:buNone/>
            </a:pPr>
            <a:r>
              <a:rPr b="1" i="0" lang="en-US" sz="1300" u="none" cap="none" strike="noStrike">
                <a:solidFill>
                  <a:srgbClr val="22D3EE"/>
                </a:solidFill>
                <a:latin typeface="Calibri"/>
                <a:ea typeface="Calibri"/>
                <a:cs typeface="Calibri"/>
                <a:sym typeface="Calibri"/>
              </a:rPr>
              <a:t>3D engine</a:t>
            </a:r>
            <a:endParaRPr b="0" i="0" sz="1300" u="none" cap="none" strike="noStrike">
              <a:solidFill>
                <a:schemeClr val="dk1"/>
              </a:solidFill>
              <a:latin typeface="Calibri"/>
              <a:ea typeface="Calibri"/>
              <a:cs typeface="Calibri"/>
              <a:sym typeface="Calibri"/>
            </a:endParaRPr>
          </a:p>
        </p:txBody>
      </p:sp>
      <p:sp>
        <p:nvSpPr>
          <p:cNvPr id="253" name="Google Shape;253;p7"/>
          <p:cNvSpPr txBox="1"/>
          <p:nvPr/>
        </p:nvSpPr>
        <p:spPr>
          <a:xfrm>
            <a:off x="3355848" y="3547872"/>
            <a:ext cx="2066544"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Depth Anything 3 + OpenCV 5 SLAM + Open3D TSDF</a:t>
            </a:r>
            <a:endParaRPr b="0" i="0" sz="1100" u="none" cap="none" strike="noStrike">
              <a:solidFill>
                <a:schemeClr val="dk1"/>
              </a:solidFill>
              <a:latin typeface="Calibri"/>
              <a:ea typeface="Calibri"/>
              <a:cs typeface="Calibri"/>
              <a:sym typeface="Calibri"/>
            </a:endParaRPr>
          </a:p>
        </p:txBody>
      </p:sp>
      <p:sp>
        <p:nvSpPr>
          <p:cNvPr id="254" name="Google Shape;254;p7"/>
          <p:cNvSpPr/>
          <p:nvPr/>
        </p:nvSpPr>
        <p:spPr>
          <a:xfrm>
            <a:off x="5715000" y="3200400"/>
            <a:ext cx="2286000" cy="1143000"/>
          </a:xfrm>
          <a:prstGeom prst="roundRect">
            <a:avLst>
              <a:gd fmla="val 6400" name="adj"/>
            </a:avLst>
          </a:prstGeom>
          <a:solidFill>
            <a:srgbClr val="131C2E"/>
          </a:solidFill>
          <a:ln cap="flat" cmpd="sng" w="15875">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7"/>
          <p:cNvSpPr txBox="1"/>
          <p:nvPr/>
        </p:nvSpPr>
        <p:spPr>
          <a:xfrm>
            <a:off x="5824728" y="3273552"/>
            <a:ext cx="206654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300"/>
              <a:buFont typeface="Calibri"/>
              <a:buNone/>
            </a:pPr>
            <a:r>
              <a:rPr b="1" i="0" lang="en-US" sz="1300" u="none" cap="none" strike="noStrike">
                <a:solidFill>
                  <a:srgbClr val="22D3EE"/>
                </a:solidFill>
                <a:latin typeface="Calibri"/>
                <a:ea typeface="Calibri"/>
                <a:cs typeface="Calibri"/>
                <a:sym typeface="Calibri"/>
              </a:rPr>
              <a:t>Coverage + 3D pins</a:t>
            </a:r>
            <a:endParaRPr b="0" i="0" sz="1300" u="none" cap="none" strike="noStrike">
              <a:solidFill>
                <a:schemeClr val="dk1"/>
              </a:solidFill>
              <a:latin typeface="Calibri"/>
              <a:ea typeface="Calibri"/>
              <a:cs typeface="Calibri"/>
              <a:sym typeface="Calibri"/>
            </a:endParaRPr>
          </a:p>
        </p:txBody>
      </p:sp>
      <p:sp>
        <p:nvSpPr>
          <p:cNvPr id="256" name="Google Shape;256;p7"/>
          <p:cNvSpPr txBox="1"/>
          <p:nvPr/>
        </p:nvSpPr>
        <p:spPr>
          <a:xfrm>
            <a:off x="5824728" y="3547872"/>
            <a:ext cx="2066544"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10 cm surface coverage, keyframe set cover, GLB</a:t>
            </a:r>
            <a:endParaRPr b="0" i="0" sz="1100" u="none" cap="none" strike="noStrike">
              <a:solidFill>
                <a:schemeClr val="dk1"/>
              </a:solidFill>
              <a:latin typeface="Calibri"/>
              <a:ea typeface="Calibri"/>
              <a:cs typeface="Calibri"/>
              <a:sym typeface="Calibri"/>
            </a:endParaRPr>
          </a:p>
        </p:txBody>
      </p:sp>
      <p:sp>
        <p:nvSpPr>
          <p:cNvPr id="257" name="Google Shape;257;p7"/>
          <p:cNvSpPr/>
          <p:nvPr/>
        </p:nvSpPr>
        <p:spPr>
          <a:xfrm>
            <a:off x="3246120" y="4480560"/>
            <a:ext cx="4754880" cy="1005840"/>
          </a:xfrm>
          <a:prstGeom prst="roundRect">
            <a:avLst>
              <a:gd fmla="val 7273" name="adj"/>
            </a:avLst>
          </a:prstGeom>
          <a:solidFill>
            <a:srgbClr val="131C2E"/>
          </a:solidFill>
          <a:ln cap="flat" cmpd="sng" w="15875">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7"/>
          <p:cNvSpPr txBox="1"/>
          <p:nvPr/>
        </p:nvSpPr>
        <p:spPr>
          <a:xfrm>
            <a:off x="3355848" y="4553712"/>
            <a:ext cx="453542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9E0B"/>
              </a:buClr>
              <a:buSzPts val="1300"/>
              <a:buFont typeface="Calibri"/>
              <a:buNone/>
            </a:pPr>
            <a:r>
              <a:rPr b="1" i="0" lang="en-US" sz="1300" u="none" cap="none" strike="noStrike">
                <a:solidFill>
                  <a:srgbClr val="F59E0B"/>
                </a:solidFill>
                <a:latin typeface="Calibri"/>
                <a:ea typeface="Calibri"/>
                <a:cs typeface="Calibri"/>
                <a:sym typeface="Calibri"/>
              </a:rPr>
              <a:t>Rule &amp; risk engine (YAML) + Gemini</a:t>
            </a:r>
            <a:endParaRPr b="0" i="0" sz="1300" u="none" cap="none" strike="noStrike">
              <a:solidFill>
                <a:schemeClr val="dk1"/>
              </a:solidFill>
              <a:latin typeface="Calibri"/>
              <a:ea typeface="Calibri"/>
              <a:cs typeface="Calibri"/>
              <a:sym typeface="Calibri"/>
            </a:endParaRPr>
          </a:p>
        </p:txBody>
      </p:sp>
      <p:sp>
        <p:nvSpPr>
          <p:cNvPr id="259" name="Google Shape;259;p7"/>
          <p:cNvSpPr txBox="1"/>
          <p:nvPr/>
        </p:nvSpPr>
        <p:spPr>
          <a:xfrm>
            <a:off x="3355848" y="4828032"/>
            <a:ext cx="4535424"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DETECTED / NEEDS_REVIEW  ·  grade A–E  ·  perils  ·  repair cost  ·  valuation  ·  premium  ·  decision, explained by Gemini</a:t>
            </a:r>
            <a:endParaRPr b="0" i="0" sz="1100" u="none" cap="none" strike="noStrike">
              <a:solidFill>
                <a:schemeClr val="dk1"/>
              </a:solidFill>
              <a:latin typeface="Calibri"/>
              <a:ea typeface="Calibri"/>
              <a:cs typeface="Calibri"/>
              <a:sym typeface="Calibri"/>
            </a:endParaRPr>
          </a:p>
        </p:txBody>
      </p:sp>
      <p:sp>
        <p:nvSpPr>
          <p:cNvPr id="260" name="Google Shape;260;p7"/>
          <p:cNvSpPr txBox="1"/>
          <p:nvPr/>
        </p:nvSpPr>
        <p:spPr>
          <a:xfrm>
            <a:off x="8595360" y="1463040"/>
            <a:ext cx="310896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1" i="0" lang="en-US" sz="1100" u="none" cap="none" strike="noStrike">
                <a:solidFill>
                  <a:schemeClr val="dk2"/>
                </a:solidFill>
                <a:latin typeface="Calibri"/>
                <a:ea typeface="Calibri"/>
                <a:cs typeface="Calibri"/>
                <a:sym typeface="Calibri"/>
              </a:rPr>
              <a:t>GOOGLE CLOUD SERVICES</a:t>
            </a:r>
            <a:endParaRPr b="0" i="0" sz="1100" u="none" cap="none" strike="noStrike">
              <a:solidFill>
                <a:schemeClr val="dk1"/>
              </a:solidFill>
              <a:latin typeface="Calibri"/>
              <a:ea typeface="Calibri"/>
              <a:cs typeface="Calibri"/>
              <a:sym typeface="Calibri"/>
            </a:endParaRPr>
          </a:p>
        </p:txBody>
      </p:sp>
      <p:sp>
        <p:nvSpPr>
          <p:cNvPr id="261" name="Google Shape;261;p7"/>
          <p:cNvSpPr/>
          <p:nvPr/>
        </p:nvSpPr>
        <p:spPr>
          <a:xfrm>
            <a:off x="8595360" y="1737360"/>
            <a:ext cx="3063240" cy="960120"/>
          </a:xfrm>
          <a:prstGeom prst="roundRect">
            <a:avLst>
              <a:gd fmla="val 7619" name="adj"/>
            </a:avLst>
          </a:prstGeom>
          <a:solidFill>
            <a:srgbClr val="131C2E"/>
          </a:solidFill>
          <a:ln cap="flat" cmpd="sng" w="15875">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7"/>
          <p:cNvSpPr txBox="1"/>
          <p:nvPr/>
        </p:nvSpPr>
        <p:spPr>
          <a:xfrm>
            <a:off x="8705088" y="1810512"/>
            <a:ext cx="28437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366F1"/>
              </a:buClr>
              <a:buSzPts val="1300"/>
              <a:buFont typeface="Calibri"/>
              <a:buNone/>
            </a:pPr>
            <a:r>
              <a:rPr b="1" i="0" lang="en-US" sz="1300" u="none" cap="none" strike="noStrike">
                <a:solidFill>
                  <a:srgbClr val="6366F1"/>
                </a:solidFill>
                <a:latin typeface="Calibri"/>
                <a:ea typeface="Calibri"/>
                <a:cs typeface="Calibri"/>
                <a:sym typeface="Calibri"/>
              </a:rPr>
              <a:t>Gemini 3.8 Flash · Vertex AI</a:t>
            </a:r>
            <a:endParaRPr b="0" i="0" sz="1300" u="none" cap="none" strike="noStrike">
              <a:solidFill>
                <a:schemeClr val="dk1"/>
              </a:solidFill>
              <a:latin typeface="Calibri"/>
              <a:ea typeface="Calibri"/>
              <a:cs typeface="Calibri"/>
              <a:sym typeface="Calibri"/>
            </a:endParaRPr>
          </a:p>
        </p:txBody>
      </p:sp>
      <p:sp>
        <p:nvSpPr>
          <p:cNvPr id="263" name="Google Shape;263;p7"/>
          <p:cNvSpPr txBox="1"/>
          <p:nvPr/>
        </p:nvSpPr>
        <p:spPr>
          <a:xfrm>
            <a:off x="8705088" y="2084832"/>
            <a:ext cx="284378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Scene, authenticity, object names, analysis, Q&amp;A</a:t>
            </a:r>
            <a:endParaRPr b="0" i="0" sz="1100" u="none" cap="none" strike="noStrike">
              <a:solidFill>
                <a:schemeClr val="dk1"/>
              </a:solidFill>
              <a:latin typeface="Calibri"/>
              <a:ea typeface="Calibri"/>
              <a:cs typeface="Calibri"/>
              <a:sym typeface="Calibri"/>
            </a:endParaRPr>
          </a:p>
        </p:txBody>
      </p:sp>
      <p:sp>
        <p:nvSpPr>
          <p:cNvPr id="264" name="Google Shape;264;p7"/>
          <p:cNvSpPr/>
          <p:nvPr/>
        </p:nvSpPr>
        <p:spPr>
          <a:xfrm>
            <a:off x="8595360" y="2788920"/>
            <a:ext cx="3063240" cy="868680"/>
          </a:xfrm>
          <a:prstGeom prst="roundRect">
            <a:avLst>
              <a:gd fmla="val 8421" name="adj"/>
            </a:avLst>
          </a:prstGeom>
          <a:solidFill>
            <a:srgbClr val="131C2E"/>
          </a:solidFill>
          <a:ln cap="flat" cmpd="sng" w="15875">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7"/>
          <p:cNvSpPr txBox="1"/>
          <p:nvPr/>
        </p:nvSpPr>
        <p:spPr>
          <a:xfrm>
            <a:off x="8705088" y="2862072"/>
            <a:ext cx="28437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366F1"/>
              </a:buClr>
              <a:buSzPts val="1300"/>
              <a:buFont typeface="Calibri"/>
              <a:buNone/>
            </a:pPr>
            <a:r>
              <a:rPr b="1" i="0" lang="en-US" sz="1300" u="none" cap="none" strike="noStrike">
                <a:solidFill>
                  <a:srgbClr val="6366F1"/>
                </a:solidFill>
                <a:latin typeface="Calibri"/>
                <a:ea typeface="Calibri"/>
                <a:cs typeface="Calibri"/>
                <a:sym typeface="Calibri"/>
              </a:rPr>
              <a:t>Cloud Storage (FUSE)</a:t>
            </a:r>
            <a:endParaRPr b="0" i="0" sz="1300" u="none" cap="none" strike="noStrike">
              <a:solidFill>
                <a:schemeClr val="dk1"/>
              </a:solidFill>
              <a:latin typeface="Calibri"/>
              <a:ea typeface="Calibri"/>
              <a:cs typeface="Calibri"/>
              <a:sym typeface="Calibri"/>
            </a:endParaRPr>
          </a:p>
        </p:txBody>
      </p:sp>
      <p:sp>
        <p:nvSpPr>
          <p:cNvPr id="266" name="Google Shape;266;p7"/>
          <p:cNvSpPr txBox="1"/>
          <p:nvPr/>
        </p:nvSpPr>
        <p:spPr>
          <a:xfrm>
            <a:off x="8705088" y="3136392"/>
            <a:ext cx="284378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Uploads, reports, GLB models, maps</a:t>
            </a:r>
            <a:endParaRPr b="0" i="0" sz="1100" u="none" cap="none" strike="noStrike">
              <a:solidFill>
                <a:schemeClr val="dk1"/>
              </a:solidFill>
              <a:latin typeface="Calibri"/>
              <a:ea typeface="Calibri"/>
              <a:cs typeface="Calibri"/>
              <a:sym typeface="Calibri"/>
            </a:endParaRPr>
          </a:p>
        </p:txBody>
      </p:sp>
      <p:sp>
        <p:nvSpPr>
          <p:cNvPr id="267" name="Google Shape;267;p7"/>
          <p:cNvSpPr/>
          <p:nvPr/>
        </p:nvSpPr>
        <p:spPr>
          <a:xfrm>
            <a:off x="8595360" y="3749040"/>
            <a:ext cx="3063240" cy="868680"/>
          </a:xfrm>
          <a:prstGeom prst="roundRect">
            <a:avLst>
              <a:gd fmla="val 8421" name="adj"/>
            </a:avLst>
          </a:prstGeom>
          <a:solidFill>
            <a:srgbClr val="131C2E"/>
          </a:solidFill>
          <a:ln cap="flat" cmpd="sng" w="15875">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7"/>
          <p:cNvSpPr txBox="1"/>
          <p:nvPr/>
        </p:nvSpPr>
        <p:spPr>
          <a:xfrm>
            <a:off x="8705088" y="3822192"/>
            <a:ext cx="28437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366F1"/>
              </a:buClr>
              <a:buSzPts val="1300"/>
              <a:buFont typeface="Calibri"/>
              <a:buNone/>
            </a:pPr>
            <a:r>
              <a:rPr b="1" i="0" lang="en-US" sz="1300" u="none" cap="none" strike="noStrike">
                <a:solidFill>
                  <a:srgbClr val="6366F1"/>
                </a:solidFill>
                <a:latin typeface="Calibri"/>
                <a:ea typeface="Calibri"/>
                <a:cs typeface="Calibri"/>
                <a:sym typeface="Calibri"/>
              </a:rPr>
              <a:t>BigQuery</a:t>
            </a:r>
            <a:endParaRPr b="0" i="0" sz="1300" u="none" cap="none" strike="noStrike">
              <a:solidFill>
                <a:schemeClr val="dk1"/>
              </a:solidFill>
              <a:latin typeface="Calibri"/>
              <a:ea typeface="Calibri"/>
              <a:cs typeface="Calibri"/>
              <a:sym typeface="Calibri"/>
            </a:endParaRPr>
          </a:p>
        </p:txBody>
      </p:sp>
      <p:sp>
        <p:nvSpPr>
          <p:cNvPr id="269" name="Google Shape;269;p7"/>
          <p:cNvSpPr txBox="1"/>
          <p:nvPr/>
        </p:nvSpPr>
        <p:spPr>
          <a:xfrm>
            <a:off x="8705088" y="4096512"/>
            <a:ext cx="2843784"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property_risk.inspections for portfolio analytics</a:t>
            </a:r>
            <a:endParaRPr b="0" i="0" sz="1100" u="none" cap="none" strike="noStrike">
              <a:solidFill>
                <a:schemeClr val="dk1"/>
              </a:solidFill>
              <a:latin typeface="Calibri"/>
              <a:ea typeface="Calibri"/>
              <a:cs typeface="Calibri"/>
              <a:sym typeface="Calibri"/>
            </a:endParaRPr>
          </a:p>
        </p:txBody>
      </p:sp>
      <p:sp>
        <p:nvSpPr>
          <p:cNvPr id="270" name="Google Shape;270;p7"/>
          <p:cNvSpPr/>
          <p:nvPr/>
        </p:nvSpPr>
        <p:spPr>
          <a:xfrm>
            <a:off x="8595360" y="4709160"/>
            <a:ext cx="3063240" cy="960120"/>
          </a:xfrm>
          <a:prstGeom prst="roundRect">
            <a:avLst>
              <a:gd fmla="val 7619" name="adj"/>
            </a:avLst>
          </a:prstGeom>
          <a:solidFill>
            <a:srgbClr val="131C2E"/>
          </a:solidFill>
          <a:ln cap="flat" cmpd="sng" w="15875">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7"/>
          <p:cNvSpPr txBox="1"/>
          <p:nvPr/>
        </p:nvSpPr>
        <p:spPr>
          <a:xfrm>
            <a:off x="8705088" y="4782312"/>
            <a:ext cx="28437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366F1"/>
              </a:buClr>
              <a:buSzPts val="1300"/>
              <a:buFont typeface="Calibri"/>
              <a:buNone/>
            </a:pPr>
            <a:r>
              <a:rPr b="1" i="0" lang="en-US" sz="1300" u="none" cap="none" strike="noStrike">
                <a:solidFill>
                  <a:srgbClr val="6366F1"/>
                </a:solidFill>
                <a:latin typeface="Calibri"/>
                <a:ea typeface="Calibri"/>
                <a:cs typeface="Calibri"/>
                <a:sym typeface="Calibri"/>
              </a:rPr>
              <a:t>Pub/Sub</a:t>
            </a:r>
            <a:endParaRPr b="0" i="0" sz="1300" u="none" cap="none" strike="noStrike">
              <a:solidFill>
                <a:schemeClr val="dk1"/>
              </a:solidFill>
              <a:latin typeface="Calibri"/>
              <a:ea typeface="Calibri"/>
              <a:cs typeface="Calibri"/>
              <a:sym typeface="Calibri"/>
            </a:endParaRPr>
          </a:p>
        </p:txBody>
      </p:sp>
      <p:sp>
        <p:nvSpPr>
          <p:cNvPr id="272" name="Google Shape;272;p7"/>
          <p:cNvSpPr txBox="1"/>
          <p:nvPr/>
        </p:nvSpPr>
        <p:spPr>
          <a:xfrm>
            <a:off x="8705088" y="5056632"/>
            <a:ext cx="2843784"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inspection.completed and walkthrough.completed events</a:t>
            </a:r>
            <a:endParaRPr b="0" i="0" sz="1100" u="none" cap="none" strike="noStrike">
              <a:solidFill>
                <a:schemeClr val="dk1"/>
              </a:solidFill>
              <a:latin typeface="Calibri"/>
              <a:ea typeface="Calibri"/>
              <a:cs typeface="Calibri"/>
              <a:sym typeface="Calibri"/>
            </a:endParaRPr>
          </a:p>
        </p:txBody>
      </p:sp>
      <p:cxnSp>
        <p:nvCxnSpPr>
          <p:cNvPr id="273" name="Google Shape;273;p7"/>
          <p:cNvCxnSpPr/>
          <p:nvPr/>
        </p:nvCxnSpPr>
        <p:spPr>
          <a:xfrm>
            <a:off x="2651760" y="225856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4" name="Google Shape;274;p7"/>
          <p:cNvCxnSpPr/>
          <p:nvPr/>
        </p:nvCxnSpPr>
        <p:spPr>
          <a:xfrm>
            <a:off x="2651760" y="349300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5" name="Google Shape;275;p7"/>
          <p:cNvCxnSpPr/>
          <p:nvPr/>
        </p:nvCxnSpPr>
        <p:spPr>
          <a:xfrm>
            <a:off x="2651760" y="472744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6" name="Google Shape;276;p7"/>
          <p:cNvCxnSpPr/>
          <p:nvPr/>
        </p:nvCxnSpPr>
        <p:spPr>
          <a:xfrm>
            <a:off x="8183880" y="221284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7" name="Google Shape;277;p7"/>
          <p:cNvCxnSpPr/>
          <p:nvPr/>
        </p:nvCxnSpPr>
        <p:spPr>
          <a:xfrm>
            <a:off x="8183880" y="321868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8" name="Google Shape;278;p7"/>
          <p:cNvCxnSpPr/>
          <p:nvPr/>
        </p:nvCxnSpPr>
        <p:spPr>
          <a:xfrm>
            <a:off x="8183880" y="4178808"/>
            <a:ext cx="411480" cy="914"/>
          </a:xfrm>
          <a:prstGeom prst="straightConnector1">
            <a:avLst/>
          </a:prstGeom>
          <a:noFill/>
          <a:ln cap="flat" cmpd="sng" w="19050">
            <a:solidFill>
              <a:srgbClr val="94A3B8"/>
            </a:solidFill>
            <a:prstDash val="solid"/>
            <a:round/>
            <a:headEnd len="sm" w="sm" type="none"/>
            <a:tailEnd len="med" w="med" type="triangle"/>
          </a:ln>
        </p:spPr>
      </p:cxnSp>
      <p:cxnSp>
        <p:nvCxnSpPr>
          <p:cNvPr id="279" name="Google Shape;279;p7"/>
          <p:cNvCxnSpPr/>
          <p:nvPr/>
        </p:nvCxnSpPr>
        <p:spPr>
          <a:xfrm>
            <a:off x="8183880" y="5184648"/>
            <a:ext cx="411480" cy="914"/>
          </a:xfrm>
          <a:prstGeom prst="straightConnector1">
            <a:avLst/>
          </a:prstGeom>
          <a:noFill/>
          <a:ln cap="flat" cmpd="sng" w="19050">
            <a:solidFill>
              <a:srgbClr val="94A3B8"/>
            </a:solidFill>
            <a:prstDash val="solid"/>
            <a:round/>
            <a:headEnd len="sm" w="sm" type="none"/>
            <a:tailEnd len="med" w="med" type="triangle"/>
          </a:ln>
        </p:spPr>
      </p:cxnSp>
      <p:sp>
        <p:nvSpPr>
          <p:cNvPr id="280" name="Google Shape;280;p7"/>
          <p:cNvSpPr txBox="1"/>
          <p:nvPr/>
        </p:nvSpPr>
        <p:spPr>
          <a:xfrm>
            <a:off x="548640" y="5852160"/>
            <a:ext cx="111099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Build &amp; ops:  Cloud Build + Artifact Registry  ·  least-privilege IAM service account (no API keys in production)  ·  Cloud Logging  ·  one-command deploy.sh  ·  scales to zero</a:t>
            </a:r>
            <a:endParaRPr b="0" i="0" sz="1200" u="none" cap="none" strike="noStrike">
              <a:solidFill>
                <a:schemeClr val="dk1"/>
              </a:solidFill>
              <a:latin typeface="Calibri"/>
              <a:ea typeface="Calibri"/>
              <a:cs typeface="Calibri"/>
              <a:sym typeface="Calibri"/>
            </a:endParaRPr>
          </a:p>
        </p:txBody>
      </p:sp>
      <p:sp>
        <p:nvSpPr>
          <p:cNvPr id="281" name="Google Shape;281;p7"/>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8"/>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AI MODELS</a:t>
            </a:r>
            <a:endParaRPr sz="1200"/>
          </a:p>
        </p:txBody>
      </p:sp>
      <p:sp>
        <p:nvSpPr>
          <p:cNvPr id="288" name="Google Shape;288;p8"/>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Hybrid AI: the right Google and open model for each job</a:t>
            </a:r>
            <a:endParaRPr sz="3000"/>
          </a:p>
        </p:txBody>
      </p:sp>
      <p:graphicFrame>
        <p:nvGraphicFramePr>
          <p:cNvPr id="289" name="Google Shape;289;p8"/>
          <p:cNvGraphicFramePr/>
          <p:nvPr/>
        </p:nvGraphicFramePr>
        <p:xfrm>
          <a:off x="548640" y="1600200"/>
          <a:ext cx="3000000" cy="3000000"/>
        </p:xfrm>
        <a:graphic>
          <a:graphicData uri="http://schemas.openxmlformats.org/drawingml/2006/table">
            <a:tbl>
              <a:tblPr>
                <a:noFill/>
                <a:tableStyleId>{431036B6-43F4-4ACD-AB0D-61CEB253AA53}</a:tableStyleId>
              </a:tblPr>
              <a:tblGrid>
                <a:gridCol w="3291850"/>
                <a:gridCol w="2606050"/>
                <a:gridCol w="1554475"/>
                <a:gridCol w="3657600"/>
              </a:tblGrid>
              <a:tr h="512075">
                <a:tc>
                  <a:txBody>
                    <a:bodyPr/>
                    <a:lstStyle/>
                    <a:p>
                      <a:pPr indent="0" lvl="0" marL="0" marR="0" rtl="0" algn="l">
                        <a:spcBef>
                          <a:spcPts val="0"/>
                        </a:spcBef>
                        <a:spcAft>
                          <a:spcPts val="0"/>
                        </a:spcAft>
                        <a:buClr>
                          <a:srgbClr val="22D3EE"/>
                        </a:buClr>
                        <a:buSzPts val="1300"/>
                        <a:buFont typeface="Calibri"/>
                        <a:buNone/>
                      </a:pPr>
                      <a:r>
                        <a:rPr b="1" lang="en-US" sz="1300" u="none" cap="none" strike="noStrike">
                          <a:solidFill>
                            <a:srgbClr val="22D3EE"/>
                          </a:solidFill>
                          <a:latin typeface="Calibri"/>
                          <a:ea typeface="Calibri"/>
                          <a:cs typeface="Calibri"/>
                          <a:sym typeface="Calibri"/>
                        </a:rPr>
                        <a:t>Job</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A2440"/>
                    </a:solidFill>
                  </a:tcPr>
                </a:tc>
                <a:tc>
                  <a:txBody>
                    <a:bodyPr/>
                    <a:lstStyle/>
                    <a:p>
                      <a:pPr indent="0" lvl="0" marL="0" marR="0" rtl="0" algn="l">
                        <a:spcBef>
                          <a:spcPts val="0"/>
                        </a:spcBef>
                        <a:spcAft>
                          <a:spcPts val="0"/>
                        </a:spcAft>
                        <a:buClr>
                          <a:srgbClr val="22D3EE"/>
                        </a:buClr>
                        <a:buSzPts val="1300"/>
                        <a:buFont typeface="Calibri"/>
                        <a:buNone/>
                      </a:pPr>
                      <a:r>
                        <a:rPr b="1" lang="en-US" sz="1300" u="none" cap="none" strike="noStrike">
                          <a:solidFill>
                            <a:srgbClr val="22D3EE"/>
                          </a:solidFill>
                          <a:latin typeface="Calibri"/>
                          <a:ea typeface="Calibri"/>
                          <a:cs typeface="Calibri"/>
                          <a:sym typeface="Calibri"/>
                        </a:rPr>
                        <a:t>Model</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A2440"/>
                    </a:solidFill>
                  </a:tcPr>
                </a:tc>
                <a:tc>
                  <a:txBody>
                    <a:bodyPr/>
                    <a:lstStyle/>
                    <a:p>
                      <a:pPr indent="0" lvl="0" marL="0" marR="0" rtl="0" algn="l">
                        <a:spcBef>
                          <a:spcPts val="0"/>
                        </a:spcBef>
                        <a:spcAft>
                          <a:spcPts val="0"/>
                        </a:spcAft>
                        <a:buClr>
                          <a:srgbClr val="22D3EE"/>
                        </a:buClr>
                        <a:buSzPts val="1300"/>
                        <a:buFont typeface="Calibri"/>
                        <a:buNone/>
                      </a:pPr>
                      <a:r>
                        <a:rPr b="1" lang="en-US" sz="1300" u="none" cap="none" strike="noStrike">
                          <a:solidFill>
                            <a:srgbClr val="22D3EE"/>
                          </a:solidFill>
                          <a:latin typeface="Calibri"/>
                          <a:ea typeface="Calibri"/>
                          <a:cs typeface="Calibri"/>
                          <a:sym typeface="Calibri"/>
                        </a:rPr>
                        <a:t>Runs on</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A2440"/>
                    </a:solidFill>
                  </a:tcPr>
                </a:tc>
                <a:tc>
                  <a:txBody>
                    <a:bodyPr/>
                    <a:lstStyle/>
                    <a:p>
                      <a:pPr indent="0" lvl="0" marL="0" marR="0" rtl="0" algn="l">
                        <a:spcBef>
                          <a:spcPts val="0"/>
                        </a:spcBef>
                        <a:spcAft>
                          <a:spcPts val="0"/>
                        </a:spcAft>
                        <a:buClr>
                          <a:srgbClr val="22D3EE"/>
                        </a:buClr>
                        <a:buSzPts val="1300"/>
                        <a:buFont typeface="Calibri"/>
                        <a:buNone/>
                      </a:pPr>
                      <a:r>
                        <a:rPr b="1" lang="en-US" sz="1300" u="none" cap="none" strike="noStrike">
                          <a:solidFill>
                            <a:srgbClr val="22D3EE"/>
                          </a:solidFill>
                          <a:latin typeface="Calibri"/>
                          <a:ea typeface="Calibri"/>
                          <a:cs typeface="Calibri"/>
                          <a:sym typeface="Calibri"/>
                        </a:rPr>
                        <a:t>Why this model</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A2440"/>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Room, visible components, keyframe authenticity</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59E0B"/>
                        </a:buClr>
                        <a:buSzPts val="1300"/>
                        <a:buFont typeface="Calibri"/>
                        <a:buNone/>
                      </a:pPr>
                      <a:r>
                        <a:rPr b="1" lang="en-US" sz="1300" u="none" cap="none" strike="noStrike">
                          <a:solidFill>
                            <a:srgbClr val="F59E0B"/>
                          </a:solidFill>
                          <a:latin typeface="Calibri"/>
                          <a:ea typeface="Calibri"/>
                          <a:cs typeface="Calibri"/>
                          <a:sym typeface="Calibri"/>
                        </a:rPr>
                        <a:t>Gemini 3.8 Flash</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Vertex AI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Strong visual reasoning and reliable JSON output</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Find candidate defects (boxes)</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b="1" lang="en-US" sz="1300" u="none" cap="none" strike="noStrike">
                          <a:solidFill>
                            <a:srgbClr val="F1F5F9"/>
                          </a:solidFill>
                          <a:latin typeface="Calibri"/>
                          <a:ea typeface="Calibri"/>
                          <a:cs typeface="Calibri"/>
                          <a:sym typeface="Calibri"/>
                        </a:rPr>
                        <a:t>LocateAnything-3B</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Cloud Run GPU</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High-recall open-vocabulary localisation</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Verify each defect on a full-resolution crop</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59E0B"/>
                        </a:buClr>
                        <a:buSzPts val="1300"/>
                        <a:buFont typeface="Calibri"/>
                        <a:buNone/>
                      </a:pPr>
                      <a:r>
                        <a:rPr b="1" lang="en-US" sz="1300" u="none" cap="none" strike="noStrike">
                          <a:solidFill>
                            <a:srgbClr val="F59E0B"/>
                          </a:solidFill>
                          <a:latin typeface="Calibri"/>
                          <a:ea typeface="Calibri"/>
                          <a:cs typeface="Calibri"/>
                          <a:sym typeface="Calibri"/>
                        </a:rPr>
                        <a:t>Gemma 4 E4B</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Cloud Run GPU</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Open Google model, cheap per box, cuts false positives</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DETECTED / NEEDS_REVIEW / NOT_DETECTED</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59E0B"/>
                        </a:buClr>
                        <a:buSzPts val="1300"/>
                        <a:buFont typeface="Calibri"/>
                        <a:buNone/>
                      </a:pPr>
                      <a:r>
                        <a:rPr b="1" lang="en-US" sz="1300" u="none" cap="none" strike="noStrike">
                          <a:solidFill>
                            <a:srgbClr val="F59E0B"/>
                          </a:solidFill>
                          <a:latin typeface="Calibri"/>
                          <a:ea typeface="Calibri"/>
                          <a:cs typeface="Calibri"/>
                          <a:sym typeface="Calibri"/>
                        </a:rPr>
                        <a:t>Rule engine + Gemini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CPU + Vertex AI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Rules decide, so the result is auditable; Gemini explains each finding</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Grade, perils, repair cost, valuation, premium : risk_rules.yaml</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59E0B"/>
                        </a:buClr>
                        <a:buSzPts val="1300"/>
                        <a:buFont typeface="Calibri"/>
                        <a:buNone/>
                      </a:pPr>
                      <a:r>
                        <a:rPr b="1" lang="en-US" sz="1300" u="none" cap="none" strike="noStrike">
                          <a:solidFill>
                            <a:srgbClr val="F59E0B"/>
                          </a:solidFill>
                          <a:latin typeface="Calibri"/>
                          <a:ea typeface="Calibri"/>
                          <a:cs typeface="Calibri"/>
                          <a:sym typeface="Calibri"/>
                        </a:rPr>
                        <a:t>Rule engine + Gemini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CPU + Vertex AI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Rules are tunable per lender or insurer; Gemini writes the risk summary</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Depth and 3D model from a phone video</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b="1" lang="en-US" sz="1300" u="none" cap="none" strike="noStrike">
                          <a:solidFill>
                            <a:srgbClr val="F1F5F9"/>
                          </a:solidFill>
                          <a:latin typeface="Calibri"/>
                          <a:ea typeface="Calibri"/>
                          <a:cs typeface="Calibri"/>
                          <a:sym typeface="Calibri"/>
                        </a:rPr>
                        <a:t>Depth Anything 3 + OpenCV 5 SLAM</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Cloud Run GPU</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Room-scale 3D from a single phone camera</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r h="512075">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3D object names, summary, analysis, Q&amp;A</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59E0B"/>
                        </a:buClr>
                        <a:buSzPts val="1300"/>
                        <a:buFont typeface="Calibri"/>
                        <a:buNone/>
                      </a:pPr>
                      <a:r>
                        <a:rPr b="1" lang="en-US" sz="1300" u="none" cap="none" strike="noStrike">
                          <a:solidFill>
                            <a:srgbClr val="F59E0B"/>
                          </a:solidFill>
                          <a:latin typeface="Calibri"/>
                          <a:ea typeface="Calibri"/>
                          <a:cs typeface="Calibri"/>
                          <a:sym typeface="Calibri"/>
                        </a:rPr>
                        <a:t>Gemini 3.8 Flash</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Vertex AI</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c>
                  <a:txBody>
                    <a:bodyPr/>
                    <a:lstStyle/>
                    <a:p>
                      <a:pPr indent="0" lvl="0" marL="0" marR="0" rtl="0" algn="l">
                        <a:spcBef>
                          <a:spcPts val="0"/>
                        </a:spcBef>
                        <a:spcAft>
                          <a:spcPts val="0"/>
                        </a:spcAft>
                        <a:buClr>
                          <a:srgbClr val="F1F5F9"/>
                        </a:buClr>
                        <a:buSzPts val="1300"/>
                        <a:buFont typeface="Calibri"/>
                        <a:buNone/>
                      </a:pPr>
                      <a:r>
                        <a:rPr lang="en-US" sz="1300" u="none" cap="none" strike="noStrike">
                          <a:solidFill>
                            <a:srgbClr val="F1F5F9"/>
                          </a:solidFill>
                          <a:latin typeface="Calibri"/>
                          <a:ea typeface="Calibri"/>
                          <a:cs typeface="Calibri"/>
                          <a:sym typeface="Calibri"/>
                        </a:rPr>
                        <a:t>Grounded on the inspection record and cites issue IDs</a:t>
                      </a:r>
                      <a:endParaRPr sz="1300" u="none" cap="none" strike="noStrike">
                        <a:latin typeface="Calibri"/>
                        <a:ea typeface="Calibri"/>
                        <a:cs typeface="Calibri"/>
                        <a:sym typeface="Calibri"/>
                      </a:endParaRPr>
                    </a:p>
                  </a:txBody>
                  <a:tcPr marT="36575" marB="36575" marR="91450" marL="91450" anchor="ctr">
                    <a:lnL cap="flat" cmpd="sng" w="9525">
                      <a:solidFill>
                        <a:srgbClr val="26324D"/>
                      </a:solidFill>
                      <a:prstDash val="solid"/>
                      <a:round/>
                      <a:headEnd len="sm" w="sm" type="none"/>
                      <a:tailEnd len="sm" w="sm" type="none"/>
                    </a:lnL>
                    <a:lnR cap="flat" cmpd="sng" w="9525">
                      <a:solidFill>
                        <a:srgbClr val="26324D"/>
                      </a:solidFill>
                      <a:prstDash val="solid"/>
                      <a:round/>
                      <a:headEnd len="sm" w="sm" type="none"/>
                      <a:tailEnd len="sm" w="sm" type="none"/>
                    </a:lnR>
                    <a:lnT cap="flat" cmpd="sng" w="9525">
                      <a:solidFill>
                        <a:srgbClr val="26324D"/>
                      </a:solidFill>
                      <a:prstDash val="solid"/>
                      <a:round/>
                      <a:headEnd len="sm" w="sm" type="none"/>
                      <a:tailEnd len="sm" w="sm" type="none"/>
                    </a:lnT>
                    <a:lnB cap="flat" cmpd="sng" w="9525">
                      <a:solidFill>
                        <a:srgbClr val="26324D"/>
                      </a:solidFill>
                      <a:prstDash val="solid"/>
                      <a:round/>
                      <a:headEnd len="sm" w="sm" type="none"/>
                      <a:tailEnd len="sm" w="sm" type="none"/>
                    </a:lnB>
                    <a:solidFill>
                      <a:srgbClr val="131C2E"/>
                    </a:solidFill>
                  </a:tcPr>
                </a:tc>
              </a:tr>
            </a:tbl>
          </a:graphicData>
        </a:graphic>
      </p:graphicFrame>
      <p:sp>
        <p:nvSpPr>
          <p:cNvPr id="290" name="Google Shape;290;p8"/>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9"/>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KEYFRAME PIPELINE</a:t>
            </a:r>
            <a:endParaRPr sz="1200"/>
          </a:p>
        </p:txBody>
      </p:sp>
      <p:sp>
        <p:nvSpPr>
          <p:cNvPr id="297" name="Google Shape;297;p9"/>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Find broadly, verify with a second model, then decide</a:t>
            </a:r>
            <a:endParaRPr sz="3000"/>
          </a:p>
        </p:txBody>
      </p:sp>
      <p:sp>
        <p:nvSpPr>
          <p:cNvPr id="298" name="Google Shape;298;p9"/>
          <p:cNvSpPr/>
          <p:nvPr/>
        </p:nvSpPr>
        <p:spPr>
          <a:xfrm>
            <a:off x="548640" y="1600200"/>
            <a:ext cx="4160520" cy="585216"/>
          </a:xfrm>
          <a:prstGeom prst="roundRect">
            <a:avLst>
              <a:gd fmla="val 187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9"/>
          <p:cNvSpPr txBox="1"/>
          <p:nvPr/>
        </p:nvSpPr>
        <p:spPr>
          <a:xfrm>
            <a:off x="685800" y="1600200"/>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300" name="Google Shape;300;p9"/>
          <p:cNvSpPr txBox="1"/>
          <p:nvPr/>
        </p:nvSpPr>
        <p:spPr>
          <a:xfrm>
            <a:off x="1051560" y="1600200"/>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Quality check + integrity (dHash fingerprint)</a:t>
            </a:r>
            <a:endParaRPr b="0" i="0" sz="1400" u="none" cap="none" strike="noStrike">
              <a:solidFill>
                <a:schemeClr val="dk1"/>
              </a:solidFill>
              <a:latin typeface="Calibri"/>
              <a:ea typeface="Calibri"/>
              <a:cs typeface="Calibri"/>
              <a:sym typeface="Calibri"/>
            </a:endParaRPr>
          </a:p>
        </p:txBody>
      </p:sp>
      <p:sp>
        <p:nvSpPr>
          <p:cNvPr id="301" name="Google Shape;301;p9"/>
          <p:cNvSpPr/>
          <p:nvPr/>
        </p:nvSpPr>
        <p:spPr>
          <a:xfrm>
            <a:off x="548640" y="2350008"/>
            <a:ext cx="4160520" cy="585216"/>
          </a:xfrm>
          <a:prstGeom prst="roundRect">
            <a:avLst>
              <a:gd fmla="val 187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9"/>
          <p:cNvSpPr txBox="1"/>
          <p:nvPr/>
        </p:nvSpPr>
        <p:spPr>
          <a:xfrm>
            <a:off x="685800" y="2350008"/>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303" name="Google Shape;303;p9"/>
          <p:cNvSpPr txBox="1"/>
          <p:nvPr/>
        </p:nvSpPr>
        <p:spPr>
          <a:xfrm>
            <a:off x="1051560" y="2350008"/>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Gemini: room, components, authenticity</a:t>
            </a:r>
            <a:endParaRPr b="0" i="0" sz="1400" u="none" cap="none" strike="noStrike">
              <a:solidFill>
                <a:schemeClr val="dk1"/>
              </a:solidFill>
              <a:latin typeface="Calibri"/>
              <a:ea typeface="Calibri"/>
              <a:cs typeface="Calibri"/>
              <a:sym typeface="Calibri"/>
            </a:endParaRPr>
          </a:p>
        </p:txBody>
      </p:sp>
      <p:sp>
        <p:nvSpPr>
          <p:cNvPr id="304" name="Google Shape;304;p9"/>
          <p:cNvSpPr/>
          <p:nvPr/>
        </p:nvSpPr>
        <p:spPr>
          <a:xfrm>
            <a:off x="548640" y="3099816"/>
            <a:ext cx="4160520" cy="585216"/>
          </a:xfrm>
          <a:prstGeom prst="roundRect">
            <a:avLst>
              <a:gd fmla="val 187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9"/>
          <p:cNvSpPr txBox="1"/>
          <p:nvPr/>
        </p:nvSpPr>
        <p:spPr>
          <a:xfrm>
            <a:off x="685800" y="3099816"/>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306" name="Google Shape;306;p9"/>
          <p:cNvSpPr txBox="1"/>
          <p:nvPr/>
        </p:nvSpPr>
        <p:spPr>
          <a:xfrm>
            <a:off x="1051560" y="3099816"/>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Prompt router: 18 defect types, 12 components</a:t>
            </a:r>
            <a:endParaRPr b="0" i="0" sz="1400" u="none" cap="none" strike="noStrike">
              <a:solidFill>
                <a:schemeClr val="dk1"/>
              </a:solidFill>
              <a:latin typeface="Calibri"/>
              <a:ea typeface="Calibri"/>
              <a:cs typeface="Calibri"/>
              <a:sym typeface="Calibri"/>
            </a:endParaRPr>
          </a:p>
        </p:txBody>
      </p:sp>
      <p:sp>
        <p:nvSpPr>
          <p:cNvPr id="307" name="Google Shape;307;p9"/>
          <p:cNvSpPr/>
          <p:nvPr/>
        </p:nvSpPr>
        <p:spPr>
          <a:xfrm>
            <a:off x="548640" y="3849624"/>
            <a:ext cx="4160520" cy="585216"/>
          </a:xfrm>
          <a:prstGeom prst="roundRect">
            <a:avLst>
              <a:gd fmla="val 187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9"/>
          <p:cNvSpPr txBox="1"/>
          <p:nvPr/>
        </p:nvSpPr>
        <p:spPr>
          <a:xfrm>
            <a:off x="685800" y="3849624"/>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309" name="Google Shape;309;p9"/>
          <p:cNvSpPr txBox="1"/>
          <p:nvPr/>
        </p:nvSpPr>
        <p:spPr>
          <a:xfrm>
            <a:off x="1051560" y="3849624"/>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LocateAnything-3B boxes → NMS / merge</a:t>
            </a:r>
            <a:endParaRPr b="0" i="0" sz="1400" u="none" cap="none" strike="noStrike">
              <a:solidFill>
                <a:schemeClr val="dk1"/>
              </a:solidFill>
              <a:latin typeface="Calibri"/>
              <a:ea typeface="Calibri"/>
              <a:cs typeface="Calibri"/>
              <a:sym typeface="Calibri"/>
            </a:endParaRPr>
          </a:p>
        </p:txBody>
      </p:sp>
      <p:sp>
        <p:nvSpPr>
          <p:cNvPr id="310" name="Google Shape;310;p9"/>
          <p:cNvSpPr/>
          <p:nvPr/>
        </p:nvSpPr>
        <p:spPr>
          <a:xfrm>
            <a:off x="548640" y="4599432"/>
            <a:ext cx="4160520" cy="585216"/>
          </a:xfrm>
          <a:prstGeom prst="roundRect">
            <a:avLst>
              <a:gd fmla="val 187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9"/>
          <p:cNvSpPr txBox="1"/>
          <p:nvPr/>
        </p:nvSpPr>
        <p:spPr>
          <a:xfrm>
            <a:off x="685800" y="4599432"/>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5</a:t>
            </a:r>
            <a:endParaRPr b="0" i="0" sz="1800" u="none" cap="none" strike="noStrike">
              <a:solidFill>
                <a:schemeClr val="dk1"/>
              </a:solidFill>
              <a:latin typeface="Calibri"/>
              <a:ea typeface="Calibri"/>
              <a:cs typeface="Calibri"/>
              <a:sym typeface="Calibri"/>
            </a:endParaRPr>
          </a:p>
        </p:txBody>
      </p:sp>
      <p:sp>
        <p:nvSpPr>
          <p:cNvPr id="312" name="Google Shape;312;p9"/>
          <p:cNvSpPr txBox="1"/>
          <p:nvPr/>
        </p:nvSpPr>
        <p:spPr>
          <a:xfrm>
            <a:off x="1051560" y="4599432"/>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Full-res crops → Gemma 4 verify + CV evidence</a:t>
            </a:r>
            <a:endParaRPr b="0" i="0" sz="1400" u="none" cap="none" strike="noStrike">
              <a:solidFill>
                <a:schemeClr val="dk1"/>
              </a:solidFill>
              <a:latin typeface="Calibri"/>
              <a:ea typeface="Calibri"/>
              <a:cs typeface="Calibri"/>
              <a:sym typeface="Calibri"/>
            </a:endParaRPr>
          </a:p>
        </p:txBody>
      </p:sp>
      <p:sp>
        <p:nvSpPr>
          <p:cNvPr id="313" name="Google Shape;313;p9"/>
          <p:cNvSpPr/>
          <p:nvPr/>
        </p:nvSpPr>
        <p:spPr>
          <a:xfrm>
            <a:off x="548640" y="5349240"/>
            <a:ext cx="4160520" cy="585216"/>
          </a:xfrm>
          <a:prstGeom prst="roundRect">
            <a:avLst>
              <a:gd fmla="val 18750" name="adj"/>
            </a:avLst>
          </a:prstGeom>
          <a:solidFill>
            <a:srgbClr val="2A2112"/>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9"/>
          <p:cNvSpPr txBox="1"/>
          <p:nvPr/>
        </p:nvSpPr>
        <p:spPr>
          <a:xfrm>
            <a:off x="685800" y="5349240"/>
            <a:ext cx="32004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1800"/>
              <a:buFont typeface="Calibri"/>
              <a:buNone/>
            </a:pPr>
            <a:r>
              <a:rPr b="1" i="0" lang="en-US" sz="1800" u="none" cap="none" strike="noStrike">
                <a:solidFill>
                  <a:schemeClr val="accent3"/>
                </a:solidFill>
                <a:latin typeface="Calibri"/>
                <a:ea typeface="Calibri"/>
                <a:cs typeface="Calibri"/>
                <a:sym typeface="Calibri"/>
              </a:rPr>
              <a:t>6</a:t>
            </a:r>
            <a:endParaRPr b="0" i="0" sz="1800" u="none" cap="none" strike="noStrike">
              <a:solidFill>
                <a:schemeClr val="dk1"/>
              </a:solidFill>
              <a:latin typeface="Calibri"/>
              <a:ea typeface="Calibri"/>
              <a:cs typeface="Calibri"/>
              <a:sym typeface="Calibri"/>
            </a:endParaRPr>
          </a:p>
        </p:txBody>
      </p:sp>
      <p:sp>
        <p:nvSpPr>
          <p:cNvPr id="315" name="Google Shape;315;p9"/>
          <p:cNvSpPr txBox="1"/>
          <p:nvPr/>
        </p:nvSpPr>
        <p:spPr>
          <a:xfrm>
            <a:off x="1051560" y="5349240"/>
            <a:ext cx="3566160" cy="58521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Rule engine → status, then risk engine</a:t>
            </a:r>
            <a:endParaRPr b="0" i="0" sz="1400" u="none" cap="none" strike="noStrike">
              <a:solidFill>
                <a:schemeClr val="dk1"/>
              </a:solidFill>
              <a:latin typeface="Calibri"/>
              <a:ea typeface="Calibri"/>
              <a:cs typeface="Calibri"/>
              <a:sym typeface="Calibri"/>
            </a:endParaRPr>
          </a:p>
        </p:txBody>
      </p:sp>
      <p:sp>
        <p:nvSpPr>
          <p:cNvPr id="316" name="Google Shape;316;p9"/>
          <p:cNvSpPr/>
          <p:nvPr/>
        </p:nvSpPr>
        <p:spPr>
          <a:xfrm>
            <a:off x="5084064" y="1729006"/>
            <a:ext cx="3227832" cy="1845509"/>
          </a:xfrm>
          <a:prstGeom prst="roundRect">
            <a:avLst>
              <a:gd fmla="val 495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efect-wall-crack" id="317" name="Google Shape;317;p9"/>
          <p:cNvPicPr preferRelativeResize="0"/>
          <p:nvPr/>
        </p:nvPicPr>
        <p:blipFill rotWithShape="1">
          <a:blip r:embed="rId3">
            <a:alphaModFix/>
          </a:blip>
          <a:srcRect b="0" l="0" r="0" t="0"/>
          <a:stretch/>
        </p:blipFill>
        <p:spPr>
          <a:xfrm>
            <a:off x="5120640" y="1765582"/>
            <a:ext cx="3154680" cy="1772357"/>
          </a:xfrm>
          <a:prstGeom prst="rect">
            <a:avLst/>
          </a:prstGeom>
          <a:noFill/>
          <a:ln>
            <a:noFill/>
          </a:ln>
        </p:spPr>
      </p:pic>
      <p:sp>
        <p:nvSpPr>
          <p:cNvPr id="318" name="Google Shape;318;p9"/>
          <p:cNvSpPr/>
          <p:nvPr/>
        </p:nvSpPr>
        <p:spPr>
          <a:xfrm>
            <a:off x="8467344" y="1566970"/>
            <a:ext cx="3227832" cy="2169580"/>
          </a:xfrm>
          <a:prstGeom prst="roundRect">
            <a:avLst>
              <a:gd fmla="val 421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efect-corridor" id="319" name="Google Shape;319;p9"/>
          <p:cNvPicPr preferRelativeResize="0"/>
          <p:nvPr/>
        </p:nvPicPr>
        <p:blipFill rotWithShape="1">
          <a:blip r:embed="rId4">
            <a:alphaModFix/>
          </a:blip>
          <a:srcRect b="0" l="0" r="0" t="0"/>
          <a:stretch/>
        </p:blipFill>
        <p:spPr>
          <a:xfrm>
            <a:off x="8503920" y="1603546"/>
            <a:ext cx="3154680" cy="2096428"/>
          </a:xfrm>
          <a:prstGeom prst="rect">
            <a:avLst/>
          </a:prstGeom>
          <a:noFill/>
          <a:ln>
            <a:noFill/>
          </a:ln>
        </p:spPr>
      </p:pic>
      <p:sp>
        <p:nvSpPr>
          <p:cNvPr id="320" name="Google Shape;320;p9"/>
          <p:cNvSpPr/>
          <p:nvPr/>
        </p:nvSpPr>
        <p:spPr>
          <a:xfrm>
            <a:off x="5259324" y="3849624"/>
            <a:ext cx="2877312" cy="2176272"/>
          </a:xfrm>
          <a:prstGeom prst="roundRect">
            <a:avLst>
              <a:gd fmla="val 4202"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efect-bathroom" id="321" name="Google Shape;321;p9"/>
          <p:cNvPicPr preferRelativeResize="0"/>
          <p:nvPr/>
        </p:nvPicPr>
        <p:blipFill rotWithShape="1">
          <a:blip r:embed="rId5">
            <a:alphaModFix/>
          </a:blip>
          <a:srcRect b="0" l="0" r="0" t="0"/>
          <a:stretch/>
        </p:blipFill>
        <p:spPr>
          <a:xfrm>
            <a:off x="5295900" y="3886200"/>
            <a:ext cx="2804160" cy="2103120"/>
          </a:xfrm>
          <a:prstGeom prst="rect">
            <a:avLst/>
          </a:prstGeom>
          <a:noFill/>
          <a:ln>
            <a:noFill/>
          </a:ln>
        </p:spPr>
      </p:pic>
      <p:sp>
        <p:nvSpPr>
          <p:cNvPr id="322" name="Google Shape;322;p9"/>
          <p:cNvSpPr/>
          <p:nvPr/>
        </p:nvSpPr>
        <p:spPr>
          <a:xfrm>
            <a:off x="8467344" y="4008350"/>
            <a:ext cx="3227832" cy="1858820"/>
          </a:xfrm>
          <a:prstGeom prst="roundRect">
            <a:avLst>
              <a:gd fmla="val 4919"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efect-door" id="323" name="Google Shape;323;p9"/>
          <p:cNvPicPr preferRelativeResize="0"/>
          <p:nvPr/>
        </p:nvPicPr>
        <p:blipFill rotWithShape="1">
          <a:blip r:embed="rId6">
            <a:alphaModFix/>
          </a:blip>
          <a:srcRect b="0" l="0" r="0" t="0"/>
          <a:stretch/>
        </p:blipFill>
        <p:spPr>
          <a:xfrm>
            <a:off x="8503920" y="4044926"/>
            <a:ext cx="3154680" cy="1785668"/>
          </a:xfrm>
          <a:prstGeom prst="rect">
            <a:avLst/>
          </a:prstGeom>
          <a:noFill/>
          <a:ln>
            <a:noFill/>
          </a:ln>
        </p:spPr>
      </p:pic>
      <p:sp>
        <p:nvSpPr>
          <p:cNvPr id="324" name="Google Shape;324;p9"/>
          <p:cNvSpPr txBox="1"/>
          <p:nvPr/>
        </p:nvSpPr>
        <p:spPr>
          <a:xfrm>
            <a:off x="5120640" y="6053328"/>
            <a:ext cx="65379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1" lang="en-US" sz="1100" u="none" cap="none" strike="noStrike">
                <a:solidFill>
                  <a:schemeClr val="dk2"/>
                </a:solidFill>
                <a:latin typeface="Calibri"/>
                <a:ea typeface="Calibri"/>
                <a:cs typeface="Calibri"/>
                <a:sym typeface="Calibri"/>
              </a:rPr>
              <a:t>Real outputs: wall crack, corridor peeling paint, bathroom water damage, walkthrough keyframe (door, window)</a:t>
            </a:r>
            <a:endParaRPr b="0" i="0" sz="1100" u="none" cap="none" strike="noStrike">
              <a:solidFill>
                <a:schemeClr val="dk1"/>
              </a:solidFill>
              <a:latin typeface="Calibri"/>
              <a:ea typeface="Calibri"/>
              <a:cs typeface="Calibri"/>
              <a:sym typeface="Calibri"/>
            </a:endParaRPr>
          </a:p>
        </p:txBody>
      </p:sp>
      <p:sp>
        <p:nvSpPr>
          <p:cNvPr id="325" name="Google Shape;325;p9"/>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10"/>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DETECTION SCOPE</a:t>
            </a:r>
            <a:endParaRPr sz="1200"/>
          </a:p>
        </p:txBody>
      </p:sp>
      <p:sp>
        <p:nvSpPr>
          <p:cNvPr id="332" name="Google Shape;332;p10"/>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What we detect: 18 visible defect types on 12 components</a:t>
            </a:r>
            <a:endParaRPr sz="3000"/>
          </a:p>
        </p:txBody>
      </p:sp>
      <p:sp>
        <p:nvSpPr>
          <p:cNvPr id="333" name="Google Shape;333;p10"/>
          <p:cNvSpPr/>
          <p:nvPr/>
        </p:nvSpPr>
        <p:spPr>
          <a:xfrm>
            <a:off x="548640" y="1508760"/>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0"/>
          <p:cNvSpPr txBox="1"/>
          <p:nvPr/>
        </p:nvSpPr>
        <p:spPr>
          <a:xfrm>
            <a:off x="676656" y="1618488"/>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Wall</a:t>
            </a:r>
            <a:endParaRPr b="0" i="0" sz="1400" u="none" cap="none" strike="noStrike">
              <a:solidFill>
                <a:schemeClr val="dk1"/>
              </a:solidFill>
              <a:latin typeface="Calibri"/>
              <a:ea typeface="Calibri"/>
              <a:cs typeface="Calibri"/>
              <a:sym typeface="Calibri"/>
            </a:endParaRPr>
          </a:p>
        </p:txBody>
      </p:sp>
      <p:sp>
        <p:nvSpPr>
          <p:cNvPr id="335" name="Google Shape;335;p10"/>
          <p:cNvSpPr txBox="1"/>
          <p:nvPr/>
        </p:nvSpPr>
        <p:spPr>
          <a:xfrm>
            <a:off x="676656" y="1929384"/>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Crack, stain, water damage, peeling paint, hole, mold, surface damage, discoloration, scratch</a:t>
            </a:r>
            <a:endParaRPr b="0" i="0" sz="1200" u="none" cap="none" strike="noStrike">
              <a:solidFill>
                <a:schemeClr val="dk1"/>
              </a:solidFill>
              <a:latin typeface="Calibri"/>
              <a:ea typeface="Calibri"/>
              <a:cs typeface="Calibri"/>
              <a:sym typeface="Calibri"/>
            </a:endParaRPr>
          </a:p>
        </p:txBody>
      </p:sp>
      <p:sp>
        <p:nvSpPr>
          <p:cNvPr id="336" name="Google Shape;336;p10"/>
          <p:cNvSpPr/>
          <p:nvPr/>
        </p:nvSpPr>
        <p:spPr>
          <a:xfrm>
            <a:off x="2514600" y="1508760"/>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0"/>
          <p:cNvSpPr txBox="1"/>
          <p:nvPr/>
        </p:nvSpPr>
        <p:spPr>
          <a:xfrm>
            <a:off x="2642616" y="1618488"/>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Ceiling</a:t>
            </a:r>
            <a:endParaRPr b="0" i="0" sz="1400" u="none" cap="none" strike="noStrike">
              <a:solidFill>
                <a:schemeClr val="dk1"/>
              </a:solidFill>
              <a:latin typeface="Calibri"/>
              <a:ea typeface="Calibri"/>
              <a:cs typeface="Calibri"/>
              <a:sym typeface="Calibri"/>
            </a:endParaRPr>
          </a:p>
        </p:txBody>
      </p:sp>
      <p:sp>
        <p:nvSpPr>
          <p:cNvPr id="338" name="Google Shape;338;p10"/>
          <p:cNvSpPr txBox="1"/>
          <p:nvPr/>
        </p:nvSpPr>
        <p:spPr>
          <a:xfrm>
            <a:off x="2642616" y="1929384"/>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Crack, stain, water damage, peeling paint, hole, mold</a:t>
            </a:r>
            <a:endParaRPr b="0" i="0" sz="1200" u="none" cap="none" strike="noStrike">
              <a:solidFill>
                <a:schemeClr val="dk1"/>
              </a:solidFill>
              <a:latin typeface="Calibri"/>
              <a:ea typeface="Calibri"/>
              <a:cs typeface="Calibri"/>
              <a:sym typeface="Calibri"/>
            </a:endParaRPr>
          </a:p>
        </p:txBody>
      </p:sp>
      <p:sp>
        <p:nvSpPr>
          <p:cNvPr id="339" name="Google Shape;339;p10"/>
          <p:cNvSpPr/>
          <p:nvPr/>
        </p:nvSpPr>
        <p:spPr>
          <a:xfrm>
            <a:off x="4480560" y="1508760"/>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0"/>
          <p:cNvSpPr txBox="1"/>
          <p:nvPr/>
        </p:nvSpPr>
        <p:spPr>
          <a:xfrm>
            <a:off x="4608576" y="1618488"/>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Floor tile</a:t>
            </a:r>
            <a:endParaRPr b="0" i="0" sz="1400" u="none" cap="none" strike="noStrike">
              <a:solidFill>
                <a:schemeClr val="dk1"/>
              </a:solidFill>
              <a:latin typeface="Calibri"/>
              <a:ea typeface="Calibri"/>
              <a:cs typeface="Calibri"/>
              <a:sym typeface="Calibri"/>
            </a:endParaRPr>
          </a:p>
        </p:txBody>
      </p:sp>
      <p:sp>
        <p:nvSpPr>
          <p:cNvPr id="341" name="Google Shape;341;p10"/>
          <p:cNvSpPr txBox="1"/>
          <p:nvPr/>
        </p:nvSpPr>
        <p:spPr>
          <a:xfrm>
            <a:off x="4608576" y="1929384"/>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Crack, chip, missing tile, stain</a:t>
            </a:r>
            <a:endParaRPr b="0" i="0" sz="1200" u="none" cap="none" strike="noStrike">
              <a:solidFill>
                <a:schemeClr val="dk1"/>
              </a:solidFill>
              <a:latin typeface="Calibri"/>
              <a:ea typeface="Calibri"/>
              <a:cs typeface="Calibri"/>
              <a:sym typeface="Calibri"/>
            </a:endParaRPr>
          </a:p>
        </p:txBody>
      </p:sp>
      <p:sp>
        <p:nvSpPr>
          <p:cNvPr id="342" name="Google Shape;342;p10"/>
          <p:cNvSpPr/>
          <p:nvPr/>
        </p:nvSpPr>
        <p:spPr>
          <a:xfrm>
            <a:off x="6446520" y="1508760"/>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0"/>
          <p:cNvSpPr txBox="1"/>
          <p:nvPr/>
        </p:nvSpPr>
        <p:spPr>
          <a:xfrm>
            <a:off x="6574536" y="1618488"/>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Wall tile</a:t>
            </a:r>
            <a:endParaRPr b="0" i="0" sz="1400" u="none" cap="none" strike="noStrike">
              <a:solidFill>
                <a:schemeClr val="dk1"/>
              </a:solidFill>
              <a:latin typeface="Calibri"/>
              <a:ea typeface="Calibri"/>
              <a:cs typeface="Calibri"/>
              <a:sym typeface="Calibri"/>
            </a:endParaRPr>
          </a:p>
        </p:txBody>
      </p:sp>
      <p:sp>
        <p:nvSpPr>
          <p:cNvPr id="344" name="Google Shape;344;p10"/>
          <p:cNvSpPr txBox="1"/>
          <p:nvPr/>
        </p:nvSpPr>
        <p:spPr>
          <a:xfrm>
            <a:off x="6574536" y="1929384"/>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Crack, chip, mold, stain</a:t>
            </a:r>
            <a:endParaRPr b="0" i="0" sz="1200" u="none" cap="none" strike="noStrike">
              <a:solidFill>
                <a:schemeClr val="dk1"/>
              </a:solidFill>
              <a:latin typeface="Calibri"/>
              <a:ea typeface="Calibri"/>
              <a:cs typeface="Calibri"/>
              <a:sym typeface="Calibri"/>
            </a:endParaRPr>
          </a:p>
        </p:txBody>
      </p:sp>
      <p:sp>
        <p:nvSpPr>
          <p:cNvPr id="345" name="Google Shape;345;p10"/>
          <p:cNvSpPr/>
          <p:nvPr/>
        </p:nvSpPr>
        <p:spPr>
          <a:xfrm>
            <a:off x="548640" y="3081528"/>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0"/>
          <p:cNvSpPr txBox="1"/>
          <p:nvPr/>
        </p:nvSpPr>
        <p:spPr>
          <a:xfrm>
            <a:off x="676656" y="3191256"/>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Grout</a:t>
            </a:r>
            <a:endParaRPr b="0" i="0" sz="1400" u="none" cap="none" strike="noStrike">
              <a:solidFill>
                <a:schemeClr val="dk1"/>
              </a:solidFill>
              <a:latin typeface="Calibri"/>
              <a:ea typeface="Calibri"/>
              <a:cs typeface="Calibri"/>
              <a:sym typeface="Calibri"/>
            </a:endParaRPr>
          </a:p>
        </p:txBody>
      </p:sp>
      <p:sp>
        <p:nvSpPr>
          <p:cNvPr id="347" name="Google Shape;347;p10"/>
          <p:cNvSpPr txBox="1"/>
          <p:nvPr/>
        </p:nvSpPr>
        <p:spPr>
          <a:xfrm>
            <a:off x="676656" y="3502152"/>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Crack, missing grout, discoloration, mold</a:t>
            </a:r>
            <a:endParaRPr b="0" i="0" sz="1200" u="none" cap="none" strike="noStrike">
              <a:solidFill>
                <a:schemeClr val="dk1"/>
              </a:solidFill>
              <a:latin typeface="Calibri"/>
              <a:ea typeface="Calibri"/>
              <a:cs typeface="Calibri"/>
              <a:sym typeface="Calibri"/>
            </a:endParaRPr>
          </a:p>
        </p:txBody>
      </p:sp>
      <p:sp>
        <p:nvSpPr>
          <p:cNvPr id="348" name="Google Shape;348;p10"/>
          <p:cNvSpPr/>
          <p:nvPr/>
        </p:nvSpPr>
        <p:spPr>
          <a:xfrm>
            <a:off x="2514600" y="3081528"/>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0"/>
          <p:cNvSpPr txBox="1"/>
          <p:nvPr/>
        </p:nvSpPr>
        <p:spPr>
          <a:xfrm>
            <a:off x="2642616" y="3191256"/>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Wood / vinyl floor</a:t>
            </a:r>
            <a:endParaRPr b="0" i="0" sz="1400" u="none" cap="none" strike="noStrike">
              <a:solidFill>
                <a:schemeClr val="dk1"/>
              </a:solidFill>
              <a:latin typeface="Calibri"/>
              <a:ea typeface="Calibri"/>
              <a:cs typeface="Calibri"/>
              <a:sym typeface="Calibri"/>
            </a:endParaRPr>
          </a:p>
        </p:txBody>
      </p:sp>
      <p:sp>
        <p:nvSpPr>
          <p:cNvPr id="350" name="Google Shape;350;p10"/>
          <p:cNvSpPr txBox="1"/>
          <p:nvPr/>
        </p:nvSpPr>
        <p:spPr>
          <a:xfrm>
            <a:off x="2642616" y="3502152"/>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Scratch, stain, water damage, damaged boards</a:t>
            </a:r>
            <a:endParaRPr b="0" i="0" sz="1200" u="none" cap="none" strike="noStrike">
              <a:solidFill>
                <a:schemeClr val="dk1"/>
              </a:solidFill>
              <a:latin typeface="Calibri"/>
              <a:ea typeface="Calibri"/>
              <a:cs typeface="Calibri"/>
              <a:sym typeface="Calibri"/>
            </a:endParaRPr>
          </a:p>
        </p:txBody>
      </p:sp>
      <p:sp>
        <p:nvSpPr>
          <p:cNvPr id="351" name="Google Shape;351;p10"/>
          <p:cNvSpPr/>
          <p:nvPr/>
        </p:nvSpPr>
        <p:spPr>
          <a:xfrm>
            <a:off x="4480560" y="3081528"/>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0"/>
          <p:cNvSpPr txBox="1"/>
          <p:nvPr/>
        </p:nvSpPr>
        <p:spPr>
          <a:xfrm>
            <a:off x="4608576" y="3191256"/>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Countertop</a:t>
            </a:r>
            <a:endParaRPr b="0" i="0" sz="1400" u="none" cap="none" strike="noStrike">
              <a:solidFill>
                <a:schemeClr val="dk1"/>
              </a:solidFill>
              <a:latin typeface="Calibri"/>
              <a:ea typeface="Calibri"/>
              <a:cs typeface="Calibri"/>
              <a:sym typeface="Calibri"/>
            </a:endParaRPr>
          </a:p>
        </p:txBody>
      </p:sp>
      <p:sp>
        <p:nvSpPr>
          <p:cNvPr id="353" name="Google Shape;353;p10"/>
          <p:cNvSpPr txBox="1"/>
          <p:nvPr/>
        </p:nvSpPr>
        <p:spPr>
          <a:xfrm>
            <a:off x="4608576" y="3502152"/>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Scratch, crack, chip, stain, burn mark, discoloration</a:t>
            </a:r>
            <a:endParaRPr b="0" i="0" sz="1200" u="none" cap="none" strike="noStrike">
              <a:solidFill>
                <a:schemeClr val="dk1"/>
              </a:solidFill>
              <a:latin typeface="Calibri"/>
              <a:ea typeface="Calibri"/>
              <a:cs typeface="Calibri"/>
              <a:sym typeface="Calibri"/>
            </a:endParaRPr>
          </a:p>
        </p:txBody>
      </p:sp>
      <p:sp>
        <p:nvSpPr>
          <p:cNvPr id="354" name="Google Shape;354;p10"/>
          <p:cNvSpPr/>
          <p:nvPr/>
        </p:nvSpPr>
        <p:spPr>
          <a:xfrm>
            <a:off x="6446520" y="3081528"/>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0"/>
          <p:cNvSpPr txBox="1"/>
          <p:nvPr/>
        </p:nvSpPr>
        <p:spPr>
          <a:xfrm>
            <a:off x="6574536" y="3191256"/>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Door</a:t>
            </a:r>
            <a:endParaRPr b="0" i="0" sz="1400" u="none" cap="none" strike="noStrike">
              <a:solidFill>
                <a:schemeClr val="dk1"/>
              </a:solidFill>
              <a:latin typeface="Calibri"/>
              <a:ea typeface="Calibri"/>
              <a:cs typeface="Calibri"/>
              <a:sym typeface="Calibri"/>
            </a:endParaRPr>
          </a:p>
        </p:txBody>
      </p:sp>
      <p:sp>
        <p:nvSpPr>
          <p:cNvPr id="356" name="Google Shape;356;p10"/>
          <p:cNvSpPr txBox="1"/>
          <p:nvPr/>
        </p:nvSpPr>
        <p:spPr>
          <a:xfrm>
            <a:off x="6574536" y="3502152"/>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Surface damage, hole, crack, scratch, chip, peeling paint</a:t>
            </a:r>
            <a:endParaRPr b="0" i="0" sz="1200" u="none" cap="none" strike="noStrike">
              <a:solidFill>
                <a:schemeClr val="dk1"/>
              </a:solidFill>
              <a:latin typeface="Calibri"/>
              <a:ea typeface="Calibri"/>
              <a:cs typeface="Calibri"/>
              <a:sym typeface="Calibri"/>
            </a:endParaRPr>
          </a:p>
        </p:txBody>
      </p:sp>
      <p:sp>
        <p:nvSpPr>
          <p:cNvPr id="357" name="Google Shape;357;p10"/>
          <p:cNvSpPr/>
          <p:nvPr/>
        </p:nvSpPr>
        <p:spPr>
          <a:xfrm>
            <a:off x="548640" y="4654296"/>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0"/>
          <p:cNvSpPr txBox="1"/>
          <p:nvPr/>
        </p:nvSpPr>
        <p:spPr>
          <a:xfrm>
            <a:off x="676656" y="4764024"/>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Door lock / handle</a:t>
            </a:r>
            <a:endParaRPr b="0" i="0" sz="1400" u="none" cap="none" strike="noStrike">
              <a:solidFill>
                <a:schemeClr val="dk1"/>
              </a:solidFill>
              <a:latin typeface="Calibri"/>
              <a:ea typeface="Calibri"/>
              <a:cs typeface="Calibri"/>
              <a:sym typeface="Calibri"/>
            </a:endParaRPr>
          </a:p>
        </p:txBody>
      </p:sp>
      <p:sp>
        <p:nvSpPr>
          <p:cNvPr id="359" name="Google Shape;359;p10"/>
          <p:cNvSpPr txBox="1"/>
          <p:nvPr/>
        </p:nvSpPr>
        <p:spPr>
          <a:xfrm>
            <a:off x="676656" y="5074920"/>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Missing, broken, rust, loose</a:t>
            </a:r>
            <a:endParaRPr b="0" i="0" sz="1200" u="none" cap="none" strike="noStrike">
              <a:solidFill>
                <a:schemeClr val="dk1"/>
              </a:solidFill>
              <a:latin typeface="Calibri"/>
              <a:ea typeface="Calibri"/>
              <a:cs typeface="Calibri"/>
              <a:sym typeface="Calibri"/>
            </a:endParaRPr>
          </a:p>
        </p:txBody>
      </p:sp>
      <p:sp>
        <p:nvSpPr>
          <p:cNvPr id="360" name="Google Shape;360;p10"/>
          <p:cNvSpPr/>
          <p:nvPr/>
        </p:nvSpPr>
        <p:spPr>
          <a:xfrm>
            <a:off x="2514600" y="4654296"/>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0"/>
          <p:cNvSpPr txBox="1"/>
          <p:nvPr/>
        </p:nvSpPr>
        <p:spPr>
          <a:xfrm>
            <a:off x="2642616" y="4764024"/>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Window</a:t>
            </a:r>
            <a:endParaRPr b="0" i="0" sz="1400" u="none" cap="none" strike="noStrike">
              <a:solidFill>
                <a:schemeClr val="dk1"/>
              </a:solidFill>
              <a:latin typeface="Calibri"/>
              <a:ea typeface="Calibri"/>
              <a:cs typeface="Calibri"/>
              <a:sym typeface="Calibri"/>
            </a:endParaRPr>
          </a:p>
        </p:txBody>
      </p:sp>
      <p:sp>
        <p:nvSpPr>
          <p:cNvPr id="362" name="Google Shape;362;p10"/>
          <p:cNvSpPr txBox="1"/>
          <p:nvPr/>
        </p:nvSpPr>
        <p:spPr>
          <a:xfrm>
            <a:off x="2642616" y="5074920"/>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Broken or cracked glass, frame damage, wet sill, mold</a:t>
            </a:r>
            <a:endParaRPr b="0" i="0" sz="1200" u="none" cap="none" strike="noStrike">
              <a:solidFill>
                <a:schemeClr val="dk1"/>
              </a:solidFill>
              <a:latin typeface="Calibri"/>
              <a:ea typeface="Calibri"/>
              <a:cs typeface="Calibri"/>
              <a:sym typeface="Calibri"/>
            </a:endParaRPr>
          </a:p>
        </p:txBody>
      </p:sp>
      <p:sp>
        <p:nvSpPr>
          <p:cNvPr id="363" name="Google Shape;363;p10"/>
          <p:cNvSpPr/>
          <p:nvPr/>
        </p:nvSpPr>
        <p:spPr>
          <a:xfrm>
            <a:off x="4480560" y="4654296"/>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0"/>
          <p:cNvSpPr txBox="1"/>
          <p:nvPr/>
        </p:nvSpPr>
        <p:spPr>
          <a:xfrm>
            <a:off x="4608576" y="4764024"/>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Molding / trim</a:t>
            </a:r>
            <a:endParaRPr b="0" i="0" sz="1400" u="none" cap="none" strike="noStrike">
              <a:solidFill>
                <a:schemeClr val="dk1"/>
              </a:solidFill>
              <a:latin typeface="Calibri"/>
              <a:ea typeface="Calibri"/>
              <a:cs typeface="Calibri"/>
              <a:sym typeface="Calibri"/>
            </a:endParaRPr>
          </a:p>
        </p:txBody>
      </p:sp>
      <p:sp>
        <p:nvSpPr>
          <p:cNvPr id="365" name="Google Shape;365;p10"/>
          <p:cNvSpPr txBox="1"/>
          <p:nvPr/>
        </p:nvSpPr>
        <p:spPr>
          <a:xfrm>
            <a:off x="4608576" y="5074920"/>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Chip, crack, detached, water damage, missing</a:t>
            </a:r>
            <a:endParaRPr b="0" i="0" sz="1200" u="none" cap="none" strike="noStrike">
              <a:solidFill>
                <a:schemeClr val="dk1"/>
              </a:solidFill>
              <a:latin typeface="Calibri"/>
              <a:ea typeface="Calibri"/>
              <a:cs typeface="Calibri"/>
              <a:sym typeface="Calibri"/>
            </a:endParaRPr>
          </a:p>
        </p:txBody>
      </p:sp>
      <p:sp>
        <p:nvSpPr>
          <p:cNvPr id="366" name="Google Shape;366;p10"/>
          <p:cNvSpPr/>
          <p:nvPr/>
        </p:nvSpPr>
        <p:spPr>
          <a:xfrm>
            <a:off x="6446520" y="4654296"/>
            <a:ext cx="1847088" cy="1444752"/>
          </a:xfrm>
          <a:prstGeom prst="roundRect">
            <a:avLst>
              <a:gd fmla="val 759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0"/>
          <p:cNvSpPr txBox="1"/>
          <p:nvPr/>
        </p:nvSpPr>
        <p:spPr>
          <a:xfrm>
            <a:off x="6574536" y="4764024"/>
            <a:ext cx="162763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Kitchen exhaust</a:t>
            </a:r>
            <a:endParaRPr b="0" i="0" sz="1400" u="none" cap="none" strike="noStrike">
              <a:solidFill>
                <a:schemeClr val="dk1"/>
              </a:solidFill>
              <a:latin typeface="Calibri"/>
              <a:ea typeface="Calibri"/>
              <a:cs typeface="Calibri"/>
              <a:sym typeface="Calibri"/>
            </a:endParaRPr>
          </a:p>
        </p:txBody>
      </p:sp>
      <p:sp>
        <p:nvSpPr>
          <p:cNvPr id="368" name="Google Shape;368;p10"/>
          <p:cNvSpPr txBox="1"/>
          <p:nvPr/>
        </p:nvSpPr>
        <p:spPr>
          <a:xfrm>
            <a:off x="6574536" y="5074920"/>
            <a:ext cx="1627632"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Grease buildup, rust, broken grille, missing filter, dents</a:t>
            </a:r>
            <a:endParaRPr b="0" i="0" sz="1200" u="none" cap="none" strike="noStrike">
              <a:solidFill>
                <a:schemeClr val="dk1"/>
              </a:solidFill>
              <a:latin typeface="Calibri"/>
              <a:ea typeface="Calibri"/>
              <a:cs typeface="Calibri"/>
              <a:sym typeface="Calibri"/>
            </a:endParaRPr>
          </a:p>
        </p:txBody>
      </p:sp>
      <p:sp>
        <p:nvSpPr>
          <p:cNvPr id="369" name="Google Shape;369;p10"/>
          <p:cNvSpPr/>
          <p:nvPr/>
        </p:nvSpPr>
        <p:spPr>
          <a:xfrm>
            <a:off x="8503920" y="1508760"/>
            <a:ext cx="3154680" cy="1060704"/>
          </a:xfrm>
          <a:prstGeom prst="roundRect">
            <a:avLst>
              <a:gd fmla="val 1034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0"/>
          <p:cNvSpPr/>
          <p:nvPr/>
        </p:nvSpPr>
        <p:spPr>
          <a:xfrm>
            <a:off x="8641080" y="1673352"/>
            <a:ext cx="411480" cy="411480"/>
          </a:xfrm>
          <a:prstGeom prst="ellipse">
            <a:avLst/>
          </a:prstGeom>
          <a:solidFill>
            <a:srgbClr val="F87171"/>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1" name="Google Shape;371;p10"/>
          <p:cNvPicPr preferRelativeResize="0"/>
          <p:nvPr/>
        </p:nvPicPr>
        <p:blipFill rotWithShape="1">
          <a:blip r:embed="rId3">
            <a:alphaModFix/>
          </a:blip>
          <a:srcRect b="0" l="0" r="0" t="0"/>
          <a:stretch/>
        </p:blipFill>
        <p:spPr>
          <a:xfrm>
            <a:off x="8743950" y="1776222"/>
            <a:ext cx="205740" cy="205740"/>
          </a:xfrm>
          <a:prstGeom prst="rect">
            <a:avLst/>
          </a:prstGeom>
          <a:noFill/>
          <a:ln>
            <a:noFill/>
          </a:ln>
        </p:spPr>
      </p:pic>
      <p:sp>
        <p:nvSpPr>
          <p:cNvPr id="372" name="Google Shape;372;p10"/>
          <p:cNvSpPr txBox="1"/>
          <p:nvPr/>
        </p:nvSpPr>
        <p:spPr>
          <a:xfrm>
            <a:off x="9189720" y="1618488"/>
            <a:ext cx="2377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Professional review</a:t>
            </a:r>
            <a:endParaRPr b="0" i="0" sz="1400" u="none" cap="none" strike="noStrike">
              <a:solidFill>
                <a:schemeClr val="dk1"/>
              </a:solidFill>
              <a:latin typeface="Calibri"/>
              <a:ea typeface="Calibri"/>
              <a:cs typeface="Calibri"/>
              <a:sym typeface="Calibri"/>
            </a:endParaRPr>
          </a:p>
        </p:txBody>
      </p:sp>
      <p:sp>
        <p:nvSpPr>
          <p:cNvPr id="373" name="Google Shape;373;p10"/>
          <p:cNvSpPr txBox="1"/>
          <p:nvPr/>
        </p:nvSpPr>
        <p:spPr>
          <a:xfrm>
            <a:off x="9189720" y="1911096"/>
            <a:ext cx="237744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Cracks and deformation get a structural note; water damage and mold get a moisture-source check.</a:t>
            </a:r>
            <a:endParaRPr b="0" i="0" sz="1200" u="none" cap="none" strike="noStrike">
              <a:solidFill>
                <a:schemeClr val="dk1"/>
              </a:solidFill>
              <a:latin typeface="Calibri"/>
              <a:ea typeface="Calibri"/>
              <a:cs typeface="Calibri"/>
              <a:sym typeface="Calibri"/>
            </a:endParaRPr>
          </a:p>
        </p:txBody>
      </p:sp>
      <p:sp>
        <p:nvSpPr>
          <p:cNvPr id="374" name="Google Shape;374;p10"/>
          <p:cNvSpPr/>
          <p:nvPr/>
        </p:nvSpPr>
        <p:spPr>
          <a:xfrm>
            <a:off x="8503920" y="2688336"/>
            <a:ext cx="3154680" cy="1060704"/>
          </a:xfrm>
          <a:prstGeom prst="roundRect">
            <a:avLst>
              <a:gd fmla="val 1034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0"/>
          <p:cNvSpPr/>
          <p:nvPr/>
        </p:nvSpPr>
        <p:spPr>
          <a:xfrm>
            <a:off x="8641080" y="2852928"/>
            <a:ext cx="411480" cy="411480"/>
          </a:xfrm>
          <a:prstGeom prst="ellipse">
            <a:avLst/>
          </a:prstGeom>
          <a:solidFill>
            <a:srgbClr val="F59E0B"/>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6" name="Google Shape;376;p10"/>
          <p:cNvPicPr preferRelativeResize="0"/>
          <p:nvPr/>
        </p:nvPicPr>
        <p:blipFill rotWithShape="1">
          <a:blip r:embed="rId4">
            <a:alphaModFix/>
          </a:blip>
          <a:srcRect b="0" l="0" r="0" t="0"/>
          <a:stretch/>
        </p:blipFill>
        <p:spPr>
          <a:xfrm>
            <a:off x="8743950" y="2955798"/>
            <a:ext cx="205740" cy="205740"/>
          </a:xfrm>
          <a:prstGeom prst="rect">
            <a:avLst/>
          </a:prstGeom>
          <a:noFill/>
          <a:ln>
            <a:noFill/>
          </a:ln>
        </p:spPr>
      </p:pic>
      <p:sp>
        <p:nvSpPr>
          <p:cNvPr id="377" name="Google Shape;377;p10"/>
          <p:cNvSpPr txBox="1"/>
          <p:nvPr/>
        </p:nvSpPr>
        <p:spPr>
          <a:xfrm>
            <a:off x="9189720" y="2798064"/>
            <a:ext cx="2377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Manual checks, never AI</a:t>
            </a:r>
            <a:endParaRPr b="0" i="0" sz="1400" u="none" cap="none" strike="noStrike">
              <a:solidFill>
                <a:schemeClr val="dk1"/>
              </a:solidFill>
              <a:latin typeface="Calibri"/>
              <a:ea typeface="Calibri"/>
              <a:cs typeface="Calibri"/>
              <a:sym typeface="Calibri"/>
            </a:endParaRPr>
          </a:p>
        </p:txBody>
      </p:sp>
      <p:sp>
        <p:nvSpPr>
          <p:cNvPr id="378" name="Google Shape;378;p10"/>
          <p:cNvSpPr txBox="1"/>
          <p:nvPr/>
        </p:nvSpPr>
        <p:spPr>
          <a:xfrm>
            <a:off x="9189720" y="3090672"/>
            <a:ext cx="237744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Doors and windows opening, locks and keys, exhaust fan and motor.</a:t>
            </a:r>
            <a:endParaRPr b="0" i="0" sz="1200" u="none" cap="none" strike="noStrike">
              <a:solidFill>
                <a:schemeClr val="dk1"/>
              </a:solidFill>
              <a:latin typeface="Calibri"/>
              <a:ea typeface="Calibri"/>
              <a:cs typeface="Calibri"/>
              <a:sym typeface="Calibri"/>
            </a:endParaRPr>
          </a:p>
        </p:txBody>
      </p:sp>
      <p:sp>
        <p:nvSpPr>
          <p:cNvPr id="379" name="Google Shape;379;p10"/>
          <p:cNvSpPr/>
          <p:nvPr/>
        </p:nvSpPr>
        <p:spPr>
          <a:xfrm>
            <a:off x="8503920" y="3867912"/>
            <a:ext cx="3154680" cy="1060704"/>
          </a:xfrm>
          <a:prstGeom prst="roundRect">
            <a:avLst>
              <a:gd fmla="val 1034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0"/>
          <p:cNvSpPr/>
          <p:nvPr/>
        </p:nvSpPr>
        <p:spPr>
          <a:xfrm>
            <a:off x="8641080" y="4032504"/>
            <a:ext cx="411480" cy="411480"/>
          </a:xfrm>
          <a:prstGeom prst="ellipse">
            <a:avLst/>
          </a:prstGeom>
          <a:solidFill>
            <a:srgbClr val="22D3EE"/>
          </a:solidFill>
          <a:ln cap="flat" cmpd="sng" w="12700">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1" name="Google Shape;381;p10"/>
          <p:cNvPicPr preferRelativeResize="0"/>
          <p:nvPr/>
        </p:nvPicPr>
        <p:blipFill rotWithShape="1">
          <a:blip r:embed="rId5">
            <a:alphaModFix/>
          </a:blip>
          <a:srcRect b="0" l="0" r="0" t="0"/>
          <a:stretch/>
        </p:blipFill>
        <p:spPr>
          <a:xfrm>
            <a:off x="8743950" y="4135374"/>
            <a:ext cx="205740" cy="205740"/>
          </a:xfrm>
          <a:prstGeom prst="rect">
            <a:avLst/>
          </a:prstGeom>
          <a:noFill/>
          <a:ln>
            <a:noFill/>
          </a:ln>
        </p:spPr>
      </p:pic>
      <p:sp>
        <p:nvSpPr>
          <p:cNvPr id="382" name="Google Shape;382;p10"/>
          <p:cNvSpPr txBox="1"/>
          <p:nvPr/>
        </p:nvSpPr>
        <p:spPr>
          <a:xfrm>
            <a:off x="9189720" y="3977640"/>
            <a:ext cx="2377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Look-alikes rejected</a:t>
            </a:r>
            <a:endParaRPr b="0" i="0" sz="1400" u="none" cap="none" strike="noStrike">
              <a:solidFill>
                <a:schemeClr val="dk1"/>
              </a:solidFill>
              <a:latin typeface="Calibri"/>
              <a:ea typeface="Calibri"/>
              <a:cs typeface="Calibri"/>
              <a:sym typeface="Calibri"/>
            </a:endParaRPr>
          </a:p>
        </p:txBody>
      </p:sp>
      <p:sp>
        <p:nvSpPr>
          <p:cNvPr id="383" name="Google Shape;383;p10"/>
          <p:cNvSpPr txBox="1"/>
          <p:nvPr/>
        </p:nvSpPr>
        <p:spPr>
          <a:xfrm>
            <a:off x="9189720" y="4270248"/>
            <a:ext cx="237744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The verifier is shown grout lines, wood grain, shadows, reflections and outlets.</a:t>
            </a:r>
            <a:endParaRPr b="0" i="0" sz="1200" u="none" cap="none" strike="noStrike">
              <a:solidFill>
                <a:schemeClr val="dk1"/>
              </a:solidFill>
              <a:latin typeface="Calibri"/>
              <a:ea typeface="Calibri"/>
              <a:cs typeface="Calibri"/>
              <a:sym typeface="Calibri"/>
            </a:endParaRPr>
          </a:p>
        </p:txBody>
      </p:sp>
      <p:sp>
        <p:nvSpPr>
          <p:cNvPr id="384" name="Google Shape;384;p10"/>
          <p:cNvSpPr/>
          <p:nvPr/>
        </p:nvSpPr>
        <p:spPr>
          <a:xfrm>
            <a:off x="8503920" y="5047488"/>
            <a:ext cx="3154680" cy="1060704"/>
          </a:xfrm>
          <a:prstGeom prst="roundRect">
            <a:avLst>
              <a:gd fmla="val 10345"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0"/>
          <p:cNvSpPr/>
          <p:nvPr/>
        </p:nvSpPr>
        <p:spPr>
          <a:xfrm>
            <a:off x="8641080" y="5212080"/>
            <a:ext cx="411480" cy="411480"/>
          </a:xfrm>
          <a:prstGeom prst="ellipse">
            <a:avLst/>
          </a:prstGeom>
          <a:solidFill>
            <a:srgbClr val="94A3B8"/>
          </a:solidFill>
          <a:ln cap="flat" cmpd="sng" w="12700">
            <a:solidFill>
              <a:srgbClr val="94A3B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6" name="Google Shape;386;p10"/>
          <p:cNvPicPr preferRelativeResize="0"/>
          <p:nvPr/>
        </p:nvPicPr>
        <p:blipFill rotWithShape="1">
          <a:blip r:embed="rId6">
            <a:alphaModFix/>
          </a:blip>
          <a:srcRect b="0" l="0" r="0" t="0"/>
          <a:stretch/>
        </p:blipFill>
        <p:spPr>
          <a:xfrm>
            <a:off x="8743950" y="5314950"/>
            <a:ext cx="205740" cy="205740"/>
          </a:xfrm>
          <a:prstGeom prst="rect">
            <a:avLst/>
          </a:prstGeom>
          <a:noFill/>
          <a:ln>
            <a:noFill/>
          </a:ln>
        </p:spPr>
      </p:pic>
      <p:sp>
        <p:nvSpPr>
          <p:cNvPr id="387" name="Google Shape;387;p10"/>
          <p:cNvSpPr txBox="1"/>
          <p:nvPr/>
        </p:nvSpPr>
        <p:spPr>
          <a:xfrm>
            <a:off x="9189720" y="5157216"/>
            <a:ext cx="2377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Not inspected</a:t>
            </a:r>
            <a:endParaRPr b="0" i="0" sz="1400" u="none" cap="none" strike="noStrike">
              <a:solidFill>
                <a:schemeClr val="dk1"/>
              </a:solidFill>
              <a:latin typeface="Calibri"/>
              <a:ea typeface="Calibri"/>
              <a:cs typeface="Calibri"/>
              <a:sym typeface="Calibri"/>
            </a:endParaRPr>
          </a:p>
        </p:txBody>
      </p:sp>
      <p:sp>
        <p:nvSpPr>
          <p:cNvPr id="388" name="Google Shape;388;p10"/>
          <p:cNvSpPr txBox="1"/>
          <p:nvPr/>
        </p:nvSpPr>
        <p:spPr>
          <a:xfrm>
            <a:off x="9189720" y="5449824"/>
            <a:ext cx="2377440" cy="6217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Furniture, cupboards, rugs and carpets.</a:t>
            </a:r>
            <a:endParaRPr b="0" i="0" sz="1200" u="none" cap="none" strike="noStrike">
              <a:solidFill>
                <a:schemeClr val="dk1"/>
              </a:solidFill>
              <a:latin typeface="Calibri"/>
              <a:ea typeface="Calibri"/>
              <a:cs typeface="Calibri"/>
              <a:sym typeface="Calibri"/>
            </a:endParaRPr>
          </a:p>
        </p:txBody>
      </p:sp>
      <p:sp>
        <p:nvSpPr>
          <p:cNvPr id="389" name="Google Shape;389;p10"/>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11"/>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EXPLAINABLE RISK ENGINE</a:t>
            </a:r>
            <a:endParaRPr sz="1200"/>
          </a:p>
        </p:txBody>
      </p:sp>
      <p:sp>
        <p:nvSpPr>
          <p:cNvPr id="396" name="Google Shape;396;p11"/>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Every decision shows its reasons</a:t>
            </a:r>
            <a:endParaRPr sz="3000"/>
          </a:p>
        </p:txBody>
      </p:sp>
      <p:sp>
        <p:nvSpPr>
          <p:cNvPr id="397" name="Google Shape;397;p11"/>
          <p:cNvSpPr/>
          <p:nvPr/>
        </p:nvSpPr>
        <p:spPr>
          <a:xfrm>
            <a:off x="512064" y="1565910"/>
            <a:ext cx="6108192" cy="3845052"/>
          </a:xfrm>
          <a:prstGeom prst="roundRect">
            <a:avLst>
              <a:gd fmla="val 2378"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risk-panel-screenshot" id="398" name="Google Shape;398;p11"/>
          <p:cNvPicPr preferRelativeResize="0"/>
          <p:nvPr/>
        </p:nvPicPr>
        <p:blipFill rotWithShape="1">
          <a:blip r:embed="rId3">
            <a:alphaModFix/>
          </a:blip>
          <a:srcRect b="0" l="0" r="0" t="0"/>
          <a:stretch/>
        </p:blipFill>
        <p:spPr>
          <a:xfrm>
            <a:off x="548640" y="1602486"/>
            <a:ext cx="6035040" cy="3771900"/>
          </a:xfrm>
          <a:prstGeom prst="rect">
            <a:avLst/>
          </a:prstGeom>
          <a:noFill/>
          <a:ln>
            <a:noFill/>
          </a:ln>
        </p:spPr>
      </p:pic>
      <p:sp>
        <p:nvSpPr>
          <p:cNvPr id="399" name="Google Shape;399;p11"/>
          <p:cNvSpPr txBox="1"/>
          <p:nvPr/>
        </p:nvSpPr>
        <p:spPr>
          <a:xfrm>
            <a:off x="548640" y="5440680"/>
            <a:ext cx="60350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1" lang="en-US" sz="1100" u="none" cap="none" strike="noStrike">
                <a:solidFill>
                  <a:schemeClr val="dk2"/>
                </a:solidFill>
                <a:latin typeface="Calibri"/>
                <a:ea typeface="Calibri"/>
                <a:cs typeface="Calibri"/>
                <a:sym typeface="Calibri"/>
              </a:rPr>
              <a:t>Live app: property risk &amp; valuation panel for the case-study walkthrough</a:t>
            </a:r>
            <a:endParaRPr b="0" i="0" sz="1100" u="none" cap="none" strike="noStrike">
              <a:solidFill>
                <a:schemeClr val="dk1"/>
              </a:solidFill>
              <a:latin typeface="Calibri"/>
              <a:ea typeface="Calibri"/>
              <a:cs typeface="Calibri"/>
              <a:sym typeface="Calibri"/>
            </a:endParaRPr>
          </a:p>
        </p:txBody>
      </p:sp>
      <p:sp>
        <p:nvSpPr>
          <p:cNvPr id="400" name="Google Shape;400;p11"/>
          <p:cNvSpPr/>
          <p:nvPr/>
        </p:nvSpPr>
        <p:spPr>
          <a:xfrm>
            <a:off x="6949440" y="1600200"/>
            <a:ext cx="4709160" cy="1417320"/>
          </a:xfrm>
          <a:prstGeom prst="roundRect">
            <a:avLst>
              <a:gd fmla="val 7742"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1"/>
          <p:cNvSpPr txBox="1"/>
          <p:nvPr/>
        </p:nvSpPr>
        <p:spPr>
          <a:xfrm>
            <a:off x="7178040" y="1737360"/>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Condition score</a:t>
            </a:r>
            <a:endParaRPr b="0" i="0" sz="1400" u="none" cap="none" strike="noStrike">
              <a:solidFill>
                <a:schemeClr val="dk1"/>
              </a:solidFill>
              <a:latin typeface="Calibri"/>
              <a:ea typeface="Calibri"/>
              <a:cs typeface="Calibri"/>
              <a:sym typeface="Calibri"/>
            </a:endParaRPr>
          </a:p>
        </p:txBody>
      </p:sp>
      <p:sp>
        <p:nvSpPr>
          <p:cNvPr id="402" name="Google Shape;402;p11"/>
          <p:cNvSpPr txBox="1"/>
          <p:nvPr/>
        </p:nvSpPr>
        <p:spPr>
          <a:xfrm>
            <a:off x="7178040" y="2029968"/>
            <a:ext cx="42976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100 − Σ (points × severity × state weight)</a:t>
            </a:r>
            <a:endParaRPr b="0" i="0" sz="1600" u="none" cap="none" strike="noStrike">
              <a:solidFill>
                <a:schemeClr val="dk1"/>
              </a:solidFill>
              <a:latin typeface="Calibri"/>
              <a:ea typeface="Calibri"/>
              <a:cs typeface="Calibri"/>
              <a:sym typeface="Calibri"/>
            </a:endParaRPr>
          </a:p>
        </p:txBody>
      </p:sp>
      <p:sp>
        <p:nvSpPr>
          <p:cNvPr id="403" name="Google Shape;403;p11"/>
          <p:cNvSpPr/>
          <p:nvPr/>
        </p:nvSpPr>
        <p:spPr>
          <a:xfrm>
            <a:off x="7178040" y="2487168"/>
            <a:ext cx="365760" cy="365760"/>
          </a:xfrm>
          <a:prstGeom prst="roundRect">
            <a:avLst>
              <a:gd fmla="val 15000" name="adj"/>
            </a:avLst>
          </a:prstGeom>
          <a:solidFill>
            <a:srgbClr val="16A34A"/>
          </a:solidFill>
          <a:ln cap="flat" cmpd="sng" w="12700">
            <a:solidFill>
              <a:srgbClr val="16A3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1"/>
          <p:cNvSpPr txBox="1"/>
          <p:nvPr/>
        </p:nvSpPr>
        <p:spPr>
          <a:xfrm>
            <a:off x="7178040" y="248716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A</a:t>
            </a:r>
            <a:endParaRPr b="0" i="0" sz="1500" u="none" cap="none" strike="noStrike">
              <a:solidFill>
                <a:schemeClr val="dk1"/>
              </a:solidFill>
              <a:latin typeface="Calibri"/>
              <a:ea typeface="Calibri"/>
              <a:cs typeface="Calibri"/>
              <a:sym typeface="Calibri"/>
            </a:endParaRPr>
          </a:p>
        </p:txBody>
      </p:sp>
      <p:sp>
        <p:nvSpPr>
          <p:cNvPr id="405" name="Google Shape;405;p11"/>
          <p:cNvSpPr txBox="1"/>
          <p:nvPr/>
        </p:nvSpPr>
        <p:spPr>
          <a:xfrm>
            <a:off x="7571232" y="2487168"/>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≥85</a:t>
            </a:r>
            <a:endParaRPr b="0" i="0" sz="1200" u="none" cap="none" strike="noStrike">
              <a:solidFill>
                <a:schemeClr val="dk1"/>
              </a:solidFill>
              <a:latin typeface="Calibri"/>
              <a:ea typeface="Calibri"/>
              <a:cs typeface="Calibri"/>
              <a:sym typeface="Calibri"/>
            </a:endParaRPr>
          </a:p>
        </p:txBody>
      </p:sp>
      <p:sp>
        <p:nvSpPr>
          <p:cNvPr id="406" name="Google Shape;406;p11"/>
          <p:cNvSpPr/>
          <p:nvPr/>
        </p:nvSpPr>
        <p:spPr>
          <a:xfrm>
            <a:off x="8046720" y="2487168"/>
            <a:ext cx="365760" cy="365760"/>
          </a:xfrm>
          <a:prstGeom prst="roundRect">
            <a:avLst>
              <a:gd fmla="val 15000" name="adj"/>
            </a:avLst>
          </a:prstGeom>
          <a:solidFill>
            <a:srgbClr val="65A30D"/>
          </a:solidFill>
          <a:ln cap="flat" cmpd="sng" w="12700">
            <a:solidFill>
              <a:srgbClr val="65A30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1"/>
          <p:cNvSpPr txBox="1"/>
          <p:nvPr/>
        </p:nvSpPr>
        <p:spPr>
          <a:xfrm>
            <a:off x="8046720" y="248716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B</a:t>
            </a:r>
            <a:endParaRPr b="0" i="0" sz="1500" u="none" cap="none" strike="noStrike">
              <a:solidFill>
                <a:schemeClr val="dk1"/>
              </a:solidFill>
              <a:latin typeface="Calibri"/>
              <a:ea typeface="Calibri"/>
              <a:cs typeface="Calibri"/>
              <a:sym typeface="Calibri"/>
            </a:endParaRPr>
          </a:p>
        </p:txBody>
      </p:sp>
      <p:sp>
        <p:nvSpPr>
          <p:cNvPr id="408" name="Google Shape;408;p11"/>
          <p:cNvSpPr txBox="1"/>
          <p:nvPr/>
        </p:nvSpPr>
        <p:spPr>
          <a:xfrm>
            <a:off x="8439912" y="2487168"/>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≥70</a:t>
            </a:r>
            <a:endParaRPr b="0" i="0" sz="1200" u="none" cap="none" strike="noStrike">
              <a:solidFill>
                <a:schemeClr val="dk1"/>
              </a:solidFill>
              <a:latin typeface="Calibri"/>
              <a:ea typeface="Calibri"/>
              <a:cs typeface="Calibri"/>
              <a:sym typeface="Calibri"/>
            </a:endParaRPr>
          </a:p>
        </p:txBody>
      </p:sp>
      <p:sp>
        <p:nvSpPr>
          <p:cNvPr id="409" name="Google Shape;409;p11"/>
          <p:cNvSpPr/>
          <p:nvPr/>
        </p:nvSpPr>
        <p:spPr>
          <a:xfrm>
            <a:off x="8915400" y="2487168"/>
            <a:ext cx="365760" cy="365760"/>
          </a:xfrm>
          <a:prstGeom prst="roundRect">
            <a:avLst>
              <a:gd fmla="val 15000" name="adj"/>
            </a:avLst>
          </a:prstGeom>
          <a:solidFill>
            <a:srgbClr val="CA8A04"/>
          </a:solidFill>
          <a:ln cap="flat" cmpd="sng" w="12700">
            <a:solidFill>
              <a:srgbClr val="CA8A0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1"/>
          <p:cNvSpPr txBox="1"/>
          <p:nvPr/>
        </p:nvSpPr>
        <p:spPr>
          <a:xfrm>
            <a:off x="8915400" y="248716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C</a:t>
            </a:r>
            <a:endParaRPr b="0" i="0" sz="1500" u="none" cap="none" strike="noStrike">
              <a:solidFill>
                <a:schemeClr val="dk1"/>
              </a:solidFill>
              <a:latin typeface="Calibri"/>
              <a:ea typeface="Calibri"/>
              <a:cs typeface="Calibri"/>
              <a:sym typeface="Calibri"/>
            </a:endParaRPr>
          </a:p>
        </p:txBody>
      </p:sp>
      <p:sp>
        <p:nvSpPr>
          <p:cNvPr id="411" name="Google Shape;411;p11"/>
          <p:cNvSpPr txBox="1"/>
          <p:nvPr/>
        </p:nvSpPr>
        <p:spPr>
          <a:xfrm>
            <a:off x="9308592" y="2487168"/>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≥50</a:t>
            </a:r>
            <a:endParaRPr b="0" i="0" sz="1200" u="none" cap="none" strike="noStrike">
              <a:solidFill>
                <a:schemeClr val="dk1"/>
              </a:solidFill>
              <a:latin typeface="Calibri"/>
              <a:ea typeface="Calibri"/>
              <a:cs typeface="Calibri"/>
              <a:sym typeface="Calibri"/>
            </a:endParaRPr>
          </a:p>
        </p:txBody>
      </p:sp>
      <p:sp>
        <p:nvSpPr>
          <p:cNvPr id="412" name="Google Shape;412;p11"/>
          <p:cNvSpPr/>
          <p:nvPr/>
        </p:nvSpPr>
        <p:spPr>
          <a:xfrm>
            <a:off x="9784080" y="2487168"/>
            <a:ext cx="365760" cy="365760"/>
          </a:xfrm>
          <a:prstGeom prst="roundRect">
            <a:avLst>
              <a:gd fmla="val 15000" name="adj"/>
            </a:avLst>
          </a:prstGeom>
          <a:solidFill>
            <a:srgbClr val="EA580C"/>
          </a:solidFill>
          <a:ln cap="flat" cmpd="sng" w="12700">
            <a:solidFill>
              <a:srgbClr val="EA580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1"/>
          <p:cNvSpPr txBox="1"/>
          <p:nvPr/>
        </p:nvSpPr>
        <p:spPr>
          <a:xfrm>
            <a:off x="9784080" y="248716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D</a:t>
            </a:r>
            <a:endParaRPr b="0" i="0" sz="1500" u="none" cap="none" strike="noStrike">
              <a:solidFill>
                <a:schemeClr val="dk1"/>
              </a:solidFill>
              <a:latin typeface="Calibri"/>
              <a:ea typeface="Calibri"/>
              <a:cs typeface="Calibri"/>
              <a:sym typeface="Calibri"/>
            </a:endParaRPr>
          </a:p>
        </p:txBody>
      </p:sp>
      <p:sp>
        <p:nvSpPr>
          <p:cNvPr id="414" name="Google Shape;414;p11"/>
          <p:cNvSpPr txBox="1"/>
          <p:nvPr/>
        </p:nvSpPr>
        <p:spPr>
          <a:xfrm>
            <a:off x="10177272" y="2487168"/>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≥30</a:t>
            </a:r>
            <a:endParaRPr b="0" i="0" sz="1200" u="none" cap="none" strike="noStrike">
              <a:solidFill>
                <a:schemeClr val="dk1"/>
              </a:solidFill>
              <a:latin typeface="Calibri"/>
              <a:ea typeface="Calibri"/>
              <a:cs typeface="Calibri"/>
              <a:sym typeface="Calibri"/>
            </a:endParaRPr>
          </a:p>
        </p:txBody>
      </p:sp>
      <p:sp>
        <p:nvSpPr>
          <p:cNvPr id="415" name="Google Shape;415;p11"/>
          <p:cNvSpPr/>
          <p:nvPr/>
        </p:nvSpPr>
        <p:spPr>
          <a:xfrm>
            <a:off x="10652760" y="2487168"/>
            <a:ext cx="365760" cy="365760"/>
          </a:xfrm>
          <a:prstGeom prst="roundRect">
            <a:avLst>
              <a:gd fmla="val 15000" name="adj"/>
            </a:avLst>
          </a:prstGeom>
          <a:solidFill>
            <a:srgbClr val="DC2626"/>
          </a:solidFill>
          <a:ln cap="flat" cmpd="sng" w="12700">
            <a:solidFill>
              <a:srgbClr val="DC262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1"/>
          <p:cNvSpPr txBox="1"/>
          <p:nvPr/>
        </p:nvSpPr>
        <p:spPr>
          <a:xfrm>
            <a:off x="10652760" y="2487168"/>
            <a:ext cx="3657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E</a:t>
            </a:r>
            <a:endParaRPr b="0" i="0" sz="1500" u="none" cap="none" strike="noStrike">
              <a:solidFill>
                <a:schemeClr val="dk1"/>
              </a:solidFill>
              <a:latin typeface="Calibri"/>
              <a:ea typeface="Calibri"/>
              <a:cs typeface="Calibri"/>
              <a:sym typeface="Calibri"/>
            </a:endParaRPr>
          </a:p>
        </p:txBody>
      </p:sp>
      <p:sp>
        <p:nvSpPr>
          <p:cNvPr id="417" name="Google Shape;417;p11"/>
          <p:cNvSpPr txBox="1"/>
          <p:nvPr/>
        </p:nvSpPr>
        <p:spPr>
          <a:xfrm>
            <a:off x="11045952" y="2487168"/>
            <a:ext cx="457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&lt;30</a:t>
            </a:r>
            <a:endParaRPr b="0" i="0" sz="1200" u="none" cap="none" strike="noStrike">
              <a:solidFill>
                <a:schemeClr val="dk1"/>
              </a:solidFill>
              <a:latin typeface="Calibri"/>
              <a:ea typeface="Calibri"/>
              <a:cs typeface="Calibri"/>
              <a:sym typeface="Calibri"/>
            </a:endParaRPr>
          </a:p>
        </p:txBody>
      </p:sp>
      <p:sp>
        <p:nvSpPr>
          <p:cNvPr id="418" name="Google Shape;418;p11"/>
          <p:cNvSpPr/>
          <p:nvPr/>
        </p:nvSpPr>
        <p:spPr>
          <a:xfrm>
            <a:off x="6949440" y="3154680"/>
            <a:ext cx="4709160" cy="2971800"/>
          </a:xfrm>
          <a:prstGeom prst="roundRect">
            <a:avLst>
              <a:gd fmla="val 3692"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1"/>
          <p:cNvSpPr txBox="1"/>
          <p:nvPr/>
        </p:nvSpPr>
        <p:spPr>
          <a:xfrm>
            <a:off x="7178040" y="3291840"/>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Underwriting decisions</a:t>
            </a:r>
            <a:endParaRPr b="0" i="0" sz="1400" u="none" cap="none" strike="noStrike">
              <a:solidFill>
                <a:schemeClr val="dk1"/>
              </a:solidFill>
              <a:latin typeface="Calibri"/>
              <a:ea typeface="Calibri"/>
              <a:cs typeface="Calibri"/>
              <a:sym typeface="Calibri"/>
            </a:endParaRPr>
          </a:p>
        </p:txBody>
      </p:sp>
      <p:sp>
        <p:nvSpPr>
          <p:cNvPr id="420" name="Google Shape;420;p11"/>
          <p:cNvSpPr/>
          <p:nvPr/>
        </p:nvSpPr>
        <p:spPr>
          <a:xfrm>
            <a:off x="7205472" y="3703320"/>
            <a:ext cx="146304" cy="146304"/>
          </a:xfrm>
          <a:prstGeom prst="ellipse">
            <a:avLst/>
          </a:prstGeom>
          <a:solidFill>
            <a:srgbClr val="22C55E"/>
          </a:solidFill>
          <a:ln cap="flat" cmpd="sng" w="12700">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1"/>
          <p:cNvSpPr txBox="1"/>
          <p:nvPr/>
        </p:nvSpPr>
        <p:spPr>
          <a:xfrm>
            <a:off x="7452360" y="3630168"/>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PROCEED</a:t>
            </a:r>
            <a:endParaRPr b="0" i="0" sz="1400" u="none" cap="none" strike="noStrike">
              <a:solidFill>
                <a:schemeClr val="dk1"/>
              </a:solidFill>
              <a:latin typeface="Calibri"/>
              <a:ea typeface="Calibri"/>
              <a:cs typeface="Calibri"/>
              <a:sym typeface="Calibri"/>
            </a:endParaRPr>
          </a:p>
        </p:txBody>
      </p:sp>
      <p:sp>
        <p:nvSpPr>
          <p:cNvPr id="422" name="Google Shape;422;p11"/>
          <p:cNvSpPr/>
          <p:nvPr/>
        </p:nvSpPr>
        <p:spPr>
          <a:xfrm>
            <a:off x="7205472" y="4096512"/>
            <a:ext cx="146304" cy="146304"/>
          </a:xfrm>
          <a:prstGeom prst="ellipse">
            <a:avLst/>
          </a:prstGeom>
          <a:solidFill>
            <a:srgbClr val="22C55E"/>
          </a:solidFill>
          <a:ln cap="flat" cmpd="sng" w="12700">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1"/>
          <p:cNvSpPr txBox="1"/>
          <p:nvPr/>
        </p:nvSpPr>
        <p:spPr>
          <a:xfrm>
            <a:off x="7452360" y="4023360"/>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PROCEED WITH CONDITIONS: note defects</a:t>
            </a:r>
            <a:endParaRPr b="0" i="0" sz="1400" u="none" cap="none" strike="noStrike">
              <a:solidFill>
                <a:schemeClr val="dk1"/>
              </a:solidFill>
              <a:latin typeface="Calibri"/>
              <a:ea typeface="Calibri"/>
              <a:cs typeface="Calibri"/>
              <a:sym typeface="Calibri"/>
            </a:endParaRPr>
          </a:p>
        </p:txBody>
      </p:sp>
      <p:sp>
        <p:nvSpPr>
          <p:cNvPr id="424" name="Google Shape;424;p11"/>
          <p:cNvSpPr/>
          <p:nvPr/>
        </p:nvSpPr>
        <p:spPr>
          <a:xfrm>
            <a:off x="7205472" y="4489704"/>
            <a:ext cx="146304" cy="146304"/>
          </a:xfrm>
          <a:prstGeom prst="ellipse">
            <a:avLst/>
          </a:prstGeom>
          <a:solidFill>
            <a:srgbClr val="F59E0B"/>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1"/>
          <p:cNvSpPr txBox="1"/>
          <p:nvPr/>
        </p:nvSpPr>
        <p:spPr>
          <a:xfrm>
            <a:off x="7452360" y="4416552"/>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PROCEED WITH CONDITIONS: repairs / retention</a:t>
            </a:r>
            <a:endParaRPr b="0" i="0" sz="1400" u="none" cap="none" strike="noStrike">
              <a:solidFill>
                <a:schemeClr val="dk1"/>
              </a:solidFill>
              <a:latin typeface="Calibri"/>
              <a:ea typeface="Calibri"/>
              <a:cs typeface="Calibri"/>
              <a:sym typeface="Calibri"/>
            </a:endParaRPr>
          </a:p>
        </p:txBody>
      </p:sp>
      <p:sp>
        <p:nvSpPr>
          <p:cNvPr id="426" name="Google Shape;426;p11"/>
          <p:cNvSpPr/>
          <p:nvPr/>
        </p:nvSpPr>
        <p:spPr>
          <a:xfrm>
            <a:off x="7205472" y="4882896"/>
            <a:ext cx="146304" cy="146304"/>
          </a:xfrm>
          <a:prstGeom prst="ellipse">
            <a:avLst/>
          </a:prstGeom>
          <a:solidFill>
            <a:srgbClr val="F87171"/>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11"/>
          <p:cNvSpPr txBox="1"/>
          <p:nvPr/>
        </p:nvSpPr>
        <p:spPr>
          <a:xfrm>
            <a:off x="7452360" y="4809744"/>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REFER: professional survey required</a:t>
            </a:r>
            <a:endParaRPr b="0" i="0" sz="1400" u="none" cap="none" strike="noStrike">
              <a:solidFill>
                <a:schemeClr val="dk1"/>
              </a:solidFill>
              <a:latin typeface="Calibri"/>
              <a:ea typeface="Calibri"/>
              <a:cs typeface="Calibri"/>
              <a:sym typeface="Calibri"/>
            </a:endParaRPr>
          </a:p>
        </p:txBody>
      </p:sp>
      <p:sp>
        <p:nvSpPr>
          <p:cNvPr id="428" name="Google Shape;428;p11"/>
          <p:cNvSpPr/>
          <p:nvPr/>
        </p:nvSpPr>
        <p:spPr>
          <a:xfrm>
            <a:off x="7205472" y="5276088"/>
            <a:ext cx="146304" cy="146304"/>
          </a:xfrm>
          <a:prstGeom prst="ellipse">
            <a:avLst/>
          </a:prstGeom>
          <a:solidFill>
            <a:srgbClr val="F87171"/>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1"/>
          <p:cNvSpPr txBox="1"/>
          <p:nvPr/>
        </p:nvSpPr>
        <p:spPr>
          <a:xfrm>
            <a:off x="7452360" y="5202936"/>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REFER: evidence integrity</a:t>
            </a:r>
            <a:endParaRPr b="0" i="0" sz="1400" u="none" cap="none" strike="noStrike">
              <a:solidFill>
                <a:schemeClr val="dk1"/>
              </a:solidFill>
              <a:latin typeface="Calibri"/>
              <a:ea typeface="Calibri"/>
              <a:cs typeface="Calibri"/>
              <a:sym typeface="Calibri"/>
            </a:endParaRPr>
          </a:p>
        </p:txBody>
      </p:sp>
      <p:sp>
        <p:nvSpPr>
          <p:cNvPr id="430" name="Google Shape;430;p11"/>
          <p:cNvSpPr/>
          <p:nvPr/>
        </p:nvSpPr>
        <p:spPr>
          <a:xfrm>
            <a:off x="7205472" y="5669280"/>
            <a:ext cx="146304" cy="146304"/>
          </a:xfrm>
          <a:prstGeom prst="ellipse">
            <a:avLst/>
          </a:prstGeom>
          <a:solidFill>
            <a:srgbClr val="F87171"/>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1"/>
          <p:cNvSpPr txBox="1"/>
          <p:nvPr/>
        </p:nvSpPr>
        <p:spPr>
          <a:xfrm>
            <a:off x="7452360" y="5596128"/>
            <a:ext cx="41148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REFER: additional evidence required</a:t>
            </a:r>
            <a:endParaRPr b="0" i="0" sz="1400" u="none" cap="none" strike="noStrike">
              <a:solidFill>
                <a:schemeClr val="dk1"/>
              </a:solidFill>
              <a:latin typeface="Calibri"/>
              <a:ea typeface="Calibri"/>
              <a:cs typeface="Calibri"/>
              <a:sym typeface="Calibri"/>
            </a:endParaRPr>
          </a:p>
        </p:txBody>
      </p:sp>
      <p:sp>
        <p:nvSpPr>
          <p:cNvPr id="432" name="Google Shape;432;p11"/>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12"/>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FRAUD &amp; EVIDENCE INTEGRITY</a:t>
            </a:r>
            <a:endParaRPr sz="1200"/>
          </a:p>
        </p:txBody>
      </p:sp>
      <p:sp>
        <p:nvSpPr>
          <p:cNvPr id="439" name="Google Shape;439;p12"/>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Fraud checks run on every walkthrough video</a:t>
            </a:r>
            <a:endParaRPr sz="3000"/>
          </a:p>
        </p:txBody>
      </p:sp>
      <p:sp>
        <p:nvSpPr>
          <p:cNvPr id="440" name="Google Shape;440;p12"/>
          <p:cNvSpPr/>
          <p:nvPr/>
        </p:nvSpPr>
        <p:spPr>
          <a:xfrm>
            <a:off x="548640" y="1600200"/>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2"/>
          <p:cNvSpPr/>
          <p:nvPr/>
        </p:nvSpPr>
        <p:spPr>
          <a:xfrm>
            <a:off x="731520" y="1801368"/>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2" name="Google Shape;442;p12"/>
          <p:cNvPicPr preferRelativeResize="0"/>
          <p:nvPr/>
        </p:nvPicPr>
        <p:blipFill rotWithShape="1">
          <a:blip r:embed="rId3">
            <a:alphaModFix/>
          </a:blip>
          <a:srcRect b="0" l="0" r="0" t="0"/>
          <a:stretch/>
        </p:blipFill>
        <p:spPr>
          <a:xfrm>
            <a:off x="857250" y="1927098"/>
            <a:ext cx="251460" cy="251460"/>
          </a:xfrm>
          <a:prstGeom prst="rect">
            <a:avLst/>
          </a:prstGeom>
          <a:noFill/>
          <a:ln>
            <a:noFill/>
          </a:ln>
        </p:spPr>
      </p:pic>
      <p:sp>
        <p:nvSpPr>
          <p:cNvPr id="443" name="Google Shape;443;p12"/>
          <p:cNvSpPr txBox="1"/>
          <p:nvPr/>
        </p:nvSpPr>
        <p:spPr>
          <a:xfrm>
            <a:off x="1371600" y="1764792"/>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Recycled video</a:t>
            </a:r>
            <a:endParaRPr b="0" i="0" sz="1500" u="none" cap="none" strike="noStrike">
              <a:solidFill>
                <a:schemeClr val="dk1"/>
              </a:solidFill>
              <a:latin typeface="Calibri"/>
              <a:ea typeface="Calibri"/>
              <a:cs typeface="Calibri"/>
              <a:sym typeface="Calibri"/>
            </a:endParaRPr>
          </a:p>
        </p:txBody>
      </p:sp>
      <p:sp>
        <p:nvSpPr>
          <p:cNvPr id="444" name="Google Shape;444;p12"/>
          <p:cNvSpPr txBox="1"/>
          <p:nvPr/>
        </p:nvSpPr>
        <p:spPr>
          <a:xfrm>
            <a:off x="1371600" y="2084832"/>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Every AI keyframe is fingerprinted (dHash) and compared with every property. A match to another property is flagged HIGH.</a:t>
            </a:r>
            <a:endParaRPr b="0" i="0" sz="1200" u="none" cap="none" strike="noStrike">
              <a:solidFill>
                <a:schemeClr val="dk1"/>
              </a:solidFill>
              <a:latin typeface="Calibri"/>
              <a:ea typeface="Calibri"/>
              <a:cs typeface="Calibri"/>
              <a:sym typeface="Calibri"/>
            </a:endParaRPr>
          </a:p>
        </p:txBody>
      </p:sp>
      <p:sp>
        <p:nvSpPr>
          <p:cNvPr id="445" name="Google Shape;445;p12"/>
          <p:cNvSpPr/>
          <p:nvPr/>
        </p:nvSpPr>
        <p:spPr>
          <a:xfrm>
            <a:off x="4069080" y="1600200"/>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2"/>
          <p:cNvSpPr/>
          <p:nvPr/>
        </p:nvSpPr>
        <p:spPr>
          <a:xfrm>
            <a:off x="4251960" y="1801368"/>
            <a:ext cx="502920" cy="50292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47" name="Google Shape;447;p12"/>
          <p:cNvPicPr preferRelativeResize="0"/>
          <p:nvPr/>
        </p:nvPicPr>
        <p:blipFill rotWithShape="1">
          <a:blip r:embed="rId7">
            <a:alphaModFix/>
          </a:blip>
          <a:srcRect b="0" l="0" r="0" t="0"/>
          <a:stretch/>
        </p:blipFill>
        <p:spPr>
          <a:xfrm>
            <a:off x="4377690" y="1927098"/>
            <a:ext cx="251460" cy="251460"/>
          </a:xfrm>
          <a:prstGeom prst="rect">
            <a:avLst/>
          </a:prstGeom>
          <a:noFill/>
          <a:ln>
            <a:noFill/>
          </a:ln>
        </p:spPr>
      </p:pic>
      <p:sp>
        <p:nvSpPr>
          <p:cNvPr id="448" name="Google Shape;448;p12"/>
          <p:cNvSpPr txBox="1"/>
          <p:nvPr/>
        </p:nvSpPr>
        <p:spPr>
          <a:xfrm>
            <a:off x="4892040" y="1764792"/>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Screen, render or AI footage</a:t>
            </a:r>
            <a:endParaRPr b="0" i="0" sz="1500" u="none" cap="none" strike="noStrike">
              <a:solidFill>
                <a:schemeClr val="dk1"/>
              </a:solidFill>
              <a:latin typeface="Calibri"/>
              <a:ea typeface="Calibri"/>
              <a:cs typeface="Calibri"/>
              <a:sym typeface="Calibri"/>
            </a:endParaRPr>
          </a:p>
        </p:txBody>
      </p:sp>
      <p:sp>
        <p:nvSpPr>
          <p:cNvPr id="449" name="Google Shape;449;p12"/>
          <p:cNvSpPr txBox="1"/>
          <p:nvPr/>
        </p:nvSpPr>
        <p:spPr>
          <a:xfrm>
            <a:off x="4892040" y="2084832"/>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Gemini checks each keyframe for a screen recording, a rendering or AI imagery.</a:t>
            </a:r>
            <a:endParaRPr b="0" i="0" sz="1200" u="none" cap="none" strike="noStrike">
              <a:solidFill>
                <a:schemeClr val="dk1"/>
              </a:solidFill>
              <a:latin typeface="Calibri"/>
              <a:ea typeface="Calibri"/>
              <a:cs typeface="Calibri"/>
              <a:sym typeface="Calibri"/>
            </a:endParaRPr>
          </a:p>
        </p:txBody>
      </p:sp>
      <p:sp>
        <p:nvSpPr>
          <p:cNvPr id="450" name="Google Shape;450;p12"/>
          <p:cNvSpPr/>
          <p:nvPr/>
        </p:nvSpPr>
        <p:spPr>
          <a:xfrm>
            <a:off x="548640" y="3081528"/>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2"/>
          <p:cNvSpPr/>
          <p:nvPr/>
        </p:nvSpPr>
        <p:spPr>
          <a:xfrm>
            <a:off x="731520" y="3282696"/>
            <a:ext cx="502920" cy="50292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2" name="Google Shape;452;p12"/>
          <p:cNvPicPr preferRelativeResize="0"/>
          <p:nvPr/>
        </p:nvPicPr>
        <p:blipFill rotWithShape="1">
          <a:blip r:embed="rId6">
            <a:alphaModFix/>
          </a:blip>
          <a:srcRect b="0" l="0" r="0" t="0"/>
          <a:stretch/>
        </p:blipFill>
        <p:spPr>
          <a:xfrm>
            <a:off x="857250" y="3408426"/>
            <a:ext cx="251460" cy="251460"/>
          </a:xfrm>
          <a:prstGeom prst="rect">
            <a:avLst/>
          </a:prstGeom>
          <a:noFill/>
          <a:ln>
            <a:noFill/>
          </a:ln>
        </p:spPr>
      </p:pic>
      <p:sp>
        <p:nvSpPr>
          <p:cNvPr id="453" name="Google Shape;453;p12"/>
          <p:cNvSpPr txBox="1"/>
          <p:nvPr/>
        </p:nvSpPr>
        <p:spPr>
          <a:xfrm>
            <a:off x="1371600" y="3246120"/>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Low-quality frames</a:t>
            </a:r>
            <a:endParaRPr b="0" i="0" sz="1500" u="none" cap="none" strike="noStrike">
              <a:solidFill>
                <a:schemeClr val="dk1"/>
              </a:solidFill>
              <a:latin typeface="Calibri"/>
              <a:ea typeface="Calibri"/>
              <a:cs typeface="Calibri"/>
              <a:sym typeface="Calibri"/>
            </a:endParaRPr>
          </a:p>
        </p:txBody>
      </p:sp>
      <p:sp>
        <p:nvSpPr>
          <p:cNvPr id="454" name="Google Shape;454;p12"/>
          <p:cNvSpPr txBox="1"/>
          <p:nvPr/>
        </p:nvSpPr>
        <p:spPr>
          <a:xfrm>
            <a:off x="1371600" y="3566160"/>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Blurred frames are dropped; low-resolution keyframes stay Needs review.</a:t>
            </a:r>
            <a:endParaRPr b="0" i="0" sz="1200" u="none" cap="none" strike="noStrike">
              <a:solidFill>
                <a:schemeClr val="dk1"/>
              </a:solidFill>
              <a:latin typeface="Calibri"/>
              <a:ea typeface="Calibri"/>
              <a:cs typeface="Calibri"/>
              <a:sym typeface="Calibri"/>
            </a:endParaRPr>
          </a:p>
        </p:txBody>
      </p:sp>
      <p:sp>
        <p:nvSpPr>
          <p:cNvPr id="455" name="Google Shape;455;p12"/>
          <p:cNvSpPr/>
          <p:nvPr/>
        </p:nvSpPr>
        <p:spPr>
          <a:xfrm>
            <a:off x="4069080" y="3081528"/>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2"/>
          <p:cNvSpPr/>
          <p:nvPr/>
        </p:nvSpPr>
        <p:spPr>
          <a:xfrm>
            <a:off x="4251960" y="3282696"/>
            <a:ext cx="502920" cy="50292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7" name="Google Shape;457;p12"/>
          <p:cNvPicPr preferRelativeResize="0"/>
          <p:nvPr/>
        </p:nvPicPr>
        <p:blipFill rotWithShape="1">
          <a:blip r:embed="rId5">
            <a:alphaModFix/>
          </a:blip>
          <a:srcRect b="0" l="0" r="0" t="0"/>
          <a:stretch/>
        </p:blipFill>
        <p:spPr>
          <a:xfrm>
            <a:off x="4377690" y="3408426"/>
            <a:ext cx="251460" cy="251460"/>
          </a:xfrm>
          <a:prstGeom prst="rect">
            <a:avLst/>
          </a:prstGeom>
          <a:noFill/>
          <a:ln>
            <a:noFill/>
          </a:ln>
        </p:spPr>
      </p:pic>
      <p:sp>
        <p:nvSpPr>
          <p:cNvPr id="458" name="Google Shape;458;p12"/>
          <p:cNvSpPr txBox="1"/>
          <p:nvPr/>
        </p:nvSpPr>
        <p:spPr>
          <a:xfrm>
            <a:off x="4892040" y="3246120"/>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Traceable evidence</a:t>
            </a:r>
            <a:endParaRPr b="0" i="0" sz="1500" u="none" cap="none" strike="noStrike">
              <a:solidFill>
                <a:schemeClr val="dk1"/>
              </a:solidFill>
              <a:latin typeface="Calibri"/>
              <a:ea typeface="Calibri"/>
              <a:cs typeface="Calibri"/>
              <a:sym typeface="Calibri"/>
            </a:endParaRPr>
          </a:p>
        </p:txBody>
      </p:sp>
      <p:sp>
        <p:nvSpPr>
          <p:cNvPr id="459" name="Google Shape;459;p12"/>
          <p:cNvSpPr txBox="1"/>
          <p:nvPr/>
        </p:nvSpPr>
        <p:spPr>
          <a:xfrm>
            <a:off x="4892040" y="3566160"/>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Every finding keeps its keyframe, close-up, wall and video time.</a:t>
            </a:r>
            <a:endParaRPr b="0" i="0" sz="1200" u="none" cap="none" strike="noStrike">
              <a:solidFill>
                <a:schemeClr val="dk1"/>
              </a:solidFill>
              <a:latin typeface="Calibri"/>
              <a:ea typeface="Calibri"/>
              <a:cs typeface="Calibri"/>
              <a:sym typeface="Calibri"/>
            </a:endParaRPr>
          </a:p>
        </p:txBody>
      </p:sp>
      <p:sp>
        <p:nvSpPr>
          <p:cNvPr id="460" name="Google Shape;460;p12"/>
          <p:cNvSpPr/>
          <p:nvPr/>
        </p:nvSpPr>
        <p:spPr>
          <a:xfrm>
            <a:off x="548640" y="4562856"/>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2"/>
          <p:cNvSpPr/>
          <p:nvPr/>
        </p:nvSpPr>
        <p:spPr>
          <a:xfrm>
            <a:off x="731520" y="4764024"/>
            <a:ext cx="502920" cy="502920"/>
          </a:xfrm>
          <a:prstGeom prst="ellipse">
            <a:avLst/>
          </a:prstGeom>
          <a:solidFill>
            <a:schemeClr val="accent5"/>
          </a:solidFill>
          <a:ln cap="flat" cmpd="sng" w="1270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62" name="Google Shape;462;p12"/>
          <p:cNvPicPr preferRelativeResize="0"/>
          <p:nvPr/>
        </p:nvPicPr>
        <p:blipFill rotWithShape="1">
          <a:blip r:embed="rId4">
            <a:alphaModFix/>
          </a:blip>
          <a:srcRect b="0" l="0" r="0" t="0"/>
          <a:stretch/>
        </p:blipFill>
        <p:spPr>
          <a:xfrm>
            <a:off x="857250" y="4889754"/>
            <a:ext cx="251460" cy="251460"/>
          </a:xfrm>
          <a:prstGeom prst="rect">
            <a:avLst/>
          </a:prstGeom>
          <a:noFill/>
          <a:ln>
            <a:noFill/>
          </a:ln>
        </p:spPr>
      </p:pic>
      <p:sp>
        <p:nvSpPr>
          <p:cNvPr id="463" name="Google Shape;463;p12"/>
          <p:cNvSpPr txBox="1"/>
          <p:nvPr/>
        </p:nvSpPr>
        <p:spPr>
          <a:xfrm>
            <a:off x="1371600" y="4727448"/>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Unfilmed areas</a:t>
            </a:r>
            <a:endParaRPr b="0" i="0" sz="1500" u="none" cap="none" strike="noStrike">
              <a:solidFill>
                <a:schemeClr val="dk1"/>
              </a:solidFill>
              <a:latin typeface="Calibri"/>
              <a:ea typeface="Calibri"/>
              <a:cs typeface="Calibri"/>
              <a:sym typeface="Calibri"/>
            </a:endParaRPr>
          </a:p>
        </p:txBody>
      </p:sp>
      <p:sp>
        <p:nvSpPr>
          <p:cNvPr id="464" name="Google Shape;464;p12"/>
          <p:cNvSpPr txBox="1"/>
          <p:nvPr/>
        </p:nvSpPr>
        <p:spPr>
          <a:xfrm>
            <a:off x="1371600" y="5047488"/>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The coverage map names each wall and ceiling the video missed, to film again.</a:t>
            </a:r>
            <a:endParaRPr b="0" i="0" sz="1200" u="none" cap="none" strike="noStrike">
              <a:solidFill>
                <a:schemeClr val="dk1"/>
              </a:solidFill>
              <a:latin typeface="Calibri"/>
              <a:ea typeface="Calibri"/>
              <a:cs typeface="Calibri"/>
              <a:sym typeface="Calibri"/>
            </a:endParaRPr>
          </a:p>
        </p:txBody>
      </p:sp>
      <p:sp>
        <p:nvSpPr>
          <p:cNvPr id="465" name="Google Shape;465;p12"/>
          <p:cNvSpPr/>
          <p:nvPr/>
        </p:nvSpPr>
        <p:spPr>
          <a:xfrm>
            <a:off x="4069080" y="4562856"/>
            <a:ext cx="3337560" cy="1325880"/>
          </a:xfrm>
          <a:prstGeom prst="roundRect">
            <a:avLst>
              <a:gd fmla="val 827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2"/>
          <p:cNvSpPr/>
          <p:nvPr/>
        </p:nvSpPr>
        <p:spPr>
          <a:xfrm>
            <a:off x="4251960" y="4764024"/>
            <a:ext cx="502920" cy="502920"/>
          </a:xfrm>
          <a:prstGeom prst="ellipse">
            <a:avLst/>
          </a:prstGeom>
          <a:solidFill>
            <a:schemeClr val="accent3"/>
          </a:solidFill>
          <a:ln cap="flat" cmpd="sng" w="127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67" name="Google Shape;467;p12"/>
          <p:cNvPicPr preferRelativeResize="0"/>
          <p:nvPr/>
        </p:nvPicPr>
        <p:blipFill rotWithShape="1">
          <a:blip r:embed="rId8">
            <a:alphaModFix/>
          </a:blip>
          <a:srcRect b="0" l="0" r="0" t="0"/>
          <a:stretch/>
        </p:blipFill>
        <p:spPr>
          <a:xfrm>
            <a:off x="4377690" y="4889754"/>
            <a:ext cx="251460" cy="251460"/>
          </a:xfrm>
          <a:prstGeom prst="rect">
            <a:avLst/>
          </a:prstGeom>
          <a:noFill/>
          <a:ln>
            <a:noFill/>
          </a:ln>
        </p:spPr>
      </p:pic>
      <p:sp>
        <p:nvSpPr>
          <p:cNvPr id="468" name="Google Shape;468;p12"/>
          <p:cNvSpPr txBox="1"/>
          <p:nvPr/>
        </p:nvSpPr>
        <p:spPr>
          <a:xfrm>
            <a:off x="4892040" y="4727448"/>
            <a:ext cx="23774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Incomplete video coverage</a:t>
            </a:r>
            <a:endParaRPr b="0" i="0" sz="1500" u="none" cap="none" strike="noStrike">
              <a:solidFill>
                <a:schemeClr val="dk1"/>
              </a:solidFill>
              <a:latin typeface="Calibri"/>
              <a:ea typeface="Calibri"/>
              <a:cs typeface="Calibri"/>
              <a:sym typeface="Calibri"/>
            </a:endParaRPr>
          </a:p>
        </p:txBody>
      </p:sp>
      <p:sp>
        <p:nvSpPr>
          <p:cNvPr id="469" name="Google Shape;469;p12"/>
          <p:cNvSpPr txBox="1"/>
          <p:nvPr/>
        </p:nvSpPr>
        <p:spPr>
          <a:xfrm>
            <a:off x="4892040" y="5047488"/>
            <a:ext cx="237744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Under 60% AI-inspected surface → REFER: additional evidence required.</a:t>
            </a:r>
            <a:endParaRPr b="0" i="0" sz="1200" u="none" cap="none" strike="noStrike">
              <a:solidFill>
                <a:schemeClr val="dk1"/>
              </a:solidFill>
              <a:latin typeface="Calibri"/>
              <a:ea typeface="Calibri"/>
              <a:cs typeface="Calibri"/>
              <a:sym typeface="Calibri"/>
            </a:endParaRPr>
          </a:p>
        </p:txBody>
      </p:sp>
      <p:sp>
        <p:nvSpPr>
          <p:cNvPr id="470" name="Google Shape;470;p12"/>
          <p:cNvSpPr/>
          <p:nvPr/>
        </p:nvSpPr>
        <p:spPr>
          <a:xfrm>
            <a:off x="7736527" y="1563624"/>
            <a:ext cx="3957945" cy="2478024"/>
          </a:xfrm>
          <a:prstGeom prst="roundRect">
            <a:avLst>
              <a:gd fmla="val 3690"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integrity-panel" id="471" name="Google Shape;471;p12"/>
          <p:cNvPicPr preferRelativeResize="0"/>
          <p:nvPr/>
        </p:nvPicPr>
        <p:blipFill rotWithShape="1">
          <a:blip r:embed="rId9">
            <a:alphaModFix/>
          </a:blip>
          <a:srcRect b="0" l="0" r="0" t="0"/>
          <a:stretch/>
        </p:blipFill>
        <p:spPr>
          <a:xfrm>
            <a:off x="7773103" y="1600200"/>
            <a:ext cx="3884793" cy="2404872"/>
          </a:xfrm>
          <a:prstGeom prst="rect">
            <a:avLst/>
          </a:prstGeom>
          <a:noFill/>
          <a:ln>
            <a:noFill/>
          </a:ln>
        </p:spPr>
      </p:pic>
      <p:sp>
        <p:nvSpPr>
          <p:cNvPr id="472" name="Google Shape;472;p12"/>
          <p:cNvSpPr/>
          <p:nvPr/>
        </p:nvSpPr>
        <p:spPr>
          <a:xfrm>
            <a:off x="7772400" y="4206240"/>
            <a:ext cx="3886200" cy="1691640"/>
          </a:xfrm>
          <a:prstGeom prst="roundRect">
            <a:avLst>
              <a:gd fmla="val 6486" name="adj"/>
            </a:avLst>
          </a:prstGeom>
          <a:solidFill>
            <a:srgbClr val="2A1418"/>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2"/>
          <p:cNvSpPr txBox="1"/>
          <p:nvPr/>
        </p:nvSpPr>
        <p:spPr>
          <a:xfrm>
            <a:off x="8001000" y="4370832"/>
            <a:ext cx="347472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500"/>
              <a:buFont typeface="Calibri"/>
              <a:buNone/>
            </a:pPr>
            <a:r>
              <a:rPr b="1" i="0" lang="en-US" sz="1500" u="none" cap="none" strike="noStrike">
                <a:solidFill>
                  <a:schemeClr val="accent5"/>
                </a:solidFill>
                <a:latin typeface="Calibri"/>
                <a:ea typeface="Calibri"/>
                <a:cs typeface="Calibri"/>
                <a:sym typeface="Calibri"/>
              </a:rPr>
              <a:t>Any HIGH flag sends the case to</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accent5"/>
              </a:buClr>
              <a:buSzPts val="1500"/>
              <a:buFont typeface="Calibri"/>
              <a:buNone/>
            </a:pPr>
            <a:r>
              <a:rPr b="1" i="0" lang="en-US" sz="1500" u="none" cap="none" strike="noStrike">
                <a:solidFill>
                  <a:schemeClr val="accent5"/>
                </a:solidFill>
                <a:latin typeface="Calibri"/>
                <a:ea typeface="Calibri"/>
                <a:cs typeface="Calibri"/>
                <a:sym typeface="Calibri"/>
              </a:rPr>
              <a:t>REFER: evidence integrity</a:t>
            </a:r>
            <a:endParaRPr b="0" i="0" sz="1500" u="none" cap="none" strike="noStrike">
              <a:solidFill>
                <a:schemeClr val="dk1"/>
              </a:solidFill>
              <a:latin typeface="Calibri"/>
              <a:ea typeface="Calibri"/>
              <a:cs typeface="Calibri"/>
              <a:sym typeface="Calibri"/>
            </a:endParaRPr>
          </a:p>
        </p:txBody>
      </p:sp>
      <p:sp>
        <p:nvSpPr>
          <p:cNvPr id="474" name="Google Shape;474;p12"/>
          <p:cNvSpPr txBox="1"/>
          <p:nvPr/>
        </p:nvSpPr>
        <p:spPr>
          <a:xfrm>
            <a:off x="8001000" y="5029200"/>
            <a:ext cx="347472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A human reviews the case before it can go ahead: it stops recycled-video and wrong-property claims and loan files.</a:t>
            </a:r>
            <a:endParaRPr b="0" i="0" sz="1300" u="none" cap="none" strike="noStrike">
              <a:solidFill>
                <a:schemeClr val="dk1"/>
              </a:solidFill>
              <a:latin typeface="Calibri"/>
              <a:ea typeface="Calibri"/>
              <a:cs typeface="Calibri"/>
              <a:sym typeface="Calibri"/>
            </a:endParaRPr>
          </a:p>
        </p:txBody>
      </p:sp>
      <p:sp>
        <p:nvSpPr>
          <p:cNvPr id="475" name="Google Shape;475;p12"/>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sp>
        <p:nvSpPr>
          <p:cNvPr id="481" name="Google Shape;481;p13"/>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VIDEO → 3D DIGITAL TWIN</a:t>
            </a:r>
            <a:endParaRPr sz="1200"/>
          </a:p>
        </p:txBody>
      </p:sp>
      <p:sp>
        <p:nvSpPr>
          <p:cNvPr id="482" name="Google Shape;482;p13"/>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A phone video becomes a 3D model and floor plan</a:t>
            </a:r>
            <a:endParaRPr sz="3000"/>
          </a:p>
        </p:txBody>
      </p:sp>
      <p:sp>
        <p:nvSpPr>
          <p:cNvPr id="483" name="Google Shape;483;p13"/>
          <p:cNvSpPr/>
          <p:nvPr/>
        </p:nvSpPr>
        <p:spPr>
          <a:xfrm>
            <a:off x="512064" y="1482904"/>
            <a:ext cx="4279392" cy="3892193"/>
          </a:xfrm>
          <a:prstGeom prst="roundRect">
            <a:avLst>
              <a:gd fmla="val 2349"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lean-room-model" id="484" name="Google Shape;484;p13"/>
          <p:cNvPicPr preferRelativeResize="0"/>
          <p:nvPr/>
        </p:nvPicPr>
        <p:blipFill rotWithShape="1">
          <a:blip r:embed="rId3">
            <a:alphaModFix/>
          </a:blip>
          <a:srcRect b="0" l="0" r="0" t="0"/>
          <a:stretch/>
        </p:blipFill>
        <p:spPr>
          <a:xfrm>
            <a:off x="548640" y="1519480"/>
            <a:ext cx="4206240" cy="3819041"/>
          </a:xfrm>
          <a:prstGeom prst="rect">
            <a:avLst/>
          </a:prstGeom>
          <a:noFill/>
          <a:ln>
            <a:noFill/>
          </a:ln>
        </p:spPr>
      </p:pic>
      <p:sp>
        <p:nvSpPr>
          <p:cNvPr id="485" name="Google Shape;485;p13"/>
          <p:cNvSpPr/>
          <p:nvPr/>
        </p:nvSpPr>
        <p:spPr>
          <a:xfrm>
            <a:off x="658368" y="4954472"/>
            <a:ext cx="155448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13"/>
          <p:cNvSpPr txBox="1"/>
          <p:nvPr/>
        </p:nvSpPr>
        <p:spPr>
          <a:xfrm>
            <a:off x="658368" y="4954472"/>
            <a:ext cx="15544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Clean 3D model</a:t>
            </a:r>
            <a:endParaRPr b="0" i="0" sz="1100" u="none" cap="none" strike="noStrike">
              <a:solidFill>
                <a:schemeClr val="dk1"/>
              </a:solidFill>
              <a:latin typeface="Calibri"/>
              <a:ea typeface="Calibri"/>
              <a:cs typeface="Calibri"/>
              <a:sym typeface="Calibri"/>
            </a:endParaRPr>
          </a:p>
        </p:txBody>
      </p:sp>
      <p:sp>
        <p:nvSpPr>
          <p:cNvPr id="487" name="Google Shape;487;p13"/>
          <p:cNvSpPr/>
          <p:nvPr/>
        </p:nvSpPr>
        <p:spPr>
          <a:xfrm>
            <a:off x="4946904" y="1482694"/>
            <a:ext cx="2221992" cy="1880932"/>
          </a:xfrm>
          <a:prstGeom prst="roundRect">
            <a:avLst>
              <a:gd fmla="val 4861"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lam-model" id="488" name="Google Shape;488;p13"/>
          <p:cNvPicPr preferRelativeResize="0"/>
          <p:nvPr/>
        </p:nvPicPr>
        <p:blipFill rotWithShape="1">
          <a:blip r:embed="rId4">
            <a:alphaModFix/>
          </a:blip>
          <a:srcRect b="0" l="0" r="0" t="0"/>
          <a:stretch/>
        </p:blipFill>
        <p:spPr>
          <a:xfrm>
            <a:off x="4983480" y="1519270"/>
            <a:ext cx="2148840" cy="1807780"/>
          </a:xfrm>
          <a:prstGeom prst="rect">
            <a:avLst/>
          </a:prstGeom>
          <a:noFill/>
          <a:ln>
            <a:noFill/>
          </a:ln>
        </p:spPr>
      </p:pic>
      <p:sp>
        <p:nvSpPr>
          <p:cNvPr id="489" name="Google Shape;489;p13"/>
          <p:cNvSpPr/>
          <p:nvPr/>
        </p:nvSpPr>
        <p:spPr>
          <a:xfrm>
            <a:off x="5056632" y="2979578"/>
            <a:ext cx="160020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13"/>
          <p:cNvSpPr txBox="1"/>
          <p:nvPr/>
        </p:nvSpPr>
        <p:spPr>
          <a:xfrm>
            <a:off x="5056632" y="2979578"/>
            <a:ext cx="16002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SLAM model + path</a:t>
            </a:r>
            <a:endParaRPr b="0" i="0" sz="1100" u="none" cap="none" strike="noStrike">
              <a:solidFill>
                <a:schemeClr val="dk1"/>
              </a:solidFill>
              <a:latin typeface="Calibri"/>
              <a:ea typeface="Calibri"/>
              <a:cs typeface="Calibri"/>
              <a:sym typeface="Calibri"/>
            </a:endParaRPr>
          </a:p>
        </p:txBody>
      </p:sp>
      <p:sp>
        <p:nvSpPr>
          <p:cNvPr id="491" name="Google Shape;491;p13"/>
          <p:cNvSpPr/>
          <p:nvPr/>
        </p:nvSpPr>
        <p:spPr>
          <a:xfrm>
            <a:off x="7536851" y="1472184"/>
            <a:ext cx="1659818" cy="1901952"/>
          </a:xfrm>
          <a:prstGeom prst="roundRect">
            <a:avLst>
              <a:gd fmla="val 5509"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op-view" id="492" name="Google Shape;492;p13"/>
          <p:cNvPicPr preferRelativeResize="0"/>
          <p:nvPr/>
        </p:nvPicPr>
        <p:blipFill rotWithShape="1">
          <a:blip r:embed="rId5">
            <a:alphaModFix/>
          </a:blip>
          <a:srcRect b="0" l="0" r="0" t="0"/>
          <a:stretch/>
        </p:blipFill>
        <p:spPr>
          <a:xfrm>
            <a:off x="7573427" y="1508760"/>
            <a:ext cx="1586666" cy="1828800"/>
          </a:xfrm>
          <a:prstGeom prst="rect">
            <a:avLst/>
          </a:prstGeom>
          <a:noFill/>
          <a:ln>
            <a:noFill/>
          </a:ln>
        </p:spPr>
      </p:pic>
      <p:sp>
        <p:nvSpPr>
          <p:cNvPr id="493" name="Google Shape;493;p13"/>
          <p:cNvSpPr/>
          <p:nvPr/>
        </p:nvSpPr>
        <p:spPr>
          <a:xfrm>
            <a:off x="7646579" y="2990088"/>
            <a:ext cx="91440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13"/>
          <p:cNvSpPr txBox="1"/>
          <p:nvPr/>
        </p:nvSpPr>
        <p:spPr>
          <a:xfrm>
            <a:off x="7646579" y="2990088"/>
            <a:ext cx="9144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Top view</a:t>
            </a:r>
            <a:endParaRPr b="0" i="0" sz="1100" u="none" cap="none" strike="noStrike">
              <a:solidFill>
                <a:schemeClr val="dk1"/>
              </a:solidFill>
              <a:latin typeface="Calibri"/>
              <a:ea typeface="Calibri"/>
              <a:cs typeface="Calibri"/>
              <a:sym typeface="Calibri"/>
            </a:endParaRPr>
          </a:p>
        </p:txBody>
      </p:sp>
      <p:sp>
        <p:nvSpPr>
          <p:cNvPr id="495" name="Google Shape;495;p13"/>
          <p:cNvSpPr/>
          <p:nvPr/>
        </p:nvSpPr>
        <p:spPr>
          <a:xfrm>
            <a:off x="9518904" y="1602694"/>
            <a:ext cx="2176272" cy="1640932"/>
          </a:xfrm>
          <a:prstGeom prst="roundRect">
            <a:avLst>
              <a:gd fmla="val 5572"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loor-plan" id="496" name="Google Shape;496;p13"/>
          <p:cNvPicPr preferRelativeResize="0"/>
          <p:nvPr/>
        </p:nvPicPr>
        <p:blipFill rotWithShape="1">
          <a:blip r:embed="rId6">
            <a:alphaModFix/>
          </a:blip>
          <a:srcRect b="0" l="0" r="0" t="0"/>
          <a:stretch/>
        </p:blipFill>
        <p:spPr>
          <a:xfrm>
            <a:off x="9555480" y="1639270"/>
            <a:ext cx="2103120" cy="1567780"/>
          </a:xfrm>
          <a:prstGeom prst="rect">
            <a:avLst/>
          </a:prstGeom>
          <a:noFill/>
          <a:ln>
            <a:noFill/>
          </a:ln>
        </p:spPr>
      </p:pic>
      <p:sp>
        <p:nvSpPr>
          <p:cNvPr id="497" name="Google Shape;497;p13"/>
          <p:cNvSpPr/>
          <p:nvPr/>
        </p:nvSpPr>
        <p:spPr>
          <a:xfrm>
            <a:off x="9628632" y="2859578"/>
            <a:ext cx="100584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13"/>
          <p:cNvSpPr txBox="1"/>
          <p:nvPr/>
        </p:nvSpPr>
        <p:spPr>
          <a:xfrm>
            <a:off x="9628632" y="2859578"/>
            <a:ext cx="10058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Floor plan</a:t>
            </a:r>
            <a:endParaRPr b="0" i="0" sz="1100" u="none" cap="none" strike="noStrike">
              <a:solidFill>
                <a:schemeClr val="dk1"/>
              </a:solidFill>
              <a:latin typeface="Calibri"/>
              <a:ea typeface="Calibri"/>
              <a:cs typeface="Calibri"/>
              <a:sym typeface="Calibri"/>
            </a:endParaRPr>
          </a:p>
        </p:txBody>
      </p:sp>
      <p:sp>
        <p:nvSpPr>
          <p:cNvPr id="499" name="Google Shape;499;p13"/>
          <p:cNvSpPr/>
          <p:nvPr/>
        </p:nvSpPr>
        <p:spPr>
          <a:xfrm>
            <a:off x="5126561" y="3483864"/>
            <a:ext cx="1862678" cy="1901952"/>
          </a:xfrm>
          <a:prstGeom prst="roundRect">
            <a:avLst>
              <a:gd fmla="val 4909"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objects" id="500" name="Google Shape;500;p13"/>
          <p:cNvPicPr preferRelativeResize="0"/>
          <p:nvPr/>
        </p:nvPicPr>
        <p:blipFill rotWithShape="1">
          <a:blip r:embed="rId7">
            <a:alphaModFix/>
          </a:blip>
          <a:srcRect b="0" l="0" r="0" t="0"/>
          <a:stretch/>
        </p:blipFill>
        <p:spPr>
          <a:xfrm>
            <a:off x="5163137" y="3520440"/>
            <a:ext cx="1789526" cy="1828800"/>
          </a:xfrm>
          <a:prstGeom prst="rect">
            <a:avLst/>
          </a:prstGeom>
          <a:noFill/>
          <a:ln>
            <a:noFill/>
          </a:ln>
        </p:spPr>
      </p:pic>
      <p:sp>
        <p:nvSpPr>
          <p:cNvPr id="501" name="Google Shape;501;p13"/>
          <p:cNvSpPr/>
          <p:nvPr/>
        </p:nvSpPr>
        <p:spPr>
          <a:xfrm>
            <a:off x="5236289" y="5001768"/>
            <a:ext cx="178308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3"/>
          <p:cNvSpPr txBox="1"/>
          <p:nvPr/>
        </p:nvSpPr>
        <p:spPr>
          <a:xfrm>
            <a:off x="5236289" y="5001768"/>
            <a:ext cx="17830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Objects (Gemini names)</a:t>
            </a:r>
            <a:endParaRPr b="0" i="0" sz="1100" u="none" cap="none" strike="noStrike">
              <a:solidFill>
                <a:schemeClr val="dk1"/>
              </a:solidFill>
              <a:latin typeface="Calibri"/>
              <a:ea typeface="Calibri"/>
              <a:cs typeface="Calibri"/>
              <a:sym typeface="Calibri"/>
            </a:endParaRPr>
          </a:p>
        </p:txBody>
      </p:sp>
      <p:sp>
        <p:nvSpPr>
          <p:cNvPr id="503" name="Google Shape;503;p13"/>
          <p:cNvSpPr/>
          <p:nvPr/>
        </p:nvSpPr>
        <p:spPr>
          <a:xfrm>
            <a:off x="7324344" y="3688141"/>
            <a:ext cx="2084832" cy="1493398"/>
          </a:xfrm>
          <a:prstGeom prst="roundRect">
            <a:avLst>
              <a:gd fmla="val 6123"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ide-view" id="504" name="Google Shape;504;p13"/>
          <p:cNvPicPr preferRelativeResize="0"/>
          <p:nvPr/>
        </p:nvPicPr>
        <p:blipFill rotWithShape="1">
          <a:blip r:embed="rId8">
            <a:alphaModFix/>
          </a:blip>
          <a:srcRect b="0" l="0" r="0" t="0"/>
          <a:stretch/>
        </p:blipFill>
        <p:spPr>
          <a:xfrm>
            <a:off x="7360920" y="3724717"/>
            <a:ext cx="2011680" cy="1420246"/>
          </a:xfrm>
          <a:prstGeom prst="rect">
            <a:avLst/>
          </a:prstGeom>
          <a:noFill/>
          <a:ln>
            <a:noFill/>
          </a:ln>
        </p:spPr>
      </p:pic>
      <p:sp>
        <p:nvSpPr>
          <p:cNvPr id="505" name="Google Shape;505;p13"/>
          <p:cNvSpPr/>
          <p:nvPr/>
        </p:nvSpPr>
        <p:spPr>
          <a:xfrm>
            <a:off x="7434072" y="4797491"/>
            <a:ext cx="91440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3"/>
          <p:cNvSpPr txBox="1"/>
          <p:nvPr/>
        </p:nvSpPr>
        <p:spPr>
          <a:xfrm>
            <a:off x="7434072" y="4797491"/>
            <a:ext cx="9144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Side view</a:t>
            </a:r>
            <a:endParaRPr b="0" i="0" sz="1100" u="none" cap="none" strike="noStrike">
              <a:solidFill>
                <a:schemeClr val="dk1"/>
              </a:solidFill>
              <a:latin typeface="Calibri"/>
              <a:ea typeface="Calibri"/>
              <a:cs typeface="Calibri"/>
              <a:sym typeface="Calibri"/>
            </a:endParaRPr>
          </a:p>
        </p:txBody>
      </p:sp>
      <p:sp>
        <p:nvSpPr>
          <p:cNvPr id="507" name="Google Shape;507;p13"/>
          <p:cNvSpPr/>
          <p:nvPr/>
        </p:nvSpPr>
        <p:spPr>
          <a:xfrm>
            <a:off x="9518904" y="3615903"/>
            <a:ext cx="2176272" cy="1637873"/>
          </a:xfrm>
          <a:prstGeom prst="roundRect">
            <a:avLst>
              <a:gd fmla="val 5583"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navigation-map" id="508" name="Google Shape;508;p13"/>
          <p:cNvPicPr preferRelativeResize="0"/>
          <p:nvPr/>
        </p:nvPicPr>
        <p:blipFill rotWithShape="1">
          <a:blip r:embed="rId9">
            <a:alphaModFix/>
          </a:blip>
          <a:srcRect b="0" l="0" r="0" t="0"/>
          <a:stretch/>
        </p:blipFill>
        <p:spPr>
          <a:xfrm>
            <a:off x="9555480" y="3652479"/>
            <a:ext cx="2103120" cy="1564721"/>
          </a:xfrm>
          <a:prstGeom prst="rect">
            <a:avLst/>
          </a:prstGeom>
          <a:noFill/>
          <a:ln>
            <a:noFill/>
          </a:ln>
        </p:spPr>
      </p:pic>
      <p:sp>
        <p:nvSpPr>
          <p:cNvPr id="509" name="Google Shape;509;p13"/>
          <p:cNvSpPr/>
          <p:nvPr/>
        </p:nvSpPr>
        <p:spPr>
          <a:xfrm>
            <a:off x="9628632" y="4869729"/>
            <a:ext cx="132588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3"/>
          <p:cNvSpPr txBox="1"/>
          <p:nvPr/>
        </p:nvSpPr>
        <p:spPr>
          <a:xfrm>
            <a:off x="9628632" y="4869729"/>
            <a:ext cx="1325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Navigation map</a:t>
            </a:r>
            <a:endParaRPr b="0" i="0" sz="1100" u="none" cap="none" strike="noStrike">
              <a:solidFill>
                <a:schemeClr val="dk1"/>
              </a:solidFill>
              <a:latin typeface="Calibri"/>
              <a:ea typeface="Calibri"/>
              <a:cs typeface="Calibri"/>
              <a:sym typeface="Calibri"/>
            </a:endParaRPr>
          </a:p>
        </p:txBody>
      </p:sp>
      <p:sp>
        <p:nvSpPr>
          <p:cNvPr id="511" name="Google Shape;511;p13"/>
          <p:cNvSpPr txBox="1"/>
          <p:nvPr/>
        </p:nvSpPr>
        <p:spPr>
          <a:xfrm>
            <a:off x="548640" y="5440680"/>
            <a:ext cx="11109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300"/>
              <a:buFont typeface="Calibri"/>
              <a:buNone/>
            </a:pPr>
            <a:r>
              <a:rPr b="1" i="0" lang="en-US" sz="1300" u="none" cap="none" strike="noStrike">
                <a:solidFill>
                  <a:srgbClr val="22D3EE"/>
                </a:solidFill>
                <a:latin typeface="Calibri"/>
                <a:ea typeface="Calibri"/>
                <a:cs typeface="Calibri"/>
                <a:sym typeface="Calibri"/>
              </a:rPr>
              <a:t>Depth Anything 3 </a:t>
            </a:r>
            <a:r>
              <a:rPr b="0" i="0" lang="en-US" sz="1300" u="none" cap="none" strike="noStrike">
                <a:solidFill>
                  <a:schemeClr val="dk1"/>
                </a:solidFill>
                <a:latin typeface="Calibri"/>
                <a:ea typeface="Calibri"/>
                <a:cs typeface="Calibri"/>
                <a:sym typeface="Calibri"/>
              </a:rPr>
              <a:t>depth per frame  →  </a:t>
            </a:r>
            <a:r>
              <a:rPr b="1" i="0" lang="en-US" sz="1300" u="none" cap="none" strike="noStrike">
                <a:solidFill>
                  <a:srgbClr val="22D3EE"/>
                </a:solidFill>
                <a:latin typeface="Calibri"/>
                <a:ea typeface="Calibri"/>
                <a:cs typeface="Calibri"/>
                <a:sym typeface="Calibri"/>
              </a:rPr>
              <a:t>OpenCV 5 SLAM </a:t>
            </a:r>
            <a:r>
              <a:rPr b="0" i="0" lang="en-US" sz="1300" u="none" cap="none" strike="noStrike">
                <a:solidFill>
                  <a:schemeClr val="dk1"/>
                </a:solidFill>
                <a:latin typeface="Calibri"/>
                <a:ea typeface="Calibri"/>
                <a:cs typeface="Calibri"/>
                <a:sym typeface="Calibri"/>
              </a:rPr>
              <a:t>poses  →  </a:t>
            </a:r>
            <a:r>
              <a:rPr b="1" i="0" lang="en-US" sz="1300" u="none" cap="none" strike="noStrike">
                <a:solidFill>
                  <a:srgbClr val="22D3EE"/>
                </a:solidFill>
                <a:latin typeface="Calibri"/>
                <a:ea typeface="Calibri"/>
                <a:cs typeface="Calibri"/>
                <a:sym typeface="Calibri"/>
              </a:rPr>
              <a:t>Open3D TSDF </a:t>
            </a:r>
            <a:r>
              <a:rPr b="0" i="0" lang="en-US" sz="1300" u="none" cap="none" strike="noStrike">
                <a:solidFill>
                  <a:schemeClr val="dk1"/>
                </a:solidFill>
                <a:latin typeface="Calibri"/>
                <a:ea typeface="Calibri"/>
                <a:cs typeface="Calibri"/>
                <a:sym typeface="Calibri"/>
              </a:rPr>
              <a:t>surface  →  walls, floor, ceiling, doors  →  </a:t>
            </a:r>
            <a:r>
              <a:rPr b="1" i="0" lang="en-US" sz="1300" u="none" cap="none" strike="noStrike">
                <a:solidFill>
                  <a:srgbClr val="22D3EE"/>
                </a:solidFill>
                <a:latin typeface="Calibri"/>
                <a:ea typeface="Calibri"/>
                <a:cs typeface="Calibri"/>
                <a:sym typeface="Calibri"/>
              </a:rPr>
              <a:t>objects named by Gemini</a:t>
            </a:r>
            <a:endParaRPr b="0" i="0" sz="1300" u="none" cap="none" strike="noStrike">
              <a:solidFill>
                <a:schemeClr val="dk1"/>
              </a:solidFill>
              <a:latin typeface="Calibri"/>
              <a:ea typeface="Calibri"/>
              <a:cs typeface="Calibri"/>
              <a:sym typeface="Calibri"/>
            </a:endParaRPr>
          </a:p>
        </p:txBody>
      </p:sp>
      <p:sp>
        <p:nvSpPr>
          <p:cNvPr id="512" name="Google Shape;512;p13"/>
          <p:cNvSpPr txBox="1"/>
          <p:nvPr/>
        </p:nvSpPr>
        <p:spPr>
          <a:xfrm>
            <a:off x="548640" y="5852160"/>
            <a:ext cx="111099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Outputs: clean and SLAM GLB models, floor plan (PNG + SVG) with room areas, occupancy and navigation maps, in approximate metres</a:t>
            </a:r>
            <a:endParaRPr b="0" i="0" sz="1200" u="none" cap="none" strike="noStrike">
              <a:solidFill>
                <a:schemeClr val="dk1"/>
              </a:solidFill>
              <a:latin typeface="Calibri"/>
              <a:ea typeface="Calibri"/>
              <a:cs typeface="Calibri"/>
              <a:sym typeface="Calibri"/>
            </a:endParaRPr>
          </a:p>
        </p:txBody>
      </p:sp>
      <p:sp>
        <p:nvSpPr>
          <p:cNvPr id="513" name="Google Shape;513;p13"/>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14"/>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COVERAGE MAP: OUR KEY DIFFERENTIATOR</a:t>
            </a:r>
            <a:endParaRPr sz="1200"/>
          </a:p>
        </p:txBody>
      </p:sp>
      <p:sp>
        <p:nvSpPr>
          <p:cNvPr id="520" name="Google Shape;520;p14"/>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Proof of what was inspected, and what to film again</a:t>
            </a:r>
            <a:endParaRPr sz="3000"/>
          </a:p>
        </p:txBody>
      </p:sp>
      <p:sp>
        <p:nvSpPr>
          <p:cNvPr id="521" name="Google Shape;521;p14"/>
          <p:cNvSpPr/>
          <p:nvPr/>
        </p:nvSpPr>
        <p:spPr>
          <a:xfrm>
            <a:off x="513779" y="1563624"/>
            <a:ext cx="2675763" cy="4599432"/>
          </a:xfrm>
          <a:prstGeom prst="roundRect">
            <a:avLst>
              <a:gd fmla="val 3417"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overage-map" id="522" name="Google Shape;522;p14"/>
          <p:cNvPicPr preferRelativeResize="0"/>
          <p:nvPr/>
        </p:nvPicPr>
        <p:blipFill rotWithShape="1">
          <a:blip r:embed="rId3">
            <a:alphaModFix/>
          </a:blip>
          <a:srcRect b="0" l="0" r="0" t="0"/>
          <a:stretch/>
        </p:blipFill>
        <p:spPr>
          <a:xfrm>
            <a:off x="550355" y="1600200"/>
            <a:ext cx="2602611" cy="4526280"/>
          </a:xfrm>
          <a:prstGeom prst="rect">
            <a:avLst/>
          </a:prstGeom>
          <a:noFill/>
          <a:ln>
            <a:noFill/>
          </a:ln>
        </p:spPr>
      </p:pic>
      <p:sp>
        <p:nvSpPr>
          <p:cNvPr id="523" name="Google Shape;523;p14"/>
          <p:cNvSpPr/>
          <p:nvPr/>
        </p:nvSpPr>
        <p:spPr>
          <a:xfrm>
            <a:off x="3394176" y="1563624"/>
            <a:ext cx="4550209" cy="4562856"/>
          </a:xfrm>
          <a:prstGeom prst="roundRect">
            <a:avLst>
              <a:gd fmla="val 2010"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overage-panel" id="524" name="Google Shape;524;p14"/>
          <p:cNvPicPr preferRelativeResize="0"/>
          <p:nvPr/>
        </p:nvPicPr>
        <p:blipFill rotWithShape="1">
          <a:blip r:embed="rId4">
            <a:alphaModFix/>
          </a:blip>
          <a:srcRect b="0" l="0" r="0" t="0"/>
          <a:stretch/>
        </p:blipFill>
        <p:spPr>
          <a:xfrm>
            <a:off x="3430752" y="1600200"/>
            <a:ext cx="4477057" cy="4489704"/>
          </a:xfrm>
          <a:prstGeom prst="rect">
            <a:avLst/>
          </a:prstGeom>
          <a:noFill/>
          <a:ln>
            <a:noFill/>
          </a:ln>
        </p:spPr>
      </p:pic>
      <p:sp>
        <p:nvSpPr>
          <p:cNvPr id="525" name="Google Shape;525;p14"/>
          <p:cNvSpPr/>
          <p:nvPr/>
        </p:nvSpPr>
        <p:spPr>
          <a:xfrm>
            <a:off x="8183880" y="1600200"/>
            <a:ext cx="457200" cy="45720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26" name="Google Shape;526;p14"/>
          <p:cNvPicPr preferRelativeResize="0"/>
          <p:nvPr/>
        </p:nvPicPr>
        <p:blipFill rotWithShape="1">
          <a:blip r:embed="rId5">
            <a:alphaModFix/>
          </a:blip>
          <a:srcRect b="0" l="0" r="0" t="0"/>
          <a:stretch/>
        </p:blipFill>
        <p:spPr>
          <a:xfrm>
            <a:off x="8298180" y="1714500"/>
            <a:ext cx="228600" cy="228600"/>
          </a:xfrm>
          <a:prstGeom prst="rect">
            <a:avLst/>
          </a:prstGeom>
          <a:noFill/>
          <a:ln>
            <a:noFill/>
          </a:ln>
        </p:spPr>
      </p:pic>
      <p:sp>
        <p:nvSpPr>
          <p:cNvPr id="527" name="Google Shape;527;p14"/>
          <p:cNvSpPr txBox="1"/>
          <p:nvPr/>
        </p:nvSpPr>
        <p:spPr>
          <a:xfrm>
            <a:off x="8778240" y="1600200"/>
            <a:ext cx="28803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Every 10 cm of surface</a:t>
            </a:r>
            <a:endParaRPr b="0" i="0" sz="1500" u="none" cap="none" strike="noStrike">
              <a:solidFill>
                <a:schemeClr val="dk1"/>
              </a:solidFill>
              <a:latin typeface="Calibri"/>
              <a:ea typeface="Calibri"/>
              <a:cs typeface="Calibri"/>
              <a:sym typeface="Calibri"/>
            </a:endParaRPr>
          </a:p>
        </p:txBody>
      </p:sp>
      <p:sp>
        <p:nvSpPr>
          <p:cNvPr id="528" name="Google Shape;528;p14"/>
          <p:cNvSpPr txBox="1"/>
          <p:nvPr/>
        </p:nvSpPr>
        <p:spPr>
          <a:xfrm>
            <a:off x="8778240" y="1901952"/>
            <a:ext cx="2880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is checked against every frame's depth: seen, inspectable (close and frontal) or AI-inspected.</a:t>
            </a:r>
            <a:endParaRPr b="0" i="0" sz="1200" u="none" cap="none" strike="noStrike">
              <a:solidFill>
                <a:schemeClr val="dk1"/>
              </a:solidFill>
              <a:latin typeface="Calibri"/>
              <a:ea typeface="Calibri"/>
              <a:cs typeface="Calibri"/>
              <a:sym typeface="Calibri"/>
            </a:endParaRPr>
          </a:p>
        </p:txBody>
      </p:sp>
      <p:sp>
        <p:nvSpPr>
          <p:cNvPr id="529" name="Google Shape;529;p14"/>
          <p:cNvSpPr/>
          <p:nvPr/>
        </p:nvSpPr>
        <p:spPr>
          <a:xfrm>
            <a:off x="8183880" y="2743200"/>
            <a:ext cx="457200" cy="45720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0" name="Google Shape;530;p14"/>
          <p:cNvPicPr preferRelativeResize="0"/>
          <p:nvPr/>
        </p:nvPicPr>
        <p:blipFill rotWithShape="1">
          <a:blip r:embed="rId6">
            <a:alphaModFix/>
          </a:blip>
          <a:srcRect b="0" l="0" r="0" t="0"/>
          <a:stretch/>
        </p:blipFill>
        <p:spPr>
          <a:xfrm>
            <a:off x="8298180" y="2857500"/>
            <a:ext cx="228600" cy="228600"/>
          </a:xfrm>
          <a:prstGeom prst="rect">
            <a:avLst/>
          </a:prstGeom>
          <a:noFill/>
          <a:ln>
            <a:noFill/>
          </a:ln>
        </p:spPr>
      </p:pic>
      <p:sp>
        <p:nvSpPr>
          <p:cNvPr id="531" name="Google Shape;531;p14"/>
          <p:cNvSpPr txBox="1"/>
          <p:nvPr/>
        </p:nvSpPr>
        <p:spPr>
          <a:xfrm>
            <a:off x="8778240" y="2743200"/>
            <a:ext cx="28803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Smart AI keyframes</a:t>
            </a:r>
            <a:endParaRPr b="0" i="0" sz="1500" u="none" cap="none" strike="noStrike">
              <a:solidFill>
                <a:schemeClr val="dk1"/>
              </a:solidFill>
              <a:latin typeface="Calibri"/>
              <a:ea typeface="Calibri"/>
              <a:cs typeface="Calibri"/>
              <a:sym typeface="Calibri"/>
            </a:endParaRPr>
          </a:p>
        </p:txBody>
      </p:sp>
      <p:sp>
        <p:nvSpPr>
          <p:cNvPr id="532" name="Google Shape;532;p14"/>
          <p:cNvSpPr txBox="1"/>
          <p:nvPr/>
        </p:nvSpPr>
        <p:spPr>
          <a:xfrm>
            <a:off x="8778240" y="3044952"/>
            <a:ext cx="2880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A greedy set cover picks the fewest frames that cover the inspectable surface.</a:t>
            </a:r>
            <a:endParaRPr b="0" i="0" sz="1200" u="none" cap="none" strike="noStrike">
              <a:solidFill>
                <a:schemeClr val="dk1"/>
              </a:solidFill>
              <a:latin typeface="Calibri"/>
              <a:ea typeface="Calibri"/>
              <a:cs typeface="Calibri"/>
              <a:sym typeface="Calibri"/>
            </a:endParaRPr>
          </a:p>
        </p:txBody>
      </p:sp>
      <p:sp>
        <p:nvSpPr>
          <p:cNvPr id="533" name="Google Shape;533;p14"/>
          <p:cNvSpPr/>
          <p:nvPr/>
        </p:nvSpPr>
        <p:spPr>
          <a:xfrm>
            <a:off x="8183880" y="3886200"/>
            <a:ext cx="457200" cy="45720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4" name="Google Shape;534;p14"/>
          <p:cNvPicPr preferRelativeResize="0"/>
          <p:nvPr/>
        </p:nvPicPr>
        <p:blipFill rotWithShape="1">
          <a:blip r:embed="rId7">
            <a:alphaModFix/>
          </a:blip>
          <a:srcRect b="0" l="0" r="0" t="0"/>
          <a:stretch/>
        </p:blipFill>
        <p:spPr>
          <a:xfrm>
            <a:off x="8298180" y="4000500"/>
            <a:ext cx="228600" cy="228600"/>
          </a:xfrm>
          <a:prstGeom prst="rect">
            <a:avLst/>
          </a:prstGeom>
          <a:noFill/>
          <a:ln>
            <a:noFill/>
          </a:ln>
        </p:spPr>
      </p:pic>
      <p:sp>
        <p:nvSpPr>
          <p:cNvPr id="535" name="Google Shape;535;p14"/>
          <p:cNvSpPr txBox="1"/>
          <p:nvPr/>
        </p:nvSpPr>
        <p:spPr>
          <a:xfrm>
            <a:off x="8778240" y="3886200"/>
            <a:ext cx="28803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Findings pinned in 3D</a:t>
            </a:r>
            <a:endParaRPr b="0" i="0" sz="1500" u="none" cap="none" strike="noStrike">
              <a:solidFill>
                <a:schemeClr val="dk1"/>
              </a:solidFill>
              <a:latin typeface="Calibri"/>
              <a:ea typeface="Calibri"/>
              <a:cs typeface="Calibri"/>
              <a:sym typeface="Calibri"/>
            </a:endParaRPr>
          </a:p>
        </p:txBody>
      </p:sp>
      <p:sp>
        <p:nvSpPr>
          <p:cNvPr id="536" name="Google Shape;536;p14"/>
          <p:cNvSpPr txBox="1"/>
          <p:nvPr/>
        </p:nvSpPr>
        <p:spPr>
          <a:xfrm>
            <a:off x="8778240" y="4187952"/>
            <a:ext cx="2880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Each defect gets a wall and a time in the video, and is merged across frames.</a:t>
            </a:r>
            <a:endParaRPr b="0" i="0" sz="1200" u="none" cap="none" strike="noStrike">
              <a:solidFill>
                <a:schemeClr val="dk1"/>
              </a:solidFill>
              <a:latin typeface="Calibri"/>
              <a:ea typeface="Calibri"/>
              <a:cs typeface="Calibri"/>
              <a:sym typeface="Calibri"/>
            </a:endParaRPr>
          </a:p>
        </p:txBody>
      </p:sp>
      <p:sp>
        <p:nvSpPr>
          <p:cNvPr id="537" name="Google Shape;537;p14"/>
          <p:cNvSpPr/>
          <p:nvPr/>
        </p:nvSpPr>
        <p:spPr>
          <a:xfrm>
            <a:off x="8183880" y="5029200"/>
            <a:ext cx="457200" cy="457200"/>
          </a:xfrm>
          <a:prstGeom prst="ellipse">
            <a:avLst/>
          </a:prstGeom>
          <a:solidFill>
            <a:schemeClr val="accent4"/>
          </a:solidFill>
          <a:ln cap="flat" cmpd="sng" w="12700">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8" name="Google Shape;538;p14"/>
          <p:cNvPicPr preferRelativeResize="0"/>
          <p:nvPr/>
        </p:nvPicPr>
        <p:blipFill rotWithShape="1">
          <a:blip r:embed="rId8">
            <a:alphaModFix/>
          </a:blip>
          <a:srcRect b="0" l="0" r="0" t="0"/>
          <a:stretch/>
        </p:blipFill>
        <p:spPr>
          <a:xfrm>
            <a:off x="8298180" y="5143500"/>
            <a:ext cx="228600" cy="228600"/>
          </a:xfrm>
          <a:prstGeom prst="rect">
            <a:avLst/>
          </a:prstGeom>
          <a:noFill/>
          <a:ln>
            <a:noFill/>
          </a:ln>
        </p:spPr>
      </p:pic>
      <p:sp>
        <p:nvSpPr>
          <p:cNvPr id="539" name="Google Shape;539;p14"/>
          <p:cNvSpPr txBox="1"/>
          <p:nvPr/>
        </p:nvSpPr>
        <p:spPr>
          <a:xfrm>
            <a:off x="8778240" y="5029200"/>
            <a:ext cx="288036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Re-film list</a:t>
            </a:r>
            <a:endParaRPr b="0" i="0" sz="1500" u="none" cap="none" strike="noStrike">
              <a:solidFill>
                <a:schemeClr val="dk1"/>
              </a:solidFill>
              <a:latin typeface="Calibri"/>
              <a:ea typeface="Calibri"/>
              <a:cs typeface="Calibri"/>
              <a:sym typeface="Calibri"/>
            </a:endParaRPr>
          </a:p>
        </p:txBody>
      </p:sp>
      <p:sp>
        <p:nvSpPr>
          <p:cNvPr id="540" name="Google Shape;540;p14"/>
          <p:cNvSpPr txBox="1"/>
          <p:nvPr/>
        </p:nvSpPr>
        <p:spPr>
          <a:xfrm>
            <a:off x="8778240" y="5330952"/>
            <a:ext cx="288036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Below 60% AI-inspected → REFER, with the exact walls and ceilings to film again.</a:t>
            </a:r>
            <a:endParaRPr b="0" i="0" sz="1200" u="none" cap="none" strike="noStrike">
              <a:solidFill>
                <a:schemeClr val="dk1"/>
              </a:solidFill>
              <a:latin typeface="Calibri"/>
              <a:ea typeface="Calibri"/>
              <a:cs typeface="Calibri"/>
              <a:sym typeface="Calibri"/>
            </a:endParaRPr>
          </a:p>
        </p:txBody>
      </p:sp>
      <p:sp>
        <p:nvSpPr>
          <p:cNvPr id="541" name="Google Shape;541;p14"/>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15"/>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GEMINI ON VERTEX AI</a:t>
            </a:r>
            <a:endParaRPr sz="1200"/>
          </a:p>
        </p:txBody>
      </p:sp>
      <p:sp>
        <p:nvSpPr>
          <p:cNvPr id="548" name="Google Shape;548;p15"/>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Gemini works as the underwriter's co-pilot</a:t>
            </a:r>
            <a:endParaRPr sz="3000"/>
          </a:p>
        </p:txBody>
      </p:sp>
      <p:sp>
        <p:nvSpPr>
          <p:cNvPr id="549" name="Google Shape;549;p15"/>
          <p:cNvSpPr/>
          <p:nvPr/>
        </p:nvSpPr>
        <p:spPr>
          <a:xfrm>
            <a:off x="516592" y="1563624"/>
            <a:ext cx="6464895" cy="2916936"/>
          </a:xfrm>
          <a:prstGeom prst="roundRect">
            <a:avLst>
              <a:gd fmla="val 313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emini-analysis" id="550" name="Google Shape;550;p15"/>
          <p:cNvPicPr preferRelativeResize="0"/>
          <p:nvPr/>
        </p:nvPicPr>
        <p:blipFill rotWithShape="1">
          <a:blip r:embed="rId3">
            <a:alphaModFix/>
          </a:blip>
          <a:srcRect b="0" l="0" r="0" t="0"/>
          <a:stretch/>
        </p:blipFill>
        <p:spPr>
          <a:xfrm>
            <a:off x="553168" y="1600200"/>
            <a:ext cx="6391743" cy="2843784"/>
          </a:xfrm>
          <a:prstGeom prst="rect">
            <a:avLst/>
          </a:prstGeom>
          <a:noFill/>
          <a:ln>
            <a:noFill/>
          </a:ln>
        </p:spPr>
      </p:pic>
      <p:sp>
        <p:nvSpPr>
          <p:cNvPr id="551" name="Google Shape;551;p15"/>
          <p:cNvSpPr/>
          <p:nvPr/>
        </p:nvSpPr>
        <p:spPr>
          <a:xfrm>
            <a:off x="7232904" y="1564166"/>
            <a:ext cx="4462272" cy="3482779"/>
          </a:xfrm>
          <a:prstGeom prst="roundRect">
            <a:avLst>
              <a:gd fmla="val 262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ask-gemini" id="552" name="Google Shape;552;p15"/>
          <p:cNvPicPr preferRelativeResize="0"/>
          <p:nvPr/>
        </p:nvPicPr>
        <p:blipFill rotWithShape="1">
          <a:blip r:embed="rId4">
            <a:alphaModFix/>
          </a:blip>
          <a:srcRect b="0" l="0" r="0" t="0"/>
          <a:stretch/>
        </p:blipFill>
        <p:spPr>
          <a:xfrm>
            <a:off x="7269480" y="1600742"/>
            <a:ext cx="4389120" cy="3409627"/>
          </a:xfrm>
          <a:prstGeom prst="rect">
            <a:avLst/>
          </a:prstGeom>
          <a:noFill/>
          <a:ln>
            <a:noFill/>
          </a:ln>
        </p:spPr>
      </p:pic>
      <p:sp>
        <p:nvSpPr>
          <p:cNvPr id="553" name="Google Shape;553;p15"/>
          <p:cNvSpPr txBox="1"/>
          <p:nvPr/>
        </p:nvSpPr>
        <p:spPr>
          <a:xfrm>
            <a:off x="548640" y="4663440"/>
            <a:ext cx="31089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Property analysis</a:t>
            </a:r>
            <a:endParaRPr b="0" i="0" sz="1400" u="none" cap="none" strike="noStrike">
              <a:solidFill>
                <a:schemeClr val="dk1"/>
              </a:solidFill>
              <a:latin typeface="Calibri"/>
              <a:ea typeface="Calibri"/>
              <a:cs typeface="Calibri"/>
              <a:sym typeface="Calibri"/>
            </a:endParaRPr>
          </a:p>
        </p:txBody>
      </p:sp>
      <p:sp>
        <p:nvSpPr>
          <p:cNvPr id="554" name="Google Shape;554;p15"/>
          <p:cNvSpPr txBox="1"/>
          <p:nvPr/>
        </p:nvSpPr>
        <p:spPr>
          <a:xfrm>
            <a:off x="548640" y="4937760"/>
            <a:ext cx="31089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Summary, causes, action plan, insurance and lending views, and site-visit questions</a:t>
            </a:r>
            <a:endParaRPr b="0" i="0" sz="1200" u="none" cap="none" strike="noStrike">
              <a:solidFill>
                <a:schemeClr val="dk1"/>
              </a:solidFill>
              <a:latin typeface="Calibri"/>
              <a:ea typeface="Calibri"/>
              <a:cs typeface="Calibri"/>
              <a:sym typeface="Calibri"/>
            </a:endParaRPr>
          </a:p>
        </p:txBody>
      </p:sp>
      <p:sp>
        <p:nvSpPr>
          <p:cNvPr id="555" name="Google Shape;555;p15"/>
          <p:cNvSpPr txBox="1"/>
          <p:nvPr/>
        </p:nvSpPr>
        <p:spPr>
          <a:xfrm>
            <a:off x="3794760" y="4663440"/>
            <a:ext cx="31089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Grounded Q&amp;A</a:t>
            </a:r>
            <a:endParaRPr b="0" i="0" sz="1400" u="none" cap="none" strike="noStrike">
              <a:solidFill>
                <a:schemeClr val="dk1"/>
              </a:solidFill>
              <a:latin typeface="Calibri"/>
              <a:ea typeface="Calibri"/>
              <a:cs typeface="Calibri"/>
              <a:sym typeface="Calibri"/>
            </a:endParaRPr>
          </a:p>
        </p:txBody>
      </p:sp>
      <p:sp>
        <p:nvSpPr>
          <p:cNvPr id="556" name="Google Shape;556;p15"/>
          <p:cNvSpPr txBox="1"/>
          <p:nvPr/>
        </p:nvSpPr>
        <p:spPr>
          <a:xfrm>
            <a:off x="3794760" y="4937760"/>
            <a:ext cx="31089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Answers only from this inspection's findings, coverage and risk, and cites issue IDs</a:t>
            </a:r>
            <a:endParaRPr b="0" i="0" sz="1200" u="none" cap="none" strike="noStrike">
              <a:solidFill>
                <a:schemeClr val="dk1"/>
              </a:solidFill>
              <a:latin typeface="Calibri"/>
              <a:ea typeface="Calibri"/>
              <a:cs typeface="Calibri"/>
              <a:sym typeface="Calibri"/>
            </a:endParaRPr>
          </a:p>
        </p:txBody>
      </p:sp>
      <p:sp>
        <p:nvSpPr>
          <p:cNvPr id="557" name="Google Shape;557;p15"/>
          <p:cNvSpPr txBox="1"/>
          <p:nvPr/>
        </p:nvSpPr>
        <p:spPr>
          <a:xfrm>
            <a:off x="548640" y="5440680"/>
            <a:ext cx="31089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Scene and authenticity</a:t>
            </a:r>
            <a:endParaRPr b="0" i="0" sz="1400" u="none" cap="none" strike="noStrike">
              <a:solidFill>
                <a:schemeClr val="dk1"/>
              </a:solidFill>
              <a:latin typeface="Calibri"/>
              <a:ea typeface="Calibri"/>
              <a:cs typeface="Calibri"/>
              <a:sym typeface="Calibri"/>
            </a:endParaRPr>
          </a:p>
        </p:txBody>
      </p:sp>
      <p:sp>
        <p:nvSpPr>
          <p:cNvPr id="558" name="Google Shape;558;p15"/>
          <p:cNvSpPr txBox="1"/>
          <p:nvPr/>
        </p:nvSpPr>
        <p:spPr>
          <a:xfrm>
            <a:off x="548640" y="5715000"/>
            <a:ext cx="31089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Room type, visible components, and screen, render or AI-image detection</a:t>
            </a:r>
            <a:endParaRPr b="0" i="0" sz="1200" u="none" cap="none" strike="noStrike">
              <a:solidFill>
                <a:schemeClr val="dk1"/>
              </a:solidFill>
              <a:latin typeface="Calibri"/>
              <a:ea typeface="Calibri"/>
              <a:cs typeface="Calibri"/>
              <a:sym typeface="Calibri"/>
            </a:endParaRPr>
          </a:p>
        </p:txBody>
      </p:sp>
      <p:sp>
        <p:nvSpPr>
          <p:cNvPr id="559" name="Google Shape;559;p15"/>
          <p:cNvSpPr txBox="1"/>
          <p:nvPr/>
        </p:nvSpPr>
        <p:spPr>
          <a:xfrm>
            <a:off x="3794760" y="5440680"/>
            <a:ext cx="310896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400"/>
              <a:buFont typeface="Calibri"/>
              <a:buNone/>
            </a:pPr>
            <a:r>
              <a:rPr b="1" i="0" lang="en-US" sz="1400" u="none" cap="none" strike="noStrike">
                <a:solidFill>
                  <a:schemeClr val="accent2"/>
                </a:solidFill>
                <a:latin typeface="Calibri"/>
                <a:ea typeface="Calibri"/>
                <a:cs typeface="Calibri"/>
                <a:sym typeface="Calibri"/>
              </a:rPr>
              <a:t>3D object naming</a:t>
            </a:r>
            <a:endParaRPr b="0" i="0" sz="1400" u="none" cap="none" strike="noStrike">
              <a:solidFill>
                <a:schemeClr val="dk1"/>
              </a:solidFill>
              <a:latin typeface="Calibri"/>
              <a:ea typeface="Calibri"/>
              <a:cs typeface="Calibri"/>
              <a:sym typeface="Calibri"/>
            </a:endParaRPr>
          </a:p>
        </p:txBody>
      </p:sp>
      <p:sp>
        <p:nvSpPr>
          <p:cNvPr id="560" name="Google Shape;560;p15"/>
          <p:cNvSpPr txBox="1"/>
          <p:nvPr/>
        </p:nvSpPr>
        <p:spPr>
          <a:xfrm>
            <a:off x="3794760" y="5715000"/>
            <a:ext cx="31089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Names the furniture and fixtures segmented from the 3D model</a:t>
            </a:r>
            <a:endParaRPr b="0" i="0" sz="1200" u="none" cap="none" strike="noStrike">
              <a:solidFill>
                <a:schemeClr val="dk1"/>
              </a:solidFill>
              <a:latin typeface="Calibri"/>
              <a:ea typeface="Calibri"/>
              <a:cs typeface="Calibri"/>
              <a:sym typeface="Calibri"/>
            </a:endParaRPr>
          </a:p>
        </p:txBody>
      </p:sp>
      <p:sp>
        <p:nvSpPr>
          <p:cNvPr id="561" name="Google Shape;561;p15"/>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16"/>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PRODUCT EXPERIENCE</a:t>
            </a:r>
            <a:endParaRPr sz="1200"/>
          </a:p>
        </p:txBody>
      </p:sp>
      <p:sp>
        <p:nvSpPr>
          <p:cNvPr id="568" name="Google Shape;568;p16"/>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A product built for underwriters</a:t>
            </a:r>
            <a:endParaRPr sz="3000"/>
          </a:p>
        </p:txBody>
      </p:sp>
      <p:sp>
        <p:nvSpPr>
          <p:cNvPr id="569" name="Google Shape;569;p16"/>
          <p:cNvSpPr/>
          <p:nvPr/>
        </p:nvSpPr>
        <p:spPr>
          <a:xfrm>
            <a:off x="513569" y="1563624"/>
            <a:ext cx="6105182" cy="4261104"/>
          </a:xfrm>
          <a:prstGeom prst="roundRect">
            <a:avLst>
              <a:gd fmla="val 2146"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ashboard" id="570" name="Google Shape;570;p16"/>
          <p:cNvPicPr preferRelativeResize="0"/>
          <p:nvPr/>
        </p:nvPicPr>
        <p:blipFill rotWithShape="1">
          <a:blip r:embed="rId3">
            <a:alphaModFix/>
          </a:blip>
          <a:srcRect b="0" l="0" r="0" t="0"/>
          <a:stretch/>
        </p:blipFill>
        <p:spPr>
          <a:xfrm>
            <a:off x="550145" y="1600200"/>
            <a:ext cx="6032030" cy="4187952"/>
          </a:xfrm>
          <a:prstGeom prst="rect">
            <a:avLst/>
          </a:prstGeom>
          <a:noFill/>
          <a:ln>
            <a:noFill/>
          </a:ln>
        </p:spPr>
      </p:pic>
      <p:sp>
        <p:nvSpPr>
          <p:cNvPr id="571" name="Google Shape;571;p16"/>
          <p:cNvSpPr/>
          <p:nvPr/>
        </p:nvSpPr>
        <p:spPr>
          <a:xfrm>
            <a:off x="6821424" y="1565748"/>
            <a:ext cx="4873752" cy="3305879"/>
          </a:xfrm>
          <a:prstGeom prst="roundRect">
            <a:avLst>
              <a:gd fmla="val 2766"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walkthroughs" id="572" name="Google Shape;572;p16"/>
          <p:cNvPicPr preferRelativeResize="0"/>
          <p:nvPr/>
        </p:nvPicPr>
        <p:blipFill rotWithShape="1">
          <a:blip r:embed="rId4">
            <a:alphaModFix/>
          </a:blip>
          <a:srcRect b="0" l="0" r="0" t="0"/>
          <a:stretch/>
        </p:blipFill>
        <p:spPr>
          <a:xfrm>
            <a:off x="6858000" y="1602324"/>
            <a:ext cx="4800600" cy="3232727"/>
          </a:xfrm>
          <a:prstGeom prst="rect">
            <a:avLst/>
          </a:prstGeom>
          <a:noFill/>
          <a:ln>
            <a:noFill/>
          </a:ln>
        </p:spPr>
      </p:pic>
      <p:sp>
        <p:nvSpPr>
          <p:cNvPr id="573" name="Google Shape;573;p16"/>
          <p:cNvSpPr txBox="1"/>
          <p:nvPr/>
        </p:nvSpPr>
        <p:spPr>
          <a:xfrm>
            <a:off x="548640" y="5852160"/>
            <a:ext cx="6035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1" lang="en-US" sz="1200" u="none" cap="none" strike="noStrike">
                <a:solidFill>
                  <a:schemeClr val="dk2"/>
                </a:solidFill>
                <a:latin typeface="Calibri"/>
                <a:ea typeface="Calibri"/>
                <a:cs typeface="Calibri"/>
                <a:sym typeface="Calibri"/>
              </a:rPr>
              <a:t>Dashboard: walkthroughs, repair exposure, referrals and coverage across the whole book</a:t>
            </a:r>
            <a:endParaRPr b="0" i="0" sz="1200" u="none" cap="none" strike="noStrike">
              <a:solidFill>
                <a:schemeClr val="dk1"/>
              </a:solidFill>
              <a:latin typeface="Calibri"/>
              <a:ea typeface="Calibri"/>
              <a:cs typeface="Calibri"/>
              <a:sym typeface="Calibri"/>
            </a:endParaRPr>
          </a:p>
        </p:txBody>
      </p:sp>
      <p:sp>
        <p:nvSpPr>
          <p:cNvPr id="574" name="Google Shape;574;p16"/>
          <p:cNvSpPr txBox="1"/>
          <p:nvPr/>
        </p:nvSpPr>
        <p:spPr>
          <a:xfrm>
            <a:off x="7086600" y="4983480"/>
            <a:ext cx="4572000" cy="310896"/>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Calibri"/>
              <a:buChar char="•"/>
            </a:pPr>
            <a:r>
              <a:rPr b="0" i="0" lang="en-US" sz="1300" u="none" cap="none" strike="noStrike">
                <a:solidFill>
                  <a:schemeClr val="dk1"/>
                </a:solidFill>
                <a:latin typeface="Calibri"/>
                <a:ea typeface="Calibri"/>
                <a:cs typeface="Calibri"/>
                <a:sym typeface="Calibri"/>
              </a:rPr>
              <a:t>Video upload, live 3D-scan view, Lite or Advanced</a:t>
            </a:r>
            <a:endParaRPr b="0" i="0" sz="1300" u="none" cap="none" strike="noStrike">
              <a:solidFill>
                <a:schemeClr val="dk1"/>
              </a:solidFill>
              <a:latin typeface="Calibri"/>
              <a:ea typeface="Calibri"/>
              <a:cs typeface="Calibri"/>
              <a:sym typeface="Calibri"/>
            </a:endParaRPr>
          </a:p>
        </p:txBody>
      </p:sp>
      <p:sp>
        <p:nvSpPr>
          <p:cNvPr id="575" name="Google Shape;575;p16"/>
          <p:cNvSpPr txBox="1"/>
          <p:nvPr/>
        </p:nvSpPr>
        <p:spPr>
          <a:xfrm>
            <a:off x="7086600" y="5312664"/>
            <a:ext cx="4572000" cy="310896"/>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Calibri"/>
              <a:buChar char="•"/>
            </a:pPr>
            <a:r>
              <a:rPr b="0" i="0" lang="en-US" sz="1300" u="none" cap="none" strike="noStrike">
                <a:solidFill>
                  <a:schemeClr val="dk1"/>
                </a:solidFill>
                <a:latin typeface="Calibri"/>
                <a:ea typeface="Calibri"/>
                <a:cs typeface="Calibri"/>
                <a:sym typeface="Calibri"/>
              </a:rPr>
              <a:t>Interactive 3D viewer: walk inside, coverage gaps</a:t>
            </a:r>
            <a:endParaRPr b="0" i="0" sz="1300" u="none" cap="none" strike="noStrike">
              <a:solidFill>
                <a:schemeClr val="dk1"/>
              </a:solidFill>
              <a:latin typeface="Calibri"/>
              <a:ea typeface="Calibri"/>
              <a:cs typeface="Calibri"/>
              <a:sym typeface="Calibri"/>
            </a:endParaRPr>
          </a:p>
        </p:txBody>
      </p:sp>
      <p:sp>
        <p:nvSpPr>
          <p:cNvPr id="576" name="Google Shape;576;p16"/>
          <p:cNvSpPr txBox="1"/>
          <p:nvPr/>
        </p:nvSpPr>
        <p:spPr>
          <a:xfrm>
            <a:off x="7086600" y="5641848"/>
            <a:ext cx="4572000" cy="310896"/>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Calibri"/>
              <a:buChar char="•"/>
            </a:pPr>
            <a:r>
              <a:rPr b="0" i="0" lang="en-US" sz="1300" u="none" cap="none" strike="noStrike">
                <a:solidFill>
                  <a:schemeClr val="dk1"/>
                </a:solidFill>
                <a:latin typeface="Calibri"/>
                <a:ea typeface="Calibri"/>
                <a:cs typeface="Calibri"/>
                <a:sym typeface="Calibri"/>
              </a:rPr>
              <a:t>Reports in HTML, Markdown and JSON; REST API at /docs</a:t>
            </a:r>
            <a:endParaRPr b="0" i="0" sz="1300" u="none" cap="none" strike="noStrike">
              <a:solidFill>
                <a:schemeClr val="dk1"/>
              </a:solidFill>
              <a:latin typeface="Calibri"/>
              <a:ea typeface="Calibri"/>
              <a:cs typeface="Calibri"/>
              <a:sym typeface="Calibri"/>
            </a:endParaRPr>
          </a:p>
        </p:txBody>
      </p:sp>
      <p:sp>
        <p:nvSpPr>
          <p:cNvPr id="577" name="Google Shape;577;p16"/>
          <p:cNvSpPr txBox="1"/>
          <p:nvPr/>
        </p:nvSpPr>
        <p:spPr>
          <a:xfrm>
            <a:off x="7086600" y="5971032"/>
            <a:ext cx="4572000" cy="310896"/>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300"/>
              <a:buFont typeface="Calibri"/>
              <a:buChar char="•"/>
            </a:pPr>
            <a:r>
              <a:rPr b="0" i="0" lang="en-US" sz="1300" u="none" cap="none" strike="noStrike">
                <a:solidFill>
                  <a:schemeClr val="dk1"/>
                </a:solidFill>
                <a:latin typeface="Calibri"/>
                <a:ea typeface="Calibri"/>
                <a:cs typeface="Calibri"/>
                <a:sym typeface="Calibri"/>
              </a:rPr>
              <a:t>Light and dark themes; live video-queue status</a:t>
            </a:r>
            <a:endParaRPr b="0" i="0" sz="1300" u="none" cap="none" strike="noStrike">
              <a:solidFill>
                <a:schemeClr val="dk1"/>
              </a:solidFill>
              <a:latin typeface="Calibri"/>
              <a:ea typeface="Calibri"/>
              <a:cs typeface="Calibri"/>
              <a:sym typeface="Calibri"/>
            </a:endParaRPr>
          </a:p>
        </p:txBody>
      </p:sp>
      <p:sp>
        <p:nvSpPr>
          <p:cNvPr id="578" name="Google Shape;578;p16"/>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17"/>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CASE STUDY</a:t>
            </a:r>
            <a:endParaRPr sz="1200"/>
          </a:p>
        </p:txBody>
      </p:sp>
      <p:sp>
        <p:nvSpPr>
          <p:cNvPr id="585" name="Google Shape;585;p17"/>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A real 20-second home walkthrough, end to end</a:t>
            </a:r>
            <a:endParaRPr sz="3000"/>
          </a:p>
        </p:txBody>
      </p:sp>
      <p:sp>
        <p:nvSpPr>
          <p:cNvPr id="586" name="Google Shape;586;p17"/>
          <p:cNvSpPr/>
          <p:nvPr/>
        </p:nvSpPr>
        <p:spPr>
          <a:xfrm>
            <a:off x="1235583" y="1563624"/>
            <a:ext cx="5209794" cy="4187952"/>
          </a:xfrm>
          <a:prstGeom prst="roundRect">
            <a:avLst>
              <a:gd fmla="val 2183"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ase-study-3d" id="587" name="Google Shape;587;p17"/>
          <p:cNvPicPr preferRelativeResize="0"/>
          <p:nvPr/>
        </p:nvPicPr>
        <p:blipFill rotWithShape="1">
          <a:blip r:embed="rId3">
            <a:alphaModFix/>
          </a:blip>
          <a:srcRect b="0" l="0" r="0" t="0"/>
          <a:stretch/>
        </p:blipFill>
        <p:spPr>
          <a:xfrm>
            <a:off x="1272159" y="1600200"/>
            <a:ext cx="5136642" cy="4114800"/>
          </a:xfrm>
          <a:prstGeom prst="rect">
            <a:avLst/>
          </a:prstGeom>
          <a:noFill/>
          <a:ln>
            <a:noFill/>
          </a:ln>
        </p:spPr>
      </p:pic>
      <p:sp>
        <p:nvSpPr>
          <p:cNvPr id="588" name="Google Shape;588;p17"/>
          <p:cNvSpPr/>
          <p:nvPr/>
        </p:nvSpPr>
        <p:spPr>
          <a:xfrm>
            <a:off x="1381887" y="5330952"/>
            <a:ext cx="3749040" cy="274320"/>
          </a:xfrm>
          <a:prstGeom prst="roundRect">
            <a:avLst>
              <a:gd fmla="val 20000" name="adj"/>
            </a:avLst>
          </a:prstGeom>
          <a:solidFill>
            <a:srgbClr val="0B1220">
              <a:alpha val="85098"/>
            </a:srgbClr>
          </a:solidFill>
          <a:ln cap="flat" cmpd="sng" w="9525">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7"/>
          <p:cNvSpPr txBox="1"/>
          <p:nvPr/>
        </p:nvSpPr>
        <p:spPr>
          <a:xfrm>
            <a:off x="1381887" y="5330952"/>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2D3EE"/>
              </a:buClr>
              <a:buSzPts val="1100"/>
              <a:buFont typeface="Calibri"/>
              <a:buNone/>
            </a:pPr>
            <a:r>
              <a:rPr b="1" i="0" lang="en-US" sz="1100" u="none" cap="none" strike="noStrike">
                <a:solidFill>
                  <a:srgbClr val="22D3EE"/>
                </a:solidFill>
                <a:latin typeface="Calibri"/>
                <a:ea typeface="Calibri"/>
                <a:cs typeface="Calibri"/>
                <a:sym typeface="Calibri"/>
              </a:rPr>
              <a:t>Camera path · AI keyframes · findings pinned in 3D</a:t>
            </a:r>
            <a:endParaRPr b="0" i="0" sz="1100" u="none" cap="none" strike="noStrike">
              <a:solidFill>
                <a:schemeClr val="dk1"/>
              </a:solidFill>
              <a:latin typeface="Calibri"/>
              <a:ea typeface="Calibri"/>
              <a:cs typeface="Calibri"/>
              <a:sym typeface="Calibri"/>
            </a:endParaRPr>
          </a:p>
        </p:txBody>
      </p:sp>
      <p:sp>
        <p:nvSpPr>
          <p:cNvPr id="590" name="Google Shape;590;p17"/>
          <p:cNvSpPr/>
          <p:nvPr/>
        </p:nvSpPr>
        <p:spPr>
          <a:xfrm>
            <a:off x="7452360" y="160020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17"/>
          <p:cNvSpPr txBox="1"/>
          <p:nvPr/>
        </p:nvSpPr>
        <p:spPr>
          <a:xfrm>
            <a:off x="7589520" y="167335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19.6 s</a:t>
            </a:r>
            <a:endParaRPr b="0" i="0" sz="2200" u="none" cap="none" strike="noStrike">
              <a:solidFill>
                <a:schemeClr val="dk1"/>
              </a:solidFill>
              <a:latin typeface="Calibri"/>
              <a:ea typeface="Calibri"/>
              <a:cs typeface="Calibri"/>
              <a:sym typeface="Calibri"/>
            </a:endParaRPr>
          </a:p>
        </p:txBody>
      </p:sp>
      <p:sp>
        <p:nvSpPr>
          <p:cNvPr id="592" name="Google Shape;592;p17"/>
          <p:cNvSpPr txBox="1"/>
          <p:nvPr/>
        </p:nvSpPr>
        <p:spPr>
          <a:xfrm>
            <a:off x="7589520" y="211226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phone video</a:t>
            </a:r>
            <a:endParaRPr b="0" i="0" sz="1200" u="none" cap="none" strike="noStrike">
              <a:solidFill>
                <a:schemeClr val="dk1"/>
              </a:solidFill>
              <a:latin typeface="Calibri"/>
              <a:ea typeface="Calibri"/>
              <a:cs typeface="Calibri"/>
              <a:sym typeface="Calibri"/>
            </a:endParaRPr>
          </a:p>
        </p:txBody>
      </p:sp>
      <p:sp>
        <p:nvSpPr>
          <p:cNvPr id="593" name="Google Shape;593;p17"/>
          <p:cNvSpPr/>
          <p:nvPr/>
        </p:nvSpPr>
        <p:spPr>
          <a:xfrm>
            <a:off x="9601200" y="160020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17"/>
          <p:cNvSpPr txBox="1"/>
          <p:nvPr/>
        </p:nvSpPr>
        <p:spPr>
          <a:xfrm>
            <a:off x="9738360" y="167335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197</a:t>
            </a:r>
            <a:endParaRPr b="0" i="0" sz="2200" u="none" cap="none" strike="noStrike">
              <a:solidFill>
                <a:schemeClr val="dk1"/>
              </a:solidFill>
              <a:latin typeface="Calibri"/>
              <a:ea typeface="Calibri"/>
              <a:cs typeface="Calibri"/>
              <a:sym typeface="Calibri"/>
            </a:endParaRPr>
          </a:p>
        </p:txBody>
      </p:sp>
      <p:sp>
        <p:nvSpPr>
          <p:cNvPr id="595" name="Google Shape;595;p17"/>
          <p:cNvSpPr txBox="1"/>
          <p:nvPr/>
        </p:nvSpPr>
        <p:spPr>
          <a:xfrm>
            <a:off x="9738360" y="211226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SLAM frames</a:t>
            </a:r>
            <a:endParaRPr b="0" i="0" sz="1200" u="none" cap="none" strike="noStrike">
              <a:solidFill>
                <a:schemeClr val="dk1"/>
              </a:solidFill>
              <a:latin typeface="Calibri"/>
              <a:ea typeface="Calibri"/>
              <a:cs typeface="Calibri"/>
              <a:sym typeface="Calibri"/>
            </a:endParaRPr>
          </a:p>
        </p:txBody>
      </p:sp>
      <p:sp>
        <p:nvSpPr>
          <p:cNvPr id="596" name="Google Shape;596;p17"/>
          <p:cNvSpPr/>
          <p:nvPr/>
        </p:nvSpPr>
        <p:spPr>
          <a:xfrm>
            <a:off x="7452360" y="256032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7"/>
          <p:cNvSpPr txBox="1"/>
          <p:nvPr/>
        </p:nvSpPr>
        <p:spPr>
          <a:xfrm>
            <a:off x="7589520" y="263347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15</a:t>
            </a:r>
            <a:endParaRPr b="0" i="0" sz="2200" u="none" cap="none" strike="noStrike">
              <a:solidFill>
                <a:schemeClr val="dk1"/>
              </a:solidFill>
              <a:latin typeface="Calibri"/>
              <a:ea typeface="Calibri"/>
              <a:cs typeface="Calibri"/>
              <a:sym typeface="Calibri"/>
            </a:endParaRPr>
          </a:p>
        </p:txBody>
      </p:sp>
      <p:sp>
        <p:nvSpPr>
          <p:cNvPr id="598" name="Google Shape;598;p17"/>
          <p:cNvSpPr txBox="1"/>
          <p:nvPr/>
        </p:nvSpPr>
        <p:spPr>
          <a:xfrm>
            <a:off x="7589520" y="307238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AI keyframes</a:t>
            </a:r>
            <a:endParaRPr b="0" i="0" sz="1200" u="none" cap="none" strike="noStrike">
              <a:solidFill>
                <a:schemeClr val="dk1"/>
              </a:solidFill>
              <a:latin typeface="Calibri"/>
              <a:ea typeface="Calibri"/>
              <a:cs typeface="Calibri"/>
              <a:sym typeface="Calibri"/>
            </a:endParaRPr>
          </a:p>
        </p:txBody>
      </p:sp>
      <p:sp>
        <p:nvSpPr>
          <p:cNvPr id="599" name="Google Shape;599;p17"/>
          <p:cNvSpPr/>
          <p:nvPr/>
        </p:nvSpPr>
        <p:spPr>
          <a:xfrm>
            <a:off x="9601200" y="256032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7"/>
          <p:cNvSpPr txBox="1"/>
          <p:nvPr/>
        </p:nvSpPr>
        <p:spPr>
          <a:xfrm>
            <a:off x="9738360" y="263347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24.5 m²</a:t>
            </a:r>
            <a:endParaRPr b="0" i="0" sz="2200" u="none" cap="none" strike="noStrike">
              <a:solidFill>
                <a:schemeClr val="dk1"/>
              </a:solidFill>
              <a:latin typeface="Calibri"/>
              <a:ea typeface="Calibri"/>
              <a:cs typeface="Calibri"/>
              <a:sym typeface="Calibri"/>
            </a:endParaRPr>
          </a:p>
        </p:txBody>
      </p:sp>
      <p:sp>
        <p:nvSpPr>
          <p:cNvPr id="601" name="Google Shape;601;p17"/>
          <p:cNvSpPr txBox="1"/>
          <p:nvPr/>
        </p:nvSpPr>
        <p:spPr>
          <a:xfrm>
            <a:off x="9738360" y="307238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2 rooms measured</a:t>
            </a:r>
            <a:endParaRPr b="0" i="0" sz="1200" u="none" cap="none" strike="noStrike">
              <a:solidFill>
                <a:schemeClr val="dk1"/>
              </a:solidFill>
              <a:latin typeface="Calibri"/>
              <a:ea typeface="Calibri"/>
              <a:cs typeface="Calibri"/>
              <a:sym typeface="Calibri"/>
            </a:endParaRPr>
          </a:p>
        </p:txBody>
      </p:sp>
      <p:sp>
        <p:nvSpPr>
          <p:cNvPr id="602" name="Google Shape;602;p17"/>
          <p:cNvSpPr/>
          <p:nvPr/>
        </p:nvSpPr>
        <p:spPr>
          <a:xfrm>
            <a:off x="7452360" y="352044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7"/>
          <p:cNvSpPr txBox="1"/>
          <p:nvPr/>
        </p:nvSpPr>
        <p:spPr>
          <a:xfrm>
            <a:off x="7589520" y="359359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95.7 · A</a:t>
            </a:r>
            <a:endParaRPr b="0" i="0" sz="2200" u="none" cap="none" strike="noStrike">
              <a:solidFill>
                <a:schemeClr val="dk1"/>
              </a:solidFill>
              <a:latin typeface="Calibri"/>
              <a:ea typeface="Calibri"/>
              <a:cs typeface="Calibri"/>
              <a:sym typeface="Calibri"/>
            </a:endParaRPr>
          </a:p>
        </p:txBody>
      </p:sp>
      <p:sp>
        <p:nvSpPr>
          <p:cNvPr id="604" name="Google Shape;604;p17"/>
          <p:cNvSpPr txBox="1"/>
          <p:nvPr/>
        </p:nvSpPr>
        <p:spPr>
          <a:xfrm>
            <a:off x="7589520" y="403250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condition score</a:t>
            </a:r>
            <a:endParaRPr b="0" i="0" sz="1200" u="none" cap="none" strike="noStrike">
              <a:solidFill>
                <a:schemeClr val="dk1"/>
              </a:solidFill>
              <a:latin typeface="Calibri"/>
              <a:ea typeface="Calibri"/>
              <a:cs typeface="Calibri"/>
              <a:sym typeface="Calibri"/>
            </a:endParaRPr>
          </a:p>
        </p:txBody>
      </p:sp>
      <p:sp>
        <p:nvSpPr>
          <p:cNvPr id="605" name="Google Shape;605;p17"/>
          <p:cNvSpPr/>
          <p:nvPr/>
        </p:nvSpPr>
        <p:spPr>
          <a:xfrm>
            <a:off x="9601200" y="3520440"/>
            <a:ext cx="2011680" cy="841248"/>
          </a:xfrm>
          <a:prstGeom prst="roundRect">
            <a:avLst>
              <a:gd fmla="val 1304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7"/>
          <p:cNvSpPr txBox="1"/>
          <p:nvPr/>
        </p:nvSpPr>
        <p:spPr>
          <a:xfrm>
            <a:off x="9738360" y="3593592"/>
            <a:ext cx="1783080" cy="4389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2200"/>
              <a:buFont typeface="Arial"/>
              <a:buNone/>
            </a:pPr>
            <a:r>
              <a:rPr b="1" i="0" lang="en-US" sz="2200" u="none" cap="none" strike="noStrike">
                <a:solidFill>
                  <a:schemeClr val="accent2"/>
                </a:solidFill>
                <a:latin typeface="Arial"/>
                <a:ea typeface="Arial"/>
                <a:cs typeface="Arial"/>
                <a:sym typeface="Arial"/>
              </a:rPr>
              <a:t>$405–2,775</a:t>
            </a:r>
            <a:endParaRPr b="0" i="0" sz="2200" u="none" cap="none" strike="noStrike">
              <a:solidFill>
                <a:schemeClr val="dk1"/>
              </a:solidFill>
              <a:latin typeface="Calibri"/>
              <a:ea typeface="Calibri"/>
              <a:cs typeface="Calibri"/>
              <a:sym typeface="Calibri"/>
            </a:endParaRPr>
          </a:p>
        </p:txBody>
      </p:sp>
      <p:sp>
        <p:nvSpPr>
          <p:cNvPr id="607" name="Google Shape;607;p17"/>
          <p:cNvSpPr txBox="1"/>
          <p:nvPr/>
        </p:nvSpPr>
        <p:spPr>
          <a:xfrm>
            <a:off x="9738360" y="4032504"/>
            <a:ext cx="1783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indicative repairs</a:t>
            </a:r>
            <a:endParaRPr b="0" i="0" sz="1200" u="none" cap="none" strike="noStrike">
              <a:solidFill>
                <a:schemeClr val="dk1"/>
              </a:solidFill>
              <a:latin typeface="Calibri"/>
              <a:ea typeface="Calibri"/>
              <a:cs typeface="Calibri"/>
              <a:sym typeface="Calibri"/>
            </a:endParaRPr>
          </a:p>
        </p:txBody>
      </p:sp>
      <p:sp>
        <p:nvSpPr>
          <p:cNvPr id="608" name="Google Shape;608;p17"/>
          <p:cNvSpPr/>
          <p:nvPr/>
        </p:nvSpPr>
        <p:spPr>
          <a:xfrm>
            <a:off x="7452360" y="4526280"/>
            <a:ext cx="4160520" cy="1188720"/>
          </a:xfrm>
          <a:prstGeom prst="roundRect">
            <a:avLst>
              <a:gd fmla="val 9231" name="adj"/>
            </a:avLst>
          </a:prstGeom>
          <a:solidFill>
            <a:srgbClr val="2A1418"/>
          </a:solidFill>
          <a:ln cap="flat" cmpd="sng" w="12700">
            <a:solidFill>
              <a:srgbClr val="F8717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7"/>
          <p:cNvSpPr txBox="1"/>
          <p:nvPr/>
        </p:nvSpPr>
        <p:spPr>
          <a:xfrm>
            <a:off x="7635240" y="4617720"/>
            <a:ext cx="38404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400"/>
              <a:buFont typeface="Calibri"/>
              <a:buNone/>
            </a:pPr>
            <a:r>
              <a:rPr b="1" i="0" lang="en-US" sz="1400" u="none" cap="none" strike="noStrike">
                <a:solidFill>
                  <a:schemeClr val="accent5"/>
                </a:solidFill>
                <a:latin typeface="Calibri"/>
                <a:ea typeface="Calibri"/>
                <a:cs typeface="Calibri"/>
                <a:sym typeface="Calibri"/>
              </a:rPr>
              <a:t>Decision: REFER, additional evidence required</a:t>
            </a:r>
            <a:endParaRPr b="0" i="0" sz="1400" u="none" cap="none" strike="noStrike">
              <a:solidFill>
                <a:schemeClr val="dk1"/>
              </a:solidFill>
              <a:latin typeface="Calibri"/>
              <a:ea typeface="Calibri"/>
              <a:cs typeface="Calibri"/>
              <a:sym typeface="Calibri"/>
            </a:endParaRPr>
          </a:p>
        </p:txBody>
      </p:sp>
      <p:sp>
        <p:nvSpPr>
          <p:cNvPr id="610" name="Google Shape;610;p17"/>
          <p:cNvSpPr txBox="1"/>
          <p:nvPr/>
        </p:nvSpPr>
        <p:spPr>
          <a:xfrm>
            <a:off x="7635240" y="4937760"/>
            <a:ext cx="3840480" cy="7498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The home looks fine, but only 42.5% of its surfaces were AI-inspected (minimum 60%), so the app lists the ceilings and walls to film again. It does not over-promise.</a:t>
            </a:r>
            <a:endParaRPr b="0" i="0" sz="1200" u="none" cap="none" strike="noStrike">
              <a:solidFill>
                <a:schemeClr val="dk1"/>
              </a:solidFill>
              <a:latin typeface="Calibri"/>
              <a:ea typeface="Calibri"/>
              <a:cs typeface="Calibri"/>
              <a:sym typeface="Calibri"/>
            </a:endParaRPr>
          </a:p>
        </p:txBody>
      </p:sp>
      <p:sp>
        <p:nvSpPr>
          <p:cNvPr id="611" name="Google Shape;611;p17"/>
          <p:cNvSpPr txBox="1"/>
          <p:nvPr/>
        </p:nvSpPr>
        <p:spPr>
          <a:xfrm>
            <a:off x="548640" y="5852160"/>
            <a:ext cx="11109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7 possible defects pinned in 3D, all Needs review  ·  10.6 min end to end on a laptop RTX 3080  ·  3D build Lite 11.1 vs Advanced 26.9 min (RTX 3050)</a:t>
            </a:r>
            <a:endParaRPr b="0" i="0" sz="1200" u="none" cap="none" strike="noStrike">
              <a:solidFill>
                <a:schemeClr val="dk1"/>
              </a:solidFill>
              <a:latin typeface="Calibri"/>
              <a:ea typeface="Calibri"/>
              <a:cs typeface="Calibri"/>
              <a:sym typeface="Calibri"/>
            </a:endParaRPr>
          </a:p>
        </p:txBody>
      </p:sp>
      <p:sp>
        <p:nvSpPr>
          <p:cNvPr id="612" name="Google Shape;612;p17"/>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8"/>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EVALUATION DESIGN</a:t>
            </a:r>
            <a:endParaRPr sz="1200"/>
          </a:p>
        </p:txBody>
      </p:sp>
      <p:sp>
        <p:nvSpPr>
          <p:cNvPr id="619" name="Google Shape;619;p18"/>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A fair test of four pipelines: 10 rooms, 100 regions</a:t>
            </a:r>
            <a:endParaRPr sz="3000"/>
          </a:p>
        </p:txBody>
      </p:sp>
      <p:sp>
        <p:nvSpPr>
          <p:cNvPr id="620" name="Google Shape;620;p18"/>
          <p:cNvSpPr/>
          <p:nvPr/>
        </p:nvSpPr>
        <p:spPr>
          <a:xfrm>
            <a:off x="548640" y="1508760"/>
            <a:ext cx="3931920" cy="1042416"/>
          </a:xfrm>
          <a:prstGeom prst="roundRect">
            <a:avLst>
              <a:gd fmla="val 1052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8"/>
          <p:cNvSpPr/>
          <p:nvPr/>
        </p:nvSpPr>
        <p:spPr>
          <a:xfrm>
            <a:off x="731520" y="1773936"/>
            <a:ext cx="502920" cy="502920"/>
          </a:xfrm>
          <a:prstGeom prst="ellipse">
            <a:avLst/>
          </a:prstGeom>
          <a:solidFill>
            <a:srgbClr val="94A3B8"/>
          </a:solidFill>
          <a:ln cap="flat" cmpd="sng" w="12700">
            <a:solidFill>
              <a:srgbClr val="94A3B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8"/>
          <p:cNvSpPr txBox="1"/>
          <p:nvPr/>
        </p:nvSpPr>
        <p:spPr>
          <a:xfrm>
            <a:off x="731520" y="1773936"/>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1220"/>
              </a:buClr>
              <a:buSzPts val="1800"/>
              <a:buFont typeface="Calibri"/>
              <a:buNone/>
            </a:pPr>
            <a:r>
              <a:rPr b="1" i="0" lang="en-US" sz="1800" u="none" cap="none" strike="noStrike">
                <a:solidFill>
                  <a:srgbClr val="0B1220"/>
                </a:solidFill>
                <a:latin typeface="Calibri"/>
                <a:ea typeface="Calibri"/>
                <a:cs typeface="Calibri"/>
                <a:sym typeface="Calibri"/>
              </a:rPr>
              <a:t>A</a:t>
            </a:r>
            <a:endParaRPr b="0" i="0" sz="1800" u="none" cap="none" strike="noStrike">
              <a:solidFill>
                <a:schemeClr val="dk1"/>
              </a:solidFill>
              <a:latin typeface="Calibri"/>
              <a:ea typeface="Calibri"/>
              <a:cs typeface="Calibri"/>
              <a:sym typeface="Calibri"/>
            </a:endParaRPr>
          </a:p>
        </p:txBody>
      </p:sp>
      <p:sp>
        <p:nvSpPr>
          <p:cNvPr id="623" name="Google Shape;623;p18"/>
          <p:cNvSpPr txBox="1"/>
          <p:nvPr/>
        </p:nvSpPr>
        <p:spPr>
          <a:xfrm>
            <a:off x="1371600" y="1627632"/>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Gemini only</a:t>
            </a:r>
            <a:endParaRPr b="0" i="0" sz="1500" u="none" cap="none" strike="noStrike">
              <a:solidFill>
                <a:schemeClr val="dk1"/>
              </a:solidFill>
              <a:latin typeface="Calibri"/>
              <a:ea typeface="Calibri"/>
              <a:cs typeface="Calibri"/>
              <a:sym typeface="Calibri"/>
            </a:endParaRPr>
          </a:p>
        </p:txBody>
      </p:sp>
      <p:sp>
        <p:nvSpPr>
          <p:cNvPr id="624" name="Google Shape;624;p18"/>
          <p:cNvSpPr txBox="1"/>
          <p:nvPr/>
        </p:nvSpPr>
        <p:spPr>
          <a:xfrm>
            <a:off x="1371600" y="1965960"/>
            <a:ext cx="3017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Baseline: Gemini inspects the full room image.</a:t>
            </a:r>
            <a:endParaRPr b="0" i="0" sz="1200" u="none" cap="none" strike="noStrike">
              <a:solidFill>
                <a:schemeClr val="dk1"/>
              </a:solidFill>
              <a:latin typeface="Calibri"/>
              <a:ea typeface="Calibri"/>
              <a:cs typeface="Calibri"/>
              <a:sym typeface="Calibri"/>
            </a:endParaRPr>
          </a:p>
        </p:txBody>
      </p:sp>
      <p:sp>
        <p:nvSpPr>
          <p:cNvPr id="625" name="Google Shape;625;p18"/>
          <p:cNvSpPr/>
          <p:nvPr/>
        </p:nvSpPr>
        <p:spPr>
          <a:xfrm>
            <a:off x="548640" y="2679192"/>
            <a:ext cx="3931920" cy="1042416"/>
          </a:xfrm>
          <a:prstGeom prst="roundRect">
            <a:avLst>
              <a:gd fmla="val 1052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8"/>
          <p:cNvSpPr/>
          <p:nvPr/>
        </p:nvSpPr>
        <p:spPr>
          <a:xfrm>
            <a:off x="731520" y="2944368"/>
            <a:ext cx="502920" cy="502920"/>
          </a:xfrm>
          <a:prstGeom prst="ellipse">
            <a:avLst/>
          </a:prstGeom>
          <a:solidFill>
            <a:srgbClr val="22D3EE"/>
          </a:solidFill>
          <a:ln cap="flat" cmpd="sng" w="12700">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8"/>
          <p:cNvSpPr txBox="1"/>
          <p:nvPr/>
        </p:nvSpPr>
        <p:spPr>
          <a:xfrm>
            <a:off x="731520" y="2944368"/>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1220"/>
              </a:buClr>
              <a:buSzPts val="1800"/>
              <a:buFont typeface="Calibri"/>
              <a:buNone/>
            </a:pPr>
            <a:r>
              <a:rPr b="1" i="0" lang="en-US" sz="1800" u="none" cap="none" strike="noStrike">
                <a:solidFill>
                  <a:srgbClr val="0B1220"/>
                </a:solidFill>
                <a:latin typeface="Calibri"/>
                <a:ea typeface="Calibri"/>
                <a:cs typeface="Calibri"/>
                <a:sym typeface="Calibri"/>
              </a:rPr>
              <a:t>B</a:t>
            </a:r>
            <a:endParaRPr b="0" i="0" sz="1800" u="none" cap="none" strike="noStrike">
              <a:solidFill>
                <a:schemeClr val="dk1"/>
              </a:solidFill>
              <a:latin typeface="Calibri"/>
              <a:ea typeface="Calibri"/>
              <a:cs typeface="Calibri"/>
              <a:sym typeface="Calibri"/>
            </a:endParaRPr>
          </a:p>
        </p:txBody>
      </p:sp>
      <p:sp>
        <p:nvSpPr>
          <p:cNvPr id="628" name="Google Shape;628;p18"/>
          <p:cNvSpPr txBox="1"/>
          <p:nvPr/>
        </p:nvSpPr>
        <p:spPr>
          <a:xfrm>
            <a:off x="1371600" y="2798064"/>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LocateAnything + Gemini</a:t>
            </a:r>
            <a:endParaRPr b="0" i="0" sz="1500" u="none" cap="none" strike="noStrike">
              <a:solidFill>
                <a:schemeClr val="dk1"/>
              </a:solidFill>
              <a:latin typeface="Calibri"/>
              <a:ea typeface="Calibri"/>
              <a:cs typeface="Calibri"/>
              <a:sym typeface="Calibri"/>
            </a:endParaRPr>
          </a:p>
        </p:txBody>
      </p:sp>
      <p:sp>
        <p:nvSpPr>
          <p:cNvPr id="629" name="Google Shape;629;p18"/>
          <p:cNvSpPr txBox="1"/>
          <p:nvPr/>
        </p:nvSpPr>
        <p:spPr>
          <a:xfrm>
            <a:off x="1371600" y="3136392"/>
            <a:ext cx="3017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Localise candidates, then Gemini assesses each one.</a:t>
            </a:r>
            <a:endParaRPr b="0" i="0" sz="1200" u="none" cap="none" strike="noStrike">
              <a:solidFill>
                <a:schemeClr val="dk1"/>
              </a:solidFill>
              <a:latin typeface="Calibri"/>
              <a:ea typeface="Calibri"/>
              <a:cs typeface="Calibri"/>
              <a:sym typeface="Calibri"/>
            </a:endParaRPr>
          </a:p>
        </p:txBody>
      </p:sp>
      <p:sp>
        <p:nvSpPr>
          <p:cNvPr id="630" name="Google Shape;630;p18"/>
          <p:cNvSpPr/>
          <p:nvPr/>
        </p:nvSpPr>
        <p:spPr>
          <a:xfrm>
            <a:off x="548640" y="3849624"/>
            <a:ext cx="3931920" cy="1042416"/>
          </a:xfrm>
          <a:prstGeom prst="roundRect">
            <a:avLst>
              <a:gd fmla="val 1052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8"/>
          <p:cNvSpPr/>
          <p:nvPr/>
        </p:nvSpPr>
        <p:spPr>
          <a:xfrm>
            <a:off x="731520" y="4114800"/>
            <a:ext cx="502920" cy="502920"/>
          </a:xfrm>
          <a:prstGeom prst="ellipse">
            <a:avLst/>
          </a:prstGeom>
          <a:solidFill>
            <a:srgbClr val="6366F1"/>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8"/>
          <p:cNvSpPr txBox="1"/>
          <p:nvPr/>
        </p:nvSpPr>
        <p:spPr>
          <a:xfrm>
            <a:off x="731520" y="4114800"/>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1220"/>
              </a:buClr>
              <a:buSzPts val="1800"/>
              <a:buFont typeface="Calibri"/>
              <a:buNone/>
            </a:pPr>
            <a:r>
              <a:rPr b="1" i="0" lang="en-US" sz="1800" u="none" cap="none" strike="noStrike">
                <a:solidFill>
                  <a:srgbClr val="0B1220"/>
                </a:solidFill>
                <a:latin typeface="Calibri"/>
                <a:ea typeface="Calibri"/>
                <a:cs typeface="Calibri"/>
                <a:sym typeface="Calibri"/>
              </a:rPr>
              <a:t>C</a:t>
            </a:r>
            <a:endParaRPr b="0" i="0" sz="1800" u="none" cap="none" strike="noStrike">
              <a:solidFill>
                <a:schemeClr val="dk1"/>
              </a:solidFill>
              <a:latin typeface="Calibri"/>
              <a:ea typeface="Calibri"/>
              <a:cs typeface="Calibri"/>
              <a:sym typeface="Calibri"/>
            </a:endParaRPr>
          </a:p>
        </p:txBody>
      </p:sp>
      <p:sp>
        <p:nvSpPr>
          <p:cNvPr id="633" name="Google Shape;633;p18"/>
          <p:cNvSpPr txBox="1"/>
          <p:nvPr/>
        </p:nvSpPr>
        <p:spPr>
          <a:xfrm>
            <a:off x="1371600" y="3968496"/>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Gemma 4 + Gemini</a:t>
            </a:r>
            <a:endParaRPr b="0" i="0" sz="1500" u="none" cap="none" strike="noStrike">
              <a:solidFill>
                <a:schemeClr val="dk1"/>
              </a:solidFill>
              <a:latin typeface="Calibri"/>
              <a:ea typeface="Calibri"/>
              <a:cs typeface="Calibri"/>
              <a:sym typeface="Calibri"/>
            </a:endParaRPr>
          </a:p>
        </p:txBody>
      </p:sp>
      <p:sp>
        <p:nvSpPr>
          <p:cNvPr id="634" name="Google Shape;634;p18"/>
          <p:cNvSpPr txBox="1"/>
          <p:nvPr/>
        </p:nvSpPr>
        <p:spPr>
          <a:xfrm>
            <a:off x="1371600" y="4306824"/>
            <a:ext cx="3017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Gemma 4 checks the image, then Gemini gives the final assessment.</a:t>
            </a:r>
            <a:endParaRPr b="0" i="0" sz="1200" u="none" cap="none" strike="noStrike">
              <a:solidFill>
                <a:schemeClr val="dk1"/>
              </a:solidFill>
              <a:latin typeface="Calibri"/>
              <a:ea typeface="Calibri"/>
              <a:cs typeface="Calibri"/>
              <a:sym typeface="Calibri"/>
            </a:endParaRPr>
          </a:p>
        </p:txBody>
      </p:sp>
      <p:sp>
        <p:nvSpPr>
          <p:cNvPr id="635" name="Google Shape;635;p18"/>
          <p:cNvSpPr/>
          <p:nvPr/>
        </p:nvSpPr>
        <p:spPr>
          <a:xfrm>
            <a:off x="548640" y="5020056"/>
            <a:ext cx="3931920" cy="1042416"/>
          </a:xfrm>
          <a:prstGeom prst="roundRect">
            <a:avLst>
              <a:gd fmla="val 10526" name="adj"/>
            </a:avLst>
          </a:prstGeom>
          <a:solidFill>
            <a:srgbClr val="2A2112"/>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8"/>
          <p:cNvSpPr/>
          <p:nvPr/>
        </p:nvSpPr>
        <p:spPr>
          <a:xfrm>
            <a:off x="731520" y="5285232"/>
            <a:ext cx="502920" cy="502920"/>
          </a:xfrm>
          <a:prstGeom prst="ellipse">
            <a:avLst/>
          </a:prstGeom>
          <a:solidFill>
            <a:srgbClr val="F59E0B"/>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18"/>
          <p:cNvSpPr txBox="1"/>
          <p:nvPr/>
        </p:nvSpPr>
        <p:spPr>
          <a:xfrm>
            <a:off x="731520" y="5285232"/>
            <a:ext cx="5029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1220"/>
              </a:buClr>
              <a:buSzPts val="1800"/>
              <a:buFont typeface="Calibri"/>
              <a:buNone/>
            </a:pPr>
            <a:r>
              <a:rPr b="1" i="0" lang="en-US" sz="1800" u="none" cap="none" strike="noStrike">
                <a:solidFill>
                  <a:srgbClr val="0B1220"/>
                </a:solidFill>
                <a:latin typeface="Calibri"/>
                <a:ea typeface="Calibri"/>
                <a:cs typeface="Calibri"/>
                <a:sym typeface="Calibri"/>
              </a:rPr>
              <a:t>D</a:t>
            </a:r>
            <a:endParaRPr b="0" i="0" sz="1800" u="none" cap="none" strike="noStrike">
              <a:solidFill>
                <a:schemeClr val="dk1"/>
              </a:solidFill>
              <a:latin typeface="Calibri"/>
              <a:ea typeface="Calibri"/>
              <a:cs typeface="Calibri"/>
              <a:sym typeface="Calibri"/>
            </a:endParaRPr>
          </a:p>
        </p:txBody>
      </p:sp>
      <p:sp>
        <p:nvSpPr>
          <p:cNvPr id="638" name="Google Shape;638;p18"/>
          <p:cNvSpPr txBox="1"/>
          <p:nvPr/>
        </p:nvSpPr>
        <p:spPr>
          <a:xfrm>
            <a:off x="1371600" y="5138928"/>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Gemma 4 + LocateAnything + Gemini</a:t>
            </a:r>
            <a:endParaRPr b="0" i="0" sz="1500" u="none" cap="none" strike="noStrike">
              <a:solidFill>
                <a:schemeClr val="dk1"/>
              </a:solidFill>
              <a:latin typeface="Calibri"/>
              <a:ea typeface="Calibri"/>
              <a:cs typeface="Calibri"/>
              <a:sym typeface="Calibri"/>
            </a:endParaRPr>
          </a:p>
        </p:txBody>
      </p:sp>
      <p:sp>
        <p:nvSpPr>
          <p:cNvPr id="639" name="Google Shape;639;p18"/>
          <p:cNvSpPr txBox="1"/>
          <p:nvPr/>
        </p:nvSpPr>
        <p:spPr>
          <a:xfrm>
            <a:off x="1371600" y="5477256"/>
            <a:ext cx="30175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Localise, verify each crop with Gemma 4, then Gemini. Our pipeline.</a:t>
            </a:r>
            <a:endParaRPr b="0" i="0" sz="1200" u="none" cap="none" strike="noStrike">
              <a:solidFill>
                <a:schemeClr val="dk1"/>
              </a:solidFill>
              <a:latin typeface="Calibri"/>
              <a:ea typeface="Calibri"/>
              <a:cs typeface="Calibri"/>
              <a:sym typeface="Calibri"/>
            </a:endParaRPr>
          </a:p>
        </p:txBody>
      </p:sp>
      <p:sp>
        <p:nvSpPr>
          <p:cNvPr id="640" name="Google Shape;640;p18"/>
          <p:cNvSpPr/>
          <p:nvPr/>
        </p:nvSpPr>
        <p:spPr>
          <a:xfrm>
            <a:off x="4709160" y="1508760"/>
            <a:ext cx="3291840" cy="4617720"/>
          </a:xfrm>
          <a:prstGeom prst="roundRect">
            <a:avLst>
              <a:gd fmla="val 3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8"/>
          <p:cNvSpPr txBox="1"/>
          <p:nvPr/>
        </p:nvSpPr>
        <p:spPr>
          <a:xfrm>
            <a:off x="4937760" y="1645920"/>
            <a:ext cx="29260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500"/>
              <a:buFont typeface="Calibri"/>
              <a:buNone/>
            </a:pPr>
            <a:r>
              <a:rPr b="1" i="0" lang="en-US" sz="1500" u="none" cap="none" strike="noStrike">
                <a:solidFill>
                  <a:schemeClr val="accent2"/>
                </a:solidFill>
                <a:latin typeface="Calibri"/>
                <a:ea typeface="Calibri"/>
                <a:cs typeface="Calibri"/>
                <a:sym typeface="Calibri"/>
              </a:rPr>
              <a:t>Test set</a:t>
            </a:r>
            <a:endParaRPr b="0" i="0" sz="1500" u="none" cap="none" strike="noStrike">
              <a:solidFill>
                <a:schemeClr val="dk1"/>
              </a:solidFill>
              <a:latin typeface="Calibri"/>
              <a:ea typeface="Calibri"/>
              <a:cs typeface="Calibri"/>
              <a:sym typeface="Calibri"/>
            </a:endParaRPr>
          </a:p>
        </p:txBody>
      </p:sp>
      <p:sp>
        <p:nvSpPr>
          <p:cNvPr id="642" name="Google Shape;642;p18"/>
          <p:cNvSpPr txBox="1"/>
          <p:nvPr/>
        </p:nvSpPr>
        <p:spPr>
          <a:xfrm>
            <a:off x="4937760" y="2103120"/>
            <a:ext cx="2926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2600"/>
              <a:buFont typeface="Arial"/>
              <a:buNone/>
            </a:pPr>
            <a:r>
              <a:rPr b="1" i="0" lang="en-US" sz="2600" u="none" cap="none" strike="noStrike">
                <a:solidFill>
                  <a:schemeClr val="accent3"/>
                </a:solidFill>
                <a:latin typeface="Arial"/>
                <a:ea typeface="Arial"/>
                <a:cs typeface="Arial"/>
                <a:sym typeface="Arial"/>
              </a:rPr>
              <a:t>10</a:t>
            </a:r>
            <a:endParaRPr b="0" i="0" sz="2600" u="none" cap="none" strike="noStrike">
              <a:solidFill>
                <a:schemeClr val="dk1"/>
              </a:solidFill>
              <a:latin typeface="Calibri"/>
              <a:ea typeface="Calibri"/>
              <a:cs typeface="Calibri"/>
              <a:sym typeface="Calibri"/>
            </a:endParaRPr>
          </a:p>
        </p:txBody>
      </p:sp>
      <p:sp>
        <p:nvSpPr>
          <p:cNvPr id="643" name="Google Shape;643;p18"/>
          <p:cNvSpPr txBox="1"/>
          <p:nvPr/>
        </p:nvSpPr>
        <p:spPr>
          <a:xfrm>
            <a:off x="4937760" y="2560320"/>
            <a:ext cx="29260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rooms: 5 living rooms + 5 bedrooms</a:t>
            </a:r>
            <a:endParaRPr b="0" i="0" sz="1200" u="none" cap="none" strike="noStrike">
              <a:solidFill>
                <a:schemeClr val="dk1"/>
              </a:solidFill>
              <a:latin typeface="Calibri"/>
              <a:ea typeface="Calibri"/>
              <a:cs typeface="Calibri"/>
              <a:sym typeface="Calibri"/>
            </a:endParaRPr>
          </a:p>
        </p:txBody>
      </p:sp>
      <p:sp>
        <p:nvSpPr>
          <p:cNvPr id="644" name="Google Shape;644;p18"/>
          <p:cNvSpPr txBox="1"/>
          <p:nvPr/>
        </p:nvSpPr>
        <p:spPr>
          <a:xfrm>
            <a:off x="4937760" y="3090672"/>
            <a:ext cx="2926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2600"/>
              <a:buFont typeface="Arial"/>
              <a:buNone/>
            </a:pPr>
            <a:r>
              <a:rPr b="1" i="0" lang="en-US" sz="2600" u="none" cap="none" strike="noStrike">
                <a:solidFill>
                  <a:schemeClr val="accent3"/>
                </a:solidFill>
                <a:latin typeface="Arial"/>
                <a:ea typeface="Arial"/>
                <a:cs typeface="Arial"/>
                <a:sym typeface="Arial"/>
              </a:rPr>
              <a:t>2</a:t>
            </a:r>
            <a:endParaRPr b="0" i="0" sz="2600" u="none" cap="none" strike="noStrike">
              <a:solidFill>
                <a:schemeClr val="dk1"/>
              </a:solidFill>
              <a:latin typeface="Calibri"/>
              <a:ea typeface="Calibri"/>
              <a:cs typeface="Calibri"/>
              <a:sym typeface="Calibri"/>
            </a:endParaRPr>
          </a:p>
        </p:txBody>
      </p:sp>
      <p:sp>
        <p:nvSpPr>
          <p:cNvPr id="645" name="Google Shape;645;p18"/>
          <p:cNvSpPr txBox="1"/>
          <p:nvPr/>
        </p:nvSpPr>
        <p:spPr>
          <a:xfrm>
            <a:off x="4937760" y="3547872"/>
            <a:ext cx="29260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clean control rooms (one of each)</a:t>
            </a:r>
            <a:endParaRPr b="0" i="0" sz="1200" u="none" cap="none" strike="noStrike">
              <a:solidFill>
                <a:schemeClr val="dk1"/>
              </a:solidFill>
              <a:latin typeface="Calibri"/>
              <a:ea typeface="Calibri"/>
              <a:cs typeface="Calibri"/>
              <a:sym typeface="Calibri"/>
            </a:endParaRPr>
          </a:p>
        </p:txBody>
      </p:sp>
      <p:sp>
        <p:nvSpPr>
          <p:cNvPr id="646" name="Google Shape;646;p18"/>
          <p:cNvSpPr txBox="1"/>
          <p:nvPr/>
        </p:nvSpPr>
        <p:spPr>
          <a:xfrm>
            <a:off x="4937760" y="4078224"/>
            <a:ext cx="2926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2600"/>
              <a:buFont typeface="Arial"/>
              <a:buNone/>
            </a:pPr>
            <a:r>
              <a:rPr b="1" i="0" lang="en-US" sz="2600" u="none" cap="none" strike="noStrike">
                <a:solidFill>
                  <a:schemeClr val="accent3"/>
                </a:solidFill>
                <a:latin typeface="Arial"/>
                <a:ea typeface="Arial"/>
                <a:cs typeface="Arial"/>
                <a:sym typeface="Arial"/>
              </a:rPr>
              <a:t>100</a:t>
            </a:r>
            <a:endParaRPr b="0" i="0" sz="2600" u="none" cap="none" strike="noStrike">
              <a:solidFill>
                <a:schemeClr val="dk1"/>
              </a:solidFill>
              <a:latin typeface="Calibri"/>
              <a:ea typeface="Calibri"/>
              <a:cs typeface="Calibri"/>
              <a:sym typeface="Calibri"/>
            </a:endParaRPr>
          </a:p>
        </p:txBody>
      </p:sp>
      <p:sp>
        <p:nvSpPr>
          <p:cNvPr id="647" name="Google Shape;647;p18"/>
          <p:cNvSpPr txBox="1"/>
          <p:nvPr/>
        </p:nvSpPr>
        <p:spPr>
          <a:xfrm>
            <a:off x="4937760" y="4535424"/>
            <a:ext cx="29260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annotated regions per pipeline</a:t>
            </a:r>
            <a:endParaRPr b="0" i="0" sz="1200" u="none" cap="none" strike="noStrike">
              <a:solidFill>
                <a:schemeClr val="dk1"/>
              </a:solidFill>
              <a:latin typeface="Calibri"/>
              <a:ea typeface="Calibri"/>
              <a:cs typeface="Calibri"/>
              <a:sym typeface="Calibri"/>
            </a:endParaRPr>
          </a:p>
        </p:txBody>
      </p:sp>
      <p:sp>
        <p:nvSpPr>
          <p:cNvPr id="648" name="Google Shape;648;p18"/>
          <p:cNvSpPr txBox="1"/>
          <p:nvPr/>
        </p:nvSpPr>
        <p:spPr>
          <a:xfrm>
            <a:off x="4937760" y="5065776"/>
            <a:ext cx="2926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2600"/>
              <a:buFont typeface="Arial"/>
              <a:buNone/>
            </a:pPr>
            <a:r>
              <a:rPr b="1" i="0" lang="en-US" sz="2600" u="none" cap="none" strike="noStrike">
                <a:solidFill>
                  <a:schemeClr val="accent3"/>
                </a:solidFill>
                <a:latin typeface="Arial"/>
                <a:ea typeface="Arial"/>
                <a:cs typeface="Arial"/>
                <a:sym typeface="Arial"/>
              </a:rPr>
              <a:t>40 / 60</a:t>
            </a:r>
            <a:endParaRPr b="0" i="0" sz="2600" u="none" cap="none" strike="noStrike">
              <a:solidFill>
                <a:schemeClr val="dk1"/>
              </a:solidFill>
              <a:latin typeface="Calibri"/>
              <a:ea typeface="Calibri"/>
              <a:cs typeface="Calibri"/>
              <a:sym typeface="Calibri"/>
            </a:endParaRPr>
          </a:p>
        </p:txBody>
      </p:sp>
      <p:sp>
        <p:nvSpPr>
          <p:cNvPr id="649" name="Google Shape;649;p18"/>
          <p:cNvSpPr txBox="1"/>
          <p:nvPr/>
        </p:nvSpPr>
        <p:spPr>
          <a:xfrm>
            <a:off x="4937760" y="5522976"/>
            <a:ext cx="29260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defective / non-defective regions</a:t>
            </a:r>
            <a:endParaRPr b="0" i="0" sz="1200" u="none" cap="none" strike="noStrike">
              <a:solidFill>
                <a:schemeClr val="dk1"/>
              </a:solidFill>
              <a:latin typeface="Calibri"/>
              <a:ea typeface="Calibri"/>
              <a:cs typeface="Calibri"/>
              <a:sym typeface="Calibri"/>
            </a:endParaRPr>
          </a:p>
        </p:txBody>
      </p:sp>
      <p:sp>
        <p:nvSpPr>
          <p:cNvPr id="650" name="Google Shape;650;p18"/>
          <p:cNvSpPr/>
          <p:nvPr/>
        </p:nvSpPr>
        <p:spPr>
          <a:xfrm>
            <a:off x="8229600" y="1508760"/>
            <a:ext cx="3429000" cy="2514600"/>
          </a:xfrm>
          <a:prstGeom prst="roundRect">
            <a:avLst>
              <a:gd fmla="val 4364"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18"/>
          <p:cNvSpPr txBox="1"/>
          <p:nvPr/>
        </p:nvSpPr>
        <p:spPr>
          <a:xfrm>
            <a:off x="8458200" y="1645920"/>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500"/>
              <a:buFont typeface="Calibri"/>
              <a:buNone/>
            </a:pPr>
            <a:r>
              <a:rPr b="1" i="0" lang="en-US" sz="1500" u="none" cap="none" strike="noStrike">
                <a:solidFill>
                  <a:schemeClr val="accent2"/>
                </a:solidFill>
                <a:latin typeface="Calibri"/>
                <a:ea typeface="Calibri"/>
                <a:cs typeface="Calibri"/>
                <a:sym typeface="Calibri"/>
              </a:rPr>
              <a:t>Fair procedure</a:t>
            </a:r>
            <a:endParaRPr b="0" i="0" sz="1500" u="none" cap="none" strike="noStrike">
              <a:solidFill>
                <a:schemeClr val="dk1"/>
              </a:solidFill>
              <a:latin typeface="Calibri"/>
              <a:ea typeface="Calibri"/>
              <a:cs typeface="Calibri"/>
              <a:sym typeface="Calibri"/>
            </a:endParaRPr>
          </a:p>
        </p:txBody>
      </p:sp>
      <p:sp>
        <p:nvSpPr>
          <p:cNvPr id="652" name="Google Shape;652;p18"/>
          <p:cNvSpPr txBox="1"/>
          <p:nvPr/>
        </p:nvSpPr>
        <p:spPr>
          <a:xfrm>
            <a:off x="8458200" y="2011680"/>
            <a:ext cx="3063240" cy="19202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Same images, taxonomy, output schema and decision rule</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Same Gemini version and settings for every pipeline</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Test set frozen before inference; no labels given to models</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Raw outputs, failures, latency and cost all logged</a:t>
            </a:r>
            <a:endParaRPr b="0" i="0" sz="1200" u="none" cap="none" strike="noStrike">
              <a:solidFill>
                <a:schemeClr val="dk1"/>
              </a:solidFill>
              <a:latin typeface="Calibri"/>
              <a:ea typeface="Calibri"/>
              <a:cs typeface="Calibri"/>
              <a:sym typeface="Calibri"/>
            </a:endParaRPr>
          </a:p>
        </p:txBody>
      </p:sp>
      <p:sp>
        <p:nvSpPr>
          <p:cNvPr id="653" name="Google Shape;653;p18"/>
          <p:cNvSpPr/>
          <p:nvPr/>
        </p:nvSpPr>
        <p:spPr>
          <a:xfrm>
            <a:off x="8229600" y="4160520"/>
            <a:ext cx="3429000" cy="1965960"/>
          </a:xfrm>
          <a:prstGeom prst="roundRect">
            <a:avLst>
              <a:gd fmla="val 5581" name="adj"/>
            </a:avLst>
          </a:prstGeom>
          <a:solidFill>
            <a:srgbClr val="142A1C"/>
          </a:solidFill>
          <a:ln cap="flat" cmpd="sng" w="12700">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18"/>
          <p:cNvSpPr txBox="1"/>
          <p:nvPr/>
        </p:nvSpPr>
        <p:spPr>
          <a:xfrm>
            <a:off x="8458200" y="4297680"/>
            <a:ext cx="30175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500"/>
              <a:buFont typeface="Calibri"/>
              <a:buNone/>
            </a:pPr>
            <a:r>
              <a:rPr b="1" i="0" lang="en-US" sz="1500" u="none" cap="none" strike="noStrike">
                <a:solidFill>
                  <a:schemeClr val="accent4"/>
                </a:solidFill>
                <a:latin typeface="Calibri"/>
                <a:ea typeface="Calibri"/>
                <a:cs typeface="Calibri"/>
                <a:sym typeface="Calibri"/>
              </a:rPr>
              <a:t>Acceptance targets for D</a:t>
            </a:r>
            <a:endParaRPr b="0" i="0" sz="1500" u="none" cap="none" strike="noStrike">
              <a:solidFill>
                <a:schemeClr val="dk1"/>
              </a:solidFill>
              <a:latin typeface="Calibri"/>
              <a:ea typeface="Calibri"/>
              <a:cs typeface="Calibri"/>
              <a:sym typeface="Calibri"/>
            </a:endParaRPr>
          </a:p>
        </p:txBody>
      </p:sp>
      <p:sp>
        <p:nvSpPr>
          <p:cNvPr id="655" name="Google Shape;655;p18"/>
          <p:cNvSpPr txBox="1"/>
          <p:nvPr/>
        </p:nvSpPr>
        <p:spPr>
          <a:xfrm>
            <a:off x="8458200" y="4663440"/>
            <a:ext cx="3063240" cy="13716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Region accuracy of at least 85%</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Precision, recall and F1 each at least 85%</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At most 1 false alarm on the 2 clean rooms</a:t>
            </a:r>
            <a:endParaRPr b="0" i="0" sz="12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Better than Gemini alone (A) on every metric</a:t>
            </a:r>
            <a:endParaRPr b="0" i="0" sz="1200" u="none" cap="none" strike="noStrike">
              <a:solidFill>
                <a:schemeClr val="dk1"/>
              </a:solidFill>
              <a:latin typeface="Calibri"/>
              <a:ea typeface="Calibri"/>
              <a:cs typeface="Calibri"/>
              <a:sym typeface="Calibri"/>
            </a:endParaRPr>
          </a:p>
        </p:txBody>
      </p:sp>
      <p:sp>
        <p:nvSpPr>
          <p:cNvPr id="656" name="Google Shape;656;p18"/>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1" name="Shape 661"/>
        <p:cNvGrpSpPr/>
        <p:nvPr/>
      </p:nvGrpSpPr>
      <p:grpSpPr>
        <a:xfrm>
          <a:off x="0" y="0"/>
          <a:ext cx="0" cy="0"/>
          <a:chOff x="0" y="0"/>
          <a:chExt cx="0" cy="0"/>
        </a:xfrm>
      </p:grpSpPr>
      <p:sp>
        <p:nvSpPr>
          <p:cNvPr id="662" name="Google Shape;662;p19"/>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EVALUATION</a:t>
            </a:r>
            <a:endParaRPr sz="1200"/>
          </a:p>
        </p:txBody>
      </p:sp>
      <p:sp>
        <p:nvSpPr>
          <p:cNvPr id="663" name="Google Shape;663;p19"/>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Expected gain from adding localisation and verification</a:t>
            </a:r>
            <a:endParaRPr sz="3000"/>
          </a:p>
        </p:txBody>
      </p:sp>
      <p:sp>
        <p:nvSpPr>
          <p:cNvPr id="664" name="Google Shape;664;p19"/>
          <p:cNvSpPr txBox="1"/>
          <p:nvPr/>
        </p:nvSpPr>
        <p:spPr>
          <a:xfrm>
            <a:off x="3683690" y="5806455"/>
            <a:ext cx="54864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1" lang="en-US" sz="1200" u="none" cap="none" strike="noStrike">
                <a:solidFill>
                  <a:schemeClr val="dk2"/>
                </a:solidFill>
                <a:latin typeface="Calibri"/>
                <a:ea typeface="Calibri"/>
                <a:cs typeface="Calibri"/>
                <a:sym typeface="Calibri"/>
              </a:rPr>
              <a:t> </a:t>
            </a:r>
            <a:r>
              <a:rPr b="0" i="1" lang="en-US" sz="1200" u="none" cap="none" strike="noStrike">
                <a:solidFill>
                  <a:schemeClr val="dk2"/>
                </a:solidFill>
                <a:latin typeface="Calibri"/>
                <a:ea typeface="Calibri"/>
                <a:cs typeface="Calibri"/>
                <a:sym typeface="Calibri"/>
              </a:rPr>
              <a:t>clean-room false alarms: A 2 · B 2 · C 2 · D 1 (2 clean rooms, 20 regions)</a:t>
            </a:r>
            <a:endParaRPr b="0" i="0" sz="1200" u="none" cap="none" strike="noStrike">
              <a:solidFill>
                <a:schemeClr val="dk1"/>
              </a:solidFill>
              <a:latin typeface="Calibri"/>
              <a:ea typeface="Calibri"/>
              <a:cs typeface="Calibri"/>
              <a:sym typeface="Calibri"/>
            </a:endParaRPr>
          </a:p>
        </p:txBody>
      </p:sp>
      <p:sp>
        <p:nvSpPr>
          <p:cNvPr id="665" name="Google Shape;665;p19"/>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pic>
        <p:nvPicPr>
          <p:cNvPr id="666" name="Google Shape;666;p19"/>
          <p:cNvPicPr preferRelativeResize="0"/>
          <p:nvPr/>
        </p:nvPicPr>
        <p:blipFill>
          <a:blip r:embed="rId3">
            <a:alphaModFix/>
          </a:blip>
          <a:stretch>
            <a:fillRect/>
          </a:stretch>
        </p:blipFill>
        <p:spPr>
          <a:xfrm>
            <a:off x="152400" y="1469136"/>
            <a:ext cx="11887199" cy="407446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20"/>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WHAT WE BUILT</a:t>
            </a:r>
            <a:endParaRPr sz="1200"/>
          </a:p>
        </p:txBody>
      </p:sp>
      <p:sp>
        <p:nvSpPr>
          <p:cNvPr id="673" name="Google Shape;673;p20"/>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From depth research to a deployable product</a:t>
            </a:r>
            <a:endParaRPr sz="3000"/>
          </a:p>
        </p:txBody>
      </p:sp>
      <p:cxnSp>
        <p:nvCxnSpPr>
          <p:cNvPr id="674" name="Google Shape;674;p20"/>
          <p:cNvCxnSpPr/>
          <p:nvPr/>
        </p:nvCxnSpPr>
        <p:spPr>
          <a:xfrm>
            <a:off x="822960" y="2331720"/>
            <a:ext cx="10561320" cy="0"/>
          </a:xfrm>
          <a:prstGeom prst="straightConnector1">
            <a:avLst/>
          </a:prstGeom>
          <a:noFill/>
          <a:ln cap="flat" cmpd="sng" w="25400">
            <a:solidFill>
              <a:srgbClr val="6366F1"/>
            </a:solidFill>
            <a:prstDash val="solid"/>
            <a:round/>
            <a:headEnd len="sm" w="sm" type="none"/>
            <a:tailEnd len="sm" w="sm" type="none"/>
          </a:ln>
        </p:spPr>
      </p:cxnSp>
      <p:sp>
        <p:nvSpPr>
          <p:cNvPr id="675" name="Google Shape;675;p20"/>
          <p:cNvSpPr/>
          <p:nvPr/>
        </p:nvSpPr>
        <p:spPr>
          <a:xfrm>
            <a:off x="685800" y="2194560"/>
            <a:ext cx="274320" cy="274320"/>
          </a:xfrm>
          <a:prstGeom prst="ellipse">
            <a:avLst/>
          </a:prstGeom>
          <a:solidFill>
            <a:srgbClr val="22D3EE"/>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0"/>
          <p:cNvSpPr txBox="1"/>
          <p:nvPr/>
        </p:nvSpPr>
        <p:spPr>
          <a:xfrm>
            <a:off x="54864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01</a:t>
            </a:r>
            <a:endParaRPr b="0" i="0" sz="1300" u="none" cap="none" strike="noStrike">
              <a:solidFill>
                <a:schemeClr val="dk1"/>
              </a:solidFill>
              <a:latin typeface="Calibri"/>
              <a:ea typeface="Calibri"/>
              <a:cs typeface="Calibri"/>
              <a:sym typeface="Calibri"/>
            </a:endParaRPr>
          </a:p>
        </p:txBody>
      </p:sp>
      <p:sp>
        <p:nvSpPr>
          <p:cNvPr id="677" name="Google Shape;677;p20"/>
          <p:cNvSpPr txBox="1"/>
          <p:nvPr/>
        </p:nvSpPr>
        <p:spPr>
          <a:xfrm>
            <a:off x="54864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Depth + SLAM</a:t>
            </a:r>
            <a:endParaRPr b="0" i="0" sz="1500" u="none" cap="none" strike="noStrike">
              <a:solidFill>
                <a:schemeClr val="dk1"/>
              </a:solidFill>
              <a:latin typeface="Calibri"/>
              <a:ea typeface="Calibri"/>
              <a:cs typeface="Calibri"/>
              <a:sym typeface="Calibri"/>
            </a:endParaRPr>
          </a:p>
        </p:txBody>
      </p:sp>
      <p:sp>
        <p:nvSpPr>
          <p:cNvPr id="678" name="Google Shape;678;p20"/>
          <p:cNvSpPr txBox="1"/>
          <p:nvPr/>
        </p:nvSpPr>
        <p:spPr>
          <a:xfrm>
            <a:off x="54864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Depth Anything 3 visual SLAM: trajectory, dense map, occupancy grid, A* path</a:t>
            </a:r>
            <a:endParaRPr b="0" i="0" sz="1200" u="none" cap="none" strike="noStrike">
              <a:solidFill>
                <a:schemeClr val="dk1"/>
              </a:solidFill>
              <a:latin typeface="Calibri"/>
              <a:ea typeface="Calibri"/>
              <a:cs typeface="Calibri"/>
              <a:sym typeface="Calibri"/>
            </a:endParaRPr>
          </a:p>
        </p:txBody>
      </p:sp>
      <p:sp>
        <p:nvSpPr>
          <p:cNvPr id="679" name="Google Shape;679;p20"/>
          <p:cNvSpPr/>
          <p:nvPr/>
        </p:nvSpPr>
        <p:spPr>
          <a:xfrm>
            <a:off x="2560320" y="2194560"/>
            <a:ext cx="274320" cy="274320"/>
          </a:xfrm>
          <a:prstGeom prst="ellipse">
            <a:avLst/>
          </a:prstGeom>
          <a:solidFill>
            <a:srgbClr val="22D3EE"/>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0"/>
          <p:cNvSpPr txBox="1"/>
          <p:nvPr/>
        </p:nvSpPr>
        <p:spPr>
          <a:xfrm>
            <a:off x="242316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02</a:t>
            </a:r>
            <a:endParaRPr b="0" i="0" sz="1300" u="none" cap="none" strike="noStrike">
              <a:solidFill>
                <a:schemeClr val="dk1"/>
              </a:solidFill>
              <a:latin typeface="Calibri"/>
              <a:ea typeface="Calibri"/>
              <a:cs typeface="Calibri"/>
              <a:sym typeface="Calibri"/>
            </a:endParaRPr>
          </a:p>
        </p:txBody>
      </p:sp>
      <p:sp>
        <p:nvSpPr>
          <p:cNvPr id="681" name="Google Shape;681;p20"/>
          <p:cNvSpPr txBox="1"/>
          <p:nvPr/>
        </p:nvSpPr>
        <p:spPr>
          <a:xfrm>
            <a:off x="242316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Hybrid SLAM</a:t>
            </a:r>
            <a:endParaRPr b="0" i="0" sz="1500" u="none" cap="none" strike="noStrike">
              <a:solidFill>
                <a:schemeClr val="dk1"/>
              </a:solidFill>
              <a:latin typeface="Calibri"/>
              <a:ea typeface="Calibri"/>
              <a:cs typeface="Calibri"/>
              <a:sym typeface="Calibri"/>
            </a:endParaRPr>
          </a:p>
        </p:txBody>
      </p:sp>
      <p:sp>
        <p:nvSpPr>
          <p:cNvPr id="682" name="Google Shape;682;p20"/>
          <p:cNvSpPr txBox="1"/>
          <p:nvPr/>
        </p:nvSpPr>
        <p:spPr>
          <a:xfrm>
            <a:off x="242316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OpenCV 5 tracking + ICP alignment and Manhattan planes: straight walls, sharp corners</a:t>
            </a:r>
            <a:endParaRPr b="0" i="0" sz="1200" u="none" cap="none" strike="noStrike">
              <a:solidFill>
                <a:schemeClr val="dk1"/>
              </a:solidFill>
              <a:latin typeface="Calibri"/>
              <a:ea typeface="Calibri"/>
              <a:cs typeface="Calibri"/>
              <a:sym typeface="Calibri"/>
            </a:endParaRPr>
          </a:p>
        </p:txBody>
      </p:sp>
      <p:sp>
        <p:nvSpPr>
          <p:cNvPr id="683" name="Google Shape;683;p20"/>
          <p:cNvSpPr/>
          <p:nvPr/>
        </p:nvSpPr>
        <p:spPr>
          <a:xfrm>
            <a:off x="4434840" y="2194560"/>
            <a:ext cx="274320" cy="274320"/>
          </a:xfrm>
          <a:prstGeom prst="ellipse">
            <a:avLst/>
          </a:prstGeom>
          <a:solidFill>
            <a:srgbClr val="22D3EE"/>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0"/>
          <p:cNvSpPr txBox="1"/>
          <p:nvPr/>
        </p:nvSpPr>
        <p:spPr>
          <a:xfrm>
            <a:off x="429768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03</a:t>
            </a:r>
            <a:endParaRPr b="0" i="0" sz="1300" u="none" cap="none" strike="noStrike">
              <a:solidFill>
                <a:schemeClr val="dk1"/>
              </a:solidFill>
              <a:latin typeface="Calibri"/>
              <a:ea typeface="Calibri"/>
              <a:cs typeface="Calibri"/>
              <a:sym typeface="Calibri"/>
            </a:endParaRPr>
          </a:p>
        </p:txBody>
      </p:sp>
      <p:sp>
        <p:nvSpPr>
          <p:cNvPr id="685" name="Google Shape;685;p20"/>
          <p:cNvSpPr txBox="1"/>
          <p:nvPr/>
        </p:nvSpPr>
        <p:spPr>
          <a:xfrm>
            <a:off x="429768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Photo-real 3D</a:t>
            </a:r>
            <a:endParaRPr b="0" i="0" sz="1500" u="none" cap="none" strike="noStrike">
              <a:solidFill>
                <a:schemeClr val="dk1"/>
              </a:solidFill>
              <a:latin typeface="Calibri"/>
              <a:ea typeface="Calibri"/>
              <a:cs typeface="Calibri"/>
              <a:sym typeface="Calibri"/>
            </a:endParaRPr>
          </a:p>
        </p:txBody>
      </p:sp>
      <p:sp>
        <p:nvSpPr>
          <p:cNvPr id="686" name="Google Shape;686;p20"/>
          <p:cNvSpPr txBox="1"/>
          <p:nvPr/>
        </p:nvSpPr>
        <p:spPr>
          <a:xfrm>
            <a:off x="429768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Gaussian Splatting experiment (gsplat) on the same cameras</a:t>
            </a:r>
            <a:endParaRPr b="0" i="0" sz="1200" u="none" cap="none" strike="noStrike">
              <a:solidFill>
                <a:schemeClr val="dk1"/>
              </a:solidFill>
              <a:latin typeface="Calibri"/>
              <a:ea typeface="Calibri"/>
              <a:cs typeface="Calibri"/>
              <a:sym typeface="Calibri"/>
            </a:endParaRPr>
          </a:p>
        </p:txBody>
      </p:sp>
      <p:sp>
        <p:nvSpPr>
          <p:cNvPr id="687" name="Google Shape;687;p20"/>
          <p:cNvSpPr/>
          <p:nvPr/>
        </p:nvSpPr>
        <p:spPr>
          <a:xfrm>
            <a:off x="6309360" y="2194560"/>
            <a:ext cx="274320" cy="274320"/>
          </a:xfrm>
          <a:prstGeom prst="ellipse">
            <a:avLst/>
          </a:prstGeom>
          <a:solidFill>
            <a:srgbClr val="22D3EE"/>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0"/>
          <p:cNvSpPr txBox="1"/>
          <p:nvPr/>
        </p:nvSpPr>
        <p:spPr>
          <a:xfrm>
            <a:off x="617220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04</a:t>
            </a:r>
            <a:endParaRPr b="0" i="0" sz="1300" u="none" cap="none" strike="noStrike">
              <a:solidFill>
                <a:schemeClr val="dk1"/>
              </a:solidFill>
              <a:latin typeface="Calibri"/>
              <a:ea typeface="Calibri"/>
              <a:cs typeface="Calibri"/>
              <a:sym typeface="Calibri"/>
            </a:endParaRPr>
          </a:p>
        </p:txBody>
      </p:sp>
      <p:sp>
        <p:nvSpPr>
          <p:cNvPr id="689" name="Google Shape;689;p20"/>
          <p:cNvSpPr txBox="1"/>
          <p:nvPr/>
        </p:nvSpPr>
        <p:spPr>
          <a:xfrm>
            <a:off x="617220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Production 3D</a:t>
            </a:r>
            <a:endParaRPr b="0" i="0" sz="1500" u="none" cap="none" strike="noStrike">
              <a:solidFill>
                <a:schemeClr val="dk1"/>
              </a:solidFill>
              <a:latin typeface="Calibri"/>
              <a:ea typeface="Calibri"/>
              <a:cs typeface="Calibri"/>
              <a:sym typeface="Calibri"/>
            </a:endParaRPr>
          </a:p>
        </p:txBody>
      </p:sp>
      <p:sp>
        <p:nvSpPr>
          <p:cNvPr id="690" name="Google Shape;690;p20"/>
          <p:cNvSpPr txBox="1"/>
          <p:nvPr/>
        </p:nvSpPr>
        <p:spPr>
          <a:xfrm>
            <a:off x="617220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One command: video → clean GLB, SLAM GLB, floor plan (+SVG), evaluation</a:t>
            </a:r>
            <a:endParaRPr b="0" i="0" sz="1200" u="none" cap="none" strike="noStrike">
              <a:solidFill>
                <a:schemeClr val="dk1"/>
              </a:solidFill>
              <a:latin typeface="Calibri"/>
              <a:ea typeface="Calibri"/>
              <a:cs typeface="Calibri"/>
              <a:sym typeface="Calibri"/>
            </a:endParaRPr>
          </a:p>
        </p:txBody>
      </p:sp>
      <p:sp>
        <p:nvSpPr>
          <p:cNvPr id="691" name="Google Shape;691;p20"/>
          <p:cNvSpPr/>
          <p:nvPr/>
        </p:nvSpPr>
        <p:spPr>
          <a:xfrm>
            <a:off x="8183880" y="2194560"/>
            <a:ext cx="274320" cy="274320"/>
          </a:xfrm>
          <a:prstGeom prst="ellipse">
            <a:avLst/>
          </a:prstGeom>
          <a:solidFill>
            <a:srgbClr val="22D3EE"/>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20"/>
          <p:cNvSpPr txBox="1"/>
          <p:nvPr/>
        </p:nvSpPr>
        <p:spPr>
          <a:xfrm>
            <a:off x="804672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05</a:t>
            </a:r>
            <a:endParaRPr b="0" i="0" sz="1300" u="none" cap="none" strike="noStrike">
              <a:solidFill>
                <a:schemeClr val="dk1"/>
              </a:solidFill>
              <a:latin typeface="Calibri"/>
              <a:ea typeface="Calibri"/>
              <a:cs typeface="Calibri"/>
              <a:sym typeface="Calibri"/>
            </a:endParaRPr>
          </a:p>
        </p:txBody>
      </p:sp>
      <p:sp>
        <p:nvSpPr>
          <p:cNvPr id="693" name="Google Shape;693;p20"/>
          <p:cNvSpPr txBox="1"/>
          <p:nvPr/>
        </p:nvSpPr>
        <p:spPr>
          <a:xfrm>
            <a:off x="804672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Inspection AI</a:t>
            </a:r>
            <a:endParaRPr b="0" i="0" sz="1500" u="none" cap="none" strike="noStrike">
              <a:solidFill>
                <a:schemeClr val="dk1"/>
              </a:solidFill>
              <a:latin typeface="Calibri"/>
              <a:ea typeface="Calibri"/>
              <a:cs typeface="Calibri"/>
              <a:sym typeface="Calibri"/>
            </a:endParaRPr>
          </a:p>
        </p:txBody>
      </p:sp>
      <p:sp>
        <p:nvSpPr>
          <p:cNvPr id="694" name="Google Shape;694;p20"/>
          <p:cNvSpPr txBox="1"/>
          <p:nvPr/>
        </p:nvSpPr>
        <p:spPr>
          <a:xfrm>
            <a:off x="804672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Defect taxonomy, locate + verify models, rule and risk engine, fraud checks</a:t>
            </a:r>
            <a:endParaRPr b="0" i="0" sz="1200" u="none" cap="none" strike="noStrike">
              <a:solidFill>
                <a:schemeClr val="dk1"/>
              </a:solidFill>
              <a:latin typeface="Calibri"/>
              <a:ea typeface="Calibri"/>
              <a:cs typeface="Calibri"/>
              <a:sym typeface="Calibri"/>
            </a:endParaRPr>
          </a:p>
        </p:txBody>
      </p:sp>
      <p:sp>
        <p:nvSpPr>
          <p:cNvPr id="695" name="Google Shape;695;p20"/>
          <p:cNvSpPr/>
          <p:nvPr/>
        </p:nvSpPr>
        <p:spPr>
          <a:xfrm>
            <a:off x="10058400" y="2194560"/>
            <a:ext cx="274320" cy="274320"/>
          </a:xfrm>
          <a:prstGeom prst="ellipse">
            <a:avLst/>
          </a:prstGeom>
          <a:solidFill>
            <a:srgbClr val="F59E0B"/>
          </a:solidFill>
          <a:ln cap="flat" cmpd="sng" w="25400">
            <a:solidFill>
              <a:srgbClr val="0B122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0"/>
          <p:cNvSpPr txBox="1"/>
          <p:nvPr/>
        </p:nvSpPr>
        <p:spPr>
          <a:xfrm>
            <a:off x="9921240" y="1691640"/>
            <a:ext cx="17373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300"/>
              <a:buFont typeface="Calibri"/>
              <a:buNone/>
            </a:pPr>
            <a:r>
              <a:rPr b="1" i="0" lang="en-US" sz="1300" u="none" cap="none" strike="noStrike">
                <a:solidFill>
                  <a:schemeClr val="accent3"/>
                </a:solidFill>
                <a:latin typeface="Calibri"/>
                <a:ea typeface="Calibri"/>
                <a:cs typeface="Calibri"/>
                <a:sym typeface="Calibri"/>
              </a:rPr>
              <a:t>06</a:t>
            </a:r>
            <a:endParaRPr b="0" i="0" sz="1300" u="none" cap="none" strike="noStrike">
              <a:solidFill>
                <a:schemeClr val="dk1"/>
              </a:solidFill>
              <a:latin typeface="Calibri"/>
              <a:ea typeface="Calibri"/>
              <a:cs typeface="Calibri"/>
              <a:sym typeface="Calibri"/>
            </a:endParaRPr>
          </a:p>
        </p:txBody>
      </p:sp>
      <p:sp>
        <p:nvSpPr>
          <p:cNvPr id="697" name="Google Shape;697;p20"/>
          <p:cNvSpPr txBox="1"/>
          <p:nvPr/>
        </p:nvSpPr>
        <p:spPr>
          <a:xfrm>
            <a:off x="9921240" y="2697480"/>
            <a:ext cx="173736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rPr b="1" i="0" lang="en-US" sz="1500" u="none" cap="none" strike="noStrike">
                <a:solidFill>
                  <a:schemeClr val="dk1"/>
                </a:solidFill>
                <a:latin typeface="Calibri"/>
                <a:ea typeface="Calibri"/>
                <a:cs typeface="Calibri"/>
                <a:sym typeface="Calibri"/>
              </a:rPr>
              <a:t>Google Cloud v1.0.0</a:t>
            </a:r>
            <a:endParaRPr b="0" i="0" sz="1500" u="none" cap="none" strike="noStrike">
              <a:solidFill>
                <a:schemeClr val="dk1"/>
              </a:solidFill>
              <a:latin typeface="Calibri"/>
              <a:ea typeface="Calibri"/>
              <a:cs typeface="Calibri"/>
              <a:sym typeface="Calibri"/>
            </a:endParaRPr>
          </a:p>
        </p:txBody>
      </p:sp>
      <p:sp>
        <p:nvSpPr>
          <p:cNvPr id="698" name="Google Shape;698;p20"/>
          <p:cNvSpPr txBox="1"/>
          <p:nvPr/>
        </p:nvSpPr>
        <p:spPr>
          <a:xfrm>
            <a:off x="9921240" y="3246120"/>
            <a:ext cx="1737360" cy="13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Gemini on Vertex AI, Cloud Run + L4, BigQuery, Pub/Sub, one-command deploy</a:t>
            </a:r>
            <a:endParaRPr b="0" i="0" sz="1200" u="none" cap="none" strike="noStrike">
              <a:solidFill>
                <a:schemeClr val="dk1"/>
              </a:solidFill>
              <a:latin typeface="Calibri"/>
              <a:ea typeface="Calibri"/>
              <a:cs typeface="Calibri"/>
              <a:sym typeface="Calibri"/>
            </a:endParaRPr>
          </a:p>
        </p:txBody>
      </p:sp>
      <p:sp>
        <p:nvSpPr>
          <p:cNvPr id="699" name="Google Shape;699;p20"/>
          <p:cNvSpPr/>
          <p:nvPr/>
        </p:nvSpPr>
        <p:spPr>
          <a:xfrm>
            <a:off x="548640" y="4846320"/>
            <a:ext cx="2103120" cy="1234440"/>
          </a:xfrm>
          <a:prstGeom prst="roundRect">
            <a:avLst>
              <a:gd fmla="val 8889"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0"/>
          <p:cNvSpPr txBox="1"/>
          <p:nvPr/>
        </p:nvSpPr>
        <p:spPr>
          <a:xfrm>
            <a:off x="731520" y="4937760"/>
            <a:ext cx="17373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200"/>
              <a:buFont typeface="Arial"/>
              <a:buNone/>
            </a:pPr>
            <a:r>
              <a:rPr b="1" i="0" lang="en-US" sz="3200" u="none" cap="none" strike="noStrike">
                <a:solidFill>
                  <a:schemeClr val="accent2"/>
                </a:solidFill>
                <a:latin typeface="Arial"/>
                <a:ea typeface="Arial"/>
                <a:cs typeface="Arial"/>
                <a:sym typeface="Arial"/>
              </a:rPr>
              <a:t>18</a:t>
            </a:r>
            <a:endParaRPr b="0" i="0" sz="3200" u="none" cap="none" strike="noStrike">
              <a:solidFill>
                <a:schemeClr val="dk1"/>
              </a:solidFill>
              <a:latin typeface="Calibri"/>
              <a:ea typeface="Calibri"/>
              <a:cs typeface="Calibri"/>
              <a:sym typeface="Calibri"/>
            </a:endParaRPr>
          </a:p>
        </p:txBody>
      </p:sp>
      <p:sp>
        <p:nvSpPr>
          <p:cNvPr id="701" name="Google Shape;701;p20"/>
          <p:cNvSpPr txBox="1"/>
          <p:nvPr/>
        </p:nvSpPr>
        <p:spPr>
          <a:xfrm>
            <a:off x="731520" y="5532120"/>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defect types, 12 components</a:t>
            </a:r>
            <a:endParaRPr b="0" i="0" sz="1300" u="none" cap="none" strike="noStrike">
              <a:solidFill>
                <a:schemeClr val="dk1"/>
              </a:solidFill>
              <a:latin typeface="Calibri"/>
              <a:ea typeface="Calibri"/>
              <a:cs typeface="Calibri"/>
              <a:sym typeface="Calibri"/>
            </a:endParaRPr>
          </a:p>
        </p:txBody>
      </p:sp>
      <p:sp>
        <p:nvSpPr>
          <p:cNvPr id="702" name="Google Shape;702;p20"/>
          <p:cNvSpPr/>
          <p:nvPr/>
        </p:nvSpPr>
        <p:spPr>
          <a:xfrm>
            <a:off x="2807208" y="4846320"/>
            <a:ext cx="2103120" cy="1234440"/>
          </a:xfrm>
          <a:prstGeom prst="roundRect">
            <a:avLst>
              <a:gd fmla="val 8889"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20"/>
          <p:cNvSpPr txBox="1"/>
          <p:nvPr/>
        </p:nvSpPr>
        <p:spPr>
          <a:xfrm>
            <a:off x="2990088" y="4937760"/>
            <a:ext cx="17373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200"/>
              <a:buFont typeface="Arial"/>
              <a:buNone/>
            </a:pPr>
            <a:r>
              <a:rPr b="1" i="0" lang="en-US" sz="3200" u="none" cap="none" strike="noStrike">
                <a:solidFill>
                  <a:schemeClr val="accent2"/>
                </a:solidFill>
                <a:latin typeface="Arial"/>
                <a:ea typeface="Arial"/>
                <a:cs typeface="Arial"/>
                <a:sym typeface="Arial"/>
              </a:rPr>
              <a:t>8</a:t>
            </a:r>
            <a:endParaRPr b="0" i="0" sz="3200" u="none" cap="none" strike="noStrike">
              <a:solidFill>
                <a:schemeClr val="dk1"/>
              </a:solidFill>
              <a:latin typeface="Calibri"/>
              <a:ea typeface="Calibri"/>
              <a:cs typeface="Calibri"/>
              <a:sym typeface="Calibri"/>
            </a:endParaRPr>
          </a:p>
        </p:txBody>
      </p:sp>
      <p:sp>
        <p:nvSpPr>
          <p:cNvPr id="704" name="Google Shape;704;p20"/>
          <p:cNvSpPr txBox="1"/>
          <p:nvPr/>
        </p:nvSpPr>
        <p:spPr>
          <a:xfrm>
            <a:off x="2990088" y="5532120"/>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room types</a:t>
            </a:r>
            <a:endParaRPr b="0" i="0" sz="1300" u="none" cap="none" strike="noStrike">
              <a:solidFill>
                <a:schemeClr val="dk1"/>
              </a:solidFill>
              <a:latin typeface="Calibri"/>
              <a:ea typeface="Calibri"/>
              <a:cs typeface="Calibri"/>
              <a:sym typeface="Calibri"/>
            </a:endParaRPr>
          </a:p>
        </p:txBody>
      </p:sp>
      <p:sp>
        <p:nvSpPr>
          <p:cNvPr id="705" name="Google Shape;705;p20"/>
          <p:cNvSpPr/>
          <p:nvPr/>
        </p:nvSpPr>
        <p:spPr>
          <a:xfrm>
            <a:off x="5065776" y="4846320"/>
            <a:ext cx="2103120" cy="1234440"/>
          </a:xfrm>
          <a:prstGeom prst="roundRect">
            <a:avLst>
              <a:gd fmla="val 8889"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20"/>
          <p:cNvSpPr txBox="1"/>
          <p:nvPr/>
        </p:nvSpPr>
        <p:spPr>
          <a:xfrm>
            <a:off x="5248656" y="4937760"/>
            <a:ext cx="17373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200"/>
              <a:buFont typeface="Arial"/>
              <a:buNone/>
            </a:pPr>
            <a:r>
              <a:rPr b="1" i="0" lang="en-US" sz="3200" u="none" cap="none" strike="noStrike">
                <a:solidFill>
                  <a:schemeClr val="accent2"/>
                </a:solidFill>
                <a:latin typeface="Arial"/>
                <a:ea typeface="Arial"/>
                <a:cs typeface="Arial"/>
                <a:sym typeface="Arial"/>
              </a:rPr>
              <a:t>18</a:t>
            </a:r>
            <a:endParaRPr b="0" i="0" sz="3200" u="none" cap="none" strike="noStrike">
              <a:solidFill>
                <a:schemeClr val="dk1"/>
              </a:solidFill>
              <a:latin typeface="Calibri"/>
              <a:ea typeface="Calibri"/>
              <a:cs typeface="Calibri"/>
              <a:sym typeface="Calibri"/>
            </a:endParaRPr>
          </a:p>
        </p:txBody>
      </p:sp>
      <p:sp>
        <p:nvSpPr>
          <p:cNvPr id="707" name="Google Shape;707;p20"/>
          <p:cNvSpPr txBox="1"/>
          <p:nvPr/>
        </p:nvSpPr>
        <p:spPr>
          <a:xfrm>
            <a:off x="5248656" y="5532120"/>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REST API endpoints</a:t>
            </a:r>
            <a:endParaRPr b="0" i="0" sz="1300" u="none" cap="none" strike="noStrike">
              <a:solidFill>
                <a:schemeClr val="dk1"/>
              </a:solidFill>
              <a:latin typeface="Calibri"/>
              <a:ea typeface="Calibri"/>
              <a:cs typeface="Calibri"/>
              <a:sym typeface="Calibri"/>
            </a:endParaRPr>
          </a:p>
        </p:txBody>
      </p:sp>
      <p:sp>
        <p:nvSpPr>
          <p:cNvPr id="708" name="Google Shape;708;p20"/>
          <p:cNvSpPr/>
          <p:nvPr/>
        </p:nvSpPr>
        <p:spPr>
          <a:xfrm>
            <a:off x="7324344" y="4846320"/>
            <a:ext cx="2103120" cy="1234440"/>
          </a:xfrm>
          <a:prstGeom prst="roundRect">
            <a:avLst>
              <a:gd fmla="val 8889"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20"/>
          <p:cNvSpPr txBox="1"/>
          <p:nvPr/>
        </p:nvSpPr>
        <p:spPr>
          <a:xfrm>
            <a:off x="7507224" y="4937760"/>
            <a:ext cx="17373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200"/>
              <a:buFont typeface="Arial"/>
              <a:buNone/>
            </a:pPr>
            <a:r>
              <a:rPr b="1" i="0" lang="en-US" sz="3200" u="none" cap="none" strike="noStrike">
                <a:solidFill>
                  <a:schemeClr val="accent2"/>
                </a:solidFill>
                <a:latin typeface="Arial"/>
                <a:ea typeface="Arial"/>
                <a:cs typeface="Arial"/>
                <a:sym typeface="Arial"/>
              </a:rPr>
              <a:t>2</a:t>
            </a:r>
            <a:endParaRPr b="0" i="0" sz="3200" u="none" cap="none" strike="noStrike">
              <a:solidFill>
                <a:schemeClr val="dk1"/>
              </a:solidFill>
              <a:latin typeface="Calibri"/>
              <a:ea typeface="Calibri"/>
              <a:cs typeface="Calibri"/>
              <a:sym typeface="Calibri"/>
            </a:endParaRPr>
          </a:p>
        </p:txBody>
      </p:sp>
      <p:sp>
        <p:nvSpPr>
          <p:cNvPr id="710" name="Google Shape;710;p20"/>
          <p:cNvSpPr txBox="1"/>
          <p:nvPr/>
        </p:nvSpPr>
        <p:spPr>
          <a:xfrm>
            <a:off x="7507224" y="5532120"/>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3D modes (Lite / Advanced)</a:t>
            </a:r>
            <a:endParaRPr b="0" i="0" sz="1300" u="none" cap="none" strike="noStrike">
              <a:solidFill>
                <a:schemeClr val="dk1"/>
              </a:solidFill>
              <a:latin typeface="Calibri"/>
              <a:ea typeface="Calibri"/>
              <a:cs typeface="Calibri"/>
              <a:sym typeface="Calibri"/>
            </a:endParaRPr>
          </a:p>
        </p:txBody>
      </p:sp>
      <p:sp>
        <p:nvSpPr>
          <p:cNvPr id="711" name="Google Shape;711;p20"/>
          <p:cNvSpPr/>
          <p:nvPr/>
        </p:nvSpPr>
        <p:spPr>
          <a:xfrm>
            <a:off x="9582912" y="4846320"/>
            <a:ext cx="2103120" cy="1234440"/>
          </a:xfrm>
          <a:prstGeom prst="roundRect">
            <a:avLst>
              <a:gd fmla="val 8889"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20"/>
          <p:cNvSpPr txBox="1"/>
          <p:nvPr/>
        </p:nvSpPr>
        <p:spPr>
          <a:xfrm>
            <a:off x="9765792" y="4937760"/>
            <a:ext cx="173736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3200"/>
              <a:buFont typeface="Arial"/>
              <a:buNone/>
            </a:pPr>
            <a:r>
              <a:rPr b="1" i="0" lang="en-US" sz="3200" u="none" cap="none" strike="noStrike">
                <a:solidFill>
                  <a:schemeClr val="accent2"/>
                </a:solidFill>
                <a:latin typeface="Arial"/>
                <a:ea typeface="Arial"/>
                <a:cs typeface="Arial"/>
                <a:sym typeface="Arial"/>
              </a:rPr>
              <a:t>1</a:t>
            </a:r>
            <a:endParaRPr b="0" i="0" sz="3200" u="none" cap="none" strike="noStrike">
              <a:solidFill>
                <a:schemeClr val="dk1"/>
              </a:solidFill>
              <a:latin typeface="Calibri"/>
              <a:ea typeface="Calibri"/>
              <a:cs typeface="Calibri"/>
              <a:sym typeface="Calibri"/>
            </a:endParaRPr>
          </a:p>
        </p:txBody>
      </p:sp>
      <p:sp>
        <p:nvSpPr>
          <p:cNvPr id="713" name="Google Shape;713;p20"/>
          <p:cNvSpPr txBox="1"/>
          <p:nvPr/>
        </p:nvSpPr>
        <p:spPr>
          <a:xfrm>
            <a:off x="9765792" y="5532120"/>
            <a:ext cx="1783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command to deploy on Google Cloud</a:t>
            </a:r>
            <a:endParaRPr b="0" i="0" sz="1300" u="none" cap="none" strike="noStrike">
              <a:solidFill>
                <a:schemeClr val="dk1"/>
              </a:solidFill>
              <a:latin typeface="Calibri"/>
              <a:ea typeface="Calibri"/>
              <a:cs typeface="Calibri"/>
              <a:sym typeface="Calibri"/>
            </a:endParaRPr>
          </a:p>
        </p:txBody>
      </p:sp>
      <p:sp>
        <p:nvSpPr>
          <p:cNvPr id="714" name="Google Shape;714;p20"/>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9" name="Shape 719"/>
        <p:cNvGrpSpPr/>
        <p:nvPr/>
      </p:nvGrpSpPr>
      <p:grpSpPr>
        <a:xfrm>
          <a:off x="0" y="0"/>
          <a:ext cx="0" cy="0"/>
          <a:chOff x="0" y="0"/>
          <a:chExt cx="0" cy="0"/>
        </a:xfrm>
      </p:grpSpPr>
      <p:sp>
        <p:nvSpPr>
          <p:cNvPr id="720" name="Google Shape;720;p21"/>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GOOGLE TECHNOLOGIES</a:t>
            </a:r>
            <a:endParaRPr sz="1200"/>
          </a:p>
        </p:txBody>
      </p:sp>
      <p:sp>
        <p:nvSpPr>
          <p:cNvPr id="721" name="Google Shape;721;p21"/>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Built on Google AI and Google Cloud</a:t>
            </a:r>
            <a:endParaRPr sz="3000"/>
          </a:p>
        </p:txBody>
      </p:sp>
      <p:sp>
        <p:nvSpPr>
          <p:cNvPr id="722" name="Google Shape;722;p21"/>
          <p:cNvSpPr txBox="1"/>
          <p:nvPr/>
        </p:nvSpPr>
        <p:spPr>
          <a:xfrm>
            <a:off x="548640" y="1508760"/>
            <a:ext cx="6949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4"/>
              </a:buClr>
              <a:buSzPts val="1200"/>
              <a:buFont typeface="Calibri"/>
              <a:buNone/>
            </a:pPr>
            <a:r>
              <a:rPr b="1" i="0" lang="en-US" sz="1200" u="none" cap="none" strike="noStrike">
                <a:solidFill>
                  <a:schemeClr val="accent4"/>
                </a:solidFill>
                <a:latin typeface="Calibri"/>
                <a:ea typeface="Calibri"/>
                <a:cs typeface="Calibri"/>
                <a:sym typeface="Calibri"/>
              </a:rPr>
              <a:t>IN THE PROTOTYPE</a:t>
            </a:r>
            <a:endParaRPr b="0" i="0" sz="1200" u="none" cap="none" strike="noStrike">
              <a:solidFill>
                <a:schemeClr val="dk1"/>
              </a:solidFill>
              <a:latin typeface="Calibri"/>
              <a:ea typeface="Calibri"/>
              <a:cs typeface="Calibri"/>
              <a:sym typeface="Calibri"/>
            </a:endParaRPr>
          </a:p>
        </p:txBody>
      </p:sp>
      <p:sp>
        <p:nvSpPr>
          <p:cNvPr id="723" name="Google Shape;723;p21"/>
          <p:cNvSpPr/>
          <p:nvPr/>
        </p:nvSpPr>
        <p:spPr>
          <a:xfrm>
            <a:off x="548640" y="1828800"/>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24" name="Google Shape;724;p21"/>
          <p:cNvPicPr preferRelativeResize="0"/>
          <p:nvPr/>
        </p:nvPicPr>
        <p:blipFill rotWithShape="1">
          <a:blip r:embed="rId3">
            <a:alphaModFix/>
          </a:blip>
          <a:srcRect b="0" l="0" r="0" t="0"/>
          <a:stretch/>
        </p:blipFill>
        <p:spPr>
          <a:xfrm>
            <a:off x="685800" y="1984248"/>
            <a:ext cx="274320" cy="274320"/>
          </a:xfrm>
          <a:prstGeom prst="rect">
            <a:avLst/>
          </a:prstGeom>
          <a:noFill/>
          <a:ln>
            <a:noFill/>
          </a:ln>
        </p:spPr>
      </p:pic>
      <p:sp>
        <p:nvSpPr>
          <p:cNvPr id="725" name="Google Shape;725;p21"/>
          <p:cNvSpPr txBox="1"/>
          <p:nvPr/>
        </p:nvSpPr>
        <p:spPr>
          <a:xfrm>
            <a:off x="1051560" y="1938528"/>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Gemini on Vertex AI</a:t>
            </a:r>
            <a:endParaRPr b="0" i="0" sz="1400" u="none" cap="none" strike="noStrike">
              <a:solidFill>
                <a:schemeClr val="dk1"/>
              </a:solidFill>
              <a:latin typeface="Calibri"/>
              <a:ea typeface="Calibri"/>
              <a:cs typeface="Calibri"/>
              <a:sym typeface="Calibri"/>
            </a:endParaRPr>
          </a:p>
        </p:txBody>
      </p:sp>
      <p:sp>
        <p:nvSpPr>
          <p:cNvPr id="726" name="Google Shape;726;p21"/>
          <p:cNvSpPr txBox="1"/>
          <p:nvPr/>
        </p:nvSpPr>
        <p:spPr>
          <a:xfrm>
            <a:off x="1051560" y="2258568"/>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Scene, authenticity, analysis, grounded Q&amp;A, 3D object names</a:t>
            </a:r>
            <a:endParaRPr b="0" i="0" sz="1100" u="none" cap="none" strike="noStrike">
              <a:solidFill>
                <a:schemeClr val="dk1"/>
              </a:solidFill>
              <a:latin typeface="Calibri"/>
              <a:ea typeface="Calibri"/>
              <a:cs typeface="Calibri"/>
              <a:sym typeface="Calibri"/>
            </a:endParaRPr>
          </a:p>
        </p:txBody>
      </p:sp>
      <p:sp>
        <p:nvSpPr>
          <p:cNvPr id="727" name="Google Shape;727;p21"/>
          <p:cNvSpPr/>
          <p:nvPr/>
        </p:nvSpPr>
        <p:spPr>
          <a:xfrm>
            <a:off x="4069080" y="1828800"/>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28" name="Google Shape;728;p21"/>
          <p:cNvPicPr preferRelativeResize="0"/>
          <p:nvPr/>
        </p:nvPicPr>
        <p:blipFill rotWithShape="1">
          <a:blip r:embed="rId3">
            <a:alphaModFix/>
          </a:blip>
          <a:srcRect b="0" l="0" r="0" t="0"/>
          <a:stretch/>
        </p:blipFill>
        <p:spPr>
          <a:xfrm>
            <a:off x="4206240" y="1984248"/>
            <a:ext cx="274320" cy="274320"/>
          </a:xfrm>
          <a:prstGeom prst="rect">
            <a:avLst/>
          </a:prstGeom>
          <a:noFill/>
          <a:ln>
            <a:noFill/>
          </a:ln>
        </p:spPr>
      </p:pic>
      <p:sp>
        <p:nvSpPr>
          <p:cNvPr id="729" name="Google Shape;729;p21"/>
          <p:cNvSpPr txBox="1"/>
          <p:nvPr/>
        </p:nvSpPr>
        <p:spPr>
          <a:xfrm>
            <a:off x="4572000" y="1938528"/>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Gemma 4 (E4B)</a:t>
            </a:r>
            <a:endParaRPr b="0" i="0" sz="1400" u="none" cap="none" strike="noStrike">
              <a:solidFill>
                <a:schemeClr val="dk1"/>
              </a:solidFill>
              <a:latin typeface="Calibri"/>
              <a:ea typeface="Calibri"/>
              <a:cs typeface="Calibri"/>
              <a:sym typeface="Calibri"/>
            </a:endParaRPr>
          </a:p>
        </p:txBody>
      </p:sp>
      <p:sp>
        <p:nvSpPr>
          <p:cNvPr id="730" name="Google Shape;730;p21"/>
          <p:cNvSpPr txBox="1"/>
          <p:nvPr/>
        </p:nvSpPr>
        <p:spPr>
          <a:xfrm>
            <a:off x="4572000" y="2258568"/>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Open Google model that verifies every defect crop on the GPU</a:t>
            </a:r>
            <a:endParaRPr b="0" i="0" sz="1100" u="none" cap="none" strike="noStrike">
              <a:solidFill>
                <a:schemeClr val="dk1"/>
              </a:solidFill>
              <a:latin typeface="Calibri"/>
              <a:ea typeface="Calibri"/>
              <a:cs typeface="Calibri"/>
              <a:sym typeface="Calibri"/>
            </a:endParaRPr>
          </a:p>
        </p:txBody>
      </p:sp>
      <p:sp>
        <p:nvSpPr>
          <p:cNvPr id="731" name="Google Shape;731;p21"/>
          <p:cNvSpPr/>
          <p:nvPr/>
        </p:nvSpPr>
        <p:spPr>
          <a:xfrm>
            <a:off x="548640" y="2898648"/>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32" name="Google Shape;732;p21"/>
          <p:cNvPicPr preferRelativeResize="0"/>
          <p:nvPr/>
        </p:nvPicPr>
        <p:blipFill rotWithShape="1">
          <a:blip r:embed="rId3">
            <a:alphaModFix/>
          </a:blip>
          <a:srcRect b="0" l="0" r="0" t="0"/>
          <a:stretch/>
        </p:blipFill>
        <p:spPr>
          <a:xfrm>
            <a:off x="685800" y="3054096"/>
            <a:ext cx="274320" cy="274320"/>
          </a:xfrm>
          <a:prstGeom prst="rect">
            <a:avLst/>
          </a:prstGeom>
          <a:noFill/>
          <a:ln>
            <a:noFill/>
          </a:ln>
        </p:spPr>
      </p:pic>
      <p:sp>
        <p:nvSpPr>
          <p:cNvPr id="733" name="Google Shape;733;p21"/>
          <p:cNvSpPr txBox="1"/>
          <p:nvPr/>
        </p:nvSpPr>
        <p:spPr>
          <a:xfrm>
            <a:off x="1051560" y="3008376"/>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Cloud Run + NVIDIA L4</a:t>
            </a:r>
            <a:endParaRPr b="0" i="0" sz="1400" u="none" cap="none" strike="noStrike">
              <a:solidFill>
                <a:schemeClr val="dk1"/>
              </a:solidFill>
              <a:latin typeface="Calibri"/>
              <a:ea typeface="Calibri"/>
              <a:cs typeface="Calibri"/>
              <a:sym typeface="Calibri"/>
            </a:endParaRPr>
          </a:p>
        </p:txBody>
      </p:sp>
      <p:sp>
        <p:nvSpPr>
          <p:cNvPr id="734" name="Google Shape;734;p21"/>
          <p:cNvSpPr txBox="1"/>
          <p:nvPr/>
        </p:nvSpPr>
        <p:spPr>
          <a:xfrm>
            <a:off x="1051560" y="3328416"/>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The whole app in one container; scales to zero</a:t>
            </a:r>
            <a:endParaRPr b="0" i="0" sz="1100" u="none" cap="none" strike="noStrike">
              <a:solidFill>
                <a:schemeClr val="dk1"/>
              </a:solidFill>
              <a:latin typeface="Calibri"/>
              <a:ea typeface="Calibri"/>
              <a:cs typeface="Calibri"/>
              <a:sym typeface="Calibri"/>
            </a:endParaRPr>
          </a:p>
        </p:txBody>
      </p:sp>
      <p:sp>
        <p:nvSpPr>
          <p:cNvPr id="735" name="Google Shape;735;p21"/>
          <p:cNvSpPr/>
          <p:nvPr/>
        </p:nvSpPr>
        <p:spPr>
          <a:xfrm>
            <a:off x="4069080" y="2898648"/>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36" name="Google Shape;736;p21"/>
          <p:cNvPicPr preferRelativeResize="0"/>
          <p:nvPr/>
        </p:nvPicPr>
        <p:blipFill rotWithShape="1">
          <a:blip r:embed="rId3">
            <a:alphaModFix/>
          </a:blip>
          <a:srcRect b="0" l="0" r="0" t="0"/>
          <a:stretch/>
        </p:blipFill>
        <p:spPr>
          <a:xfrm>
            <a:off x="4206240" y="3054096"/>
            <a:ext cx="274320" cy="274320"/>
          </a:xfrm>
          <a:prstGeom prst="rect">
            <a:avLst/>
          </a:prstGeom>
          <a:noFill/>
          <a:ln>
            <a:noFill/>
          </a:ln>
        </p:spPr>
      </p:pic>
      <p:sp>
        <p:nvSpPr>
          <p:cNvPr id="737" name="Google Shape;737;p21"/>
          <p:cNvSpPr txBox="1"/>
          <p:nvPr/>
        </p:nvSpPr>
        <p:spPr>
          <a:xfrm>
            <a:off x="4572000" y="3008376"/>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Cloud Storage</a:t>
            </a:r>
            <a:endParaRPr b="0" i="0" sz="1400" u="none" cap="none" strike="noStrike">
              <a:solidFill>
                <a:schemeClr val="dk1"/>
              </a:solidFill>
              <a:latin typeface="Calibri"/>
              <a:ea typeface="Calibri"/>
              <a:cs typeface="Calibri"/>
              <a:sym typeface="Calibri"/>
            </a:endParaRPr>
          </a:p>
        </p:txBody>
      </p:sp>
      <p:sp>
        <p:nvSpPr>
          <p:cNvPr id="738" name="Google Shape;738;p21"/>
          <p:cNvSpPr txBox="1"/>
          <p:nvPr/>
        </p:nvSpPr>
        <p:spPr>
          <a:xfrm>
            <a:off x="4572000" y="3328416"/>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FUSE-mounted data: uploads, reports, 3D models</a:t>
            </a:r>
            <a:endParaRPr b="0" i="0" sz="1100" u="none" cap="none" strike="noStrike">
              <a:solidFill>
                <a:schemeClr val="dk1"/>
              </a:solidFill>
              <a:latin typeface="Calibri"/>
              <a:ea typeface="Calibri"/>
              <a:cs typeface="Calibri"/>
              <a:sym typeface="Calibri"/>
            </a:endParaRPr>
          </a:p>
        </p:txBody>
      </p:sp>
      <p:sp>
        <p:nvSpPr>
          <p:cNvPr id="739" name="Google Shape;739;p21"/>
          <p:cNvSpPr/>
          <p:nvPr/>
        </p:nvSpPr>
        <p:spPr>
          <a:xfrm>
            <a:off x="548640" y="3968496"/>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0" name="Google Shape;740;p21"/>
          <p:cNvPicPr preferRelativeResize="0"/>
          <p:nvPr/>
        </p:nvPicPr>
        <p:blipFill rotWithShape="1">
          <a:blip r:embed="rId3">
            <a:alphaModFix/>
          </a:blip>
          <a:srcRect b="0" l="0" r="0" t="0"/>
          <a:stretch/>
        </p:blipFill>
        <p:spPr>
          <a:xfrm>
            <a:off x="685800" y="4123944"/>
            <a:ext cx="274320" cy="274320"/>
          </a:xfrm>
          <a:prstGeom prst="rect">
            <a:avLst/>
          </a:prstGeom>
          <a:noFill/>
          <a:ln>
            <a:noFill/>
          </a:ln>
        </p:spPr>
      </p:pic>
      <p:sp>
        <p:nvSpPr>
          <p:cNvPr id="741" name="Google Shape;741;p21"/>
          <p:cNvSpPr txBox="1"/>
          <p:nvPr/>
        </p:nvSpPr>
        <p:spPr>
          <a:xfrm>
            <a:off x="1051560" y="4078224"/>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BigQuery</a:t>
            </a:r>
            <a:endParaRPr b="0" i="0" sz="1400" u="none" cap="none" strike="noStrike">
              <a:solidFill>
                <a:schemeClr val="dk1"/>
              </a:solidFill>
              <a:latin typeface="Calibri"/>
              <a:ea typeface="Calibri"/>
              <a:cs typeface="Calibri"/>
              <a:sym typeface="Calibri"/>
            </a:endParaRPr>
          </a:p>
        </p:txBody>
      </p:sp>
      <p:sp>
        <p:nvSpPr>
          <p:cNvPr id="742" name="Google Shape;742;p21"/>
          <p:cNvSpPr txBox="1"/>
          <p:nvPr/>
        </p:nvSpPr>
        <p:spPr>
          <a:xfrm>
            <a:off x="1051560" y="4398264"/>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One row per inspection: grade, decision, perils, fraud flags, coverage</a:t>
            </a:r>
            <a:endParaRPr b="0" i="0" sz="1100" u="none" cap="none" strike="noStrike">
              <a:solidFill>
                <a:schemeClr val="dk1"/>
              </a:solidFill>
              <a:latin typeface="Calibri"/>
              <a:ea typeface="Calibri"/>
              <a:cs typeface="Calibri"/>
              <a:sym typeface="Calibri"/>
            </a:endParaRPr>
          </a:p>
        </p:txBody>
      </p:sp>
      <p:sp>
        <p:nvSpPr>
          <p:cNvPr id="743" name="Google Shape;743;p21"/>
          <p:cNvSpPr/>
          <p:nvPr/>
        </p:nvSpPr>
        <p:spPr>
          <a:xfrm>
            <a:off x="4069080" y="3968496"/>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4" name="Google Shape;744;p21"/>
          <p:cNvPicPr preferRelativeResize="0"/>
          <p:nvPr/>
        </p:nvPicPr>
        <p:blipFill rotWithShape="1">
          <a:blip r:embed="rId3">
            <a:alphaModFix/>
          </a:blip>
          <a:srcRect b="0" l="0" r="0" t="0"/>
          <a:stretch/>
        </p:blipFill>
        <p:spPr>
          <a:xfrm>
            <a:off x="4206240" y="4123944"/>
            <a:ext cx="274320" cy="274320"/>
          </a:xfrm>
          <a:prstGeom prst="rect">
            <a:avLst/>
          </a:prstGeom>
          <a:noFill/>
          <a:ln>
            <a:noFill/>
          </a:ln>
        </p:spPr>
      </p:pic>
      <p:sp>
        <p:nvSpPr>
          <p:cNvPr id="745" name="Google Shape;745;p21"/>
          <p:cNvSpPr txBox="1"/>
          <p:nvPr/>
        </p:nvSpPr>
        <p:spPr>
          <a:xfrm>
            <a:off x="4572000" y="4078224"/>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Pub/Sub</a:t>
            </a:r>
            <a:endParaRPr b="0" i="0" sz="1400" u="none" cap="none" strike="noStrike">
              <a:solidFill>
                <a:schemeClr val="dk1"/>
              </a:solidFill>
              <a:latin typeface="Calibri"/>
              <a:ea typeface="Calibri"/>
              <a:cs typeface="Calibri"/>
              <a:sym typeface="Calibri"/>
            </a:endParaRPr>
          </a:p>
        </p:txBody>
      </p:sp>
      <p:sp>
        <p:nvSpPr>
          <p:cNvPr id="746" name="Google Shape;746;p21"/>
          <p:cNvSpPr txBox="1"/>
          <p:nvPr/>
        </p:nvSpPr>
        <p:spPr>
          <a:xfrm>
            <a:off x="4572000" y="4398264"/>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Event-driven hand-off to underwriting and claims</a:t>
            </a:r>
            <a:endParaRPr b="0" i="0" sz="1100" u="none" cap="none" strike="noStrike">
              <a:solidFill>
                <a:schemeClr val="dk1"/>
              </a:solidFill>
              <a:latin typeface="Calibri"/>
              <a:ea typeface="Calibri"/>
              <a:cs typeface="Calibri"/>
              <a:sym typeface="Calibri"/>
            </a:endParaRPr>
          </a:p>
        </p:txBody>
      </p:sp>
      <p:sp>
        <p:nvSpPr>
          <p:cNvPr id="747" name="Google Shape;747;p21"/>
          <p:cNvSpPr/>
          <p:nvPr/>
        </p:nvSpPr>
        <p:spPr>
          <a:xfrm>
            <a:off x="548640" y="5038344"/>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8" name="Google Shape;748;p21"/>
          <p:cNvPicPr preferRelativeResize="0"/>
          <p:nvPr/>
        </p:nvPicPr>
        <p:blipFill rotWithShape="1">
          <a:blip r:embed="rId3">
            <a:alphaModFix/>
          </a:blip>
          <a:srcRect b="0" l="0" r="0" t="0"/>
          <a:stretch/>
        </p:blipFill>
        <p:spPr>
          <a:xfrm>
            <a:off x="685800" y="5193792"/>
            <a:ext cx="274320" cy="274320"/>
          </a:xfrm>
          <a:prstGeom prst="rect">
            <a:avLst/>
          </a:prstGeom>
          <a:noFill/>
          <a:ln>
            <a:noFill/>
          </a:ln>
        </p:spPr>
      </p:pic>
      <p:sp>
        <p:nvSpPr>
          <p:cNvPr id="749" name="Google Shape;749;p21"/>
          <p:cNvSpPr txBox="1"/>
          <p:nvPr/>
        </p:nvSpPr>
        <p:spPr>
          <a:xfrm>
            <a:off x="1051560" y="5148072"/>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Cloud Build + Artifact Registry</a:t>
            </a:r>
            <a:endParaRPr b="0" i="0" sz="1400" u="none" cap="none" strike="noStrike">
              <a:solidFill>
                <a:schemeClr val="dk1"/>
              </a:solidFill>
              <a:latin typeface="Calibri"/>
              <a:ea typeface="Calibri"/>
              <a:cs typeface="Calibri"/>
              <a:sym typeface="Calibri"/>
            </a:endParaRPr>
          </a:p>
        </p:txBody>
      </p:sp>
      <p:sp>
        <p:nvSpPr>
          <p:cNvPr id="750" name="Google Shape;750;p21"/>
          <p:cNvSpPr txBox="1"/>
          <p:nvPr/>
        </p:nvSpPr>
        <p:spPr>
          <a:xfrm>
            <a:off x="1051560" y="5468112"/>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Reproducible container build with baked-in models</a:t>
            </a:r>
            <a:endParaRPr b="0" i="0" sz="1100" u="none" cap="none" strike="noStrike">
              <a:solidFill>
                <a:schemeClr val="dk1"/>
              </a:solidFill>
              <a:latin typeface="Calibri"/>
              <a:ea typeface="Calibri"/>
              <a:cs typeface="Calibri"/>
              <a:sym typeface="Calibri"/>
            </a:endParaRPr>
          </a:p>
        </p:txBody>
      </p:sp>
      <p:sp>
        <p:nvSpPr>
          <p:cNvPr id="751" name="Google Shape;751;p21"/>
          <p:cNvSpPr/>
          <p:nvPr/>
        </p:nvSpPr>
        <p:spPr>
          <a:xfrm>
            <a:off x="4069080" y="5038344"/>
            <a:ext cx="3383280" cy="941832"/>
          </a:xfrm>
          <a:prstGeom prst="roundRect">
            <a:avLst>
              <a:gd fmla="val 11650"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52" name="Google Shape;752;p21"/>
          <p:cNvPicPr preferRelativeResize="0"/>
          <p:nvPr/>
        </p:nvPicPr>
        <p:blipFill rotWithShape="1">
          <a:blip r:embed="rId3">
            <a:alphaModFix/>
          </a:blip>
          <a:srcRect b="0" l="0" r="0" t="0"/>
          <a:stretch/>
        </p:blipFill>
        <p:spPr>
          <a:xfrm>
            <a:off x="4206240" y="5193792"/>
            <a:ext cx="274320" cy="274320"/>
          </a:xfrm>
          <a:prstGeom prst="rect">
            <a:avLst/>
          </a:prstGeom>
          <a:noFill/>
          <a:ln>
            <a:noFill/>
          </a:ln>
        </p:spPr>
      </p:pic>
      <p:sp>
        <p:nvSpPr>
          <p:cNvPr id="753" name="Google Shape;753;p21"/>
          <p:cNvSpPr txBox="1"/>
          <p:nvPr/>
        </p:nvSpPr>
        <p:spPr>
          <a:xfrm>
            <a:off x="4572000" y="5148072"/>
            <a:ext cx="2788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IAM service account</a:t>
            </a:r>
            <a:endParaRPr b="0" i="0" sz="1400" u="none" cap="none" strike="noStrike">
              <a:solidFill>
                <a:schemeClr val="dk1"/>
              </a:solidFill>
              <a:latin typeface="Calibri"/>
              <a:ea typeface="Calibri"/>
              <a:cs typeface="Calibri"/>
              <a:sym typeface="Calibri"/>
            </a:endParaRPr>
          </a:p>
        </p:txBody>
      </p:sp>
      <p:sp>
        <p:nvSpPr>
          <p:cNvPr id="754" name="Google Shape;754;p21"/>
          <p:cNvSpPr txBox="1"/>
          <p:nvPr/>
        </p:nvSpPr>
        <p:spPr>
          <a:xfrm>
            <a:off x="4572000" y="5468112"/>
            <a:ext cx="278892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Least privilege, with no keys in production</a:t>
            </a:r>
            <a:endParaRPr b="0" i="0" sz="1100" u="none" cap="none" strike="noStrike">
              <a:solidFill>
                <a:schemeClr val="dk1"/>
              </a:solidFill>
              <a:latin typeface="Calibri"/>
              <a:ea typeface="Calibri"/>
              <a:cs typeface="Calibri"/>
              <a:sym typeface="Calibri"/>
            </a:endParaRPr>
          </a:p>
        </p:txBody>
      </p:sp>
      <p:sp>
        <p:nvSpPr>
          <p:cNvPr id="755" name="Google Shape;755;p21"/>
          <p:cNvSpPr txBox="1"/>
          <p:nvPr/>
        </p:nvSpPr>
        <p:spPr>
          <a:xfrm>
            <a:off x="7772400" y="1508760"/>
            <a:ext cx="3886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NEXT ON THE ROADMAP</a:t>
            </a:r>
            <a:endParaRPr b="0" i="0" sz="1200" u="none" cap="none" strike="noStrike">
              <a:solidFill>
                <a:schemeClr val="dk1"/>
              </a:solidFill>
              <a:latin typeface="Calibri"/>
              <a:ea typeface="Calibri"/>
              <a:cs typeface="Calibri"/>
              <a:sym typeface="Calibri"/>
            </a:endParaRPr>
          </a:p>
        </p:txBody>
      </p:sp>
      <p:sp>
        <p:nvSpPr>
          <p:cNvPr id="756" name="Google Shape;756;p21"/>
          <p:cNvSpPr/>
          <p:nvPr/>
        </p:nvSpPr>
        <p:spPr>
          <a:xfrm>
            <a:off x="7772400" y="1828800"/>
            <a:ext cx="3886200" cy="941832"/>
          </a:xfrm>
          <a:prstGeom prst="roundRect">
            <a:avLst>
              <a:gd fmla="val 11650" name="adj"/>
            </a:avLst>
          </a:prstGeom>
          <a:solidFill>
            <a:schemeClr val="lt2"/>
          </a:solidFill>
          <a:ln cap="flat" cmpd="sng" w="12700">
            <a:solidFill>
              <a:srgbClr val="4A3A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57" name="Google Shape;757;p21"/>
          <p:cNvPicPr preferRelativeResize="0"/>
          <p:nvPr/>
        </p:nvPicPr>
        <p:blipFill rotWithShape="1">
          <a:blip r:embed="rId4">
            <a:alphaModFix/>
          </a:blip>
          <a:srcRect b="0" l="0" r="0" t="0"/>
          <a:stretch/>
        </p:blipFill>
        <p:spPr>
          <a:xfrm>
            <a:off x="7909560" y="1984248"/>
            <a:ext cx="274320" cy="274320"/>
          </a:xfrm>
          <a:prstGeom prst="rect">
            <a:avLst/>
          </a:prstGeom>
          <a:noFill/>
          <a:ln>
            <a:noFill/>
          </a:ln>
        </p:spPr>
      </p:pic>
      <p:sp>
        <p:nvSpPr>
          <p:cNvPr id="758" name="Google Shape;758;p21"/>
          <p:cNvSpPr txBox="1"/>
          <p:nvPr/>
        </p:nvSpPr>
        <p:spPr>
          <a:xfrm>
            <a:off x="8275320" y="1938528"/>
            <a:ext cx="32918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Document AI</a:t>
            </a:r>
            <a:endParaRPr b="0" i="0" sz="1400" u="none" cap="none" strike="noStrike">
              <a:solidFill>
                <a:schemeClr val="dk1"/>
              </a:solidFill>
              <a:latin typeface="Calibri"/>
              <a:ea typeface="Calibri"/>
              <a:cs typeface="Calibri"/>
              <a:sym typeface="Calibri"/>
            </a:endParaRPr>
          </a:p>
        </p:txBody>
      </p:sp>
      <p:sp>
        <p:nvSpPr>
          <p:cNvPr id="759" name="Google Shape;759;p21"/>
          <p:cNvSpPr txBox="1"/>
          <p:nvPr/>
        </p:nvSpPr>
        <p:spPr>
          <a:xfrm>
            <a:off x="8275320" y="2258568"/>
            <a:ext cx="329184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Title deeds, valuation reports and repair invoices cross-checked against the images</a:t>
            </a:r>
            <a:endParaRPr b="0" i="0" sz="1100" u="none" cap="none" strike="noStrike">
              <a:solidFill>
                <a:schemeClr val="dk1"/>
              </a:solidFill>
              <a:latin typeface="Calibri"/>
              <a:ea typeface="Calibri"/>
              <a:cs typeface="Calibri"/>
              <a:sym typeface="Calibri"/>
            </a:endParaRPr>
          </a:p>
        </p:txBody>
      </p:sp>
      <p:sp>
        <p:nvSpPr>
          <p:cNvPr id="760" name="Google Shape;760;p21"/>
          <p:cNvSpPr/>
          <p:nvPr/>
        </p:nvSpPr>
        <p:spPr>
          <a:xfrm>
            <a:off x="7772400" y="2898648"/>
            <a:ext cx="3886200" cy="941832"/>
          </a:xfrm>
          <a:prstGeom prst="roundRect">
            <a:avLst>
              <a:gd fmla="val 11650" name="adj"/>
            </a:avLst>
          </a:prstGeom>
          <a:solidFill>
            <a:schemeClr val="lt2"/>
          </a:solidFill>
          <a:ln cap="flat" cmpd="sng" w="12700">
            <a:solidFill>
              <a:srgbClr val="4A3A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61" name="Google Shape;761;p21"/>
          <p:cNvPicPr preferRelativeResize="0"/>
          <p:nvPr/>
        </p:nvPicPr>
        <p:blipFill rotWithShape="1">
          <a:blip r:embed="rId4">
            <a:alphaModFix/>
          </a:blip>
          <a:srcRect b="0" l="0" r="0" t="0"/>
          <a:stretch/>
        </p:blipFill>
        <p:spPr>
          <a:xfrm>
            <a:off x="7909560" y="3054096"/>
            <a:ext cx="274320" cy="274320"/>
          </a:xfrm>
          <a:prstGeom prst="rect">
            <a:avLst/>
          </a:prstGeom>
          <a:noFill/>
          <a:ln>
            <a:noFill/>
          </a:ln>
        </p:spPr>
      </p:pic>
      <p:sp>
        <p:nvSpPr>
          <p:cNvPr id="762" name="Google Shape;762;p21"/>
          <p:cNvSpPr txBox="1"/>
          <p:nvPr/>
        </p:nvSpPr>
        <p:spPr>
          <a:xfrm>
            <a:off x="8275320" y="3008376"/>
            <a:ext cx="32918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Vertex AI Search</a:t>
            </a:r>
            <a:endParaRPr b="0" i="0" sz="1400" u="none" cap="none" strike="noStrike">
              <a:solidFill>
                <a:schemeClr val="dk1"/>
              </a:solidFill>
              <a:latin typeface="Calibri"/>
              <a:ea typeface="Calibri"/>
              <a:cs typeface="Calibri"/>
              <a:sym typeface="Calibri"/>
            </a:endParaRPr>
          </a:p>
        </p:txBody>
      </p:sp>
      <p:sp>
        <p:nvSpPr>
          <p:cNvPr id="763" name="Google Shape;763;p21"/>
          <p:cNvSpPr txBox="1"/>
          <p:nvPr/>
        </p:nvSpPr>
        <p:spPr>
          <a:xfrm>
            <a:off x="8275320" y="3328416"/>
            <a:ext cx="329184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Policy wording and lending guidelines retrieved for the assistant</a:t>
            </a:r>
            <a:endParaRPr b="0" i="0" sz="1100" u="none" cap="none" strike="noStrike">
              <a:solidFill>
                <a:schemeClr val="dk1"/>
              </a:solidFill>
              <a:latin typeface="Calibri"/>
              <a:ea typeface="Calibri"/>
              <a:cs typeface="Calibri"/>
              <a:sym typeface="Calibri"/>
            </a:endParaRPr>
          </a:p>
        </p:txBody>
      </p:sp>
      <p:sp>
        <p:nvSpPr>
          <p:cNvPr id="764" name="Google Shape;764;p21"/>
          <p:cNvSpPr/>
          <p:nvPr/>
        </p:nvSpPr>
        <p:spPr>
          <a:xfrm>
            <a:off x="7772400" y="3968496"/>
            <a:ext cx="3886200" cy="941832"/>
          </a:xfrm>
          <a:prstGeom prst="roundRect">
            <a:avLst>
              <a:gd fmla="val 11650" name="adj"/>
            </a:avLst>
          </a:prstGeom>
          <a:solidFill>
            <a:schemeClr val="lt2"/>
          </a:solidFill>
          <a:ln cap="flat" cmpd="sng" w="12700">
            <a:solidFill>
              <a:srgbClr val="4A3A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65" name="Google Shape;765;p21"/>
          <p:cNvPicPr preferRelativeResize="0"/>
          <p:nvPr/>
        </p:nvPicPr>
        <p:blipFill rotWithShape="1">
          <a:blip r:embed="rId4">
            <a:alphaModFix/>
          </a:blip>
          <a:srcRect b="0" l="0" r="0" t="0"/>
          <a:stretch/>
        </p:blipFill>
        <p:spPr>
          <a:xfrm>
            <a:off x="7909560" y="4123944"/>
            <a:ext cx="274320" cy="274320"/>
          </a:xfrm>
          <a:prstGeom prst="rect">
            <a:avLst/>
          </a:prstGeom>
          <a:noFill/>
          <a:ln>
            <a:noFill/>
          </a:ln>
        </p:spPr>
      </p:pic>
      <p:sp>
        <p:nvSpPr>
          <p:cNvPr id="766" name="Google Shape;766;p21"/>
          <p:cNvSpPr txBox="1"/>
          <p:nvPr/>
        </p:nvSpPr>
        <p:spPr>
          <a:xfrm>
            <a:off x="8275320" y="4078224"/>
            <a:ext cx="32918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Vertex AI + BigQuery ML</a:t>
            </a:r>
            <a:endParaRPr b="0" i="0" sz="1400" u="none" cap="none" strike="noStrike">
              <a:solidFill>
                <a:schemeClr val="dk1"/>
              </a:solidFill>
              <a:latin typeface="Calibri"/>
              <a:ea typeface="Calibri"/>
              <a:cs typeface="Calibri"/>
              <a:sym typeface="Calibri"/>
            </a:endParaRPr>
          </a:p>
        </p:txBody>
      </p:sp>
      <p:sp>
        <p:nvSpPr>
          <p:cNvPr id="767" name="Google Shape;767;p21"/>
          <p:cNvSpPr txBox="1"/>
          <p:nvPr/>
        </p:nvSpPr>
        <p:spPr>
          <a:xfrm>
            <a:off x="8275320" y="4398264"/>
            <a:ext cx="329184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Claim-likelihood and collateral-risk models trained on the inspection history</a:t>
            </a:r>
            <a:endParaRPr b="0" i="0" sz="1100" u="none" cap="none" strike="noStrike">
              <a:solidFill>
                <a:schemeClr val="dk1"/>
              </a:solidFill>
              <a:latin typeface="Calibri"/>
              <a:ea typeface="Calibri"/>
              <a:cs typeface="Calibri"/>
              <a:sym typeface="Calibri"/>
            </a:endParaRPr>
          </a:p>
        </p:txBody>
      </p:sp>
      <p:sp>
        <p:nvSpPr>
          <p:cNvPr id="768" name="Google Shape;768;p21"/>
          <p:cNvSpPr/>
          <p:nvPr/>
        </p:nvSpPr>
        <p:spPr>
          <a:xfrm>
            <a:off x="7772400" y="5038344"/>
            <a:ext cx="3886200" cy="941832"/>
          </a:xfrm>
          <a:prstGeom prst="roundRect">
            <a:avLst>
              <a:gd fmla="val 11650" name="adj"/>
            </a:avLst>
          </a:prstGeom>
          <a:solidFill>
            <a:schemeClr val="lt2"/>
          </a:solidFill>
          <a:ln cap="flat" cmpd="sng" w="12700">
            <a:solidFill>
              <a:srgbClr val="4A3A1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69" name="Google Shape;769;p21"/>
          <p:cNvPicPr preferRelativeResize="0"/>
          <p:nvPr/>
        </p:nvPicPr>
        <p:blipFill rotWithShape="1">
          <a:blip r:embed="rId4">
            <a:alphaModFix/>
          </a:blip>
          <a:srcRect b="0" l="0" r="0" t="0"/>
          <a:stretch/>
        </p:blipFill>
        <p:spPr>
          <a:xfrm>
            <a:off x="7909560" y="5193792"/>
            <a:ext cx="274320" cy="274320"/>
          </a:xfrm>
          <a:prstGeom prst="rect">
            <a:avLst/>
          </a:prstGeom>
          <a:noFill/>
          <a:ln>
            <a:noFill/>
          </a:ln>
        </p:spPr>
      </p:pic>
      <p:sp>
        <p:nvSpPr>
          <p:cNvPr id="770" name="Google Shape;770;p21"/>
          <p:cNvSpPr txBox="1"/>
          <p:nvPr/>
        </p:nvSpPr>
        <p:spPr>
          <a:xfrm>
            <a:off x="8275320" y="5148072"/>
            <a:ext cx="32918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Cloud SQL / AlloyDB</a:t>
            </a:r>
            <a:endParaRPr b="0" i="0" sz="1400" u="none" cap="none" strike="noStrike">
              <a:solidFill>
                <a:schemeClr val="dk1"/>
              </a:solidFill>
              <a:latin typeface="Calibri"/>
              <a:ea typeface="Calibri"/>
              <a:cs typeface="Calibri"/>
              <a:sym typeface="Calibri"/>
            </a:endParaRPr>
          </a:p>
        </p:txBody>
      </p:sp>
      <p:sp>
        <p:nvSpPr>
          <p:cNvPr id="771" name="Google Shape;771;p21"/>
          <p:cNvSpPr txBox="1"/>
          <p:nvPr/>
        </p:nvSpPr>
        <p:spPr>
          <a:xfrm>
            <a:off x="8275320" y="5468112"/>
            <a:ext cx="329184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Multi-tenant case management, audit trail and SSO</a:t>
            </a:r>
            <a:endParaRPr b="0" i="0" sz="1100" u="none" cap="none" strike="noStrike">
              <a:solidFill>
                <a:schemeClr val="dk1"/>
              </a:solidFill>
              <a:latin typeface="Calibri"/>
              <a:ea typeface="Calibri"/>
              <a:cs typeface="Calibri"/>
              <a:sym typeface="Calibri"/>
            </a:endParaRPr>
          </a:p>
        </p:txBody>
      </p:sp>
      <p:sp>
        <p:nvSpPr>
          <p:cNvPr id="772" name="Google Shape;772;p21"/>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7" name="Shape 777"/>
        <p:cNvGrpSpPr/>
        <p:nvPr/>
      </p:nvGrpSpPr>
      <p:grpSpPr>
        <a:xfrm>
          <a:off x="0" y="0"/>
          <a:ext cx="0" cy="0"/>
          <a:chOff x="0" y="0"/>
          <a:chExt cx="0" cy="0"/>
        </a:xfrm>
      </p:grpSpPr>
      <p:sp>
        <p:nvSpPr>
          <p:cNvPr id="778" name="Google Shape;778;p22"/>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RESPONSIBLE AI</a:t>
            </a:r>
            <a:endParaRPr sz="1200"/>
          </a:p>
        </p:txBody>
      </p:sp>
      <p:sp>
        <p:nvSpPr>
          <p:cNvPr id="779" name="Google Shape;779;p22"/>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Compliant by design: humans decide, AI shows evidence</a:t>
            </a:r>
            <a:endParaRPr sz="3000"/>
          </a:p>
        </p:txBody>
      </p:sp>
      <p:sp>
        <p:nvSpPr>
          <p:cNvPr id="780" name="Google Shape;780;p22"/>
          <p:cNvSpPr/>
          <p:nvPr/>
        </p:nvSpPr>
        <p:spPr>
          <a:xfrm>
            <a:off x="548640" y="169164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22"/>
          <p:cNvSpPr/>
          <p:nvPr/>
        </p:nvSpPr>
        <p:spPr>
          <a:xfrm>
            <a:off x="777240" y="192024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82" name="Google Shape;782;p22"/>
          <p:cNvPicPr preferRelativeResize="0"/>
          <p:nvPr/>
        </p:nvPicPr>
        <p:blipFill rotWithShape="1">
          <a:blip r:embed="rId3">
            <a:alphaModFix/>
          </a:blip>
          <a:srcRect b="0" l="0" r="0" t="0"/>
          <a:stretch/>
        </p:blipFill>
        <p:spPr>
          <a:xfrm>
            <a:off x="914400" y="2057400"/>
            <a:ext cx="274320" cy="274320"/>
          </a:xfrm>
          <a:prstGeom prst="rect">
            <a:avLst/>
          </a:prstGeom>
          <a:noFill/>
          <a:ln>
            <a:noFill/>
          </a:ln>
        </p:spPr>
      </p:pic>
      <p:sp>
        <p:nvSpPr>
          <p:cNvPr id="783" name="Google Shape;783;p22"/>
          <p:cNvSpPr txBox="1"/>
          <p:nvPr/>
        </p:nvSpPr>
        <p:spPr>
          <a:xfrm>
            <a:off x="1463040" y="196596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Human in the loop</a:t>
            </a:r>
            <a:endParaRPr b="0" i="0" sz="1700" u="none" cap="none" strike="noStrike">
              <a:solidFill>
                <a:schemeClr val="dk1"/>
              </a:solidFill>
              <a:latin typeface="Calibri"/>
              <a:ea typeface="Calibri"/>
              <a:cs typeface="Calibri"/>
              <a:sym typeface="Calibri"/>
            </a:endParaRPr>
          </a:p>
        </p:txBody>
      </p:sp>
      <p:sp>
        <p:nvSpPr>
          <p:cNvPr id="784" name="Google Shape;784;p22"/>
          <p:cNvSpPr txBox="1"/>
          <p:nvPr/>
        </p:nvSpPr>
        <p:spPr>
          <a:xfrm>
            <a:off x="777240" y="260604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Decision support only: a qualified surveyor or underwriter makes the final call.</a:t>
            </a:r>
            <a:endParaRPr b="0" i="0" sz="1400" u="none" cap="none" strike="noStrike">
              <a:solidFill>
                <a:schemeClr val="dk1"/>
              </a:solidFill>
              <a:latin typeface="Calibri"/>
              <a:ea typeface="Calibri"/>
              <a:cs typeface="Calibri"/>
              <a:sym typeface="Calibri"/>
            </a:endParaRPr>
          </a:p>
        </p:txBody>
      </p:sp>
      <p:sp>
        <p:nvSpPr>
          <p:cNvPr id="785" name="Google Shape;785;p22"/>
          <p:cNvSpPr/>
          <p:nvPr/>
        </p:nvSpPr>
        <p:spPr>
          <a:xfrm>
            <a:off x="4279392" y="169164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22"/>
          <p:cNvSpPr/>
          <p:nvPr/>
        </p:nvSpPr>
        <p:spPr>
          <a:xfrm>
            <a:off x="4507992" y="192024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87" name="Google Shape;787;p22"/>
          <p:cNvPicPr preferRelativeResize="0"/>
          <p:nvPr/>
        </p:nvPicPr>
        <p:blipFill rotWithShape="1">
          <a:blip r:embed="rId4">
            <a:alphaModFix/>
          </a:blip>
          <a:srcRect b="0" l="0" r="0" t="0"/>
          <a:stretch/>
        </p:blipFill>
        <p:spPr>
          <a:xfrm>
            <a:off x="4645152" y="2057400"/>
            <a:ext cx="274320" cy="274320"/>
          </a:xfrm>
          <a:prstGeom prst="rect">
            <a:avLst/>
          </a:prstGeom>
          <a:noFill/>
          <a:ln>
            <a:noFill/>
          </a:ln>
        </p:spPr>
      </p:pic>
      <p:sp>
        <p:nvSpPr>
          <p:cNvPr id="788" name="Google Shape;788;p22"/>
          <p:cNvSpPr txBox="1"/>
          <p:nvPr/>
        </p:nvSpPr>
        <p:spPr>
          <a:xfrm>
            <a:off x="5193792" y="196596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Explainable</a:t>
            </a:r>
            <a:endParaRPr b="0" i="0" sz="1700" u="none" cap="none" strike="noStrike">
              <a:solidFill>
                <a:schemeClr val="dk1"/>
              </a:solidFill>
              <a:latin typeface="Calibri"/>
              <a:ea typeface="Calibri"/>
              <a:cs typeface="Calibri"/>
              <a:sym typeface="Calibri"/>
            </a:endParaRPr>
          </a:p>
        </p:txBody>
      </p:sp>
      <p:sp>
        <p:nvSpPr>
          <p:cNvPr id="789" name="Google Shape;789;p22"/>
          <p:cNvSpPr txBox="1"/>
          <p:nvPr/>
        </p:nvSpPr>
        <p:spPr>
          <a:xfrm>
            <a:off x="4507992" y="260604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Deterministic YAML rules, and every decision lists its reasons and risk points.</a:t>
            </a:r>
            <a:endParaRPr b="0" i="0" sz="1400" u="none" cap="none" strike="noStrike">
              <a:solidFill>
                <a:schemeClr val="dk1"/>
              </a:solidFill>
              <a:latin typeface="Calibri"/>
              <a:ea typeface="Calibri"/>
              <a:cs typeface="Calibri"/>
              <a:sym typeface="Calibri"/>
            </a:endParaRPr>
          </a:p>
        </p:txBody>
      </p:sp>
      <p:sp>
        <p:nvSpPr>
          <p:cNvPr id="790" name="Google Shape;790;p22"/>
          <p:cNvSpPr/>
          <p:nvPr/>
        </p:nvSpPr>
        <p:spPr>
          <a:xfrm>
            <a:off x="8010144" y="169164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22"/>
          <p:cNvSpPr/>
          <p:nvPr/>
        </p:nvSpPr>
        <p:spPr>
          <a:xfrm>
            <a:off x="8238744" y="192024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92" name="Google Shape;792;p22"/>
          <p:cNvPicPr preferRelativeResize="0"/>
          <p:nvPr/>
        </p:nvPicPr>
        <p:blipFill rotWithShape="1">
          <a:blip r:embed="rId5">
            <a:alphaModFix/>
          </a:blip>
          <a:srcRect b="0" l="0" r="0" t="0"/>
          <a:stretch/>
        </p:blipFill>
        <p:spPr>
          <a:xfrm>
            <a:off x="8375904" y="2057400"/>
            <a:ext cx="274320" cy="274320"/>
          </a:xfrm>
          <a:prstGeom prst="rect">
            <a:avLst/>
          </a:prstGeom>
          <a:noFill/>
          <a:ln>
            <a:noFill/>
          </a:ln>
        </p:spPr>
      </p:pic>
      <p:sp>
        <p:nvSpPr>
          <p:cNvPr id="793" name="Google Shape;793;p22"/>
          <p:cNvSpPr txBox="1"/>
          <p:nvPr/>
        </p:nvSpPr>
        <p:spPr>
          <a:xfrm>
            <a:off x="8924544" y="196596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Auditable</a:t>
            </a:r>
            <a:endParaRPr b="0" i="0" sz="1700" u="none" cap="none" strike="noStrike">
              <a:solidFill>
                <a:schemeClr val="dk1"/>
              </a:solidFill>
              <a:latin typeface="Calibri"/>
              <a:ea typeface="Calibri"/>
              <a:cs typeface="Calibri"/>
              <a:sym typeface="Calibri"/>
            </a:endParaRPr>
          </a:p>
        </p:txBody>
      </p:sp>
      <p:sp>
        <p:nvSpPr>
          <p:cNvPr id="794" name="Google Shape;794;p22"/>
          <p:cNvSpPr txBox="1"/>
          <p:nvPr/>
        </p:nvSpPr>
        <p:spPr>
          <a:xfrm>
            <a:off x="8238744" y="260604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Raw model outputs are archived, each inspection is a BigQuery record, and the config is versioned.</a:t>
            </a:r>
            <a:endParaRPr b="0" i="0" sz="1400" u="none" cap="none" strike="noStrike">
              <a:solidFill>
                <a:schemeClr val="dk1"/>
              </a:solidFill>
              <a:latin typeface="Calibri"/>
              <a:ea typeface="Calibri"/>
              <a:cs typeface="Calibri"/>
              <a:sym typeface="Calibri"/>
            </a:endParaRPr>
          </a:p>
        </p:txBody>
      </p:sp>
      <p:sp>
        <p:nvSpPr>
          <p:cNvPr id="795" name="Google Shape;795;p22"/>
          <p:cNvSpPr/>
          <p:nvPr/>
        </p:nvSpPr>
        <p:spPr>
          <a:xfrm>
            <a:off x="548640" y="393192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22"/>
          <p:cNvSpPr/>
          <p:nvPr/>
        </p:nvSpPr>
        <p:spPr>
          <a:xfrm>
            <a:off x="777240" y="416052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97" name="Google Shape;797;p22"/>
          <p:cNvPicPr preferRelativeResize="0"/>
          <p:nvPr/>
        </p:nvPicPr>
        <p:blipFill rotWithShape="1">
          <a:blip r:embed="rId6">
            <a:alphaModFix/>
          </a:blip>
          <a:srcRect b="0" l="0" r="0" t="0"/>
          <a:stretch/>
        </p:blipFill>
        <p:spPr>
          <a:xfrm>
            <a:off x="914400" y="4297680"/>
            <a:ext cx="274320" cy="274320"/>
          </a:xfrm>
          <a:prstGeom prst="rect">
            <a:avLst/>
          </a:prstGeom>
          <a:noFill/>
          <a:ln>
            <a:noFill/>
          </a:ln>
        </p:spPr>
      </p:pic>
      <p:sp>
        <p:nvSpPr>
          <p:cNvPr id="798" name="Google Shape;798;p22"/>
          <p:cNvSpPr txBox="1"/>
          <p:nvPr/>
        </p:nvSpPr>
        <p:spPr>
          <a:xfrm>
            <a:off x="1463040" y="420624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Safe wording</a:t>
            </a:r>
            <a:endParaRPr b="0" i="0" sz="1700" u="none" cap="none" strike="noStrike">
              <a:solidFill>
                <a:schemeClr val="dk1"/>
              </a:solidFill>
              <a:latin typeface="Calibri"/>
              <a:ea typeface="Calibri"/>
              <a:cs typeface="Calibri"/>
              <a:sym typeface="Calibri"/>
            </a:endParaRPr>
          </a:p>
        </p:txBody>
      </p:sp>
      <p:sp>
        <p:nvSpPr>
          <p:cNvPr id="799" name="Google Shape;799;p22"/>
          <p:cNvSpPr txBox="1"/>
          <p:nvPr/>
        </p:nvSpPr>
        <p:spPr>
          <a:xfrm>
            <a:off x="777240" y="484632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No claims about structural safety or root cause. Locks, fans and windows always become manual checks.</a:t>
            </a:r>
            <a:endParaRPr b="0" i="0" sz="1400" u="none" cap="none" strike="noStrike">
              <a:solidFill>
                <a:schemeClr val="dk1"/>
              </a:solidFill>
              <a:latin typeface="Calibri"/>
              <a:ea typeface="Calibri"/>
              <a:cs typeface="Calibri"/>
              <a:sym typeface="Calibri"/>
            </a:endParaRPr>
          </a:p>
        </p:txBody>
      </p:sp>
      <p:sp>
        <p:nvSpPr>
          <p:cNvPr id="800" name="Google Shape;800;p22"/>
          <p:cNvSpPr/>
          <p:nvPr/>
        </p:nvSpPr>
        <p:spPr>
          <a:xfrm>
            <a:off x="4279392" y="393192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22"/>
          <p:cNvSpPr/>
          <p:nvPr/>
        </p:nvSpPr>
        <p:spPr>
          <a:xfrm>
            <a:off x="4507992" y="416052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02" name="Google Shape;802;p22"/>
          <p:cNvPicPr preferRelativeResize="0"/>
          <p:nvPr/>
        </p:nvPicPr>
        <p:blipFill rotWithShape="1">
          <a:blip r:embed="rId7">
            <a:alphaModFix/>
          </a:blip>
          <a:srcRect b="0" l="0" r="0" t="0"/>
          <a:stretch/>
        </p:blipFill>
        <p:spPr>
          <a:xfrm>
            <a:off x="4645152" y="4297680"/>
            <a:ext cx="274320" cy="274320"/>
          </a:xfrm>
          <a:prstGeom prst="rect">
            <a:avLst/>
          </a:prstGeom>
          <a:noFill/>
          <a:ln>
            <a:noFill/>
          </a:ln>
        </p:spPr>
      </p:pic>
      <p:sp>
        <p:nvSpPr>
          <p:cNvPr id="803" name="Google Shape;803;p22"/>
          <p:cNvSpPr txBox="1"/>
          <p:nvPr/>
        </p:nvSpPr>
        <p:spPr>
          <a:xfrm>
            <a:off x="5193792" y="420624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Secure</a:t>
            </a:r>
            <a:endParaRPr b="0" i="0" sz="1700" u="none" cap="none" strike="noStrike">
              <a:solidFill>
                <a:schemeClr val="dk1"/>
              </a:solidFill>
              <a:latin typeface="Calibri"/>
              <a:ea typeface="Calibri"/>
              <a:cs typeface="Calibri"/>
              <a:sym typeface="Calibri"/>
            </a:endParaRPr>
          </a:p>
        </p:txBody>
      </p:sp>
      <p:sp>
        <p:nvSpPr>
          <p:cNvPr id="804" name="Google Shape;804;p22"/>
          <p:cNvSpPr txBox="1"/>
          <p:nvPr/>
        </p:nvSpPr>
        <p:spPr>
          <a:xfrm>
            <a:off x="4507992" y="484632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Service-account access, no API keys in files, an optional UI password, and data stays in the client's own project.</a:t>
            </a:r>
            <a:endParaRPr b="0" i="0" sz="1400" u="none" cap="none" strike="noStrike">
              <a:solidFill>
                <a:schemeClr val="dk1"/>
              </a:solidFill>
              <a:latin typeface="Calibri"/>
              <a:ea typeface="Calibri"/>
              <a:cs typeface="Calibri"/>
              <a:sym typeface="Calibri"/>
            </a:endParaRPr>
          </a:p>
        </p:txBody>
      </p:sp>
      <p:sp>
        <p:nvSpPr>
          <p:cNvPr id="805" name="Google Shape;805;p22"/>
          <p:cNvSpPr/>
          <p:nvPr/>
        </p:nvSpPr>
        <p:spPr>
          <a:xfrm>
            <a:off x="8010144" y="3931920"/>
            <a:ext cx="3566160" cy="2057400"/>
          </a:xfrm>
          <a:prstGeom prst="roundRect">
            <a:avLst>
              <a:gd fmla="val 5333"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22"/>
          <p:cNvSpPr/>
          <p:nvPr/>
        </p:nvSpPr>
        <p:spPr>
          <a:xfrm>
            <a:off x="8238744" y="416052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07" name="Google Shape;807;p22"/>
          <p:cNvPicPr preferRelativeResize="0"/>
          <p:nvPr/>
        </p:nvPicPr>
        <p:blipFill rotWithShape="1">
          <a:blip r:embed="rId8">
            <a:alphaModFix/>
          </a:blip>
          <a:srcRect b="0" l="0" r="0" t="0"/>
          <a:stretch/>
        </p:blipFill>
        <p:spPr>
          <a:xfrm>
            <a:off x="8375904" y="4297680"/>
            <a:ext cx="274320" cy="274320"/>
          </a:xfrm>
          <a:prstGeom prst="rect">
            <a:avLst/>
          </a:prstGeom>
          <a:noFill/>
          <a:ln>
            <a:noFill/>
          </a:ln>
        </p:spPr>
      </p:pic>
      <p:sp>
        <p:nvSpPr>
          <p:cNvPr id="808" name="Google Shape;808;p22"/>
          <p:cNvSpPr txBox="1"/>
          <p:nvPr/>
        </p:nvSpPr>
        <p:spPr>
          <a:xfrm>
            <a:off x="8924544" y="4206240"/>
            <a:ext cx="2514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Licence-aware</a:t>
            </a:r>
            <a:endParaRPr b="0" i="0" sz="1700" u="none" cap="none" strike="noStrike">
              <a:solidFill>
                <a:schemeClr val="dk1"/>
              </a:solidFill>
              <a:latin typeface="Calibri"/>
              <a:ea typeface="Calibri"/>
              <a:cs typeface="Calibri"/>
              <a:sym typeface="Calibri"/>
            </a:endParaRPr>
          </a:p>
        </p:txBody>
      </p:sp>
      <p:sp>
        <p:nvSpPr>
          <p:cNvPr id="809" name="Google Shape;809;p22"/>
          <p:cNvSpPr txBox="1"/>
          <p:nvPr/>
        </p:nvSpPr>
        <p:spPr>
          <a:xfrm>
            <a:off x="8238744" y="4846320"/>
            <a:ext cx="3154680" cy="10515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LocateAnything weights are non-commercial; Gemini localisation is the drop-in swap for production.</a:t>
            </a:r>
            <a:endParaRPr b="0" i="0" sz="1400" u="none" cap="none" strike="noStrike">
              <a:solidFill>
                <a:schemeClr val="dk1"/>
              </a:solidFill>
              <a:latin typeface="Calibri"/>
              <a:ea typeface="Calibri"/>
              <a:cs typeface="Calibri"/>
              <a:sym typeface="Calibri"/>
            </a:endParaRPr>
          </a:p>
        </p:txBody>
      </p:sp>
      <p:sp>
        <p:nvSpPr>
          <p:cNvPr id="810" name="Google Shape;810;p22"/>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5" name="Shape 815"/>
        <p:cNvGrpSpPr/>
        <p:nvPr/>
      </p:nvGrpSpPr>
      <p:grpSpPr>
        <a:xfrm>
          <a:off x="0" y="0"/>
          <a:ext cx="0" cy="0"/>
          <a:chOff x="0" y="0"/>
          <a:chExt cx="0" cy="0"/>
        </a:xfrm>
      </p:grpSpPr>
      <p:sp>
        <p:nvSpPr>
          <p:cNvPr id="816" name="Google Shape;816;p23"/>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BUSINESS MODEL</a:t>
            </a:r>
            <a:endParaRPr sz="1200"/>
          </a:p>
        </p:txBody>
      </p:sp>
      <p:sp>
        <p:nvSpPr>
          <p:cNvPr id="817" name="Google Shape;817;p23"/>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Priced per inspection, far below a site visit</a:t>
            </a:r>
            <a:endParaRPr sz="3000"/>
          </a:p>
        </p:txBody>
      </p:sp>
      <p:sp>
        <p:nvSpPr>
          <p:cNvPr id="818" name="Google Shape;818;p23"/>
          <p:cNvSpPr/>
          <p:nvPr/>
        </p:nvSpPr>
        <p:spPr>
          <a:xfrm>
            <a:off x="548640" y="1600200"/>
            <a:ext cx="6035040" cy="1298448"/>
          </a:xfrm>
          <a:prstGeom prst="roundRect">
            <a:avLst>
              <a:gd fmla="val 845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3"/>
          <p:cNvSpPr/>
          <p:nvPr/>
        </p:nvSpPr>
        <p:spPr>
          <a:xfrm>
            <a:off x="777240" y="187452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20" name="Google Shape;820;p23"/>
          <p:cNvPicPr preferRelativeResize="0"/>
          <p:nvPr/>
        </p:nvPicPr>
        <p:blipFill rotWithShape="1">
          <a:blip r:embed="rId3">
            <a:alphaModFix/>
          </a:blip>
          <a:srcRect b="0" l="0" r="0" t="0"/>
          <a:stretch/>
        </p:blipFill>
        <p:spPr>
          <a:xfrm>
            <a:off x="948690" y="2045970"/>
            <a:ext cx="342900" cy="342900"/>
          </a:xfrm>
          <a:prstGeom prst="rect">
            <a:avLst/>
          </a:prstGeom>
          <a:noFill/>
          <a:ln>
            <a:noFill/>
          </a:ln>
        </p:spPr>
      </p:pic>
      <p:sp>
        <p:nvSpPr>
          <p:cNvPr id="821" name="Google Shape;821;p23"/>
          <p:cNvSpPr txBox="1"/>
          <p:nvPr/>
        </p:nvSpPr>
        <p:spPr>
          <a:xfrm>
            <a:off x="1691640" y="1764792"/>
            <a:ext cx="47548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Pay-per-inspection API</a:t>
            </a:r>
            <a:endParaRPr b="0" i="0" sz="1700" u="none" cap="none" strike="noStrike">
              <a:solidFill>
                <a:schemeClr val="dk1"/>
              </a:solidFill>
              <a:latin typeface="Calibri"/>
              <a:ea typeface="Calibri"/>
              <a:cs typeface="Calibri"/>
              <a:sym typeface="Calibri"/>
            </a:endParaRPr>
          </a:p>
        </p:txBody>
      </p:sp>
      <p:sp>
        <p:nvSpPr>
          <p:cNvPr id="822" name="Google Shape;822;p23"/>
          <p:cNvSpPr txBox="1"/>
          <p:nvPr/>
        </p:nvSpPr>
        <p:spPr>
          <a:xfrm>
            <a:off x="1691640" y="2130552"/>
            <a:ext cx="4754880" cy="713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Lenders and insurers send a walkthrough video from their own apps and get JSON, a report and a decision back.</a:t>
            </a:r>
            <a:endParaRPr b="0" i="0" sz="1300" u="none" cap="none" strike="noStrike">
              <a:solidFill>
                <a:schemeClr val="dk1"/>
              </a:solidFill>
              <a:latin typeface="Calibri"/>
              <a:ea typeface="Calibri"/>
              <a:cs typeface="Calibri"/>
              <a:sym typeface="Calibri"/>
            </a:endParaRPr>
          </a:p>
        </p:txBody>
      </p:sp>
      <p:sp>
        <p:nvSpPr>
          <p:cNvPr id="823" name="Google Shape;823;p23"/>
          <p:cNvSpPr/>
          <p:nvPr/>
        </p:nvSpPr>
        <p:spPr>
          <a:xfrm>
            <a:off x="548640" y="3063240"/>
            <a:ext cx="6035040" cy="1298448"/>
          </a:xfrm>
          <a:prstGeom prst="roundRect">
            <a:avLst>
              <a:gd fmla="val 845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3"/>
          <p:cNvSpPr/>
          <p:nvPr/>
        </p:nvSpPr>
        <p:spPr>
          <a:xfrm>
            <a:off x="777240" y="333756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25" name="Google Shape;825;p23"/>
          <p:cNvPicPr preferRelativeResize="0"/>
          <p:nvPr/>
        </p:nvPicPr>
        <p:blipFill rotWithShape="1">
          <a:blip r:embed="rId4">
            <a:alphaModFix/>
          </a:blip>
          <a:srcRect b="0" l="0" r="0" t="0"/>
          <a:stretch/>
        </p:blipFill>
        <p:spPr>
          <a:xfrm>
            <a:off x="948690" y="3509010"/>
            <a:ext cx="342900" cy="342900"/>
          </a:xfrm>
          <a:prstGeom prst="rect">
            <a:avLst/>
          </a:prstGeom>
          <a:noFill/>
          <a:ln>
            <a:noFill/>
          </a:ln>
        </p:spPr>
      </p:pic>
      <p:sp>
        <p:nvSpPr>
          <p:cNvPr id="826" name="Google Shape;826;p23"/>
          <p:cNvSpPr txBox="1"/>
          <p:nvPr/>
        </p:nvSpPr>
        <p:spPr>
          <a:xfrm>
            <a:off x="1691640" y="3227832"/>
            <a:ext cx="47548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Enterprise subscription</a:t>
            </a:r>
            <a:endParaRPr b="0" i="0" sz="1700" u="none" cap="none" strike="noStrike">
              <a:solidFill>
                <a:schemeClr val="dk1"/>
              </a:solidFill>
              <a:latin typeface="Calibri"/>
              <a:ea typeface="Calibri"/>
              <a:cs typeface="Calibri"/>
              <a:sym typeface="Calibri"/>
            </a:endParaRPr>
          </a:p>
        </p:txBody>
      </p:sp>
      <p:sp>
        <p:nvSpPr>
          <p:cNvPr id="827" name="Google Shape;827;p23"/>
          <p:cNvSpPr txBox="1"/>
          <p:nvPr/>
        </p:nvSpPr>
        <p:spPr>
          <a:xfrm>
            <a:off x="1691640" y="3593592"/>
            <a:ext cx="4754880" cy="713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Portfolio dashboard, BigQuery export, custom risk rules, SSO, and private deployment in the client's Google Cloud project.</a:t>
            </a:r>
            <a:endParaRPr b="0" i="0" sz="1300" u="none" cap="none" strike="noStrike">
              <a:solidFill>
                <a:schemeClr val="dk1"/>
              </a:solidFill>
              <a:latin typeface="Calibri"/>
              <a:ea typeface="Calibri"/>
              <a:cs typeface="Calibri"/>
              <a:sym typeface="Calibri"/>
            </a:endParaRPr>
          </a:p>
        </p:txBody>
      </p:sp>
      <p:sp>
        <p:nvSpPr>
          <p:cNvPr id="828" name="Google Shape;828;p23"/>
          <p:cNvSpPr/>
          <p:nvPr/>
        </p:nvSpPr>
        <p:spPr>
          <a:xfrm>
            <a:off x="548640" y="4526280"/>
            <a:ext cx="6035040" cy="1298448"/>
          </a:xfrm>
          <a:prstGeom prst="roundRect">
            <a:avLst>
              <a:gd fmla="val 8451"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3"/>
          <p:cNvSpPr/>
          <p:nvPr/>
        </p:nvSpPr>
        <p:spPr>
          <a:xfrm>
            <a:off x="777240" y="4800600"/>
            <a:ext cx="685800" cy="68580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30" name="Google Shape;830;p23"/>
          <p:cNvPicPr preferRelativeResize="0"/>
          <p:nvPr/>
        </p:nvPicPr>
        <p:blipFill rotWithShape="1">
          <a:blip r:embed="rId5">
            <a:alphaModFix/>
          </a:blip>
          <a:srcRect b="0" l="0" r="0" t="0"/>
          <a:stretch/>
        </p:blipFill>
        <p:spPr>
          <a:xfrm>
            <a:off x="948690" y="4972050"/>
            <a:ext cx="342900" cy="342900"/>
          </a:xfrm>
          <a:prstGeom prst="rect">
            <a:avLst/>
          </a:prstGeom>
          <a:noFill/>
          <a:ln>
            <a:noFill/>
          </a:ln>
        </p:spPr>
      </p:pic>
      <p:sp>
        <p:nvSpPr>
          <p:cNvPr id="831" name="Google Shape;831;p23"/>
          <p:cNvSpPr txBox="1"/>
          <p:nvPr/>
        </p:nvSpPr>
        <p:spPr>
          <a:xfrm>
            <a:off x="1691640" y="4690872"/>
            <a:ext cx="475488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Inspector &amp; valuer firms</a:t>
            </a:r>
            <a:endParaRPr b="0" i="0" sz="1700" u="none" cap="none" strike="noStrike">
              <a:solidFill>
                <a:schemeClr val="dk1"/>
              </a:solidFill>
              <a:latin typeface="Calibri"/>
              <a:ea typeface="Calibri"/>
              <a:cs typeface="Calibri"/>
              <a:sym typeface="Calibri"/>
            </a:endParaRPr>
          </a:p>
        </p:txBody>
      </p:sp>
      <p:sp>
        <p:nvSpPr>
          <p:cNvPr id="832" name="Google Shape;832;p23"/>
          <p:cNvSpPr txBox="1"/>
          <p:nvPr/>
        </p:nvSpPr>
        <p:spPr>
          <a:xfrm>
            <a:off x="1691640" y="5056632"/>
            <a:ext cx="4754880" cy="713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White-label app: the AI drafts every report and coverage control, so each inspector handles more cases.</a:t>
            </a:r>
            <a:endParaRPr b="0" i="0" sz="1300" u="none" cap="none" strike="noStrike">
              <a:solidFill>
                <a:schemeClr val="dk1"/>
              </a:solidFill>
              <a:latin typeface="Calibri"/>
              <a:ea typeface="Calibri"/>
              <a:cs typeface="Calibri"/>
              <a:sym typeface="Calibri"/>
            </a:endParaRPr>
          </a:p>
        </p:txBody>
      </p:sp>
      <p:sp>
        <p:nvSpPr>
          <p:cNvPr id="833" name="Google Shape;833;p23"/>
          <p:cNvSpPr/>
          <p:nvPr/>
        </p:nvSpPr>
        <p:spPr>
          <a:xfrm>
            <a:off x="6949440" y="1600200"/>
            <a:ext cx="4709160" cy="4224528"/>
          </a:xfrm>
          <a:prstGeom prst="roundRect">
            <a:avLst>
              <a:gd fmla="val 2597"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3"/>
          <p:cNvSpPr txBox="1"/>
          <p:nvPr/>
        </p:nvSpPr>
        <p:spPr>
          <a:xfrm>
            <a:off x="7178040" y="1737360"/>
            <a:ext cx="429768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600"/>
              <a:buFont typeface="Calibri"/>
              <a:buNone/>
            </a:pPr>
            <a:r>
              <a:rPr b="1" i="0" lang="en-US" sz="1600" u="none" cap="none" strike="noStrike">
                <a:solidFill>
                  <a:schemeClr val="accent2"/>
                </a:solidFill>
                <a:latin typeface="Calibri"/>
                <a:ea typeface="Calibri"/>
                <a:cs typeface="Calibri"/>
                <a:sym typeface="Calibri"/>
              </a:rPr>
              <a:t>Unit economics (indicative)</a:t>
            </a:r>
            <a:endParaRPr b="0" i="0" sz="1600" u="none" cap="none" strike="noStrike">
              <a:solidFill>
                <a:schemeClr val="dk1"/>
              </a:solidFill>
              <a:latin typeface="Calibri"/>
              <a:ea typeface="Calibri"/>
              <a:cs typeface="Calibri"/>
              <a:sym typeface="Calibri"/>
            </a:endParaRPr>
          </a:p>
        </p:txBody>
      </p:sp>
      <p:sp>
        <p:nvSpPr>
          <p:cNvPr id="835" name="Google Shape;835;p23"/>
          <p:cNvSpPr txBox="1"/>
          <p:nvPr/>
        </p:nvSpPr>
        <p:spPr>
          <a:xfrm>
            <a:off x="7178040" y="2194560"/>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Gemini calls</a:t>
            </a:r>
            <a:endParaRPr b="0" i="0" sz="1400" u="none" cap="none" strike="noStrike">
              <a:solidFill>
                <a:schemeClr val="dk1"/>
              </a:solidFill>
              <a:latin typeface="Calibri"/>
              <a:ea typeface="Calibri"/>
              <a:cs typeface="Calibri"/>
              <a:sym typeface="Calibri"/>
            </a:endParaRPr>
          </a:p>
        </p:txBody>
      </p:sp>
      <p:sp>
        <p:nvSpPr>
          <p:cNvPr id="836" name="Google Shape;836;p23"/>
          <p:cNvSpPr txBox="1"/>
          <p:nvPr/>
        </p:nvSpPr>
        <p:spPr>
          <a:xfrm>
            <a:off x="7178040" y="2468880"/>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 $0.005 each → ≈ $0.35 per walkthrough</a:t>
            </a:r>
            <a:endParaRPr b="0" i="0" sz="1300" u="none" cap="none" strike="noStrike">
              <a:solidFill>
                <a:schemeClr val="dk1"/>
              </a:solidFill>
              <a:latin typeface="Calibri"/>
              <a:ea typeface="Calibri"/>
              <a:cs typeface="Calibri"/>
              <a:sym typeface="Calibri"/>
            </a:endParaRPr>
          </a:p>
        </p:txBody>
      </p:sp>
      <p:sp>
        <p:nvSpPr>
          <p:cNvPr id="837" name="Google Shape;837;p23"/>
          <p:cNvSpPr txBox="1"/>
          <p:nvPr/>
        </p:nvSpPr>
        <p:spPr>
          <a:xfrm>
            <a:off x="7178040" y="2816352"/>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L4 GPU time</a:t>
            </a:r>
            <a:endParaRPr b="0" i="0" sz="1400" u="none" cap="none" strike="noStrike">
              <a:solidFill>
                <a:schemeClr val="dk1"/>
              </a:solidFill>
              <a:latin typeface="Calibri"/>
              <a:ea typeface="Calibri"/>
              <a:cs typeface="Calibri"/>
              <a:sym typeface="Calibri"/>
            </a:endParaRPr>
          </a:p>
        </p:txBody>
      </p:sp>
      <p:sp>
        <p:nvSpPr>
          <p:cNvPr id="838" name="Google Shape;838;p23"/>
          <p:cNvSpPr txBox="1"/>
          <p:nvPr/>
        </p:nvSpPr>
        <p:spPr>
          <a:xfrm>
            <a:off x="7178040" y="3090672"/>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 $1.42 per hour (8 vCPU, 32 GiB), scales to zero</a:t>
            </a:r>
            <a:endParaRPr b="0" i="0" sz="1300" u="none" cap="none" strike="noStrike">
              <a:solidFill>
                <a:schemeClr val="dk1"/>
              </a:solidFill>
              <a:latin typeface="Calibri"/>
              <a:ea typeface="Calibri"/>
              <a:cs typeface="Calibri"/>
              <a:sym typeface="Calibri"/>
            </a:endParaRPr>
          </a:p>
        </p:txBody>
      </p:sp>
      <p:sp>
        <p:nvSpPr>
          <p:cNvPr id="839" name="Google Shape;839;p23"/>
          <p:cNvSpPr txBox="1"/>
          <p:nvPr/>
        </p:nvSpPr>
        <p:spPr>
          <a:xfrm>
            <a:off x="7178040" y="3438144"/>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Video inspection</a:t>
            </a:r>
            <a:endParaRPr b="0" i="0" sz="1400" u="none" cap="none" strike="noStrike">
              <a:solidFill>
                <a:schemeClr val="dk1"/>
              </a:solidFill>
              <a:latin typeface="Calibri"/>
              <a:ea typeface="Calibri"/>
              <a:cs typeface="Calibri"/>
              <a:sym typeface="Calibri"/>
            </a:endParaRPr>
          </a:p>
        </p:txBody>
      </p:sp>
      <p:sp>
        <p:nvSpPr>
          <p:cNvPr id="840" name="Google Shape;840;p23"/>
          <p:cNvSpPr txBox="1"/>
          <p:nvPr/>
        </p:nvSpPr>
        <p:spPr>
          <a:xfrm>
            <a:off x="7178040" y="3712464"/>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 $1 per Lite video, ≈ $1.50 Advanced (GPU + Gemini)</a:t>
            </a:r>
            <a:endParaRPr b="0" i="0" sz="1300" u="none" cap="none" strike="noStrike">
              <a:solidFill>
                <a:schemeClr val="dk1"/>
              </a:solidFill>
              <a:latin typeface="Calibri"/>
              <a:ea typeface="Calibri"/>
              <a:cs typeface="Calibri"/>
              <a:sym typeface="Calibri"/>
            </a:endParaRPr>
          </a:p>
        </p:txBody>
      </p:sp>
      <p:sp>
        <p:nvSpPr>
          <p:cNvPr id="841" name="Google Shape;841;p23"/>
          <p:cNvSpPr txBox="1"/>
          <p:nvPr/>
        </p:nvSpPr>
        <p:spPr>
          <a:xfrm>
            <a:off x="7178040" y="4059936"/>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Judging period</a:t>
            </a:r>
            <a:endParaRPr b="0" i="0" sz="1400" u="none" cap="none" strike="noStrike">
              <a:solidFill>
                <a:schemeClr val="dk1"/>
              </a:solidFill>
              <a:latin typeface="Calibri"/>
              <a:ea typeface="Calibri"/>
              <a:cs typeface="Calibri"/>
              <a:sym typeface="Calibri"/>
            </a:endParaRPr>
          </a:p>
        </p:txBody>
      </p:sp>
      <p:sp>
        <p:nvSpPr>
          <p:cNvPr id="842" name="Google Shape;842;p23"/>
          <p:cNvSpPr txBox="1"/>
          <p:nvPr/>
        </p:nvSpPr>
        <p:spPr>
          <a:xfrm>
            <a:off x="7178040" y="4334256"/>
            <a:ext cx="42976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300"/>
              <a:buFont typeface="Calibri"/>
              <a:buNone/>
            </a:pPr>
            <a:r>
              <a:rPr b="0" i="0" lang="en-US" sz="1300" u="none" cap="none" strike="noStrike">
                <a:solidFill>
                  <a:schemeClr val="dk2"/>
                </a:solidFill>
                <a:latin typeface="Calibri"/>
                <a:ea typeface="Calibri"/>
                <a:cs typeface="Calibri"/>
                <a:sym typeface="Calibri"/>
              </a:rPr>
              <a:t>≈ $50–70 for two weeks of demo use</a:t>
            </a:r>
            <a:endParaRPr b="0" i="0" sz="1300" u="none" cap="none" strike="noStrike">
              <a:solidFill>
                <a:schemeClr val="dk1"/>
              </a:solidFill>
              <a:latin typeface="Calibri"/>
              <a:ea typeface="Calibri"/>
              <a:cs typeface="Calibri"/>
              <a:sym typeface="Calibri"/>
            </a:endParaRPr>
          </a:p>
        </p:txBody>
      </p:sp>
      <p:sp>
        <p:nvSpPr>
          <p:cNvPr id="843" name="Google Shape;843;p23"/>
          <p:cNvSpPr txBox="1"/>
          <p:nvPr/>
        </p:nvSpPr>
        <p:spPr>
          <a:xfrm>
            <a:off x="7178040" y="4800600"/>
            <a:ext cx="429768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300"/>
              <a:buFont typeface="Calibri"/>
              <a:buNone/>
            </a:pPr>
            <a:r>
              <a:rPr b="0" i="1" lang="en-US" sz="1300" u="none" cap="none" strike="noStrike">
                <a:solidFill>
                  <a:schemeClr val="accent3"/>
                </a:solidFill>
                <a:latin typeface="Calibri"/>
                <a:ea typeface="Calibri"/>
                <a:cs typeface="Calibri"/>
                <a:sym typeface="Calibri"/>
              </a:rPr>
              <a:t>Pricing hypothesis to validate in pilots: a per-inspection fee well below a physical visit, with volume tiers for portfolios.</a:t>
            </a:r>
            <a:endParaRPr b="0" i="0" sz="1300" u="none" cap="none" strike="noStrike">
              <a:solidFill>
                <a:schemeClr val="dk1"/>
              </a:solidFill>
              <a:latin typeface="Calibri"/>
              <a:ea typeface="Calibri"/>
              <a:cs typeface="Calibri"/>
              <a:sym typeface="Calibri"/>
            </a:endParaRPr>
          </a:p>
        </p:txBody>
      </p:sp>
      <p:sp>
        <p:nvSpPr>
          <p:cNvPr id="844" name="Google Shape;844;p23"/>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24"/>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GO-TO-MARKET &amp; PITCH</a:t>
            </a:r>
            <a:endParaRPr sz="1200"/>
          </a:p>
        </p:txBody>
      </p:sp>
      <p:sp>
        <p:nvSpPr>
          <p:cNvPr id="851" name="Google Shape;851;p24"/>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Start with housing finance and home insurance in APAC</a:t>
            </a:r>
            <a:endParaRPr sz="3000"/>
          </a:p>
        </p:txBody>
      </p:sp>
      <p:sp>
        <p:nvSpPr>
          <p:cNvPr id="852" name="Google Shape;852;p24"/>
          <p:cNvSpPr/>
          <p:nvPr/>
        </p:nvSpPr>
        <p:spPr>
          <a:xfrm>
            <a:off x="548640" y="1600200"/>
            <a:ext cx="3566160" cy="2148840"/>
          </a:xfrm>
          <a:prstGeom prst="roundRect">
            <a:avLst>
              <a:gd fmla="val 510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4"/>
          <p:cNvSpPr txBox="1"/>
          <p:nvPr/>
        </p:nvSpPr>
        <p:spPr>
          <a:xfrm>
            <a:off x="777240" y="1783080"/>
            <a:ext cx="18288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PILOT</a:t>
            </a:r>
            <a:endParaRPr b="0" i="0" sz="1800" u="none" cap="none" strike="noStrike">
              <a:solidFill>
                <a:schemeClr val="dk1"/>
              </a:solidFill>
              <a:latin typeface="Calibri"/>
              <a:ea typeface="Calibri"/>
              <a:cs typeface="Calibri"/>
              <a:sym typeface="Calibri"/>
            </a:endParaRPr>
          </a:p>
        </p:txBody>
      </p:sp>
      <p:sp>
        <p:nvSpPr>
          <p:cNvPr id="854" name="Google Shape;854;p24"/>
          <p:cNvSpPr txBox="1"/>
          <p:nvPr/>
        </p:nvSpPr>
        <p:spPr>
          <a:xfrm>
            <a:off x="2377440" y="1801368"/>
            <a:ext cx="1554480" cy="36576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chemeClr val="accent3"/>
              </a:buClr>
              <a:buSzPts val="1300"/>
              <a:buFont typeface="Calibri"/>
              <a:buNone/>
            </a:pPr>
            <a:r>
              <a:rPr b="0" i="0" lang="en-US" sz="1300" u="none" cap="none" strike="noStrike">
                <a:solidFill>
                  <a:schemeClr val="accent3"/>
                </a:solidFill>
                <a:latin typeface="Calibri"/>
                <a:ea typeface="Calibri"/>
                <a:cs typeface="Calibri"/>
                <a:sym typeface="Calibri"/>
              </a:rPr>
              <a:t>0–3 months</a:t>
            </a:r>
            <a:endParaRPr b="0" i="0" sz="1300" u="none" cap="none" strike="noStrike">
              <a:solidFill>
                <a:schemeClr val="dk1"/>
              </a:solidFill>
              <a:latin typeface="Calibri"/>
              <a:ea typeface="Calibri"/>
              <a:cs typeface="Calibri"/>
              <a:sym typeface="Calibri"/>
            </a:endParaRPr>
          </a:p>
        </p:txBody>
      </p:sp>
      <p:sp>
        <p:nvSpPr>
          <p:cNvPr id="855" name="Google Shape;855;p24"/>
          <p:cNvSpPr txBox="1"/>
          <p:nvPr/>
        </p:nvSpPr>
        <p:spPr>
          <a:xfrm>
            <a:off x="777240" y="2240280"/>
            <a:ext cx="315468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1 housing-finance lender + 1 home insurer. Run AI alongside existing inspections on ~500 cases and measure turnaround, cost and referral accuracy.</a:t>
            </a:r>
            <a:endParaRPr b="0" i="0" sz="1400" u="none" cap="none" strike="noStrike">
              <a:solidFill>
                <a:schemeClr val="dk1"/>
              </a:solidFill>
              <a:latin typeface="Calibri"/>
              <a:ea typeface="Calibri"/>
              <a:cs typeface="Calibri"/>
              <a:sym typeface="Calibri"/>
            </a:endParaRPr>
          </a:p>
        </p:txBody>
      </p:sp>
      <p:sp>
        <p:nvSpPr>
          <p:cNvPr id="856" name="Google Shape;856;p24"/>
          <p:cNvSpPr/>
          <p:nvPr/>
        </p:nvSpPr>
        <p:spPr>
          <a:xfrm>
            <a:off x="4279392" y="1600200"/>
            <a:ext cx="3566160" cy="2148840"/>
          </a:xfrm>
          <a:prstGeom prst="roundRect">
            <a:avLst>
              <a:gd fmla="val 510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4"/>
          <p:cNvSpPr txBox="1"/>
          <p:nvPr/>
        </p:nvSpPr>
        <p:spPr>
          <a:xfrm>
            <a:off x="4507992" y="1783080"/>
            <a:ext cx="18288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INTEGRATE</a:t>
            </a:r>
            <a:endParaRPr b="0" i="0" sz="1800" u="none" cap="none" strike="noStrike">
              <a:solidFill>
                <a:schemeClr val="dk1"/>
              </a:solidFill>
              <a:latin typeface="Calibri"/>
              <a:ea typeface="Calibri"/>
              <a:cs typeface="Calibri"/>
              <a:sym typeface="Calibri"/>
            </a:endParaRPr>
          </a:p>
        </p:txBody>
      </p:sp>
      <p:sp>
        <p:nvSpPr>
          <p:cNvPr id="858" name="Google Shape;858;p24"/>
          <p:cNvSpPr txBox="1"/>
          <p:nvPr/>
        </p:nvSpPr>
        <p:spPr>
          <a:xfrm>
            <a:off x="6108192" y="1801368"/>
            <a:ext cx="1554480" cy="36576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chemeClr val="accent3"/>
              </a:buClr>
              <a:buSzPts val="1300"/>
              <a:buFont typeface="Calibri"/>
              <a:buNone/>
            </a:pPr>
            <a:r>
              <a:rPr b="0" i="0" lang="en-US" sz="1300" u="none" cap="none" strike="noStrike">
                <a:solidFill>
                  <a:schemeClr val="accent3"/>
                </a:solidFill>
                <a:latin typeface="Calibri"/>
                <a:ea typeface="Calibri"/>
                <a:cs typeface="Calibri"/>
                <a:sym typeface="Calibri"/>
              </a:rPr>
              <a:t>3–6 months</a:t>
            </a:r>
            <a:endParaRPr b="0" i="0" sz="1300" u="none" cap="none" strike="noStrike">
              <a:solidFill>
                <a:schemeClr val="dk1"/>
              </a:solidFill>
              <a:latin typeface="Calibri"/>
              <a:ea typeface="Calibri"/>
              <a:cs typeface="Calibri"/>
              <a:sym typeface="Calibri"/>
            </a:endParaRPr>
          </a:p>
        </p:txBody>
      </p:sp>
      <p:sp>
        <p:nvSpPr>
          <p:cNvPr id="859" name="Google Shape;859;p24"/>
          <p:cNvSpPr txBox="1"/>
          <p:nvPr/>
        </p:nvSpPr>
        <p:spPr>
          <a:xfrm>
            <a:off x="4507992" y="2240280"/>
            <a:ext cx="315468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Pub/Sub into the loan-origination and claims systems, BigQuery portfolio dashboards, and custom risk rules per client.</a:t>
            </a:r>
            <a:endParaRPr b="0" i="0" sz="1400" u="none" cap="none" strike="noStrike">
              <a:solidFill>
                <a:schemeClr val="dk1"/>
              </a:solidFill>
              <a:latin typeface="Calibri"/>
              <a:ea typeface="Calibri"/>
              <a:cs typeface="Calibri"/>
              <a:sym typeface="Calibri"/>
            </a:endParaRPr>
          </a:p>
        </p:txBody>
      </p:sp>
      <p:sp>
        <p:nvSpPr>
          <p:cNvPr id="860" name="Google Shape;860;p24"/>
          <p:cNvSpPr/>
          <p:nvPr/>
        </p:nvSpPr>
        <p:spPr>
          <a:xfrm>
            <a:off x="8010144" y="1600200"/>
            <a:ext cx="3566160" cy="2148840"/>
          </a:xfrm>
          <a:prstGeom prst="roundRect">
            <a:avLst>
              <a:gd fmla="val 5106" name="adj"/>
            </a:avLst>
          </a:prstGeom>
          <a:solidFill>
            <a:schemeClr val="lt2"/>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4"/>
          <p:cNvSpPr txBox="1"/>
          <p:nvPr/>
        </p:nvSpPr>
        <p:spPr>
          <a:xfrm>
            <a:off x="8238744" y="1783080"/>
            <a:ext cx="18288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0" lang="en-US" sz="1800" u="none" cap="none" strike="noStrike">
                <a:solidFill>
                  <a:schemeClr val="accent2"/>
                </a:solidFill>
                <a:latin typeface="Calibri"/>
                <a:ea typeface="Calibri"/>
                <a:cs typeface="Calibri"/>
                <a:sym typeface="Calibri"/>
              </a:rPr>
              <a:t>SCALE</a:t>
            </a:r>
            <a:endParaRPr b="0" i="0" sz="1800" u="none" cap="none" strike="noStrike">
              <a:solidFill>
                <a:schemeClr val="dk1"/>
              </a:solidFill>
              <a:latin typeface="Calibri"/>
              <a:ea typeface="Calibri"/>
              <a:cs typeface="Calibri"/>
              <a:sym typeface="Calibri"/>
            </a:endParaRPr>
          </a:p>
        </p:txBody>
      </p:sp>
      <p:sp>
        <p:nvSpPr>
          <p:cNvPr id="862" name="Google Shape;862;p24"/>
          <p:cNvSpPr txBox="1"/>
          <p:nvPr/>
        </p:nvSpPr>
        <p:spPr>
          <a:xfrm>
            <a:off x="9838944" y="1801368"/>
            <a:ext cx="1554480" cy="36576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chemeClr val="accent3"/>
              </a:buClr>
              <a:buSzPts val="1300"/>
              <a:buFont typeface="Calibri"/>
              <a:buNone/>
            </a:pPr>
            <a:r>
              <a:rPr b="0" i="0" lang="en-US" sz="1300" u="none" cap="none" strike="noStrike">
                <a:solidFill>
                  <a:schemeClr val="accent3"/>
                </a:solidFill>
                <a:latin typeface="Calibri"/>
                <a:ea typeface="Calibri"/>
                <a:cs typeface="Calibri"/>
                <a:sym typeface="Calibri"/>
              </a:rPr>
              <a:t>6–18 months</a:t>
            </a:r>
            <a:endParaRPr b="0" i="0" sz="1300" u="none" cap="none" strike="noStrike">
              <a:solidFill>
                <a:schemeClr val="dk1"/>
              </a:solidFill>
              <a:latin typeface="Calibri"/>
              <a:ea typeface="Calibri"/>
              <a:cs typeface="Calibri"/>
              <a:sym typeface="Calibri"/>
            </a:endParaRPr>
          </a:p>
        </p:txBody>
      </p:sp>
      <p:sp>
        <p:nvSpPr>
          <p:cNvPr id="863" name="Google Shape;863;p24"/>
          <p:cNvSpPr txBox="1"/>
          <p:nvPr/>
        </p:nvSpPr>
        <p:spPr>
          <a:xfrm>
            <a:off x="8238744" y="2240280"/>
            <a:ext cx="315468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Google Cloud Marketplace listing, partnerships with valuer and inspector networks, and expansion to commercial property and claims.</a:t>
            </a:r>
            <a:endParaRPr b="0" i="0" sz="1400" u="none" cap="none" strike="noStrike">
              <a:solidFill>
                <a:schemeClr val="dk1"/>
              </a:solidFill>
              <a:latin typeface="Calibri"/>
              <a:ea typeface="Calibri"/>
              <a:cs typeface="Calibri"/>
              <a:sym typeface="Calibri"/>
            </a:endParaRPr>
          </a:p>
        </p:txBody>
      </p:sp>
      <p:sp>
        <p:nvSpPr>
          <p:cNvPr id="864" name="Google Shape;864;p24"/>
          <p:cNvSpPr txBox="1"/>
          <p:nvPr/>
        </p:nvSpPr>
        <p:spPr>
          <a:xfrm>
            <a:off x="548640" y="3977640"/>
            <a:ext cx="1110996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Pilot KPIs:  turnaround time  ·  cost per inspection  ·  % cases auto-cleared vs referred  ·  fraud flags confirmed  ·  re-inspection rate</a:t>
            </a:r>
            <a:endParaRPr b="0" i="0" sz="1400" u="none" cap="none" strike="noStrike">
              <a:solidFill>
                <a:schemeClr val="dk1"/>
              </a:solidFill>
              <a:latin typeface="Calibri"/>
              <a:ea typeface="Calibri"/>
              <a:cs typeface="Calibri"/>
              <a:sym typeface="Calibri"/>
            </a:endParaRPr>
          </a:p>
        </p:txBody>
      </p:sp>
      <p:sp>
        <p:nvSpPr>
          <p:cNvPr id="865" name="Google Shape;865;p24"/>
          <p:cNvSpPr/>
          <p:nvPr/>
        </p:nvSpPr>
        <p:spPr>
          <a:xfrm>
            <a:off x="548640" y="4572000"/>
            <a:ext cx="11109960" cy="1554480"/>
          </a:xfrm>
          <a:prstGeom prst="roundRect">
            <a:avLst>
              <a:gd fmla="val 7059" name="adj"/>
            </a:avLst>
          </a:prstGeom>
          <a:solidFill>
            <a:srgbClr val="1A1F45"/>
          </a:solidFill>
          <a:ln cap="flat" cmpd="sng" w="12700">
            <a:solidFill>
              <a:srgbClr val="6366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66" name="Google Shape;866;p24"/>
          <p:cNvPicPr preferRelativeResize="0"/>
          <p:nvPr/>
        </p:nvPicPr>
        <p:blipFill rotWithShape="1">
          <a:blip r:embed="rId3">
            <a:alphaModFix/>
          </a:blip>
          <a:srcRect b="0" l="0" r="0" t="0"/>
          <a:stretch/>
        </p:blipFill>
        <p:spPr>
          <a:xfrm>
            <a:off x="777240" y="4800600"/>
            <a:ext cx="457200" cy="457200"/>
          </a:xfrm>
          <a:prstGeom prst="rect">
            <a:avLst/>
          </a:prstGeom>
          <a:noFill/>
          <a:ln>
            <a:noFill/>
          </a:ln>
        </p:spPr>
      </p:pic>
      <p:sp>
        <p:nvSpPr>
          <p:cNvPr id="867" name="Google Shape;867;p24"/>
          <p:cNvSpPr txBox="1"/>
          <p:nvPr/>
        </p:nvSpPr>
        <p:spPr>
          <a:xfrm>
            <a:off x="1463040" y="4709160"/>
            <a:ext cx="10012680" cy="12801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2200"/>
              <a:buFont typeface="Calibri"/>
              <a:buNone/>
            </a:pPr>
            <a:r>
              <a:rPr b="1" i="1" lang="en-US" sz="2200" u="none" cap="none" strike="noStrike">
                <a:solidFill>
                  <a:schemeClr val="dk1"/>
                </a:solidFill>
                <a:latin typeface="Calibri"/>
                <a:ea typeface="Calibri"/>
                <a:cs typeface="Calibri"/>
                <a:sym typeface="Calibri"/>
              </a:rPr>
              <a:t>Every lender and insurer already asks for photos. We replace them with a short phone video that is trustworthy, explainable and ready for a decision.</a:t>
            </a:r>
            <a:endParaRPr b="0" i="0" sz="2200" u="none" cap="none" strike="noStrike">
              <a:solidFill>
                <a:schemeClr val="dk1"/>
              </a:solidFill>
              <a:latin typeface="Calibri"/>
              <a:ea typeface="Calibri"/>
              <a:cs typeface="Calibri"/>
              <a:sym typeface="Calibri"/>
            </a:endParaRPr>
          </a:p>
        </p:txBody>
      </p:sp>
      <p:sp>
        <p:nvSpPr>
          <p:cNvPr id="868" name="Google Shape;868;p24"/>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25"/>
          <p:cNvSpPr txBox="1"/>
          <p:nvPr>
            <p:ph idx="1" type="body"/>
          </p:nvPr>
        </p:nvSpPr>
        <p:spPr>
          <a:xfrm>
            <a:off x="548640" y="292608"/>
            <a:ext cx="11064240" cy="292608"/>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accent2"/>
              </a:buClr>
              <a:buSzPts val="1200"/>
              <a:buNone/>
            </a:pPr>
            <a:r>
              <a:rPr b="1" lang="en-US" sz="1200">
                <a:solidFill>
                  <a:schemeClr val="accent2"/>
                </a:solidFill>
              </a:rPr>
              <a:t>ROADMAP</a:t>
            </a:r>
            <a:endParaRPr sz="1200"/>
          </a:p>
        </p:txBody>
      </p:sp>
      <p:sp>
        <p:nvSpPr>
          <p:cNvPr id="875" name="Google Shape;875;p25"/>
          <p:cNvSpPr txBox="1"/>
          <p:nvPr>
            <p:ph type="title"/>
          </p:nvPr>
        </p:nvSpPr>
        <p:spPr>
          <a:xfrm>
            <a:off x="548640" y="585216"/>
            <a:ext cx="11064240" cy="7315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3000"/>
              <a:buFont typeface="Arial"/>
              <a:buNone/>
            </a:pPr>
            <a:r>
              <a:rPr b="1" lang="en-US" sz="3000">
                <a:solidFill>
                  <a:schemeClr val="dk1"/>
                </a:solidFill>
                <a:latin typeface="Arial"/>
                <a:ea typeface="Arial"/>
                <a:cs typeface="Arial"/>
                <a:sym typeface="Arial"/>
              </a:rPr>
              <a:t>Next: documents, policies and predictive portfolio risk</a:t>
            </a:r>
            <a:endParaRPr sz="3000"/>
          </a:p>
        </p:txBody>
      </p:sp>
      <p:sp>
        <p:nvSpPr>
          <p:cNvPr id="876" name="Google Shape;876;p25"/>
          <p:cNvSpPr/>
          <p:nvPr/>
        </p:nvSpPr>
        <p:spPr>
          <a:xfrm>
            <a:off x="548640" y="1600200"/>
            <a:ext cx="3566160" cy="3566160"/>
          </a:xfrm>
          <a:prstGeom prst="roundRect">
            <a:avLst>
              <a:gd fmla="val 3077" name="adj"/>
            </a:avLst>
          </a:prstGeom>
          <a:solidFill>
            <a:schemeClr val="lt2"/>
          </a:solidFill>
          <a:ln cap="flat" cmpd="sng" w="12700">
            <a:solidFill>
              <a:srgbClr val="22C55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5"/>
          <p:cNvSpPr txBox="1"/>
          <p:nvPr/>
        </p:nvSpPr>
        <p:spPr>
          <a:xfrm>
            <a:off x="777240" y="1783080"/>
            <a:ext cx="3108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C55E"/>
              </a:buClr>
              <a:buSzPts val="1700"/>
              <a:buFont typeface="Calibri"/>
              <a:buNone/>
            </a:pPr>
            <a:r>
              <a:rPr b="1" i="0" lang="en-US" sz="1700" u="none" cap="none" strike="noStrike">
                <a:solidFill>
                  <a:srgbClr val="22C55E"/>
                </a:solidFill>
                <a:latin typeface="Calibri"/>
                <a:ea typeface="Calibri"/>
                <a:cs typeface="Calibri"/>
                <a:sym typeface="Calibri"/>
              </a:rPr>
              <a:t>NOW · v1.0.0</a:t>
            </a:r>
            <a:endParaRPr b="0" i="0" sz="1700" u="none" cap="none" strike="noStrike">
              <a:solidFill>
                <a:schemeClr val="dk1"/>
              </a:solidFill>
              <a:latin typeface="Calibri"/>
              <a:ea typeface="Calibri"/>
              <a:cs typeface="Calibri"/>
              <a:sym typeface="Calibri"/>
            </a:endParaRPr>
          </a:p>
        </p:txBody>
      </p:sp>
      <p:sp>
        <p:nvSpPr>
          <p:cNvPr id="878" name="Google Shape;878;p25"/>
          <p:cNvSpPr txBox="1"/>
          <p:nvPr/>
        </p:nvSpPr>
        <p:spPr>
          <a:xfrm>
            <a:off x="777240" y="2286000"/>
            <a:ext cx="3154680" cy="27432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Video walkthrough inspection</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Risk and valuation engine</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Fraud and coverage checks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Gemini analysis and Q&amp;A</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Cloud Run, BigQuery, Pub/Sub</a:t>
            </a:r>
            <a:endParaRPr b="0" i="0" sz="1500" u="none" cap="none" strike="noStrike">
              <a:solidFill>
                <a:schemeClr val="dk1"/>
              </a:solidFill>
              <a:latin typeface="Calibri"/>
              <a:ea typeface="Calibri"/>
              <a:cs typeface="Calibri"/>
              <a:sym typeface="Calibri"/>
            </a:endParaRPr>
          </a:p>
        </p:txBody>
      </p:sp>
      <p:sp>
        <p:nvSpPr>
          <p:cNvPr id="879" name="Google Shape;879;p25"/>
          <p:cNvSpPr/>
          <p:nvPr/>
        </p:nvSpPr>
        <p:spPr>
          <a:xfrm>
            <a:off x="4279392" y="1600200"/>
            <a:ext cx="3566160" cy="3566160"/>
          </a:xfrm>
          <a:prstGeom prst="roundRect">
            <a:avLst>
              <a:gd fmla="val 3077" name="adj"/>
            </a:avLst>
          </a:prstGeom>
          <a:solidFill>
            <a:schemeClr val="lt2"/>
          </a:solidFill>
          <a:ln cap="flat" cmpd="sng" w="12700">
            <a:solidFill>
              <a:srgbClr val="22D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5"/>
          <p:cNvSpPr txBox="1"/>
          <p:nvPr/>
        </p:nvSpPr>
        <p:spPr>
          <a:xfrm>
            <a:off x="4507992" y="1783080"/>
            <a:ext cx="3108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D3EE"/>
              </a:buClr>
              <a:buSzPts val="1700"/>
              <a:buFont typeface="Calibri"/>
              <a:buNone/>
            </a:pPr>
            <a:r>
              <a:rPr b="1" i="0" lang="en-US" sz="1700" u="none" cap="none" strike="noStrike">
                <a:solidFill>
                  <a:srgbClr val="22D3EE"/>
                </a:solidFill>
                <a:latin typeface="Calibri"/>
                <a:ea typeface="Calibri"/>
                <a:cs typeface="Calibri"/>
                <a:sym typeface="Calibri"/>
              </a:rPr>
              <a:t>NEXT · 3 months</a:t>
            </a:r>
            <a:endParaRPr b="0" i="0" sz="1700" u="none" cap="none" strike="noStrike">
              <a:solidFill>
                <a:schemeClr val="dk1"/>
              </a:solidFill>
              <a:latin typeface="Calibri"/>
              <a:ea typeface="Calibri"/>
              <a:cs typeface="Calibri"/>
              <a:sym typeface="Calibri"/>
            </a:endParaRPr>
          </a:p>
        </p:txBody>
      </p:sp>
      <p:sp>
        <p:nvSpPr>
          <p:cNvPr id="881" name="Google Shape;881;p25"/>
          <p:cNvSpPr txBox="1"/>
          <p:nvPr/>
        </p:nvSpPr>
        <p:spPr>
          <a:xfrm>
            <a:off x="4507992" y="2286000"/>
            <a:ext cx="3154680" cy="27432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Mobile guided capture with live coverage feedback</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Document AI: deeds, valuation reports, invoices</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Vertex AI Search over policy wording</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Commercial localiser (Gemini / Vertex-tuned)</a:t>
            </a:r>
            <a:endParaRPr b="0" i="0" sz="1500" u="none" cap="none" strike="noStrike">
              <a:solidFill>
                <a:schemeClr val="dk1"/>
              </a:solidFill>
              <a:latin typeface="Calibri"/>
              <a:ea typeface="Calibri"/>
              <a:cs typeface="Calibri"/>
              <a:sym typeface="Calibri"/>
            </a:endParaRPr>
          </a:p>
        </p:txBody>
      </p:sp>
      <p:sp>
        <p:nvSpPr>
          <p:cNvPr id="882" name="Google Shape;882;p25"/>
          <p:cNvSpPr/>
          <p:nvPr/>
        </p:nvSpPr>
        <p:spPr>
          <a:xfrm>
            <a:off x="8010144" y="1600200"/>
            <a:ext cx="3566160" cy="3566160"/>
          </a:xfrm>
          <a:prstGeom prst="roundRect">
            <a:avLst>
              <a:gd fmla="val 3077" name="adj"/>
            </a:avLst>
          </a:prstGeom>
          <a:solidFill>
            <a:schemeClr val="lt2"/>
          </a:solidFill>
          <a:ln cap="flat" cmpd="sng" w="12700">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5"/>
          <p:cNvSpPr txBox="1"/>
          <p:nvPr/>
        </p:nvSpPr>
        <p:spPr>
          <a:xfrm>
            <a:off x="8238744" y="1783080"/>
            <a:ext cx="31089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59E0B"/>
              </a:buClr>
              <a:buSzPts val="1700"/>
              <a:buFont typeface="Calibri"/>
              <a:buNone/>
            </a:pPr>
            <a:r>
              <a:rPr b="1" i="0" lang="en-US" sz="1700" u="none" cap="none" strike="noStrike">
                <a:solidFill>
                  <a:srgbClr val="F59E0B"/>
                </a:solidFill>
                <a:latin typeface="Calibri"/>
                <a:ea typeface="Calibri"/>
                <a:cs typeface="Calibri"/>
                <a:sym typeface="Calibri"/>
              </a:rPr>
              <a:t>LATER · 6–12 months</a:t>
            </a:r>
            <a:endParaRPr b="0" i="0" sz="1700" u="none" cap="none" strike="noStrike">
              <a:solidFill>
                <a:schemeClr val="dk1"/>
              </a:solidFill>
              <a:latin typeface="Calibri"/>
              <a:ea typeface="Calibri"/>
              <a:cs typeface="Calibri"/>
              <a:sym typeface="Calibri"/>
            </a:endParaRPr>
          </a:p>
        </p:txBody>
      </p:sp>
      <p:sp>
        <p:nvSpPr>
          <p:cNvPr id="884" name="Google Shape;884;p25"/>
          <p:cNvSpPr txBox="1"/>
          <p:nvPr/>
        </p:nvSpPr>
        <p:spPr>
          <a:xfrm>
            <a:off x="8238744" y="2286000"/>
            <a:ext cx="3154680" cy="27432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BigQuery ML claim and collateral-risk scoring</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Before/after claim comparison in 3D</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Multilingual reports (Gemini)</a:t>
            </a:r>
            <a:endParaRPr b="0" i="0" sz="15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chemeClr val="dk1"/>
              </a:buClr>
              <a:buSzPts val="1500"/>
              <a:buFont typeface="Calibri"/>
              <a:buChar char="•"/>
            </a:pPr>
            <a:r>
              <a:rPr b="0" i="0" lang="en-US" sz="1500" u="none" cap="none" strike="noStrike">
                <a:solidFill>
                  <a:schemeClr val="dk1"/>
                </a:solidFill>
                <a:latin typeface="Calibri"/>
                <a:ea typeface="Calibri"/>
                <a:cs typeface="Calibri"/>
                <a:sym typeface="Calibri"/>
              </a:rPr>
              <a:t>AlloyDB multi-tenant case management</a:t>
            </a:r>
            <a:endParaRPr b="0" i="0" sz="1500" u="none" cap="none" strike="noStrike">
              <a:solidFill>
                <a:schemeClr val="dk1"/>
              </a:solidFill>
              <a:latin typeface="Calibri"/>
              <a:ea typeface="Calibri"/>
              <a:cs typeface="Calibri"/>
              <a:sym typeface="Calibri"/>
            </a:endParaRPr>
          </a:p>
        </p:txBody>
      </p:sp>
      <p:sp>
        <p:nvSpPr>
          <p:cNvPr id="885" name="Google Shape;885;p25"/>
          <p:cNvSpPr txBox="1"/>
          <p:nvPr/>
        </p:nvSpPr>
        <p:spPr>
          <a:xfrm>
            <a:off x="548640" y="5440680"/>
            <a:ext cx="111099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1800"/>
              <a:buFont typeface="Calibri"/>
              <a:buNone/>
            </a:pPr>
            <a:r>
              <a:rPr b="1" i="1" lang="en-US" sz="1800" u="none" cap="none" strike="noStrike">
                <a:solidFill>
                  <a:schemeClr val="accent2"/>
                </a:solidFill>
                <a:latin typeface="Calibri"/>
                <a:ea typeface="Calibri"/>
                <a:cs typeface="Calibri"/>
                <a:sym typeface="Calibri"/>
              </a:rPr>
              <a:t>Goal: from one trusted inspection to a portfolio-level risk signal for every loan and every policy.</a:t>
            </a:r>
            <a:endParaRPr b="0" i="0" sz="1800" u="none" cap="none" strike="noStrike">
              <a:solidFill>
                <a:schemeClr val="dk1"/>
              </a:solidFill>
              <a:latin typeface="Calibri"/>
              <a:ea typeface="Calibri"/>
              <a:cs typeface="Calibri"/>
              <a:sym typeface="Calibri"/>
            </a:endParaRPr>
          </a:p>
        </p:txBody>
      </p:sp>
      <p:sp>
        <p:nvSpPr>
          <p:cNvPr id="886" name="Google Shape;886;p25"/>
          <p:cNvSpPr txBox="1"/>
          <p:nvPr>
            <p:ph idx="4294967295" type="sldNum"/>
          </p:nvPr>
        </p:nvSpPr>
        <p:spPr>
          <a:xfrm>
            <a:off x="11247120" y="6419088"/>
            <a:ext cx="45720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chemeClr val="dk2"/>
                </a:solidFill>
                <a:latin typeface="Calibri"/>
                <a:ea typeface="Calibri"/>
                <a:cs typeface="Calibri"/>
                <a:sym typeface="Calibri"/>
              </a:rPr>
              <a:t>‹#›</a:t>
            </a:fld>
            <a:endParaRPr b="0" i="0" sz="1000" u="none" cap="none" strike="noStrike">
              <a:solidFill>
                <a:schemeClr val="dk2"/>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p26"/>
          <p:cNvSpPr txBox="1"/>
          <p:nvPr/>
        </p:nvSpPr>
        <p:spPr>
          <a:xfrm>
            <a:off x="548640" y="640080"/>
            <a:ext cx="54864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300"/>
              <a:buFont typeface="Calibri"/>
              <a:buNone/>
            </a:pPr>
            <a:r>
              <a:rPr b="1" i="0" lang="en-US" sz="1300" u="none" cap="none" strike="noStrike">
                <a:solidFill>
                  <a:schemeClr val="accent2"/>
                </a:solidFill>
                <a:latin typeface="Calibri"/>
                <a:ea typeface="Calibri"/>
                <a:cs typeface="Calibri"/>
                <a:sym typeface="Calibri"/>
              </a:rPr>
              <a:t>THANK YOU</a:t>
            </a:r>
            <a:endParaRPr b="0" i="0" sz="1300" u="none" cap="none" strike="noStrike">
              <a:solidFill>
                <a:schemeClr val="dk1"/>
              </a:solidFill>
              <a:latin typeface="Calibri"/>
              <a:ea typeface="Calibri"/>
              <a:cs typeface="Calibri"/>
              <a:sym typeface="Calibri"/>
            </a:endParaRPr>
          </a:p>
        </p:txBody>
      </p:sp>
      <p:sp>
        <p:nvSpPr>
          <p:cNvPr id="893" name="Google Shape;893;p26"/>
          <p:cNvSpPr txBox="1"/>
          <p:nvPr/>
        </p:nvSpPr>
        <p:spPr>
          <a:xfrm>
            <a:off x="548640" y="1051560"/>
            <a:ext cx="5943600" cy="1463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3400"/>
              <a:buFont typeface="Arial"/>
              <a:buNone/>
            </a:pPr>
            <a:r>
              <a:rPr b="1" i="0" lang="en-US" sz="3400" u="none" cap="none" strike="noStrike">
                <a:solidFill>
                  <a:schemeClr val="dk1"/>
                </a:solidFill>
                <a:latin typeface="Arial"/>
                <a:ea typeface="Arial"/>
                <a:cs typeface="Arial"/>
                <a:sym typeface="Arial"/>
              </a:rPr>
              <a:t>Trustworthy property evidence for every loan and every policy</a:t>
            </a:r>
            <a:endParaRPr b="0" i="0" sz="3400" u="none" cap="none" strike="noStrike">
              <a:solidFill>
                <a:schemeClr val="dk1"/>
              </a:solidFill>
              <a:latin typeface="Calibri"/>
              <a:ea typeface="Calibri"/>
              <a:cs typeface="Calibri"/>
              <a:sym typeface="Calibri"/>
            </a:endParaRPr>
          </a:p>
        </p:txBody>
      </p:sp>
      <p:sp>
        <p:nvSpPr>
          <p:cNvPr id="894" name="Google Shape;894;p26"/>
          <p:cNvSpPr/>
          <p:nvPr/>
        </p:nvSpPr>
        <p:spPr>
          <a:xfrm>
            <a:off x="548640" y="288036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95" name="Google Shape;895;p26"/>
          <p:cNvPicPr preferRelativeResize="0"/>
          <p:nvPr/>
        </p:nvPicPr>
        <p:blipFill rotWithShape="1">
          <a:blip r:embed="rId3">
            <a:alphaModFix/>
          </a:blip>
          <a:srcRect b="0" l="0" r="0" t="0"/>
          <a:stretch/>
        </p:blipFill>
        <p:spPr>
          <a:xfrm>
            <a:off x="685800" y="3017520"/>
            <a:ext cx="274320" cy="274320"/>
          </a:xfrm>
          <a:prstGeom prst="rect">
            <a:avLst/>
          </a:prstGeom>
          <a:noFill/>
          <a:ln>
            <a:noFill/>
          </a:ln>
        </p:spPr>
      </p:pic>
      <p:sp>
        <p:nvSpPr>
          <p:cNvPr id="896" name="Google Shape;896;p26"/>
          <p:cNvSpPr txBox="1"/>
          <p:nvPr/>
        </p:nvSpPr>
        <p:spPr>
          <a:xfrm>
            <a:off x="1280160" y="2862072"/>
            <a:ext cx="51206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Minutes, not days</a:t>
            </a:r>
            <a:endParaRPr b="0" i="0" sz="1700" u="none" cap="none" strike="noStrike">
              <a:solidFill>
                <a:schemeClr val="dk1"/>
              </a:solidFill>
              <a:latin typeface="Calibri"/>
              <a:ea typeface="Calibri"/>
              <a:cs typeface="Calibri"/>
              <a:sym typeface="Calibri"/>
            </a:endParaRPr>
          </a:p>
        </p:txBody>
      </p:sp>
      <p:sp>
        <p:nvSpPr>
          <p:cNvPr id="897" name="Google Shape;897;p26"/>
          <p:cNvSpPr txBox="1"/>
          <p:nvPr/>
        </p:nvSpPr>
        <p:spPr>
          <a:xfrm>
            <a:off x="1280160" y="3182112"/>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 phone video becomes a decision-ready risk file.</a:t>
            </a:r>
            <a:endParaRPr b="0" i="0" sz="1400" u="none" cap="none" strike="noStrike">
              <a:solidFill>
                <a:schemeClr val="dk1"/>
              </a:solidFill>
              <a:latin typeface="Calibri"/>
              <a:ea typeface="Calibri"/>
              <a:cs typeface="Calibri"/>
              <a:sym typeface="Calibri"/>
            </a:endParaRPr>
          </a:p>
        </p:txBody>
      </p:sp>
      <p:sp>
        <p:nvSpPr>
          <p:cNvPr id="898" name="Google Shape;898;p26"/>
          <p:cNvSpPr/>
          <p:nvPr/>
        </p:nvSpPr>
        <p:spPr>
          <a:xfrm>
            <a:off x="548640" y="384048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99" name="Google Shape;899;p26"/>
          <p:cNvPicPr preferRelativeResize="0"/>
          <p:nvPr/>
        </p:nvPicPr>
        <p:blipFill rotWithShape="1">
          <a:blip r:embed="rId4">
            <a:alphaModFix/>
          </a:blip>
          <a:srcRect b="0" l="0" r="0" t="0"/>
          <a:stretch/>
        </p:blipFill>
        <p:spPr>
          <a:xfrm>
            <a:off x="685800" y="3977640"/>
            <a:ext cx="274320" cy="274320"/>
          </a:xfrm>
          <a:prstGeom prst="rect">
            <a:avLst/>
          </a:prstGeom>
          <a:noFill/>
          <a:ln>
            <a:noFill/>
          </a:ln>
        </p:spPr>
      </p:pic>
      <p:sp>
        <p:nvSpPr>
          <p:cNvPr id="900" name="Google Shape;900;p26"/>
          <p:cNvSpPr txBox="1"/>
          <p:nvPr/>
        </p:nvSpPr>
        <p:spPr>
          <a:xfrm>
            <a:off x="1280160" y="3822192"/>
            <a:ext cx="51206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Fraud-resistant</a:t>
            </a:r>
            <a:endParaRPr b="0" i="0" sz="1700" u="none" cap="none" strike="noStrike">
              <a:solidFill>
                <a:schemeClr val="dk1"/>
              </a:solidFill>
              <a:latin typeface="Calibri"/>
              <a:ea typeface="Calibri"/>
              <a:cs typeface="Calibri"/>
              <a:sym typeface="Calibri"/>
            </a:endParaRPr>
          </a:p>
        </p:txBody>
      </p:sp>
      <p:sp>
        <p:nvSpPr>
          <p:cNvPr id="901" name="Google Shape;901;p26"/>
          <p:cNvSpPr txBox="1"/>
          <p:nvPr/>
        </p:nvSpPr>
        <p:spPr>
          <a:xfrm>
            <a:off x="1280160" y="4142232"/>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Recycled videos and screen or AI footage are caught, and coverage is proven in 3D.</a:t>
            </a:r>
            <a:endParaRPr b="0" i="0" sz="1400" u="none" cap="none" strike="noStrike">
              <a:solidFill>
                <a:schemeClr val="dk1"/>
              </a:solidFill>
              <a:latin typeface="Calibri"/>
              <a:ea typeface="Calibri"/>
              <a:cs typeface="Calibri"/>
              <a:sym typeface="Calibri"/>
            </a:endParaRPr>
          </a:p>
        </p:txBody>
      </p:sp>
      <p:sp>
        <p:nvSpPr>
          <p:cNvPr id="902" name="Google Shape;902;p26"/>
          <p:cNvSpPr/>
          <p:nvPr/>
        </p:nvSpPr>
        <p:spPr>
          <a:xfrm>
            <a:off x="548640" y="4800600"/>
            <a:ext cx="548640" cy="548640"/>
          </a:xfrm>
          <a:prstGeom prst="ellipse">
            <a:avLst/>
          </a:prstGeom>
          <a:solidFill>
            <a:schemeClr val="accent1"/>
          </a:solidFill>
          <a:ln cap="flat" cmpd="sng" w="1270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03" name="Google Shape;903;p26"/>
          <p:cNvPicPr preferRelativeResize="0"/>
          <p:nvPr/>
        </p:nvPicPr>
        <p:blipFill rotWithShape="1">
          <a:blip r:embed="rId5">
            <a:alphaModFix/>
          </a:blip>
          <a:srcRect b="0" l="0" r="0" t="0"/>
          <a:stretch/>
        </p:blipFill>
        <p:spPr>
          <a:xfrm>
            <a:off x="685800" y="4937760"/>
            <a:ext cx="274320" cy="274320"/>
          </a:xfrm>
          <a:prstGeom prst="rect">
            <a:avLst/>
          </a:prstGeom>
          <a:noFill/>
          <a:ln>
            <a:noFill/>
          </a:ln>
        </p:spPr>
      </p:pic>
      <p:sp>
        <p:nvSpPr>
          <p:cNvPr id="904" name="Google Shape;904;p26"/>
          <p:cNvSpPr txBox="1"/>
          <p:nvPr/>
        </p:nvSpPr>
        <p:spPr>
          <a:xfrm>
            <a:off x="1280160" y="4782312"/>
            <a:ext cx="512064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700"/>
              <a:buFont typeface="Calibri"/>
              <a:buNone/>
            </a:pPr>
            <a:r>
              <a:rPr b="1" i="0" lang="en-US" sz="1700" u="none" cap="none" strike="noStrike">
                <a:solidFill>
                  <a:schemeClr val="dk1"/>
                </a:solidFill>
                <a:latin typeface="Calibri"/>
                <a:ea typeface="Calibri"/>
                <a:cs typeface="Calibri"/>
                <a:sym typeface="Calibri"/>
              </a:rPr>
              <a:t>Explainable</a:t>
            </a:r>
            <a:endParaRPr b="0" i="0" sz="1700" u="none" cap="none" strike="noStrike">
              <a:solidFill>
                <a:schemeClr val="dk1"/>
              </a:solidFill>
              <a:latin typeface="Calibri"/>
              <a:ea typeface="Calibri"/>
              <a:cs typeface="Calibri"/>
              <a:sym typeface="Calibri"/>
            </a:endParaRPr>
          </a:p>
        </p:txBody>
      </p:sp>
      <p:sp>
        <p:nvSpPr>
          <p:cNvPr id="905" name="Google Shape;905;p26"/>
          <p:cNvSpPr txBox="1"/>
          <p:nvPr/>
        </p:nvSpPr>
        <p:spPr>
          <a:xfrm>
            <a:off x="1280160" y="5102352"/>
            <a:ext cx="51206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LocateAnything and Gemma 4 find, Gemini explains, transparent rules decide, and humans sign off.</a:t>
            </a:r>
            <a:endParaRPr b="0" i="0" sz="1400" u="none" cap="none" strike="noStrike">
              <a:solidFill>
                <a:schemeClr val="dk1"/>
              </a:solidFill>
              <a:latin typeface="Calibri"/>
              <a:ea typeface="Calibri"/>
              <a:cs typeface="Calibri"/>
              <a:sym typeface="Calibri"/>
            </a:endParaRPr>
          </a:p>
        </p:txBody>
      </p:sp>
      <p:sp>
        <p:nvSpPr>
          <p:cNvPr id="906" name="Google Shape;906;p26"/>
          <p:cNvSpPr txBox="1"/>
          <p:nvPr/>
        </p:nvSpPr>
        <p:spPr>
          <a:xfrm>
            <a:off x="548640" y="6035040"/>
            <a:ext cx="621792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Prototype v1.0.0  ·  one-command Cloud Run deploy  ·  Gemini · Gemma · BigQuery · Pub/Sub</a:t>
            </a:r>
            <a:endParaRPr b="0" i="0" sz="1100" u="none" cap="none" strike="noStrike">
              <a:solidFill>
                <a:schemeClr val="dk1"/>
              </a:solidFill>
              <a:latin typeface="Calibri"/>
              <a:ea typeface="Calibri"/>
              <a:cs typeface="Calibri"/>
              <a:sym typeface="Calibri"/>
            </a:endParaRPr>
          </a:p>
        </p:txBody>
      </p:sp>
      <p:sp>
        <p:nvSpPr>
          <p:cNvPr id="907" name="Google Shape;907;p26"/>
          <p:cNvSpPr/>
          <p:nvPr/>
        </p:nvSpPr>
        <p:spPr>
          <a:xfrm>
            <a:off x="7033251" y="877824"/>
            <a:ext cx="4541537" cy="3227832"/>
          </a:xfrm>
          <a:prstGeom prst="roundRect">
            <a:avLst>
              <a:gd fmla="val 2833"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losing-3d-view" id="908" name="Google Shape;908;p26"/>
          <p:cNvPicPr preferRelativeResize="0"/>
          <p:nvPr/>
        </p:nvPicPr>
        <p:blipFill rotWithShape="1">
          <a:blip r:embed="rId6">
            <a:alphaModFix/>
          </a:blip>
          <a:srcRect b="0" l="0" r="0" t="0"/>
          <a:stretch/>
        </p:blipFill>
        <p:spPr>
          <a:xfrm>
            <a:off x="7069827" y="914400"/>
            <a:ext cx="4468385" cy="3154680"/>
          </a:xfrm>
          <a:prstGeom prst="rect">
            <a:avLst/>
          </a:prstGeom>
          <a:noFill/>
          <a:ln>
            <a:noFill/>
          </a:ln>
        </p:spPr>
      </p:pic>
      <p:sp>
        <p:nvSpPr>
          <p:cNvPr id="909" name="Google Shape;909;p26"/>
          <p:cNvSpPr/>
          <p:nvPr/>
        </p:nvSpPr>
        <p:spPr>
          <a:xfrm>
            <a:off x="6915094" y="4169664"/>
            <a:ext cx="2354692" cy="1773936"/>
          </a:xfrm>
          <a:prstGeom prst="roundRect">
            <a:avLst>
              <a:gd fmla="val 515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losing-floor-plan" id="910" name="Google Shape;910;p26"/>
          <p:cNvPicPr preferRelativeResize="0"/>
          <p:nvPr/>
        </p:nvPicPr>
        <p:blipFill rotWithShape="1">
          <a:blip r:embed="rId7">
            <a:alphaModFix/>
          </a:blip>
          <a:srcRect b="0" l="0" r="0" t="0"/>
          <a:stretch/>
        </p:blipFill>
        <p:spPr>
          <a:xfrm>
            <a:off x="6951670" y="4206240"/>
            <a:ext cx="2281540" cy="1700784"/>
          </a:xfrm>
          <a:prstGeom prst="rect">
            <a:avLst/>
          </a:prstGeom>
          <a:noFill/>
          <a:ln>
            <a:noFill/>
          </a:ln>
        </p:spPr>
      </p:pic>
      <p:sp>
        <p:nvSpPr>
          <p:cNvPr id="911" name="Google Shape;911;p26"/>
          <p:cNvSpPr/>
          <p:nvPr/>
        </p:nvSpPr>
        <p:spPr>
          <a:xfrm>
            <a:off x="9336024" y="4171950"/>
            <a:ext cx="2359152" cy="1787652"/>
          </a:xfrm>
          <a:prstGeom prst="roundRect">
            <a:avLst>
              <a:gd fmla="val 5115" name="adj"/>
            </a:avLst>
          </a:prstGeom>
          <a:solidFill>
            <a:srgbClr val="26324D"/>
          </a:solidFill>
          <a:ln cap="flat" cmpd="sng" w="12700">
            <a:solidFill>
              <a:srgbClr val="2632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losing-defect" id="912" name="Google Shape;912;p26"/>
          <p:cNvPicPr preferRelativeResize="0"/>
          <p:nvPr/>
        </p:nvPicPr>
        <p:blipFill rotWithShape="1">
          <a:blip r:embed="rId8">
            <a:alphaModFix/>
          </a:blip>
          <a:srcRect b="0" l="0" r="0" t="0"/>
          <a:stretch/>
        </p:blipFill>
        <p:spPr>
          <a:xfrm>
            <a:off x="9372600" y="4208526"/>
            <a:ext cx="2286000" cy="1714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2026-10-17T12:47:39Z</dcterms:created>
  <dc:creator>Property Inspection AI team</dc:creator>
</cp:coreProperties>
</file>