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0" r:id="rId14"/>
    <p:sldId id="269" r:id="rId15"/>
    <p:sldId id="271" r:id="rId16"/>
  </p:sldIdLst>
  <p:sldSz cx="9144000" cy="5143500" type="screen16x9"/>
  <p:notesSz cx="6858000" cy="9144000"/>
  <p:embeddedFontLst>
    <p:embeddedFont>
      <p:font typeface="Google Sans Flex" panose="020B0503030502040204" pitchFamily="34" charset="0"/>
      <p:regular r:id="rId18"/>
      <p:bold r:id="rId19"/>
    </p:embeddedFont>
    <p:embeddedFont>
      <p:font typeface="Google Sans Flex Medium" panose="020B0503030502040204" pitchFamily="34" charset="0"/>
      <p:regular r:id="rId20"/>
      <p:bold r:id="rId21"/>
    </p:embeddedFont>
    <p:embeddedFont>
      <p:font typeface="Google Sans Flex SemiBold" panose="020B0503030502040204" pitchFamily="34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9AA0A6"/>
            </a:solidFill>
          </c:spPr>
          <c:invertIfNegative val="1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550">
                    <a:solidFill>
                      <a:srgbClr val="5F6368"/>
                    </a:solidFill>
                    <a:latin typeface="Google Sans Flex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A: Gemini</c:v>
                </c:pt>
                <c:pt idx="1">
                  <c:v>B: Locate+Gemini</c:v>
                </c:pt>
                <c:pt idx="2">
                  <c:v>C: Gemma 4+Gemini</c:v>
                </c:pt>
                <c:pt idx="3">
                  <c:v>D: ours (all three)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0.66</c:v>
                </c:pt>
                <c:pt idx="1">
                  <c:v>0.81</c:v>
                </c:pt>
                <c:pt idx="2">
                  <c:v>0.84</c:v>
                </c:pt>
                <c:pt idx="3">
                  <c:v>0.89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DBF-47BF-85E2-FE095F3FB2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1A73E8"/>
            </a:solidFill>
          </c:spPr>
          <c:invertIfNegative val="1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550">
                    <a:solidFill>
                      <a:srgbClr val="5F6368"/>
                    </a:solidFill>
                    <a:latin typeface="Google Sans Flex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A: Gemini</c:v>
                </c:pt>
                <c:pt idx="1">
                  <c:v>B: Locate+Gemini</c:v>
                </c:pt>
                <c:pt idx="2">
                  <c:v>C: Gemma 4+Gemini</c:v>
                </c:pt>
                <c:pt idx="3">
                  <c:v>D: ours (all three)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0.56999999999999995</c:v>
                </c:pt>
                <c:pt idx="1">
                  <c:v>0.77</c:v>
                </c:pt>
                <c:pt idx="2">
                  <c:v>0.82</c:v>
                </c:pt>
                <c:pt idx="3">
                  <c:v>0.87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DBF-47BF-85E2-FE095F3FB2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188038"/>
            </a:solidFill>
          </c:spPr>
          <c:invertIfNegative val="1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550">
                    <a:solidFill>
                      <a:srgbClr val="5F6368"/>
                    </a:solidFill>
                    <a:latin typeface="Google Sans Flex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A: Gemini</c:v>
                </c:pt>
                <c:pt idx="1">
                  <c:v>B: Locate+Gemini</c:v>
                </c:pt>
                <c:pt idx="2">
                  <c:v>C: Gemma 4+Gemini</c:v>
                </c:pt>
                <c:pt idx="3">
                  <c:v>D: ours (all three)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0.6</c:v>
                </c:pt>
                <c:pt idx="1">
                  <c:v>0.75</c:v>
                </c:pt>
                <c:pt idx="2">
                  <c:v>0.78</c:v>
                </c:pt>
                <c:pt idx="3">
                  <c:v>0.85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DBF-47BF-85E2-FE095F3FB26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F9AB00"/>
            </a:solidFill>
          </c:spPr>
          <c:invertIfNegative val="1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550">
                    <a:solidFill>
                      <a:srgbClr val="5F6368"/>
                    </a:solidFill>
                    <a:latin typeface="Google Sans Flex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A: Gemini</c:v>
                </c:pt>
                <c:pt idx="1">
                  <c:v>B: Locate+Gemini</c:v>
                </c:pt>
                <c:pt idx="2">
                  <c:v>C: Gemma 4+Gemini</c:v>
                </c:pt>
                <c:pt idx="3">
                  <c:v>D: ours (all three)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0.59</c:v>
                </c:pt>
                <c:pt idx="1">
                  <c:v>0.76</c:v>
                </c:pt>
                <c:pt idx="2">
                  <c:v>0.79</c:v>
                </c:pt>
                <c:pt idx="3">
                  <c:v>0.86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9DBF-47BF-85E2-FE095F3FB26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ADCE0"/>
            </a:solidFill>
          </a:ln>
        </c:spPr>
        <c:txPr>
          <a:bodyPr/>
          <a:lstStyle/>
          <a:p>
            <a:pPr>
              <a:defRPr sz="600">
                <a:solidFill>
                  <a:srgbClr val="5F6368"/>
                </a:solidFill>
                <a:latin typeface="Google Sans Flex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"/>
        </c:scaling>
        <c:delete val="0"/>
        <c:axPos val="l"/>
        <c:majorGridlines>
          <c:spPr>
            <a:ln>
              <a:solidFill>
                <a:srgbClr val="DADCE0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600">
                <a:solidFill>
                  <a:srgbClr val="5F6368"/>
                </a:solidFill>
                <a:latin typeface="Google Sans Flex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700">
              <a:solidFill>
                <a:srgbClr val="5F6368"/>
              </a:solidFill>
              <a:latin typeface="Google Sans Flex"/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Team Xcore, led by Thanveer Ahamed. BFSI track: Intelligent Risk, Fraud &amp; Financial Experiences.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One-liner: a 20-second phone video becomes an underwriting-ready property risk file. Insurance fraud is estimated at $308.6B a year in the US, about $45B of it in property and casualty. Five pains, five users.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Architecture: one container image, two Cloud Run resources. A CPU-only Cloud Run service serves the web UI and API, accepts uploads, dispatches jobs and shows progress. A Cloud Run Job with one NVIDIA L4 processes each uploaded video: Depth Anything 3 and OpenCV SLAM for the 3D map and coverage, LocateAnything and Gemma 4 for defect detection and verification, Gemini for scene, labels and summary. The GPU is billed only while a video is processing. A Cloud Storage bucket mounted on both holds uploads, job status and results. Gemini 3.8 Flash is called through the Gemini API with the key in Secret Manager: no Vertex AI, BigQuery or Pub/Sub. Deployment is one script through Cloud Build with a least-privilege service account. The diagram still shows the earlier single-service layout; the caption gives the deployed one.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Case study and speed numbers are measured. The chart is a simulated example of the evaluation report, not a measured result; say so explicitly.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g"/><Relationship Id="rId5" Type="http://schemas.openxmlformats.org/officeDocument/2006/relationships/image" Target="../media/image8.jp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g"/><Relationship Id="rId3" Type="http://schemas.openxmlformats.org/officeDocument/2006/relationships/image" Target="../media/image2.png"/><Relationship Id="rId7" Type="http://schemas.openxmlformats.org/officeDocument/2006/relationships/image" Target="../media/image13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jpg"/><Relationship Id="rId5" Type="http://schemas.openxmlformats.org/officeDocument/2006/relationships/image" Target="../media/image11.jpg"/><Relationship Id="rId10" Type="http://schemas.openxmlformats.org/officeDocument/2006/relationships/image" Target="../media/image16.jpg"/><Relationship Id="rId4" Type="http://schemas.openxmlformats.org/officeDocument/2006/relationships/image" Target="../media/image6.png"/><Relationship Id="rId9" Type="http://schemas.openxmlformats.org/officeDocument/2006/relationships/image" Target="../media/image15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image" Target="../media/image2.png"/><Relationship Id="rId7" Type="http://schemas.openxmlformats.org/officeDocument/2006/relationships/hyperlink" Target="https://property-inspection-ai-77055350047.us-central1.run.app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rive.google.com/file/d/1C8Ysukjfhx-oKpXUv56eheGLf7wP9lb9/view?usp=drive_link" TargetMode="External"/><Relationship Id="rId5" Type="http://schemas.openxmlformats.org/officeDocument/2006/relationships/hyperlink" Target="https://github.com/XCore-Lab/property-inspection-ai" TargetMode="Externa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5715000" cy="20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502920" lvl="1" indent="-228600" algn="l" rtl="0">
              <a:spcBef>
                <a:spcPts val="0"/>
              </a:spcBef>
              <a:spcAft>
                <a:spcPts val="300"/>
              </a:spcAft>
              <a:buSzPts val="1200"/>
              <a:buFont typeface="Google Sans Flex"/>
              <a:buAutoNum type="alphaLcPeriod"/>
            </a:pPr>
            <a:r>
              <a:rPr lang="en-GB" sz="12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Xcore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502920" lvl="1" indent="-228600" algn="l" rtl="0">
              <a:spcBef>
                <a:spcPts val="0"/>
              </a:spcBef>
              <a:spcAft>
                <a:spcPts val="300"/>
              </a:spcAft>
              <a:buSzPts val="1200"/>
              <a:buFont typeface="Google Sans Flex"/>
              <a:buAutoNum type="alphaLcPeriod"/>
            </a:pPr>
            <a:r>
              <a:rPr lang="en-GB" sz="12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Thanveer Ahamed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502920" lvl="1" indent="-228600" algn="l" rtl="0">
              <a:spcBef>
                <a:spcPts val="0"/>
              </a:spcBef>
              <a:spcAft>
                <a:spcPts val="300"/>
              </a:spcAft>
              <a:buSzPts val="1200"/>
              <a:buFont typeface="Google Sans Flex"/>
              <a:buAutoNum type="alphaLcPeriod"/>
            </a:pPr>
            <a:r>
              <a:rPr lang="en-GB" sz="12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Intelligent Risk, Fraud &amp; Financial Experiences (BFSI). Lenders and insurers judge property risk from slow site visits or self-reported photos nobody can verify. We turn a 20-second phone video into a fraud-checked, explainable, underwriting-ready property risk file.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TextBox 56"/>
          <p:cNvSpPr txBox="1"/>
          <p:nvPr/>
        </p:nvSpPr>
        <p:spPr>
          <a:xfrm>
            <a:off x="6035040" y="299923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Property Inspection AI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0" y="3255264"/>
            <a:ext cx="28346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Phone video → underwriting-ready property risk file</a:t>
            </a:r>
          </a:p>
        </p:txBody>
      </p:sp>
      <p:pic>
        <p:nvPicPr>
          <p:cNvPr id="59" name="Picture 58" descr="s02_5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3055" y="3566160"/>
            <a:ext cx="658368" cy="6583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998464" y="4261104"/>
            <a:ext cx="95097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Thanveer Ahamed</a:t>
            </a:r>
          </a:p>
        </p:txBody>
      </p:sp>
      <p:pic>
        <p:nvPicPr>
          <p:cNvPr id="61" name="Picture 61" descr="s02_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4031" y="3566160"/>
            <a:ext cx="658368" cy="658368"/>
          </a:xfrm>
          <a:prstGeom prst="rect">
            <a:avLst/>
          </a:prstGeom>
        </p:spPr>
      </p:pic>
      <p:sp>
        <p:nvSpPr>
          <p:cNvPr id="62" name="TextBox 62"/>
          <p:cNvSpPr txBox="1"/>
          <p:nvPr/>
        </p:nvSpPr>
        <p:spPr>
          <a:xfrm>
            <a:off x="6949440" y="4261104"/>
            <a:ext cx="95097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Janitha Prathapa</a:t>
            </a:r>
          </a:p>
        </p:txBody>
      </p:sp>
      <p:pic>
        <p:nvPicPr>
          <p:cNvPr id="63" name="Picture 64" descr="s02_6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5008" y="3566160"/>
            <a:ext cx="658368" cy="658368"/>
          </a:xfrm>
          <a:prstGeom prst="rect">
            <a:avLst/>
          </a:prstGeom>
        </p:spPr>
      </p:pic>
      <p:sp>
        <p:nvSpPr>
          <p:cNvPr id="64" name="TextBox 65"/>
          <p:cNvSpPr txBox="1"/>
          <p:nvPr/>
        </p:nvSpPr>
        <p:spPr>
          <a:xfrm>
            <a:off x="7900416" y="4261104"/>
            <a:ext cx="95097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Dinal Fernando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From a 20-second phone video to an underwriting-ready property risk file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7472" y="1353312"/>
            <a:ext cx="525780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Property Inspection AI </a:t>
            </a: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is a Gen AI inspection service for mortgage lenders, insurers and inspectors. Upload a phone walkthrough video; in minutes it returns defects, condition grade A–E, perils, repair cost, valuation impact, premium loading, an underwriting decision with reasons, fraud flags </a:t>
            </a: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and a 3D model that proves what was inspected.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47472" y="2194560"/>
            <a:ext cx="52578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</a:rPr>
              <a:t>THE PROBLEM: property risk is judged from photos nobody can verify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47472" y="2377440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Slow site visits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Days of waiting; remote cases go unchecked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408176" y="2377440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Unverifiable photos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Reused, edited, off-screen or wrong property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468879" y="2377440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No proof of coverage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Which walls did the inspection see?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529583" y="2377440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Subjective grading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Inspectors disagree; reasons unrecorded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590288" y="2377440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Overvaluation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RBI has flagged inflated collateral values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7472" y="3127248"/>
            <a:ext cx="52578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WHO IT SERVES: one inspection record, five BFSI decision-makers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47472" y="3310128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Lenders, HFCs, NBFCs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Collateral grade, valuation impact, REFER flag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408176" y="3310128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Insurers: underwriting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Perils, risk level, premium loading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468879" y="3310128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Insurers: claims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Repair-cost range, fraud-checked evidence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529583" y="3310128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Inspectors &amp; valuers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AI-drafted report, re-film list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90288" y="3310128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Owners &amp; buyers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Condition report, 3D model, floor plan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47472" y="4069080"/>
            <a:ext cx="1700784" cy="822960"/>
          </a:xfrm>
          <a:prstGeom prst="roundRect">
            <a:avLst>
              <a:gd name="adj" fmla="val 6666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438912" y="4133088"/>
            <a:ext cx="1517904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$308.6B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8912" y="4355338"/>
            <a:ext cx="1517904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yearly US insurance fraud, all lines (Coalition Against Insurance Fraud, 2022)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121408" y="4069080"/>
            <a:ext cx="1700784" cy="822960"/>
          </a:xfrm>
          <a:prstGeom prst="roundRect">
            <a:avLst>
              <a:gd name="adj" fmla="val 6666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212848" y="4133088"/>
            <a:ext cx="1517904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~$45B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12848" y="4355338"/>
            <a:ext cx="1517904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of that in property &amp; casualty insurance (same study)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895344" y="4069080"/>
            <a:ext cx="1700784" cy="822960"/>
          </a:xfrm>
          <a:prstGeom prst="roundRect">
            <a:avLst>
              <a:gd name="adj" fmla="val 6666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3986783" y="4133088"/>
            <a:ext cx="1517904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$4.5–12.5B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86783" y="4355338"/>
            <a:ext cx="1517904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global home-inspection services market, 2025 (industry reports)</a:t>
            </a:r>
          </a:p>
        </p:txBody>
      </p:sp>
      <p:pic>
        <p:nvPicPr>
          <p:cNvPr id="95" name="Picture 94" descr="s01_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325880"/>
            <a:ext cx="3035808" cy="303580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5760720" y="4389120"/>
            <a:ext cx="3035808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Minutes, not days · Fraud-resistant · Explainable</a:t>
            </a:r>
          </a:p>
          <a:p>
            <a:pPr algn="ctr">
              <a:spcAft>
                <a:spcPts val="200"/>
              </a:spcAft>
            </a:pPr>
            <a:r>
              <a:rPr sz="7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Concept illustration of the product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How it is different, how it solves the problem, and our USP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47472" y="1325880"/>
            <a:ext cx="52578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HOW DIFFERENT IS IT FROM EXISTING IDEAS?</a:t>
            </a:r>
          </a:p>
        </p:txBody>
      </p:sp>
      <p:graphicFrame>
        <p:nvGraphicFramePr>
          <p:cNvPr id="82" name="Table 81"/>
          <p:cNvGraphicFramePr>
            <a:graphicFrameLocks noGrp="1"/>
          </p:cNvGraphicFramePr>
          <p:nvPr/>
        </p:nvGraphicFramePr>
        <p:xfrm>
          <a:off x="347472" y="1508760"/>
          <a:ext cx="5257800" cy="1728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endParaRPr/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Site visit / photo-only AI tools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Property Inspection AI</a:t>
                      </a:r>
                    </a:p>
                  </a:txBody>
                  <a:tcPr marL="45720" marR="45720" marT="18288" marB="18288" anchor="ctr">
                    <a:solidFill>
                      <a:srgbClr val="1A7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Turnaround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0" i="0">
                          <a:solidFill>
                            <a:srgbClr val="5F636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Days (visit) / minutes (tools)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Minutes; ~10 min per 20 s video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Proof of what was inspected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0" i="0">
                          <a:solidFill>
                            <a:srgbClr val="5F636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Inspector's word / none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10 cm coverage map + 3D-pinned findings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Evidence fraud checks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0" i="0">
                          <a:solidFill>
                            <a:srgbClr val="5F636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None / limited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Keyframe dHash reuse, Gemini screen / AI check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How the decision is made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0" i="0">
                          <a:solidFill>
                            <a:srgbClr val="5F636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Subjective / black-box score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Transparent YAML rules; Gemini explains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False-positive control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0" i="0">
                          <a:solidFill>
                            <a:srgbClr val="5F636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Human / single model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Find (LocateAnything) → verify (Gemma 4) → rules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BFSI outputs &amp; integration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0" i="0">
                          <a:solidFill>
                            <a:srgbClr val="5F636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Report or damage list, PDF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Grade, perils, cost, valuation, premium; JSON via REST API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3" name="TextBox 82"/>
          <p:cNvSpPr txBox="1"/>
          <p:nvPr/>
        </p:nvSpPr>
        <p:spPr>
          <a:xfrm>
            <a:off x="347472" y="3401568"/>
            <a:ext cx="52578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HOW WILL IT SOLVE THE PROBLEM?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47472" y="3584448"/>
            <a:ext cx="1325880" cy="228600"/>
          </a:xfrm>
          <a:prstGeom prst="roundRect">
            <a:avLst>
              <a:gd name="adj" fmla="val 24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Slow site visits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1700784" y="3698748"/>
            <a:ext cx="182880" cy="0"/>
          </a:xfrm>
          <a:prstGeom prst="line">
            <a:avLst/>
          </a:prstGeom>
          <a:ln w="1270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1901952" y="3584448"/>
            <a:ext cx="3703320" cy="228600"/>
          </a:xfrm>
          <a:prstGeom prst="roundRect">
            <a:avLst>
              <a:gd name="adj" fmla="val 24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full risk file in minutes; low-risk homes clear without a visit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47472" y="3849624"/>
            <a:ext cx="1325880" cy="228600"/>
          </a:xfrm>
          <a:prstGeom prst="roundRect">
            <a:avLst>
              <a:gd name="adj" fmla="val 24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Unverifiable photos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1700784" y="3963924"/>
            <a:ext cx="182880" cy="0"/>
          </a:xfrm>
          <a:prstGeom prst="line">
            <a:avLst/>
          </a:prstGeom>
          <a:ln w="1270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1901952" y="3849624"/>
            <a:ext cx="3703320" cy="228600"/>
          </a:xfrm>
          <a:prstGeom prst="roundRect">
            <a:avLst>
              <a:gd name="adj" fmla="val 24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every walkthrough fraud-checked; any HIGH flag → REFER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47472" y="4114800"/>
            <a:ext cx="1325880" cy="228600"/>
          </a:xfrm>
          <a:prstGeom prst="roundRect">
            <a:avLst>
              <a:gd name="adj" fmla="val 24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No proof of coverage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1700784" y="4229100"/>
            <a:ext cx="182880" cy="0"/>
          </a:xfrm>
          <a:prstGeom prst="line">
            <a:avLst/>
          </a:prstGeom>
          <a:ln w="1270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/>
          <p:cNvSpPr/>
          <p:nvPr/>
        </p:nvSpPr>
        <p:spPr>
          <a:xfrm>
            <a:off x="1901952" y="4114800"/>
            <a:ext cx="3703320" cy="228600"/>
          </a:xfrm>
          <a:prstGeom prst="roundRect">
            <a:avLst>
              <a:gd name="adj" fmla="val 24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&lt; 60% AI-inspected surface → REFER with a re-film list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47472" y="4379976"/>
            <a:ext cx="1325880" cy="228600"/>
          </a:xfrm>
          <a:prstGeom prst="roundRect">
            <a:avLst>
              <a:gd name="adj" fmla="val 24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Subjective grading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700784" y="4494276"/>
            <a:ext cx="182880" cy="0"/>
          </a:xfrm>
          <a:prstGeom prst="line">
            <a:avLst/>
          </a:prstGeom>
          <a:ln w="1270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1901952" y="4379976"/>
            <a:ext cx="3703320" cy="228600"/>
          </a:xfrm>
          <a:prstGeom prst="roundRect">
            <a:avLst>
              <a:gd name="adj" fmla="val 24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score = 100 − Σ(points × severity × state weight)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47472" y="4645152"/>
            <a:ext cx="1325880" cy="228600"/>
          </a:xfrm>
          <a:prstGeom prst="roundRect">
            <a:avLst>
              <a:gd name="adj" fmla="val 24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Overvaluation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1700784" y="4759452"/>
            <a:ext cx="182880" cy="0"/>
          </a:xfrm>
          <a:prstGeom prst="line">
            <a:avLst/>
          </a:prstGeom>
          <a:ln w="1270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ounded Rectangle 97"/>
          <p:cNvSpPr/>
          <p:nvPr/>
        </p:nvSpPr>
        <p:spPr>
          <a:xfrm>
            <a:off x="1901952" y="4645152"/>
            <a:ext cx="3703320" cy="228600"/>
          </a:xfrm>
          <a:prstGeom prst="roundRect">
            <a:avLst>
              <a:gd name="adj" fmla="val 24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valuation-impact %, repair retention, REFER before disbursal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5806440" y="1325880"/>
            <a:ext cx="2990088" cy="3566160"/>
          </a:xfrm>
          <a:prstGeom prst="roundRect">
            <a:avLst>
              <a:gd name="adj" fmla="val 3058"/>
            </a:avLst>
          </a:prstGeom>
          <a:solidFill>
            <a:srgbClr val="20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5961888" y="1444752"/>
            <a:ext cx="26974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USP of the proposed solution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961888" y="1755648"/>
            <a:ext cx="2697480" cy="3063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850" b="1" i="0">
                <a:solidFill>
                  <a:srgbClr val="8AB4F8"/>
                </a:solidFill>
                <a:latin typeface="Google Sans Flex"/>
                <a:ea typeface="Google Sans Flex"/>
                <a:cs typeface="Google Sans Flex"/>
              </a:rPr>
              <a:t>Proof of inspection.</a:t>
            </a:r>
            <a:r>
              <a:rPr sz="8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 A 10 cm coverage map and 3D-pinned findings show exactly what the AI saw, and what to film again.</a:t>
            </a:r>
          </a:p>
          <a:p>
            <a:pPr algn="l">
              <a:spcAft>
                <a:spcPts val="600"/>
              </a:spcAft>
            </a:pPr>
            <a:r>
              <a:rPr sz="850" b="1" i="0">
                <a:solidFill>
                  <a:srgbClr val="8AB4F8"/>
                </a:solidFill>
                <a:latin typeface="Google Sans Flex"/>
                <a:ea typeface="Google Sans Flex"/>
                <a:cs typeface="Google Sans Flex"/>
              </a:rPr>
              <a:t>Find → verify → decide.</a:t>
            </a:r>
            <a:r>
              <a:rPr sz="8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 Two models cut false positives; deterministic rules make every decision auditable.</a:t>
            </a:r>
          </a:p>
          <a:p>
            <a:pPr algn="l">
              <a:spcAft>
                <a:spcPts val="600"/>
              </a:spcAft>
            </a:pPr>
            <a:r>
              <a:rPr sz="850" b="1" i="0">
                <a:solidFill>
                  <a:srgbClr val="8AB4F8"/>
                </a:solidFill>
                <a:latin typeface="Google Sans Flex"/>
                <a:ea typeface="Google Sans Flex"/>
                <a:cs typeface="Google Sans Flex"/>
              </a:rPr>
              <a:t>Fraud-resistant evidence.</a:t>
            </a:r>
            <a:r>
              <a:rPr sz="8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 Recycled videos, screen recordings and AI footage are flagged before a decision.</a:t>
            </a:r>
          </a:p>
          <a:p>
            <a:pPr algn="l">
              <a:spcAft>
                <a:spcPts val="600"/>
              </a:spcAft>
            </a:pPr>
            <a:r>
              <a:rPr sz="850" b="1" i="0">
                <a:solidFill>
                  <a:srgbClr val="8AB4F8"/>
                </a:solidFill>
                <a:latin typeface="Google Sans Flex"/>
                <a:ea typeface="Google Sans Flex"/>
                <a:cs typeface="Google Sans Flex"/>
              </a:rPr>
              <a:t>One record, five teams.</a:t>
            </a:r>
            <a:r>
              <a:rPr sz="8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 Lending, underwriting, claims, inspectors and owners share one JSON record behind a REST API.</a:t>
            </a:r>
          </a:p>
          <a:p>
            <a:pPr algn="l">
              <a:spcAft>
                <a:spcPts val="600"/>
              </a:spcAft>
            </a:pPr>
            <a:r>
              <a:rPr sz="850" b="1" i="0">
                <a:solidFill>
                  <a:srgbClr val="8AB4F8"/>
                </a:solidFill>
                <a:latin typeface="Google Sans Flex"/>
                <a:ea typeface="Google Sans Flex"/>
                <a:cs typeface="Google Sans Flex"/>
              </a:rPr>
              <a:t>Under $1 per video.</a:t>
            </a:r>
            <a:r>
              <a:rPr sz="8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 ≈ $0.50 of L4 time + ≈ $0.35 of Gemini per walkthrough; the GPU Job runs only per video.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One upload gives a complete, explainable risk file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47472" y="1353312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" name="Oval 89"/>
          <p:cNvSpPr/>
          <p:nvPr/>
        </p:nvSpPr>
        <p:spPr>
          <a:xfrm>
            <a:off x="420624" y="1426464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4944" y="1426464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Defects localised &amp; verified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" y="1682495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18 defect types on 12 components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450591" y="1353312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" name="Oval 93"/>
          <p:cNvSpPr/>
          <p:nvPr/>
        </p:nvSpPr>
        <p:spPr>
          <a:xfrm>
            <a:off x="2523744" y="1426464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798063" y="1426464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Condition grade A–E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798063" y="1682495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0–100 score, transparent formula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47472" y="2066543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Oval 97"/>
          <p:cNvSpPr/>
          <p:nvPr/>
        </p:nvSpPr>
        <p:spPr>
          <a:xfrm>
            <a:off x="420624" y="2139696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4944" y="2139696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Risk level &amp; insurance perils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" y="2395727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Water, structural, moisture…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450591" y="2066543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2523744" y="2139696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98063" y="2139696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Indicative repair-cost range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798063" y="2395727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Per finding and per property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47472" y="2779776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420624" y="2852928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94944" y="2852928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Valuation &amp; collateral impact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94944" y="310896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Impact % and repair retention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450591" y="2779776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2523744" y="2852928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798063" y="2852928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Premium-loading suggestion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798063" y="310896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For quote and renewal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47472" y="3493008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420624" y="3566160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356616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Underwriting decision + reasons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3822191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PROCEED / CONDITIONS / REFER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450591" y="3493008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2523744" y="3566160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798063" y="356616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Evidence-integrity flags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98063" y="3822191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Recycled video, screens, AI footage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47472" y="4206240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420624" y="4279392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9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94944" y="427939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Video → 3D, floor plan, coverage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94944" y="4535424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GLB models, room areas, maps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450591" y="4206240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2523744" y="4279392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798063" y="427939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analysis &amp; Q&amp;A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798063" y="4535424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Grounded answers citing issue IDs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663440" y="1353312"/>
            <a:ext cx="4133087" cy="82296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4754880" y="1444752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47488" y="1426464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Detection scope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047488" y="1627632"/>
            <a:ext cx="3675887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Walls, ceilings, floor &amp; wall tiles, grout, wood/vinyl, countertops, doors, locks, windows, trim, kitchen exhausts in 8 room types. Look-alikes (grout, grain, shadows) rejected; locks, windows, fans always manual; cracks get a structural note, water/mold a moisture check.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663440" y="2249424"/>
            <a:ext cx="4133087" cy="82296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4754880" y="2340864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047488" y="2322576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Fraud &amp; evidence integrity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047488" y="2523744"/>
            <a:ext cx="3675887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Keyframe dHash reuse across every property, Gemini screen / render / AI check on every keyframe, blurred frames dropped, video coverage &lt; 60% → REFER. Any HIGH flag → human review.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663440" y="3145536"/>
            <a:ext cx="4133087" cy="82296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4754880" y="3236976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047488" y="321868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3D digital twin &amp; coverage map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047488" y="3419856"/>
            <a:ext cx="3675887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Depth Anything 3 + OpenCV 5 SLAM + Open3D TSDF → clean &amp; SLAM GLB, floor plan (PNG + SVG), navigation map. Every 10 cm of surface checked; greedy AI keyframes; findings pinned to a wall and video time.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4663440" y="4041648"/>
            <a:ext cx="4133087" cy="82296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4754880" y="4133087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047488" y="411480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Gemini co-pilot &amp; product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047488" y="4315968"/>
            <a:ext cx="3675887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Property analysis, grounded Q&amp;A, scene and object naming (explains, never changes results). Portfolio dashboard, live 3D-scan view, Lite / Advanced 3D, 3D viewer, HTML / Markdown / JSON reports, REST API at /docs.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Capture, inspect, decide, act: minutes instead of days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47472" y="1325880"/>
            <a:ext cx="132588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ACTORS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47472" y="1508760"/>
            <a:ext cx="1325880" cy="338328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Inspector / owner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captures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47472" y="1892807"/>
            <a:ext cx="1325880" cy="338328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Underwriter / claims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reviews &amp; decides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47472" y="2276856"/>
            <a:ext cx="1325880" cy="338328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Core systems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LOS, policy, claims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874519" y="1508760"/>
            <a:ext cx="157276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1874519" y="1508760"/>
            <a:ext cx="1572768" cy="27432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947672" y="150876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1  Capture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947672" y="1828800"/>
            <a:ext cx="144475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 phone walkthrough video. No special hardware.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3465576" y="2057400"/>
            <a:ext cx="146303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3630168" y="1508760"/>
            <a:ext cx="157276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3630168" y="1508760"/>
            <a:ext cx="1572768" cy="27432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3703320" y="150876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2  AI inspection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703320" y="1828800"/>
            <a:ext cx="144475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reads the room; LocateAnything finds defects; Gemma 4 verifies each crop.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5221224" y="2057400"/>
            <a:ext cx="146303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385816" y="1508760"/>
            <a:ext cx="157276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2" name="Rounded Rectangle 111"/>
          <p:cNvSpPr/>
          <p:nvPr/>
        </p:nvSpPr>
        <p:spPr>
          <a:xfrm>
            <a:off x="5385816" y="1508760"/>
            <a:ext cx="1572768" cy="27432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5458968" y="150876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3  Risk decision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458968" y="1828800"/>
            <a:ext cx="144475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Rules set grade, perils, cost, valuation, premium, decision; Gemini explains.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6976872" y="2057400"/>
            <a:ext cx="146303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Rounded Rectangle 115"/>
          <p:cNvSpPr/>
          <p:nvPr/>
        </p:nvSpPr>
        <p:spPr>
          <a:xfrm>
            <a:off x="7141464" y="1508760"/>
            <a:ext cx="157276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7" name="Rounded Rectangle 116"/>
          <p:cNvSpPr/>
          <p:nvPr/>
        </p:nvSpPr>
        <p:spPr>
          <a:xfrm>
            <a:off x="7141464" y="1508760"/>
            <a:ext cx="1572768" cy="27432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7214616" y="150876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4  Act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214616" y="1828800"/>
            <a:ext cx="144475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Report, Gemini Q&amp;A and a JSON record via the REST API to core systems.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1691640" y="1673352"/>
            <a:ext cx="164591" cy="0"/>
          </a:xfrm>
          <a:prstGeom prst="line">
            <a:avLst/>
          </a:prstGeom>
          <a:ln w="15875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347472" y="2697480"/>
            <a:ext cx="54864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DECISION OUTCOMES (back to underwriter and core systems)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47472" y="2871216"/>
            <a:ext cx="1344168" cy="347472"/>
          </a:xfrm>
          <a:prstGeom prst="roundRect">
            <a:avLst>
              <a:gd name="adj" fmla="val 15789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9260" rIns="36576" bIns="2926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650" b="1" i="0">
                <a:solidFill>
                  <a:srgbClr val="188038"/>
                </a:solidFill>
                <a:latin typeface="Google Sans Flex"/>
                <a:ea typeface="Google Sans Flex"/>
                <a:cs typeface="Google Sans Flex"/>
              </a:rPr>
              <a:t>PROCEED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764792" y="2871216"/>
            <a:ext cx="1344168" cy="347472"/>
          </a:xfrm>
          <a:prstGeom prst="roundRect">
            <a:avLst>
              <a:gd name="adj" fmla="val 15789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9260" rIns="36576" bIns="2926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650" b="1" i="0">
                <a:solidFill>
                  <a:srgbClr val="188038"/>
                </a:solidFill>
                <a:latin typeface="Google Sans Flex"/>
                <a:ea typeface="Google Sans Flex"/>
                <a:cs typeface="Google Sans Flex"/>
              </a:rPr>
              <a:t>PROCEED W/ CONDITIONS: note defects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182112" y="2871216"/>
            <a:ext cx="1344168" cy="347472"/>
          </a:xfrm>
          <a:prstGeom prst="roundRect">
            <a:avLst>
              <a:gd name="adj" fmla="val 15789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9260" rIns="36576" bIns="2926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6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</a:rPr>
              <a:t>PROCEED W/ CONDITIONS: repairs / retention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4599432" y="2871216"/>
            <a:ext cx="1344168" cy="347472"/>
          </a:xfrm>
          <a:prstGeom prst="roundRect">
            <a:avLst>
              <a:gd name="adj" fmla="val 15789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9260" rIns="36576" bIns="2926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65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</a:rPr>
              <a:t>REFER: professional survey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016752" y="2871216"/>
            <a:ext cx="1344168" cy="347472"/>
          </a:xfrm>
          <a:prstGeom prst="roundRect">
            <a:avLst>
              <a:gd name="adj" fmla="val 15789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9260" rIns="36576" bIns="2926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65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</a:rPr>
              <a:t>REFER: evidence integrity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7434072" y="2871216"/>
            <a:ext cx="1344168" cy="347472"/>
          </a:xfrm>
          <a:prstGeom prst="roundRect">
            <a:avLst>
              <a:gd name="adj" fmla="val 15789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9260" rIns="36576" bIns="2926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65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</a:rPr>
              <a:t>REFER: additional evidence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347472" y="3328416"/>
            <a:ext cx="8449056" cy="731520"/>
          </a:xfrm>
          <a:prstGeom prst="roundRect">
            <a:avLst>
              <a:gd name="adj" fmla="val 75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420624" y="3328416"/>
            <a:ext cx="82296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KEYFRAME</a:t>
            </a:r>
          </a:p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PIPELINE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216152" y="3401568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1271016" y="3419856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Quality + integrity (dHash)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2368296" y="3694176"/>
            <a:ext cx="109728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/>
          <p:cNvSpPr/>
          <p:nvPr/>
        </p:nvSpPr>
        <p:spPr>
          <a:xfrm>
            <a:off x="2478024" y="3401568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2532888" y="3419856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2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Gemini: room, components, authenticity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3630168" y="3694176"/>
            <a:ext cx="109728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ounded Rectangle 135"/>
          <p:cNvSpPr/>
          <p:nvPr/>
        </p:nvSpPr>
        <p:spPr>
          <a:xfrm>
            <a:off x="3739896" y="3401568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3794759" y="3419856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3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Prompt router: 18 defects, 12 components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4892040" y="3694176"/>
            <a:ext cx="109728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ounded Rectangle 138"/>
          <p:cNvSpPr/>
          <p:nvPr/>
        </p:nvSpPr>
        <p:spPr>
          <a:xfrm>
            <a:off x="5001768" y="3401568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5056631" y="3419856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4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LocateAnything-3B boxes → NMS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6153912" y="3694176"/>
            <a:ext cx="109728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6263640" y="3401568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6318503" y="3419856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5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Full-res crops → Gemma 4 verify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7415783" y="3694176"/>
            <a:ext cx="109729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Rounded Rectangle 144"/>
          <p:cNvSpPr/>
          <p:nvPr/>
        </p:nvSpPr>
        <p:spPr>
          <a:xfrm>
            <a:off x="7525512" y="3401568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7580376" y="3419856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6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Rule engine → status → risk engine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47472" y="4123944"/>
            <a:ext cx="8449056" cy="731520"/>
          </a:xfrm>
          <a:prstGeom prst="roundRect">
            <a:avLst>
              <a:gd name="adj" fmla="val 75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420624" y="4123944"/>
            <a:ext cx="82296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VIDEO</a:t>
            </a:r>
          </a:p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PIPELINE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1216152" y="4197096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1271016" y="4215383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Depth Anything 3 depth per frame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2368296" y="4489704"/>
            <a:ext cx="109728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ounded Rectangle 151"/>
          <p:cNvSpPr/>
          <p:nvPr/>
        </p:nvSpPr>
        <p:spPr>
          <a:xfrm>
            <a:off x="2478024" y="4197096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2532888" y="4215383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2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OpenCV 5 SLAM camera poses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3630168" y="4489704"/>
            <a:ext cx="109728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Rounded Rectangle 154"/>
          <p:cNvSpPr/>
          <p:nvPr/>
        </p:nvSpPr>
        <p:spPr>
          <a:xfrm>
            <a:off x="3739896" y="4197096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3794759" y="4215383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3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Open3D TSDF surface fusion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4892040" y="4489704"/>
            <a:ext cx="109728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ounded Rectangle 157"/>
          <p:cNvSpPr/>
          <p:nvPr/>
        </p:nvSpPr>
        <p:spPr>
          <a:xfrm>
            <a:off x="5001768" y="4197096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5056631" y="4215383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4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Walls, floor, doors; Gemini names objects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6153912" y="4489704"/>
            <a:ext cx="109728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6263640" y="4197096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6318503" y="4215383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5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10 cm coverage + AI keyframes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7415783" y="4489704"/>
            <a:ext cx="109729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7525512" y="4197096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7580376" y="4215383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6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Keyframes → keyframe pipeline; pins in 3D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Actual product screens: an inspection app built for underwriters</a:t>
            </a:r>
          </a:p>
        </p:txBody>
      </p:sp>
      <p:pic>
        <p:nvPicPr>
          <p:cNvPr id="105" name="Picture 104" descr="s16_57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" y="1384662"/>
            <a:ext cx="4572000" cy="3174274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6" name="TextBox 105"/>
          <p:cNvSpPr txBox="1"/>
          <p:nvPr/>
        </p:nvSpPr>
        <p:spPr>
          <a:xfrm>
            <a:off x="347472" y="4595513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Dashboard: walkthroughs, repair exposure, referrals, coverage and condition grades across the book</a:t>
            </a:r>
          </a:p>
        </p:txBody>
      </p:sp>
      <p:pic>
        <p:nvPicPr>
          <p:cNvPr id="107" name="Picture 106" descr="s16_5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0" y="1372939"/>
            <a:ext cx="3675887" cy="2475345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8" name="TextBox 107"/>
          <p:cNvSpPr txBox="1"/>
          <p:nvPr/>
        </p:nvSpPr>
        <p:spPr>
          <a:xfrm>
            <a:off x="5120640" y="3884860"/>
            <a:ext cx="3675887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Video walkthrough: live 3D-scan progress while the video is processed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120640" y="4114800"/>
            <a:ext cx="3675887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28016" indent="-128016" algn="l">
              <a:spcAft>
                <a:spcPts val="200"/>
              </a:spcAft>
              <a:buClr>
                <a:srgbClr val="1A73E8"/>
              </a:buClr>
              <a:buFont typeface="Arial"/>
              <a:buChar char="•"/>
            </a:pPr>
            <a:r>
              <a:rPr sz="8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Dashboard → Video walkthroughs → 3D report → Ask Gemini</a:t>
            </a:r>
          </a:p>
          <a:p>
            <a:pPr marL="128016" indent="-128016" algn="l">
              <a:spcAft>
                <a:spcPts val="200"/>
              </a:spcAft>
              <a:buClr>
                <a:srgbClr val="1A73E8"/>
              </a:buClr>
              <a:buFont typeface="Arial"/>
              <a:buChar char="•"/>
            </a:pPr>
            <a:r>
              <a:rPr sz="8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Video upload with a live 3D-scan view, Lite or Advanced</a:t>
            </a:r>
          </a:p>
          <a:p>
            <a:pPr marL="128016" indent="-128016" algn="l">
              <a:spcAft>
                <a:spcPts val="200"/>
              </a:spcAft>
              <a:buClr>
                <a:srgbClr val="1A73E8"/>
              </a:buClr>
              <a:buFont typeface="Arial"/>
              <a:buChar char="•"/>
            </a:pPr>
            <a:r>
              <a:rPr sz="8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Interactive 3D viewer: walk inside, see coverage gaps</a:t>
            </a:r>
          </a:p>
          <a:p>
            <a:pPr marL="128016" indent="-128016" algn="l">
              <a:spcAft>
                <a:spcPts val="200"/>
              </a:spcAft>
              <a:buClr>
                <a:srgbClr val="1A73E8"/>
              </a:buClr>
              <a:buFont typeface="Arial"/>
              <a:buChar char="•"/>
            </a:pPr>
            <a:r>
              <a:rPr sz="8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Reports in HTML, Markdown, JSON; REST API at /docs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Cloud Run web service + L4 GPU Job, powered by Gemini</a:t>
            </a:r>
          </a:p>
        </p:txBody>
      </p:sp>
      <p:pic>
        <p:nvPicPr>
          <p:cNvPr id="137" name="Architecture diagram" descr="Architecture: users upload a phone walkthrough to a CPU-only Cloud Run service, which starts a Cloud Run Job with one NVIDIA L4 GPU per video. The Job runs the 3D engine, coverage, AI inspection and risk engine; the service shows the 3D report, Ask Gemini and a JSON API. Gemini 3.8 Flash is called through the Gemini API with the key from Secret Manager, a Cloud Storage bucket is mounted on both, and Cloud Build and Artifact Registry build the one image both use.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" y="1371600"/>
            <a:ext cx="8449056" cy="3379622"/>
          </a:xfrm>
          <a:prstGeom prst="rect">
            <a:avLst/>
          </a:prstGeom>
        </p:spPr>
      </p:pic>
      <p:sp>
        <p:nvSpPr>
          <p:cNvPr id="9001" name="Architecture caption"/>
          <p:cNvSpPr txBox="1"/>
          <p:nvPr/>
        </p:nvSpPr>
        <p:spPr>
          <a:xfrm>
            <a:off x="347472" y="4800600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Deployed layout (v1.0.0): web UI + API on a CPU-only Cloud Run service; 3D, coverage and AI inspection on a Cloud Run Job with one NVIDIA L4 per video; Cloud Storage bucket mounted on both; Gemini 3.8 Flash via the Gemini API (key in Secret Manager). BigQuery and Pub/Sub are not used.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Built on Google AI and Google Cloud, with best-in-class open models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47472" y="1353312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GOOGLE AI &amp; CLOUD, IN THE PROTOTYPE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47472" y="1572768"/>
            <a:ext cx="1993392" cy="530352"/>
          </a:xfrm>
          <a:prstGeom prst="roundRect">
            <a:avLst>
              <a:gd name="adj" fmla="val 1034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420624" y="1709928"/>
            <a:ext cx="237744" cy="23774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31520" y="1627632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3.8 Flash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1520" y="1819656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Gemini API: scene, authenticity, analysis, grounded Q&amp;A, 3D object names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423160" y="1572768"/>
            <a:ext cx="1993392" cy="530352"/>
          </a:xfrm>
          <a:prstGeom prst="roundRect">
            <a:avLst>
              <a:gd name="adj" fmla="val 1034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2496312" y="1709928"/>
            <a:ext cx="237744" cy="23774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807208" y="1627632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Gemma 4 (E4B)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807208" y="1819656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Open Google model that verifies every defect crop on the GPU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47472" y="2176272"/>
            <a:ext cx="1993392" cy="530352"/>
          </a:xfrm>
          <a:prstGeom prst="roundRect">
            <a:avLst>
              <a:gd name="adj" fmla="val 1034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420624" y="2313432"/>
            <a:ext cx="237744" cy="23774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31520" y="2231136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Cloud Run + L4 GPU Job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31520" y="2423160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CPU web service + one L4 Job per video; both scale to zero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2423160" y="2176272"/>
            <a:ext cx="1993392" cy="530352"/>
          </a:xfrm>
          <a:prstGeom prst="roundRect">
            <a:avLst>
              <a:gd name="adj" fmla="val 1034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2496312" y="2313432"/>
            <a:ext cx="237744" cy="23774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07208" y="2231136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Cloud Storage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07208" y="2423160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Bucket mounted on both: uploads, job status, results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347472" y="2779776"/>
            <a:ext cx="1993392" cy="530352"/>
          </a:xfrm>
          <a:prstGeom prst="roundRect">
            <a:avLst>
              <a:gd name="adj" fmla="val 1034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420624" y="2916936"/>
            <a:ext cx="237744" cy="23774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31520" y="2834640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Secret Manager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31520" y="3026664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Gemini API key injected at runtime; none in the image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423160" y="2779776"/>
            <a:ext cx="1993392" cy="530352"/>
          </a:xfrm>
          <a:prstGeom prst="roundRect">
            <a:avLst>
              <a:gd name="adj" fmla="val 1034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3" name="Oval 142"/>
          <p:cNvSpPr/>
          <p:nvPr/>
        </p:nvSpPr>
        <p:spPr>
          <a:xfrm>
            <a:off x="2496312" y="2916936"/>
            <a:ext cx="237744" cy="23774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807208" y="2834640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Cloud Build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807208" y="3026664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Builds the ~12 GB image; weights fetched inside the build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347472" y="3383280"/>
            <a:ext cx="1993392" cy="530352"/>
          </a:xfrm>
          <a:prstGeom prst="roundRect">
            <a:avLst>
              <a:gd name="adj" fmla="val 1034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7" name="Oval 146"/>
          <p:cNvSpPr/>
          <p:nvPr/>
        </p:nvSpPr>
        <p:spPr>
          <a:xfrm>
            <a:off x="420624" y="3520440"/>
            <a:ext cx="237744" cy="23774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31520" y="3438144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Artifact Registry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31520" y="3630168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One image with baked-in models for the service and the Job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2423160" y="3383280"/>
            <a:ext cx="1993392" cy="530352"/>
          </a:xfrm>
          <a:prstGeom prst="roundRect">
            <a:avLst>
              <a:gd name="adj" fmla="val 1034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2496312" y="3520440"/>
            <a:ext cx="237744" cy="23774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07208" y="3438144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IAM service account + Logging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807208" y="3630168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Least-privilege runtime account; no keys in files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617720" y="1353312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OPEN MODELS &amp; LIBRARIES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617720" y="1572768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LocateAnything-3B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open-vocabulary defect boxes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617720" y="1874519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llama.cpp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local GPU inference for Gemma 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617720" y="2176272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Depth Anything 3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monocular depth per frame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617720" y="2478024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OpenCV 5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SLAM tracking, ICP, CV evidence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617720" y="2779776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Open3D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TSDF fusion, meshes, GLB export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617720" y="3081528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gsplat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Gaussian-splatting experiment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617720" y="3383280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FastAPI + Python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18 REST endpoints, web UI, /docs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617720" y="3685032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YAML rule engine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client-owned risk rules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784848" y="1353312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NEXT ON THE ROADMAP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6784848" y="1572768"/>
            <a:ext cx="2011680" cy="530352"/>
          </a:xfrm>
          <a:prstGeom prst="roundRect">
            <a:avLst>
              <a:gd name="adj" fmla="val 1034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8521" rIns="73152" bIns="5852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Document AI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Title deeds, valuation reports, repair invoices cross-checked with images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6784848" y="2176272"/>
            <a:ext cx="2011680" cy="530352"/>
          </a:xfrm>
          <a:prstGeom prst="roundRect">
            <a:avLst>
              <a:gd name="adj" fmla="val 1034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8521" rIns="73152" bIns="5852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Vertex AI Search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Policy wording and lending guidelines for the assistant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784848" y="2779776"/>
            <a:ext cx="2011680" cy="530352"/>
          </a:xfrm>
          <a:prstGeom prst="roundRect">
            <a:avLst>
              <a:gd name="adj" fmla="val 1034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8521" rIns="73152" bIns="5852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Vertex AI + BigQuery ML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Claim-likelihood and collateral-risk models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6784848" y="3383280"/>
            <a:ext cx="2011680" cy="530352"/>
          </a:xfrm>
          <a:prstGeom prst="roundRect">
            <a:avLst>
              <a:gd name="adj" fmla="val 1034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8521" rIns="73152" bIns="5852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Cloud SQL / AlloyDB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Multi-tenant case management, audit trail, SSO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347472" y="4096512"/>
            <a:ext cx="8449056" cy="786384"/>
          </a:xfrm>
          <a:prstGeom prst="roundRect">
            <a:avLst>
              <a:gd name="adj" fmla="val 6976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02412" rIns="128016" bIns="102412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Why this stack: </a:t>
            </a: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does reasoning, authenticity and explanation; open models on the Cloud Run GPU Job do high-volume boxing and verification cheaply; deterministic rules keep decisions auditable. Data stays in the client's own Google Cloud project, and the JSON record and REST API plug straight into lending, underwriting and claims systems.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Priced per inspection, far below a physical site visit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47472" y="1353312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UNIT ECONOMICS (INDICATIVE, FROM THE PROTOTYPE)</a:t>
            </a:r>
          </a:p>
        </p:txBody>
      </p:sp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347472" y="1572768"/>
          <a:ext cx="4937760" cy="2368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Cost item</a:t>
                      </a:r>
                    </a:p>
                  </a:txBody>
                  <a:tcPr marL="64008" marR="6400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Basis</a:t>
                      </a:r>
                    </a:p>
                  </a:txBody>
                  <a:tcPr marL="64008" marR="6400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Estimate</a:t>
                      </a:r>
                    </a:p>
                  </a:txBody>
                  <a:tcPr marL="64008" marR="64008" anchor="ctr"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Gemini calls (Gemini API)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≈ $0.005 per call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≈ $0.35 per walkthrough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NVIDIA L4 on a Cloud Run Job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1× L4, 8 vCPU, 32 GiB; one run per video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≈ $0.50 per 20-min walkthrough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Video inspection, all-in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L4 Job + Gemini calls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≈ $0.85 per walkthrough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Web UI + API (Cloud Run)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1 vCPU, 2 GiB, scales to zero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Within the free tier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Idle footprint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12 GB image + data bucket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≈ $1.20 per month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Deployment &amp; ops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One-command deploy, $30/mo budget alert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No servers to manage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1" name="Rounded Rectangle 130"/>
          <p:cNvSpPr/>
          <p:nvPr/>
        </p:nvSpPr>
        <p:spPr>
          <a:xfrm>
            <a:off x="347472" y="4114800"/>
            <a:ext cx="1591056" cy="768096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438912" y="4178808"/>
            <a:ext cx="140817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≈ $0.35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38912" y="4432808"/>
            <a:ext cx="140817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Gemini per walkthrough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2011680" y="4114800"/>
            <a:ext cx="1591056" cy="768096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2103120" y="4178808"/>
            <a:ext cx="140817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≈ $0.50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03120" y="4432808"/>
            <a:ext cx="140817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L4 GPU time per video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3675888" y="4114800"/>
            <a:ext cx="1591056" cy="768096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3767328" y="4178808"/>
            <a:ext cx="140817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$0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767328" y="4432808"/>
            <a:ext cx="140817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GPU cost when idle (Job runs per video)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32120" y="1353312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BUSINESS MODEL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5532120" y="1572768"/>
            <a:ext cx="3264408" cy="749808"/>
          </a:xfrm>
          <a:prstGeom prst="roundRect">
            <a:avLst>
              <a:gd name="adj" fmla="val 7317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Pay-per-inspection API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Lenders and insurers send a walkthrough video from their own apps; get JSON, a report and a decision back.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532120" y="2395728"/>
            <a:ext cx="3264408" cy="749808"/>
          </a:xfrm>
          <a:prstGeom prst="roundRect">
            <a:avLst>
              <a:gd name="adj" fmla="val 7317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Enterprise subscription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Portfolio dashboard, BigQuery export, custom risk rules, SSO, private deployment in the client's GCP project.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532120" y="3218688"/>
            <a:ext cx="3264408" cy="749808"/>
          </a:xfrm>
          <a:prstGeom prst="roundRect">
            <a:avLst>
              <a:gd name="adj" fmla="val 7317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Inspector &amp; valuer firms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White-label app: AI drafts every report and coverage control, so each inspector handles more cases.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532120" y="4114800"/>
            <a:ext cx="3264408" cy="768096"/>
          </a:xfrm>
          <a:prstGeom prst="roundRect">
            <a:avLst>
              <a:gd name="adj" fmla="val 7142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Pricing hypothesis to validate in pilots: </a:t>
            </a:r>
            <a:r>
              <a:rPr sz="8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 per-inspection fee well below a physical visit, with volume tiers for portfolios.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Real screens and outputs from the working prototype v1.0.0</a:t>
            </a:r>
          </a:p>
        </p:txBody>
      </p:sp>
      <p:pic>
        <p:nvPicPr>
          <p:cNvPr id="137" name="Picture 136" descr="s05_15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082" y="1325879"/>
            <a:ext cx="2211690" cy="15544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8" name="TextBox 137"/>
          <p:cNvSpPr txBox="1"/>
          <p:nvPr/>
        </p:nvSpPr>
        <p:spPr>
          <a:xfrm>
            <a:off x="347472" y="2898648"/>
            <a:ext cx="272491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3D report: findings, grade A, decision</a:t>
            </a:r>
          </a:p>
        </p:txBody>
      </p:sp>
      <p:pic>
        <p:nvPicPr>
          <p:cNvPr id="139" name="Picture 138" descr="s11_39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00984" y="1325880"/>
            <a:ext cx="2487168" cy="15544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0" name="TextBox 139"/>
          <p:cNvSpPr txBox="1"/>
          <p:nvPr/>
        </p:nvSpPr>
        <p:spPr>
          <a:xfrm>
            <a:off x="3182112" y="2898648"/>
            <a:ext cx="272491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Risk &amp; valuation panel: REFER with reasons</a:t>
            </a:r>
          </a:p>
        </p:txBody>
      </p:sp>
      <p:pic>
        <p:nvPicPr>
          <p:cNvPr id="141" name="Picture 140" descr="s09_31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9626" y="1325880"/>
            <a:ext cx="2339162" cy="15544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2" name="TextBox 141"/>
          <p:cNvSpPr txBox="1"/>
          <p:nvPr/>
        </p:nvSpPr>
        <p:spPr>
          <a:xfrm>
            <a:off x="6016752" y="2898648"/>
            <a:ext cx="272491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Keyframe detection: door and window damage</a:t>
            </a:r>
          </a:p>
        </p:txBody>
      </p:sp>
      <p:pic>
        <p:nvPicPr>
          <p:cNvPr id="143" name="Picture 142" descr="s13_48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886" y="3127248"/>
            <a:ext cx="1712083" cy="15544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4" name="TextBox 143"/>
          <p:cNvSpPr txBox="1"/>
          <p:nvPr/>
        </p:nvSpPr>
        <p:spPr>
          <a:xfrm>
            <a:off x="347472" y="4700016"/>
            <a:ext cx="272491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Phone video → clean 3D model (GLB)</a:t>
            </a:r>
          </a:p>
        </p:txBody>
      </p:sp>
      <p:pic>
        <p:nvPicPr>
          <p:cNvPr id="145" name="Picture 144" descr="s14_52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9517" y="3127248"/>
            <a:ext cx="1550101" cy="15544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6" name="TextBox 145"/>
          <p:cNvSpPr txBox="1"/>
          <p:nvPr/>
        </p:nvSpPr>
        <p:spPr>
          <a:xfrm>
            <a:off x="3182112" y="4700016"/>
            <a:ext cx="272491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Coverage map: what to film again</a:t>
            </a:r>
          </a:p>
        </p:txBody>
      </p:sp>
      <p:pic>
        <p:nvPicPr>
          <p:cNvPr id="147" name="Picture 146" descr="s15_55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16752" y="3298310"/>
            <a:ext cx="2724912" cy="1212354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8" name="TextBox 147"/>
          <p:cNvSpPr txBox="1"/>
          <p:nvPr/>
        </p:nvSpPr>
        <p:spPr>
          <a:xfrm>
            <a:off x="6016752" y="4700016"/>
            <a:ext cx="272491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Gemini property analysis (co-pilot)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Measured on a real 20-second walkthrough, plus a fair 4-pipeline evaluation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47472" y="1325880"/>
            <a:ext cx="41148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CASE STUDY: REAL HOME WALKTHROUGH (MEASURED)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347472" y="1517904"/>
            <a:ext cx="1307592" cy="512064"/>
          </a:xfrm>
          <a:prstGeom prst="roundRect">
            <a:avLst>
              <a:gd name="adj" fmla="val 1071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438912" y="1581912"/>
            <a:ext cx="11247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19.6 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38912" y="1772412"/>
            <a:ext cx="1124712" cy="548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phone video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1719072" y="1517904"/>
            <a:ext cx="1307592" cy="512064"/>
          </a:xfrm>
          <a:prstGeom prst="roundRect">
            <a:avLst>
              <a:gd name="adj" fmla="val 1071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1810512" y="1581912"/>
            <a:ext cx="11247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197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10512" y="1772412"/>
            <a:ext cx="1124712" cy="548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SLAM frames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3090672" y="1517904"/>
            <a:ext cx="1307592" cy="512064"/>
          </a:xfrm>
          <a:prstGeom prst="roundRect">
            <a:avLst>
              <a:gd name="adj" fmla="val 1071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3182112" y="1581912"/>
            <a:ext cx="11247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182112" y="1772412"/>
            <a:ext cx="1124712" cy="548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AI keyframes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47472" y="2084831"/>
            <a:ext cx="1307592" cy="512064"/>
          </a:xfrm>
          <a:prstGeom prst="roundRect">
            <a:avLst>
              <a:gd name="adj" fmla="val 1071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438912" y="2148839"/>
            <a:ext cx="11247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24.5 m²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38912" y="2339340"/>
            <a:ext cx="1124712" cy="548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2 rooms measured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1719072" y="2084831"/>
            <a:ext cx="1307592" cy="512064"/>
          </a:xfrm>
          <a:prstGeom prst="roundRect">
            <a:avLst>
              <a:gd name="adj" fmla="val 1071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1810512" y="2148839"/>
            <a:ext cx="11247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95.7 · 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810512" y="2339340"/>
            <a:ext cx="1124712" cy="548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condition score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090672" y="2084831"/>
            <a:ext cx="1307592" cy="512064"/>
          </a:xfrm>
          <a:prstGeom prst="roundRect">
            <a:avLst>
              <a:gd name="adj" fmla="val 1071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3182112" y="2148839"/>
            <a:ext cx="11247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$405–2,775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182112" y="2339340"/>
            <a:ext cx="1124712" cy="548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indicative repairs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347472" y="2688336"/>
            <a:ext cx="4050791" cy="658368"/>
          </a:xfrm>
          <a:prstGeom prst="roundRect">
            <a:avLst>
              <a:gd name="adj" fmla="val 8333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8521" rIns="73152" bIns="5852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</a:rPr>
              <a:t>Decision: REFER, additional evidence required</a:t>
            </a:r>
          </a:p>
          <a:p>
            <a:pPr algn="l">
              <a:spcAft>
                <a:spcPts val="200"/>
              </a:spcAft>
            </a:pPr>
            <a:r>
              <a:rPr sz="72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Only 42.5% of surfaces were AI-inspected (min 60%), so the app lists the walls and ceilings to film again. 7 possible defects pinned in 3D (Needs review).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47472" y="3438144"/>
            <a:ext cx="405079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SPEED &amp; COST (FROM THE PROTOTYPE)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47472" y="3621024"/>
            <a:ext cx="1993392" cy="585216"/>
          </a:xfrm>
          <a:prstGeom prst="roundRect">
            <a:avLst>
              <a:gd name="adj" fmla="val 9375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438912" y="3685032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10.6 min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38912" y="3875532"/>
            <a:ext cx="1810512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end to end, 20 s video, laptop GPU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2404872" y="3621024"/>
            <a:ext cx="1993392" cy="585216"/>
          </a:xfrm>
          <a:prstGeom prst="roundRect">
            <a:avLst>
              <a:gd name="adj" fmla="val 9375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2496312" y="3685032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11.1 / 26.9 min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496312" y="3875532"/>
            <a:ext cx="1810512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3D build, Lite / Advanced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347472" y="4261104"/>
            <a:ext cx="1993392" cy="585216"/>
          </a:xfrm>
          <a:prstGeom prst="roundRect">
            <a:avLst>
              <a:gd name="adj" fmla="val 9375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438912" y="4325112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21.8 / 21.6 dB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38912" y="4515612"/>
            <a:ext cx="1810512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PSNR, Lite / Advanced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2404872" y="4261104"/>
            <a:ext cx="1993392" cy="585216"/>
          </a:xfrm>
          <a:prstGeom prst="roundRect">
            <a:avLst>
              <a:gd name="adj" fmla="val 9375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2496312" y="4325112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≈ $0.35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496312" y="4515612"/>
            <a:ext cx="1810512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Gemini per walkthrough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572000" y="1325880"/>
            <a:ext cx="42062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EVALUATION: 4 PIPELINES · 10 ROOMS · 100 REGIONS</a:t>
            </a:r>
          </a:p>
        </p:txBody>
      </p:sp>
      <p:graphicFrame>
        <p:nvGraphicFramePr>
          <p:cNvPr id="179" name="Chart 178"/>
          <p:cNvGraphicFramePr>
            <a:graphicFrameLocks noGrp="1"/>
          </p:cNvGraphicFramePr>
          <p:nvPr/>
        </p:nvGraphicFramePr>
        <p:xfrm>
          <a:off x="4572000" y="1481328"/>
          <a:ext cx="4224528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80" name="Rounded Rectangle 179"/>
          <p:cNvSpPr/>
          <p:nvPr/>
        </p:nvSpPr>
        <p:spPr>
          <a:xfrm>
            <a:off x="4572000" y="3794760"/>
            <a:ext cx="4224528" cy="1097280"/>
          </a:xfrm>
          <a:prstGeom prst="roundRect">
            <a:avLst>
              <a:gd name="adj" fmla="val 5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8521" rIns="73152" bIns="5852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</a:rPr>
              <a:t>Simulated illustration, not yet measured: </a:t>
            </a: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values show the report format and the expected gain; they will be replaced after running the protocol on D.</a:t>
            </a:r>
          </a:p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Fair test: </a:t>
            </a: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same images, schema, Gemini settings and decision rule; test set frozen; 5 living rooms + 5 bedrooms incl. 2 clean controls; 40 defective / 60 clean regions.</a:t>
            </a:r>
          </a:p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Targets for D: </a:t>
            </a: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≥ 85% accuracy, precision, recall, F1; ≤ 1 false alarm on clean rooms; beat A on every metric.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Roadmap: an inspection agent with spatial reasoning, then portfolio risk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347472" y="1325880"/>
            <a:ext cx="2724912" cy="1691640"/>
          </a:xfrm>
          <a:prstGeom prst="roundRect">
            <a:avLst>
              <a:gd name="adj" fmla="val 3243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457200" y="1399032"/>
            <a:ext cx="25146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NOW · v1.0.0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57200" y="1664208"/>
            <a:ext cx="254203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Video walkthrough inspection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Risk and valuation engine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Fraud and coverage checks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analysis and Q&amp;A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Cloud Run service + GPU Job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3081528" y="2167128"/>
            <a:ext cx="91440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156"/>
          <p:cNvSpPr/>
          <p:nvPr/>
        </p:nvSpPr>
        <p:spPr>
          <a:xfrm>
            <a:off x="3182112" y="1325880"/>
            <a:ext cx="2724912" cy="1691640"/>
          </a:xfrm>
          <a:prstGeom prst="roundRect">
            <a:avLst>
              <a:gd name="adj" fmla="val 3243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3291840" y="1399032"/>
            <a:ext cx="25146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NEXT · 3 months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291840" y="1664208"/>
            <a:ext cx="254203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Inspection agent: Gemini + Agent Platform (ADK)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Live capture guidance: what to film next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Spatial reasoning over the 3D model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Answers for lender, insurer, surveyor, owner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5916168" y="2167128"/>
            <a:ext cx="91440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6016752" y="1325880"/>
            <a:ext cx="2724912" cy="1691640"/>
          </a:xfrm>
          <a:prstGeom prst="roundRect">
            <a:avLst>
              <a:gd name="adj" fmla="val 3243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6126480" y="1399032"/>
            <a:ext cx="25146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LATER · 6–12 months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126480" y="1664208"/>
            <a:ext cx="254203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BigQuery ML claim &amp; collateral-risk scoring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Before/after claim comparison in 3D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Document AI + Vertex AI Search: deeds, policies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Agent hand-offs to core systems, human approval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47472" y="3108960"/>
            <a:ext cx="844905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WHAT WE BUILT: FROM DEPTH RESEARCH TO A DEPLOYABLE PRODUCT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347472" y="3291840"/>
            <a:ext cx="1353312" cy="658368"/>
          </a:xfrm>
          <a:prstGeom prst="roundRect">
            <a:avLst>
              <a:gd name="adj" fmla="val 8333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51206" rIns="64008" bIns="51206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01  </a:t>
            </a:r>
            <a:r>
              <a:rPr sz="66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Depth + SLAM</a:t>
            </a:r>
          </a:p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Depth Anything 3 visual SLAM, occupancy grid, A* path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1764792" y="3291840"/>
            <a:ext cx="1353312" cy="658368"/>
          </a:xfrm>
          <a:prstGeom prst="roundRect">
            <a:avLst>
              <a:gd name="adj" fmla="val 8333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51206" rIns="64008" bIns="51206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02  </a:t>
            </a:r>
            <a:r>
              <a:rPr sz="66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Hybrid SLAM</a:t>
            </a:r>
          </a:p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OpenCV 5 tracking, ICP, Manhattan planes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3182112" y="3291840"/>
            <a:ext cx="1353312" cy="658368"/>
          </a:xfrm>
          <a:prstGeom prst="roundRect">
            <a:avLst>
              <a:gd name="adj" fmla="val 8333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51206" rIns="64008" bIns="51206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03  </a:t>
            </a:r>
            <a:r>
              <a:rPr sz="66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Photo-real 3D</a:t>
            </a:r>
          </a:p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Gaussian Splatting experiment (gsplat)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4599432" y="3291840"/>
            <a:ext cx="1353312" cy="658368"/>
          </a:xfrm>
          <a:prstGeom prst="roundRect">
            <a:avLst>
              <a:gd name="adj" fmla="val 8333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51206" rIns="64008" bIns="51206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04  </a:t>
            </a:r>
            <a:r>
              <a:rPr sz="66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Production 3D</a:t>
            </a:r>
          </a:p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Video → GLB models, floor plan (+SVG)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016752" y="3291840"/>
            <a:ext cx="1353312" cy="658368"/>
          </a:xfrm>
          <a:prstGeom prst="roundRect">
            <a:avLst>
              <a:gd name="adj" fmla="val 8333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51206" rIns="64008" bIns="51206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05  </a:t>
            </a:r>
            <a:r>
              <a:rPr sz="66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Inspection AI</a:t>
            </a:r>
          </a:p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Taxonomy, locate + verify, risk engine, fraud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7434072" y="3291840"/>
            <a:ext cx="1353312" cy="658368"/>
          </a:xfrm>
          <a:prstGeom prst="roundRect">
            <a:avLst>
              <a:gd name="adj" fmla="val 8333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51206" rIns="64008" bIns="51206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06  </a:t>
            </a:r>
            <a:r>
              <a:rPr sz="66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Google Cloud v1.0.0</a:t>
            </a:r>
          </a:p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API, Cloud Run service + L4 Job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47472" y="4041648"/>
            <a:ext cx="1627632" cy="841248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2" name="TextBox 171"/>
          <p:cNvSpPr txBox="1"/>
          <p:nvPr/>
        </p:nvSpPr>
        <p:spPr>
          <a:xfrm>
            <a:off x="438912" y="408736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38912" y="448056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defect types, 12 components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2048256" y="4041648"/>
            <a:ext cx="1627632" cy="841248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2139696" y="408736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139696" y="448056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room types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3749040" y="4041648"/>
            <a:ext cx="1627632" cy="841248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3840480" y="408736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18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840480" y="448056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REST API endpoints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449824" y="4041648"/>
            <a:ext cx="1627632" cy="841248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5541264" y="408736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541264" y="448056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3D modes (Lite / Advanced)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7150608" y="4041648"/>
            <a:ext cx="1627632" cy="841248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7242048" y="408736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242048" y="448056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command to deploy on GCP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356616" y="758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</a:rPr>
              <a:t>Additional Details/Future Development (contd.)</a:t>
            </a:r>
          </a:p>
        </p:txBody>
      </p:sp>
      <p:sp>
        <p:nvSpPr>
          <p:cNvPr id="168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Responsible AI and the go-to-market plan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47472" y="1325880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RESPONSIBLE AI: HUMANS DECIDE, AI SHOWS EVIDENCE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347472" y="1517904"/>
            <a:ext cx="2212848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1" name="Oval 170"/>
          <p:cNvSpPr/>
          <p:nvPr/>
        </p:nvSpPr>
        <p:spPr>
          <a:xfrm>
            <a:off x="420624" y="1600200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13232" y="1591056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Human in the loop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13232" y="1792224"/>
            <a:ext cx="179222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Decision support only; a qualified surveyor or underwriter makes the final call.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2633472" y="1517904"/>
            <a:ext cx="2212848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5" name="Oval 174"/>
          <p:cNvSpPr/>
          <p:nvPr/>
        </p:nvSpPr>
        <p:spPr>
          <a:xfrm>
            <a:off x="2706624" y="1600200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999232" y="1591056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Explainable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999232" y="1792224"/>
            <a:ext cx="179222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Deterministic YAML rules; every decision lists its reasons and risk points.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347472" y="2267712"/>
            <a:ext cx="2212848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9" name="Oval 178"/>
          <p:cNvSpPr/>
          <p:nvPr/>
        </p:nvSpPr>
        <p:spPr>
          <a:xfrm>
            <a:off x="420624" y="2350008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3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13232" y="2340864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Auditable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713232" y="2542032"/>
            <a:ext cx="179222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Raw outputs archived; each inspection a stored JSON record; versioned config.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2633472" y="2267712"/>
            <a:ext cx="2212848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3" name="Oval 182"/>
          <p:cNvSpPr/>
          <p:nvPr/>
        </p:nvSpPr>
        <p:spPr>
          <a:xfrm>
            <a:off x="2706624" y="2350008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999232" y="2340864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Safe wording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2999232" y="2542032"/>
            <a:ext cx="179222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No structural-safety or root-cause claims; locks, fans, windows stay manual.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347472" y="3017520"/>
            <a:ext cx="2212848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7" name="Oval 186"/>
          <p:cNvSpPr/>
          <p:nvPr/>
        </p:nvSpPr>
        <p:spPr>
          <a:xfrm>
            <a:off x="420624" y="3099815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13232" y="3090672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Secure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713232" y="3291839"/>
            <a:ext cx="179222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Secret Manager for the Gemini key; data stays in the client's project.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2633472" y="3017520"/>
            <a:ext cx="2212848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1" name="Oval 190"/>
          <p:cNvSpPr/>
          <p:nvPr/>
        </p:nvSpPr>
        <p:spPr>
          <a:xfrm>
            <a:off x="2706624" y="3099815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2999232" y="3090672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Licence-aware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2999232" y="3291839"/>
            <a:ext cx="179222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LocateAnything is non-commercial; Gemini localisation is the drop-in swap.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029200" y="1325880"/>
            <a:ext cx="3749039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GO-TO-MARKET: HOUSING FINANCE &amp; HOME INSURANCE, APAC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5029200" y="1517904"/>
            <a:ext cx="3767328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587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6" name="TextBox 195"/>
          <p:cNvSpPr txBox="1"/>
          <p:nvPr/>
        </p:nvSpPr>
        <p:spPr>
          <a:xfrm>
            <a:off x="5120640" y="1563624"/>
            <a:ext cx="36118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PILOT · 0–3 months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120640" y="1746504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1 housing-finance lender + 1 home insurer; AI alongside existing inspections on ~500 cases.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5029200" y="2084831"/>
            <a:ext cx="3767328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5875">
            <a:solidFill>
              <a:srgbClr val="8AB4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9" name="TextBox 198"/>
          <p:cNvSpPr txBox="1"/>
          <p:nvPr/>
        </p:nvSpPr>
        <p:spPr>
          <a:xfrm>
            <a:off x="5120640" y="2130551"/>
            <a:ext cx="36118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INTEGRATE · 3–6 months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5120640" y="2313432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Pub/Sub into loan-origination and claims; BigQuery dashboards; custom rules per client.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5029200" y="2651760"/>
            <a:ext cx="3767328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587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2" name="TextBox 201"/>
          <p:cNvSpPr txBox="1"/>
          <p:nvPr/>
        </p:nvSpPr>
        <p:spPr>
          <a:xfrm>
            <a:off x="5120640" y="2697479"/>
            <a:ext cx="36118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SCALE · 6–18 months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5120640" y="2880360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Google Cloud Marketplace, valuer &amp; inspector networks, commercial property and claims.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5029200" y="3255264"/>
            <a:ext cx="3767328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Pilot KPIs: </a:t>
            </a: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turnaround · cost per inspection · % auto-cleared vs referred · fraud flags confirmed · re-inspection rate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347472" y="4114800"/>
            <a:ext cx="8449056" cy="457200"/>
          </a:xfrm>
          <a:prstGeom prst="roundRect">
            <a:avLst>
              <a:gd name="adj" fmla="val 12000"/>
            </a:avLst>
          </a:prstGeom>
          <a:solidFill>
            <a:srgbClr val="20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bIns="109728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1" i="1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“Every lender and insurer already asks for photos. We replace them with a short phone video that is trustworthy, explainable and ready for a decision.”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100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Repository:  </a:t>
            </a:r>
            <a:r>
              <a:rPr sz="13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hlinkClick r:id="rId5"/>
              </a:rPr>
              <a:t>github.com/XCore-Lab/property-inspection-ai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100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Minutes):  </a:t>
            </a:r>
            <a:r>
              <a:rPr sz="13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hlinkClick r:id="rId6"/>
              </a:rPr>
              <a:t>drive.google.com/file/d/1C8Ysukjfhx-oKpXUv56eheGLf7wP9lb9/view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100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Link:  </a:t>
            </a:r>
            <a:r>
              <a:rPr sz="13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hlinkClick r:id="rId7"/>
              </a:rPr>
              <a:t>property-inspection-ai-77055350047.us-central1.run.app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0" name="Picture 159" descr="s26_90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66878" y="2148840"/>
            <a:ext cx="3565122" cy="25146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61" name="TextBox 160"/>
          <p:cNvSpPr txBox="1"/>
          <p:nvPr/>
        </p:nvSpPr>
        <p:spPr>
          <a:xfrm>
            <a:off x="5120640" y="4690872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Property Inspection AI · Prototype v1.0.0 · one-command Cloud Run deploy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3055</Words>
  <Application>Microsoft Office PowerPoint</Application>
  <PresentationFormat>On-screen Show (16:9)</PresentationFormat>
  <Paragraphs>378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Google Sans Flex SemiBold</vt:lpstr>
      <vt:lpstr>Google Sans Flex Medium</vt:lpstr>
      <vt:lpstr>Arial</vt:lpstr>
      <vt:lpstr>Google Sans Flex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Thanveer Ahamed</cp:lastModifiedBy>
  <cp:revision>1</cp:revision>
  <dcterms:modified xsi:type="dcterms:W3CDTF">2026-10-18T15:54:21Z</dcterms:modified>
</cp:coreProperties>
</file>