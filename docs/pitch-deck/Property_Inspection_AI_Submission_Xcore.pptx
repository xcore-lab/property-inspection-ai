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0" r:id="rId14"/>
    <p:sldId id="269" r:id="rId15"/>
    <p:sldId id="271" r:id="rId16"/>
  </p:sldIdLst>
  <p:sldSz cx="9144000" cy="5143500" type="screen16x9"/>
  <p:notesSz cx="6858000" cy="9144000"/>
  <p:embeddedFontLst>
    <p:embeddedFont>
      <p:font typeface="Google Sans Flex" panose="020B0503030502040204" pitchFamily="34" charset="0"/>
      <p:regular r:id="rId18"/>
      <p:bold r:id="rId19"/>
    </p:embeddedFont>
    <p:embeddedFont>
      <p:font typeface="Google Sans Flex Medium" panose="020B0503030502040204" pitchFamily="34" charset="0"/>
      <p:regular r:id="rId20"/>
      <p:bold r:id="rId21"/>
    </p:embeddedFont>
    <p:embeddedFont>
      <p:font typeface="Google Sans Flex SemiBold" panose="020B0503030502040204" pitchFamily="34" charset="0"/>
      <p:regular r:id="rId22"/>
      <p:bold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Accuracy</c:v>
                </c:pt>
              </c:strCache>
            </c:strRef>
          </c:tx>
          <c:spPr>
            <a:solidFill>
              <a:srgbClr val="9AA0A6"/>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Sheet1!$B$2:$B$5</c:f>
              <c:numCache>
                <c:formatCode>General</c:formatCode>
                <c:ptCount val="4"/>
                <c:pt idx="0">
                  <c:v>0.66</c:v>
                </c:pt>
                <c:pt idx="1">
                  <c:v>0.81</c:v>
                </c:pt>
                <c:pt idx="2">
                  <c:v>0.84</c:v>
                </c:pt>
                <c:pt idx="3">
                  <c:v>0.89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DBF-47BF-85E2-FE095F3FB268}"/>
            </c:ext>
          </c:extLst>
        </c:ser>
        <c:ser>
          <c:idx val="1"/>
          <c:order val="1"/>
          <c:tx>
            <c:strRef>
              <c:f>Sheet1!$C$1</c:f>
              <c:strCache>
                <c:ptCount val="1"/>
                <c:pt idx="0">
                  <c:v>Precision</c:v>
                </c:pt>
              </c:strCache>
            </c:strRef>
          </c:tx>
          <c:spPr>
            <a:solidFill>
              <a:srgbClr val="1A73E8"/>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Sheet1!$C$2:$C$5</c:f>
              <c:numCache>
                <c:formatCode>General</c:formatCode>
                <c:ptCount val="4"/>
                <c:pt idx="0">
                  <c:v>0.56999999999999995</c:v>
                </c:pt>
                <c:pt idx="1">
                  <c:v>0.77</c:v>
                </c:pt>
                <c:pt idx="2">
                  <c:v>0.82</c:v>
                </c:pt>
                <c:pt idx="3">
                  <c:v>0.87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DBF-47BF-85E2-FE095F3FB268}"/>
            </c:ext>
          </c:extLst>
        </c:ser>
        <c:ser>
          <c:idx val="2"/>
          <c:order val="2"/>
          <c:tx>
            <c:strRef>
              <c:f>Sheet1!$D$1</c:f>
              <c:strCache>
                <c:ptCount val="1"/>
                <c:pt idx="0">
                  <c:v>Recall</c:v>
                </c:pt>
              </c:strCache>
            </c:strRef>
          </c:tx>
          <c:spPr>
            <a:solidFill>
              <a:srgbClr val="188038"/>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Sheet1!$D$2:$D$5</c:f>
              <c:numCache>
                <c:formatCode>General</c:formatCode>
                <c:ptCount val="4"/>
                <c:pt idx="0">
                  <c:v>0.6</c:v>
                </c:pt>
                <c:pt idx="1">
                  <c:v>0.75</c:v>
                </c:pt>
                <c:pt idx="2">
                  <c:v>0.78</c:v>
                </c:pt>
                <c:pt idx="3">
                  <c:v>0.85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9DBF-47BF-85E2-FE095F3FB268}"/>
            </c:ext>
          </c:extLst>
        </c:ser>
        <c:ser>
          <c:idx val="3"/>
          <c:order val="3"/>
          <c:tx>
            <c:strRef>
              <c:f>Sheet1!$E$1</c:f>
              <c:strCache>
                <c:ptCount val="1"/>
                <c:pt idx="0">
                  <c:v>F1</c:v>
                </c:pt>
              </c:strCache>
            </c:strRef>
          </c:tx>
          <c:spPr>
            <a:solidFill>
              <a:srgbClr val="F9AB00"/>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Sheet1!$E$2:$E$5</c:f>
              <c:numCache>
                <c:formatCode>General</c:formatCode>
                <c:ptCount val="4"/>
                <c:pt idx="0">
                  <c:v>0.59</c:v>
                </c:pt>
                <c:pt idx="1">
                  <c:v>0.76</c:v>
                </c:pt>
                <c:pt idx="2">
                  <c:v>0.79</c:v>
                </c:pt>
                <c:pt idx="3">
                  <c:v>0.86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9DBF-47BF-85E2-FE095F3FB268}"/>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ADCE0"/>
            </a:solidFill>
          </a:ln>
        </c:spPr>
        <c:txPr>
          <a:bodyPr/>
          <a:lstStyle/>
          <a:p>
            <a:pPr>
              <a:defRPr sz="600">
                <a:solidFill>
                  <a:srgbClr val="5F6368"/>
                </a:solidFill>
                <a:latin typeface="Google Sans Flex"/>
              </a:defRPr>
            </a:pPr>
            <a:endParaRPr lang="en-US"/>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ADCE0"/>
              </a:solidFill>
            </a:ln>
          </c:spPr>
        </c:majorGridlines>
        <c:numFmt formatCode="0%" sourceLinked="0"/>
        <c:majorTickMark val="out"/>
        <c:minorTickMark val="none"/>
        <c:tickLblPos val="nextTo"/>
        <c:spPr>
          <a:ln>
            <a:noFill/>
          </a:ln>
        </c:spPr>
        <c:txPr>
          <a:bodyPr/>
          <a:lstStyle/>
          <a:p>
            <a:pPr>
              <a:defRPr sz="600">
                <a:solidFill>
                  <a:srgbClr val="5F6368"/>
                </a:solidFill>
                <a:latin typeface="Google Sans Flex"/>
              </a:defRPr>
            </a:pPr>
            <a:endParaRPr lang="en-US"/>
          </a:p>
        </c:txPr>
        <c:crossAx val="-2068027336"/>
        <c:crosses val="autoZero"/>
        <c:crossBetween val="between"/>
      </c:valAx>
    </c:plotArea>
    <c:legend>
      <c:legendPos val="b"/>
      <c:overlay val="0"/>
      <c:txPr>
        <a:bodyPr/>
        <a:lstStyle/>
        <a:p>
          <a:pPr>
            <a:defRPr sz="700">
              <a:solidFill>
                <a:srgbClr val="5F6368"/>
              </a:solidFill>
              <a:latin typeface="Google Sans Flex"/>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Team Xcore, led by Thanveer Ahamed. BFSI track: Intelligent Risk, Fraud &amp; Financial Experiences.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One-liner: a 20-second phone video becomes an underwriting-ready property risk file. Insurance fraud is estimated at $308.6B a year in the US, about $45B of it in property and casualty. Five pains, five users.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 single Cloud Run service with an L4 GPU runs the API, web UI, local models and 3D engine. Gemini on Vertex AI provides reasoning. Results go to Cloud Storage, BigQuery and Pub/Sub. One-script deploy, no keys.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Case study and speed numbers are measured. The chart is a simulated example of the evaluation report, not a measured result; say so explicitly.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1.jpg"/><Relationship Id="rId3" Type="http://schemas.openxmlformats.org/officeDocument/2006/relationships/image" Target="../media/image2.png"/><Relationship Id="rId7" Type="http://schemas.openxmlformats.org/officeDocument/2006/relationships/image" Target="../media/image10.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10" Type="http://schemas.openxmlformats.org/officeDocument/2006/relationships/image" Target="../media/image13.jpg"/><Relationship Id="rId4" Type="http://schemas.openxmlformats.org/officeDocument/2006/relationships/image" Target="../media/image3.png"/><Relationship Id="rId9" Type="http://schemas.openxmlformats.org/officeDocument/2006/relationships/image" Target="../media/image12.jp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4.jp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5715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8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600">
              <a:latin typeface="Google Sans Flex Medium"/>
              <a:ea typeface="Google Sans Flex Medium"/>
              <a:cs typeface="Google Sans Flex Medium"/>
              <a:sym typeface="Google Sans Flex Medium"/>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name: </a:t>
            </a:r>
            <a:r>
              <a:rPr sz="1200" b="1" i="0">
                <a:solidFill>
                  <a:srgbClr val="202124"/>
                </a:solidFill>
                <a:latin typeface="Google Sans Flex"/>
                <a:ea typeface="Google Sans Flex"/>
                <a:cs typeface="Google Sans Flex"/>
              </a:rPr>
              <a:t>Xcore</a:t>
            </a:r>
            <a:endParaRPr sz="1800">
              <a:latin typeface="Google Sans Flex"/>
              <a:ea typeface="Google Sans Flex"/>
              <a:cs typeface="Google Sans Flex"/>
              <a:sym typeface="Google Sans Flex"/>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leader name: </a:t>
            </a:r>
            <a:r>
              <a:rPr sz="1200" b="1" i="0">
                <a:solidFill>
                  <a:srgbClr val="202124"/>
                </a:solidFill>
                <a:latin typeface="Google Sans Flex"/>
                <a:ea typeface="Google Sans Flex"/>
                <a:cs typeface="Google Sans Flex"/>
              </a:rPr>
              <a:t>Thanveer Ahamed</a:t>
            </a:r>
            <a:endParaRPr sz="1800">
              <a:latin typeface="Google Sans Flex"/>
              <a:ea typeface="Google Sans Flex"/>
              <a:cs typeface="Google Sans Flex"/>
              <a:sym typeface="Google Sans Flex"/>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Problem Statement: </a:t>
            </a:r>
            <a:r>
              <a:rPr sz="1050" b="0" i="0">
                <a:solidFill>
                  <a:srgbClr val="202124"/>
                </a:solidFill>
                <a:latin typeface="Google Sans Flex"/>
                <a:ea typeface="Google Sans Flex"/>
                <a:cs typeface="Google Sans Flex"/>
              </a:rPr>
              <a:t>Intelligent Risk, Fraud &amp; Financial Experiences (BFSI). Lenders and insurers judge property risk from slow site visits or self-reported photos nobody can verify. We turn a 20-second phone video into a fraud-checked, explainable, underwriting-ready property risk file.</a:t>
            </a:r>
            <a:endParaRPr sz="1800">
              <a:latin typeface="Google Sans Flex"/>
              <a:ea typeface="Google Sans Flex"/>
              <a:cs typeface="Google Sans Flex"/>
              <a:sym typeface="Google Sans Flex"/>
            </a:endParaRPr>
          </a:p>
          <a:p>
            <a:pPr marL="0" lvl="0" indent="0" algn="l" rtl="0">
              <a:spcBef>
                <a:spcPts val="0"/>
              </a:spcBef>
              <a:spcAft>
                <a:spcPts val="0"/>
              </a:spcAft>
              <a:buNone/>
            </a:pPr>
            <a:endParaRPr sz="6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
        <p:nvSpPr>
          <p:cNvPr id="57" name="TextBox 56"/>
          <p:cNvSpPr txBox="1"/>
          <p:nvPr/>
        </p:nvSpPr>
        <p:spPr>
          <a:xfrm>
            <a:off x="6035040" y="2999232"/>
            <a:ext cx="2834640" cy="274320"/>
          </a:xfrm>
          <a:prstGeom prst="rect">
            <a:avLst/>
          </a:prstGeom>
          <a:noFill/>
        </p:spPr>
        <p:txBody>
          <a:bodyPr wrap="square" lIns="0" tIns="0" rIns="0" bIns="0" anchor="t">
            <a:noAutofit/>
          </a:bodyPr>
          <a:lstStyle/>
          <a:p>
            <a:pPr algn="l">
              <a:spcAft>
                <a:spcPts val="200"/>
              </a:spcAft>
            </a:pPr>
            <a:r>
              <a:rPr sz="1300" b="1" i="0">
                <a:solidFill>
                  <a:srgbClr val="202124"/>
                </a:solidFill>
                <a:latin typeface="Google Sans Flex"/>
                <a:ea typeface="Google Sans Flex"/>
                <a:cs typeface="Google Sans Flex"/>
              </a:rPr>
              <a:t>Property Inspection AI</a:t>
            </a:r>
          </a:p>
        </p:txBody>
      </p:sp>
      <p:sp>
        <p:nvSpPr>
          <p:cNvPr id="58" name="TextBox 57"/>
          <p:cNvSpPr txBox="1"/>
          <p:nvPr/>
        </p:nvSpPr>
        <p:spPr>
          <a:xfrm>
            <a:off x="6035040" y="3255264"/>
            <a:ext cx="2834640" cy="228600"/>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Phone video → underwriting-ready property risk file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From a 20-second phone video to an underwriting-ready property risk file</a:t>
            </a:r>
          </a:p>
        </p:txBody>
      </p:sp>
      <p:sp>
        <p:nvSpPr>
          <p:cNvPr id="73" name="TextBox 72"/>
          <p:cNvSpPr txBox="1"/>
          <p:nvPr/>
        </p:nvSpPr>
        <p:spPr>
          <a:xfrm>
            <a:off x="347472" y="1353312"/>
            <a:ext cx="5257800" cy="822960"/>
          </a:xfrm>
          <a:prstGeom prst="rect">
            <a:avLst/>
          </a:prstGeom>
          <a:noFill/>
        </p:spPr>
        <p:txBody>
          <a:bodyPr wrap="square" lIns="0" tIns="0" rIns="0" bIns="0" anchor="t">
            <a:noAutofit/>
          </a:bodyPr>
          <a:lstStyle/>
          <a:p>
            <a:pPr algn="l">
              <a:spcAft>
                <a:spcPts val="200"/>
              </a:spcAft>
            </a:pPr>
            <a:r>
              <a:rPr sz="850" b="1" i="0">
                <a:solidFill>
                  <a:srgbClr val="202124"/>
                </a:solidFill>
                <a:latin typeface="Google Sans Flex"/>
                <a:ea typeface="Google Sans Flex"/>
                <a:cs typeface="Google Sans Flex"/>
              </a:rPr>
              <a:t>Property Inspection AI </a:t>
            </a:r>
            <a:r>
              <a:rPr sz="850" b="0" i="0">
                <a:solidFill>
                  <a:srgbClr val="202124"/>
                </a:solidFill>
                <a:latin typeface="Google Sans Flex"/>
                <a:ea typeface="Google Sans Flex"/>
                <a:cs typeface="Google Sans Flex"/>
              </a:rPr>
              <a:t>is a Gen AI inspection service for mortgage lenders, insurers and inspectors. Upload a phone walkthrough video; in minutes it returns defects, condition grade A–E, perils, repair cost, valuation impact, premium loading, an underwriting decision with reasons, fraud flags </a:t>
            </a:r>
            <a:r>
              <a:rPr sz="850" b="1" i="0">
                <a:solidFill>
                  <a:srgbClr val="202124"/>
                </a:solidFill>
                <a:latin typeface="Google Sans Flex"/>
                <a:ea typeface="Google Sans Flex"/>
                <a:cs typeface="Google Sans Flex"/>
              </a:rPr>
              <a:t>and a 3D model that proves what was inspected.</a:t>
            </a:r>
          </a:p>
        </p:txBody>
      </p:sp>
      <p:sp>
        <p:nvSpPr>
          <p:cNvPr id="74" name="TextBox 73"/>
          <p:cNvSpPr txBox="1"/>
          <p:nvPr/>
        </p:nvSpPr>
        <p:spPr>
          <a:xfrm>
            <a:off x="347472" y="2194560"/>
            <a:ext cx="5257800" cy="164592"/>
          </a:xfrm>
          <a:prstGeom prst="rect">
            <a:avLst/>
          </a:prstGeom>
          <a:noFill/>
        </p:spPr>
        <p:txBody>
          <a:bodyPr wrap="square" lIns="0" tIns="0" rIns="0" bIns="0" anchor="t">
            <a:noAutofit/>
          </a:bodyPr>
          <a:lstStyle/>
          <a:p>
            <a:pPr algn="l">
              <a:spcAft>
                <a:spcPts val="200"/>
              </a:spcAft>
            </a:pPr>
            <a:r>
              <a:rPr sz="700" b="1" i="0">
                <a:solidFill>
                  <a:srgbClr val="D93025"/>
                </a:solidFill>
                <a:latin typeface="Google Sans Flex"/>
                <a:ea typeface="Google Sans Flex"/>
                <a:cs typeface="Google Sans Flex"/>
              </a:rPr>
              <a:t>THE PROBLEM: property risk is judged from photos nobody can verify</a:t>
            </a:r>
          </a:p>
        </p:txBody>
      </p:sp>
      <p:sp>
        <p:nvSpPr>
          <p:cNvPr id="75" name="Rounded Rectangle 74"/>
          <p:cNvSpPr/>
          <p:nvPr/>
        </p:nvSpPr>
        <p:spPr>
          <a:xfrm>
            <a:off x="347472"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Slow site visits</a:t>
            </a:r>
          </a:p>
          <a:p>
            <a:pPr algn="l">
              <a:spcAft>
                <a:spcPts val="200"/>
              </a:spcAft>
            </a:pPr>
            <a:r>
              <a:rPr sz="650" b="0" i="0">
                <a:solidFill>
                  <a:srgbClr val="202124"/>
                </a:solidFill>
                <a:latin typeface="Google Sans Flex"/>
                <a:ea typeface="Google Sans Flex"/>
                <a:cs typeface="Google Sans Flex"/>
              </a:rPr>
              <a:t>Days of waiting; remote cases go unchecked</a:t>
            </a:r>
          </a:p>
        </p:txBody>
      </p:sp>
      <p:sp>
        <p:nvSpPr>
          <p:cNvPr id="76" name="Rounded Rectangle 75"/>
          <p:cNvSpPr/>
          <p:nvPr/>
        </p:nvSpPr>
        <p:spPr>
          <a:xfrm>
            <a:off x="1408176"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Unverifiable photos</a:t>
            </a:r>
          </a:p>
          <a:p>
            <a:pPr algn="l">
              <a:spcAft>
                <a:spcPts val="200"/>
              </a:spcAft>
            </a:pPr>
            <a:r>
              <a:rPr sz="650" b="0" i="0">
                <a:solidFill>
                  <a:srgbClr val="202124"/>
                </a:solidFill>
                <a:latin typeface="Google Sans Flex"/>
                <a:ea typeface="Google Sans Flex"/>
                <a:cs typeface="Google Sans Flex"/>
              </a:rPr>
              <a:t>Reused, edited, off-screen or wrong property</a:t>
            </a:r>
          </a:p>
        </p:txBody>
      </p:sp>
      <p:sp>
        <p:nvSpPr>
          <p:cNvPr id="77" name="Rounded Rectangle 76"/>
          <p:cNvSpPr/>
          <p:nvPr/>
        </p:nvSpPr>
        <p:spPr>
          <a:xfrm>
            <a:off x="2468879"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No proof of coverage</a:t>
            </a:r>
          </a:p>
          <a:p>
            <a:pPr algn="l">
              <a:spcAft>
                <a:spcPts val="200"/>
              </a:spcAft>
            </a:pPr>
            <a:r>
              <a:rPr sz="650" b="0" i="0">
                <a:solidFill>
                  <a:srgbClr val="202124"/>
                </a:solidFill>
                <a:latin typeface="Google Sans Flex"/>
                <a:ea typeface="Google Sans Flex"/>
                <a:cs typeface="Google Sans Flex"/>
              </a:rPr>
              <a:t>Which walls did the inspection see?</a:t>
            </a:r>
          </a:p>
        </p:txBody>
      </p:sp>
      <p:sp>
        <p:nvSpPr>
          <p:cNvPr id="78" name="Rounded Rectangle 77"/>
          <p:cNvSpPr/>
          <p:nvPr/>
        </p:nvSpPr>
        <p:spPr>
          <a:xfrm>
            <a:off x="3529583"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Subjective grading</a:t>
            </a:r>
          </a:p>
          <a:p>
            <a:pPr algn="l">
              <a:spcAft>
                <a:spcPts val="200"/>
              </a:spcAft>
            </a:pPr>
            <a:r>
              <a:rPr sz="650" b="0" i="0">
                <a:solidFill>
                  <a:srgbClr val="202124"/>
                </a:solidFill>
                <a:latin typeface="Google Sans Flex"/>
                <a:ea typeface="Google Sans Flex"/>
                <a:cs typeface="Google Sans Flex"/>
              </a:rPr>
              <a:t>Inspectors disagree; reasons unrecorded</a:t>
            </a:r>
          </a:p>
        </p:txBody>
      </p:sp>
      <p:sp>
        <p:nvSpPr>
          <p:cNvPr id="79" name="Rounded Rectangle 78"/>
          <p:cNvSpPr/>
          <p:nvPr/>
        </p:nvSpPr>
        <p:spPr>
          <a:xfrm>
            <a:off x="4590288"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Overvaluation</a:t>
            </a:r>
          </a:p>
          <a:p>
            <a:pPr algn="l">
              <a:spcAft>
                <a:spcPts val="200"/>
              </a:spcAft>
            </a:pPr>
            <a:r>
              <a:rPr sz="650" b="0" i="0">
                <a:solidFill>
                  <a:srgbClr val="202124"/>
                </a:solidFill>
                <a:latin typeface="Google Sans Flex"/>
                <a:ea typeface="Google Sans Flex"/>
                <a:cs typeface="Google Sans Flex"/>
              </a:rPr>
              <a:t>RBI has flagged inflated collateral values</a:t>
            </a:r>
          </a:p>
        </p:txBody>
      </p:sp>
      <p:sp>
        <p:nvSpPr>
          <p:cNvPr id="80" name="TextBox 79"/>
          <p:cNvSpPr txBox="1"/>
          <p:nvPr/>
        </p:nvSpPr>
        <p:spPr>
          <a:xfrm>
            <a:off x="347472" y="3127248"/>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WHO IT SERVES: one inspection record, five BFSI decision-makers</a:t>
            </a:r>
          </a:p>
        </p:txBody>
      </p:sp>
      <p:sp>
        <p:nvSpPr>
          <p:cNvPr id="81" name="Rounded Rectangle 80"/>
          <p:cNvSpPr/>
          <p:nvPr/>
        </p:nvSpPr>
        <p:spPr>
          <a:xfrm>
            <a:off x="347472"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Lenders, HFCs, NBFCs</a:t>
            </a:r>
          </a:p>
          <a:p>
            <a:pPr algn="l">
              <a:spcAft>
                <a:spcPts val="200"/>
              </a:spcAft>
            </a:pPr>
            <a:r>
              <a:rPr sz="650" b="0" i="0">
                <a:solidFill>
                  <a:srgbClr val="202124"/>
                </a:solidFill>
                <a:latin typeface="Google Sans Flex"/>
                <a:ea typeface="Google Sans Flex"/>
                <a:cs typeface="Google Sans Flex"/>
              </a:rPr>
              <a:t>Collateral grade, valuation impact, REFER flag</a:t>
            </a:r>
          </a:p>
        </p:txBody>
      </p:sp>
      <p:sp>
        <p:nvSpPr>
          <p:cNvPr id="82" name="Rounded Rectangle 81"/>
          <p:cNvSpPr/>
          <p:nvPr/>
        </p:nvSpPr>
        <p:spPr>
          <a:xfrm>
            <a:off x="1408176"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Insurers: underwriting</a:t>
            </a:r>
          </a:p>
          <a:p>
            <a:pPr algn="l">
              <a:spcAft>
                <a:spcPts val="200"/>
              </a:spcAft>
            </a:pPr>
            <a:r>
              <a:rPr sz="650" b="0" i="0">
                <a:solidFill>
                  <a:srgbClr val="202124"/>
                </a:solidFill>
                <a:latin typeface="Google Sans Flex"/>
                <a:ea typeface="Google Sans Flex"/>
                <a:cs typeface="Google Sans Flex"/>
              </a:rPr>
              <a:t>Perils, risk level, premium loading</a:t>
            </a:r>
          </a:p>
        </p:txBody>
      </p:sp>
      <p:sp>
        <p:nvSpPr>
          <p:cNvPr id="83" name="Rounded Rectangle 82"/>
          <p:cNvSpPr/>
          <p:nvPr/>
        </p:nvSpPr>
        <p:spPr>
          <a:xfrm>
            <a:off x="2468879"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Insurers: claims</a:t>
            </a:r>
          </a:p>
          <a:p>
            <a:pPr algn="l">
              <a:spcAft>
                <a:spcPts val="200"/>
              </a:spcAft>
            </a:pPr>
            <a:r>
              <a:rPr sz="650" b="0" i="0">
                <a:solidFill>
                  <a:srgbClr val="202124"/>
                </a:solidFill>
                <a:latin typeface="Google Sans Flex"/>
                <a:ea typeface="Google Sans Flex"/>
                <a:cs typeface="Google Sans Flex"/>
              </a:rPr>
              <a:t>Repair-cost range, fraud-checked evidence</a:t>
            </a:r>
          </a:p>
        </p:txBody>
      </p:sp>
      <p:sp>
        <p:nvSpPr>
          <p:cNvPr id="84" name="Rounded Rectangle 83"/>
          <p:cNvSpPr/>
          <p:nvPr/>
        </p:nvSpPr>
        <p:spPr>
          <a:xfrm>
            <a:off x="3529583"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Inspectors &amp; valuers</a:t>
            </a:r>
          </a:p>
          <a:p>
            <a:pPr algn="l">
              <a:spcAft>
                <a:spcPts val="200"/>
              </a:spcAft>
            </a:pPr>
            <a:r>
              <a:rPr sz="650" b="0" i="0">
                <a:solidFill>
                  <a:srgbClr val="202124"/>
                </a:solidFill>
                <a:latin typeface="Google Sans Flex"/>
                <a:ea typeface="Google Sans Flex"/>
                <a:cs typeface="Google Sans Flex"/>
              </a:rPr>
              <a:t>AI-drafted report, re-film list</a:t>
            </a:r>
          </a:p>
        </p:txBody>
      </p:sp>
      <p:sp>
        <p:nvSpPr>
          <p:cNvPr id="85" name="Rounded Rectangle 84"/>
          <p:cNvSpPr/>
          <p:nvPr/>
        </p:nvSpPr>
        <p:spPr>
          <a:xfrm>
            <a:off x="4590288"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Owners &amp; buyers</a:t>
            </a:r>
          </a:p>
          <a:p>
            <a:pPr algn="l">
              <a:spcAft>
                <a:spcPts val="200"/>
              </a:spcAft>
            </a:pPr>
            <a:r>
              <a:rPr sz="650" b="0" i="0">
                <a:solidFill>
                  <a:srgbClr val="202124"/>
                </a:solidFill>
                <a:latin typeface="Google Sans Flex"/>
                <a:ea typeface="Google Sans Flex"/>
                <a:cs typeface="Google Sans Flex"/>
              </a:rPr>
              <a:t>Condition report, 3D model, floor plan</a:t>
            </a:r>
          </a:p>
        </p:txBody>
      </p:sp>
      <p:sp>
        <p:nvSpPr>
          <p:cNvPr id="86" name="Rounded Rectangle 85"/>
          <p:cNvSpPr/>
          <p:nvPr/>
        </p:nvSpPr>
        <p:spPr>
          <a:xfrm>
            <a:off x="347472"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38912"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$308.6B</a:t>
            </a:r>
          </a:p>
        </p:txBody>
      </p:sp>
      <p:sp>
        <p:nvSpPr>
          <p:cNvPr id="88" name="TextBox 87"/>
          <p:cNvSpPr txBox="1"/>
          <p:nvPr/>
        </p:nvSpPr>
        <p:spPr>
          <a:xfrm>
            <a:off x="438912"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yearly US insurance fraud, all lines (Coalition Against Insurance Fraud, 2022)</a:t>
            </a:r>
          </a:p>
        </p:txBody>
      </p:sp>
      <p:sp>
        <p:nvSpPr>
          <p:cNvPr id="89" name="Rounded Rectangle 88"/>
          <p:cNvSpPr/>
          <p:nvPr/>
        </p:nvSpPr>
        <p:spPr>
          <a:xfrm>
            <a:off x="2121408"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2212848"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~$45B</a:t>
            </a:r>
          </a:p>
        </p:txBody>
      </p:sp>
      <p:sp>
        <p:nvSpPr>
          <p:cNvPr id="91" name="TextBox 90"/>
          <p:cNvSpPr txBox="1"/>
          <p:nvPr/>
        </p:nvSpPr>
        <p:spPr>
          <a:xfrm>
            <a:off x="2212848"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of that in property &amp; casualty insurance (same study)</a:t>
            </a:r>
          </a:p>
        </p:txBody>
      </p:sp>
      <p:sp>
        <p:nvSpPr>
          <p:cNvPr id="92" name="Rounded Rectangle 91"/>
          <p:cNvSpPr/>
          <p:nvPr/>
        </p:nvSpPr>
        <p:spPr>
          <a:xfrm>
            <a:off x="3895344"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986783"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$4.5–12.5B</a:t>
            </a:r>
          </a:p>
        </p:txBody>
      </p:sp>
      <p:sp>
        <p:nvSpPr>
          <p:cNvPr id="94" name="TextBox 93"/>
          <p:cNvSpPr txBox="1"/>
          <p:nvPr/>
        </p:nvSpPr>
        <p:spPr>
          <a:xfrm>
            <a:off x="3986783"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global home-inspection services market, 2025 (industry reports)</a:t>
            </a:r>
          </a:p>
        </p:txBody>
      </p:sp>
      <p:pic>
        <p:nvPicPr>
          <p:cNvPr id="95" name="Picture 94" descr="s01_41.png"/>
          <p:cNvPicPr>
            <a:picLocks noChangeAspect="1"/>
          </p:cNvPicPr>
          <p:nvPr/>
        </p:nvPicPr>
        <p:blipFill>
          <a:blip r:embed="rId4"/>
          <a:stretch>
            <a:fillRect/>
          </a:stretch>
        </p:blipFill>
        <p:spPr>
          <a:xfrm>
            <a:off x="5760720" y="1325880"/>
            <a:ext cx="3035808" cy="3035808"/>
          </a:xfrm>
          <a:prstGeom prst="rect">
            <a:avLst/>
          </a:prstGeom>
        </p:spPr>
      </p:pic>
      <p:sp>
        <p:nvSpPr>
          <p:cNvPr id="96" name="TextBox 95"/>
          <p:cNvSpPr txBox="1"/>
          <p:nvPr/>
        </p:nvSpPr>
        <p:spPr>
          <a:xfrm>
            <a:off x="5760720" y="4389120"/>
            <a:ext cx="3035808" cy="502920"/>
          </a:xfrm>
          <a:prstGeom prst="rect">
            <a:avLst/>
          </a:prstGeom>
          <a:noFill/>
        </p:spPr>
        <p:txBody>
          <a:bodyPr wrap="square" lIns="0" tIns="0" rIns="0" bIns="0" anchor="t">
            <a:noAutofit/>
          </a:bodyPr>
          <a:lstStyle/>
          <a:p>
            <a:pPr algn="ctr">
              <a:spcAft>
                <a:spcPts val="200"/>
              </a:spcAft>
            </a:pPr>
            <a:r>
              <a:rPr sz="800" b="1" i="0">
                <a:solidFill>
                  <a:srgbClr val="1A73E8"/>
                </a:solidFill>
                <a:latin typeface="Google Sans Flex"/>
                <a:ea typeface="Google Sans Flex"/>
                <a:cs typeface="Google Sans Flex"/>
              </a:rPr>
              <a:t>Minutes, not days · Fraud-resistant · Explainable</a:t>
            </a:r>
          </a:p>
          <a:p>
            <a:pPr algn="ctr">
              <a:spcAft>
                <a:spcPts val="200"/>
              </a:spcAft>
            </a:pPr>
            <a:r>
              <a:rPr sz="700" b="0" i="1">
                <a:solidFill>
                  <a:srgbClr val="5F6368"/>
                </a:solidFill>
                <a:latin typeface="Google Sans Flex"/>
                <a:ea typeface="Google Sans Flex"/>
                <a:cs typeface="Google Sans Flex"/>
              </a:rPr>
              <a:t>Concept illustration of the product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How it is different, how it solves the problem, and our USP</a:t>
            </a:r>
          </a:p>
        </p:txBody>
      </p:sp>
      <p:sp>
        <p:nvSpPr>
          <p:cNvPr id="81" name="TextBox 80"/>
          <p:cNvSpPr txBox="1"/>
          <p:nvPr/>
        </p:nvSpPr>
        <p:spPr>
          <a:xfrm>
            <a:off x="347472" y="1325880"/>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HOW DIFFERENT IS IT FROM EXISTING IDEAS?</a:t>
            </a:r>
          </a:p>
        </p:txBody>
      </p:sp>
      <p:graphicFrame>
        <p:nvGraphicFramePr>
          <p:cNvPr id="82" name="Table 81"/>
          <p:cNvGraphicFramePr>
            <a:graphicFrameLocks noGrp="1"/>
          </p:cNvGraphicFramePr>
          <p:nvPr/>
        </p:nvGraphicFramePr>
        <p:xfrm>
          <a:off x="347472" y="1508760"/>
          <a:ext cx="5257800" cy="1728216"/>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246888">
                <a:tc>
                  <a:txBody>
                    <a:bodyPr/>
                    <a:lstStyle/>
                    <a:p>
                      <a:pPr algn="l">
                        <a:spcAft>
                          <a:spcPts val="200"/>
                        </a:spcAft>
                      </a:pPr>
                      <a:endParaRP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Site visit / photo-only AI tools</a:t>
                      </a: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Property Inspection AI</a:t>
                      </a:r>
                    </a:p>
                  </a:txBody>
                  <a:tcPr marL="45720" marR="45720" marT="18288" marB="18288" anchor="ctr">
                    <a:solidFill>
                      <a:srgbClr val="1A73E8"/>
                    </a:solidFill>
                  </a:tcPr>
                </a:tc>
                <a:extLst>
                  <a:ext uri="{0D108BD9-81ED-4DB2-BD59-A6C34878D82A}">
                    <a16:rowId xmlns:a16="http://schemas.microsoft.com/office/drawing/2014/main" val="10000"/>
                  </a:ext>
                </a:extLst>
              </a:tr>
              <a:tr h="246888">
                <a:tc>
                  <a:txBody>
                    <a:bodyPr/>
                    <a:lstStyle/>
                    <a:p>
                      <a:pPr algn="l">
                        <a:spcAft>
                          <a:spcPts val="200"/>
                        </a:spcAft>
                      </a:pPr>
                      <a:r>
                        <a:rPr sz="700" b="1" i="0">
                          <a:solidFill>
                            <a:srgbClr val="202124"/>
                          </a:solidFill>
                          <a:latin typeface="Google Sans Flex"/>
                          <a:ea typeface="Google Sans Flex"/>
                          <a:cs typeface="Google Sans Flex"/>
                        </a:rPr>
                        <a:t>Turnaround</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Days (visit) / minutes (tools)</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Minutes; ~10 min per 20 s video</a:t>
                      </a:r>
                    </a:p>
                  </a:txBody>
                  <a:tcPr marL="45720" marR="45720" marT="18288" marB="18288" anchor="ctr">
                    <a:solidFill>
                      <a:srgbClr val="E8F0FE"/>
                    </a:solidFill>
                  </a:tcPr>
                </a:tc>
                <a:extLst>
                  <a:ext uri="{0D108BD9-81ED-4DB2-BD59-A6C34878D82A}">
                    <a16:rowId xmlns:a16="http://schemas.microsoft.com/office/drawing/2014/main" val="10001"/>
                  </a:ext>
                </a:extLst>
              </a:tr>
              <a:tr h="246888">
                <a:tc>
                  <a:txBody>
                    <a:bodyPr/>
                    <a:lstStyle/>
                    <a:p>
                      <a:pPr algn="l">
                        <a:spcAft>
                          <a:spcPts val="200"/>
                        </a:spcAft>
                      </a:pPr>
                      <a:r>
                        <a:rPr sz="700" b="1" i="0">
                          <a:solidFill>
                            <a:srgbClr val="202124"/>
                          </a:solidFill>
                          <a:latin typeface="Google Sans Flex"/>
                          <a:ea typeface="Google Sans Flex"/>
                          <a:cs typeface="Google Sans Flex"/>
                        </a:rPr>
                        <a:t>Proof of what was inspected</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Inspector's word / none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10 cm coverage map + 3D-pinned findings</a:t>
                      </a:r>
                    </a:p>
                  </a:txBody>
                  <a:tcPr marL="45720" marR="45720" marT="18288" marB="18288" anchor="ctr">
                    <a:solidFill>
                      <a:srgbClr val="E8F0FE"/>
                    </a:solidFill>
                  </a:tcPr>
                </a:tc>
                <a:extLst>
                  <a:ext uri="{0D108BD9-81ED-4DB2-BD59-A6C34878D82A}">
                    <a16:rowId xmlns:a16="http://schemas.microsoft.com/office/drawing/2014/main" val="10002"/>
                  </a:ext>
                </a:extLst>
              </a:tr>
              <a:tr h="246888">
                <a:tc>
                  <a:txBody>
                    <a:bodyPr/>
                    <a:lstStyle/>
                    <a:p>
                      <a:pPr algn="l">
                        <a:spcAft>
                          <a:spcPts val="200"/>
                        </a:spcAft>
                      </a:pPr>
                      <a:r>
                        <a:rPr sz="700" b="1" i="0">
                          <a:solidFill>
                            <a:srgbClr val="202124"/>
                          </a:solidFill>
                          <a:latin typeface="Google Sans Flex"/>
                          <a:ea typeface="Google Sans Flex"/>
                          <a:cs typeface="Google Sans Flex"/>
                        </a:rPr>
                        <a:t>Evidence fraud checks</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None / limited</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Keyframe dHash reuse, Gemini screen / AI check</a:t>
                      </a:r>
                    </a:p>
                  </a:txBody>
                  <a:tcPr marL="45720" marR="45720" marT="18288" marB="18288" anchor="ctr">
                    <a:solidFill>
                      <a:srgbClr val="E8F0FE"/>
                    </a:solidFill>
                  </a:tcPr>
                </a:tc>
                <a:extLst>
                  <a:ext uri="{0D108BD9-81ED-4DB2-BD59-A6C34878D82A}">
                    <a16:rowId xmlns:a16="http://schemas.microsoft.com/office/drawing/2014/main" val="10003"/>
                  </a:ext>
                </a:extLst>
              </a:tr>
              <a:tr h="246888">
                <a:tc>
                  <a:txBody>
                    <a:bodyPr/>
                    <a:lstStyle/>
                    <a:p>
                      <a:pPr algn="l">
                        <a:spcAft>
                          <a:spcPts val="200"/>
                        </a:spcAft>
                      </a:pPr>
                      <a:r>
                        <a:rPr sz="700" b="1" i="0">
                          <a:solidFill>
                            <a:srgbClr val="202124"/>
                          </a:solidFill>
                          <a:latin typeface="Google Sans Flex"/>
                          <a:ea typeface="Google Sans Flex"/>
                          <a:cs typeface="Google Sans Flex"/>
                        </a:rPr>
                        <a:t>How the decision is made</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Subjective / black-box score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Transparent YAML rules; Gemini explains</a:t>
                      </a:r>
                    </a:p>
                  </a:txBody>
                  <a:tcPr marL="45720" marR="45720" marT="18288" marB="18288" anchor="ctr">
                    <a:solidFill>
                      <a:srgbClr val="E8F0FE"/>
                    </a:solidFill>
                  </a:tcPr>
                </a:tc>
                <a:extLst>
                  <a:ext uri="{0D108BD9-81ED-4DB2-BD59-A6C34878D82A}">
                    <a16:rowId xmlns:a16="http://schemas.microsoft.com/office/drawing/2014/main" val="10004"/>
                  </a:ext>
                </a:extLst>
              </a:tr>
              <a:tr h="246888">
                <a:tc>
                  <a:txBody>
                    <a:bodyPr/>
                    <a:lstStyle/>
                    <a:p>
                      <a:pPr algn="l">
                        <a:spcAft>
                          <a:spcPts val="200"/>
                        </a:spcAft>
                      </a:pPr>
                      <a:r>
                        <a:rPr sz="700" b="1" i="0">
                          <a:solidFill>
                            <a:srgbClr val="202124"/>
                          </a:solidFill>
                          <a:latin typeface="Google Sans Flex"/>
                          <a:ea typeface="Google Sans Flex"/>
                          <a:cs typeface="Google Sans Flex"/>
                        </a:rPr>
                        <a:t>False-positive control</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Human / single model</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Find (LocateAnything) → verify (Gemma 4) → rules</a:t>
                      </a:r>
                    </a:p>
                  </a:txBody>
                  <a:tcPr marL="45720" marR="45720" marT="18288" marB="18288" anchor="ctr">
                    <a:solidFill>
                      <a:srgbClr val="E8F0FE"/>
                    </a:solidFill>
                  </a:tcPr>
                </a:tc>
                <a:extLst>
                  <a:ext uri="{0D108BD9-81ED-4DB2-BD59-A6C34878D82A}">
                    <a16:rowId xmlns:a16="http://schemas.microsoft.com/office/drawing/2014/main" val="10005"/>
                  </a:ext>
                </a:extLst>
              </a:tr>
              <a:tr h="246888">
                <a:tc>
                  <a:txBody>
                    <a:bodyPr/>
                    <a:lstStyle/>
                    <a:p>
                      <a:pPr algn="l">
                        <a:spcAft>
                          <a:spcPts val="200"/>
                        </a:spcAft>
                      </a:pPr>
                      <a:r>
                        <a:rPr sz="700" b="1" i="0">
                          <a:solidFill>
                            <a:srgbClr val="202124"/>
                          </a:solidFill>
                          <a:latin typeface="Google Sans Flex"/>
                          <a:ea typeface="Google Sans Flex"/>
                          <a:cs typeface="Google Sans Flex"/>
                        </a:rPr>
                        <a:t>BFSI outputs &amp; integration</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Report or damage list, PDF</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Grade, perils, cost, valuation, premium; BigQuery + Pub/Sub</a:t>
                      </a:r>
                    </a:p>
                  </a:txBody>
                  <a:tcPr marL="45720" marR="45720" marT="18288" marB="18288" anchor="ctr">
                    <a:solidFill>
                      <a:srgbClr val="E8F0FE"/>
                    </a:solidFill>
                  </a:tcPr>
                </a:tc>
                <a:extLst>
                  <a:ext uri="{0D108BD9-81ED-4DB2-BD59-A6C34878D82A}">
                    <a16:rowId xmlns:a16="http://schemas.microsoft.com/office/drawing/2014/main" val="10006"/>
                  </a:ext>
                </a:extLst>
              </a:tr>
            </a:tbl>
          </a:graphicData>
        </a:graphic>
      </p:graphicFrame>
      <p:sp>
        <p:nvSpPr>
          <p:cNvPr id="83" name="TextBox 82"/>
          <p:cNvSpPr txBox="1"/>
          <p:nvPr/>
        </p:nvSpPr>
        <p:spPr>
          <a:xfrm>
            <a:off x="347472" y="3401568"/>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HOW WILL IT SOLVE THE PROBLEM?</a:t>
            </a:r>
          </a:p>
        </p:txBody>
      </p:sp>
      <p:sp>
        <p:nvSpPr>
          <p:cNvPr id="84" name="Rounded Rectangle 83"/>
          <p:cNvSpPr/>
          <p:nvPr/>
        </p:nvSpPr>
        <p:spPr>
          <a:xfrm>
            <a:off x="347472" y="3584448"/>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Slow site visits</a:t>
            </a:r>
          </a:p>
        </p:txBody>
      </p:sp>
      <p:cxnSp>
        <p:nvCxnSpPr>
          <p:cNvPr id="85" name="Connector 84"/>
          <p:cNvCxnSpPr/>
          <p:nvPr/>
        </p:nvCxnSpPr>
        <p:spPr>
          <a:xfrm>
            <a:off x="1700784" y="3698748"/>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901952" y="3584448"/>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full risk file in minutes; low-risk homes clear without a visit</a:t>
            </a:r>
          </a:p>
        </p:txBody>
      </p:sp>
      <p:sp>
        <p:nvSpPr>
          <p:cNvPr id="87" name="Rounded Rectangle 86"/>
          <p:cNvSpPr/>
          <p:nvPr/>
        </p:nvSpPr>
        <p:spPr>
          <a:xfrm>
            <a:off x="347472" y="3849624"/>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Unverifiable photos</a:t>
            </a:r>
          </a:p>
        </p:txBody>
      </p:sp>
      <p:cxnSp>
        <p:nvCxnSpPr>
          <p:cNvPr id="88" name="Connector 87"/>
          <p:cNvCxnSpPr/>
          <p:nvPr/>
        </p:nvCxnSpPr>
        <p:spPr>
          <a:xfrm>
            <a:off x="1700784" y="3963924"/>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901952" y="3849624"/>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every walkthrough fraud-checked; any HIGH flag → REFER</a:t>
            </a:r>
          </a:p>
        </p:txBody>
      </p:sp>
      <p:sp>
        <p:nvSpPr>
          <p:cNvPr id="90" name="Rounded Rectangle 89"/>
          <p:cNvSpPr/>
          <p:nvPr/>
        </p:nvSpPr>
        <p:spPr>
          <a:xfrm>
            <a:off x="347472" y="4114800"/>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No proof of coverage</a:t>
            </a:r>
          </a:p>
        </p:txBody>
      </p:sp>
      <p:cxnSp>
        <p:nvCxnSpPr>
          <p:cNvPr id="91" name="Connector 90"/>
          <p:cNvCxnSpPr/>
          <p:nvPr/>
        </p:nvCxnSpPr>
        <p:spPr>
          <a:xfrm>
            <a:off x="1700784" y="4229100"/>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1901952" y="4114800"/>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&lt; 60% AI-inspected surface → REFER with a re-film list</a:t>
            </a:r>
          </a:p>
        </p:txBody>
      </p:sp>
      <p:sp>
        <p:nvSpPr>
          <p:cNvPr id="93" name="Rounded Rectangle 92"/>
          <p:cNvSpPr/>
          <p:nvPr/>
        </p:nvSpPr>
        <p:spPr>
          <a:xfrm>
            <a:off x="347472" y="4379976"/>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Subjective grading</a:t>
            </a:r>
          </a:p>
        </p:txBody>
      </p:sp>
      <p:cxnSp>
        <p:nvCxnSpPr>
          <p:cNvPr id="94" name="Connector 93"/>
          <p:cNvCxnSpPr/>
          <p:nvPr/>
        </p:nvCxnSpPr>
        <p:spPr>
          <a:xfrm>
            <a:off x="1700784" y="4494276"/>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1901952" y="4379976"/>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score = 100 − Σ(points × severity × state weight)</a:t>
            </a:r>
          </a:p>
        </p:txBody>
      </p:sp>
      <p:sp>
        <p:nvSpPr>
          <p:cNvPr id="96" name="Rounded Rectangle 95"/>
          <p:cNvSpPr/>
          <p:nvPr/>
        </p:nvSpPr>
        <p:spPr>
          <a:xfrm>
            <a:off x="347472" y="4645152"/>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Overvaluation</a:t>
            </a:r>
          </a:p>
        </p:txBody>
      </p:sp>
      <p:cxnSp>
        <p:nvCxnSpPr>
          <p:cNvPr id="97" name="Connector 96"/>
          <p:cNvCxnSpPr/>
          <p:nvPr/>
        </p:nvCxnSpPr>
        <p:spPr>
          <a:xfrm>
            <a:off x="1700784" y="4759452"/>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1901952" y="4645152"/>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valuation-impact %, repair retention, REFER before disbursal</a:t>
            </a:r>
          </a:p>
        </p:txBody>
      </p:sp>
      <p:sp>
        <p:nvSpPr>
          <p:cNvPr id="99" name="Rounded Rectangle 98"/>
          <p:cNvSpPr/>
          <p:nvPr/>
        </p:nvSpPr>
        <p:spPr>
          <a:xfrm>
            <a:off x="5806440" y="1325880"/>
            <a:ext cx="2990088" cy="3566160"/>
          </a:xfrm>
          <a:prstGeom prst="roundRect">
            <a:avLst>
              <a:gd name="adj" fmla="val 3058"/>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5961888" y="1444752"/>
            <a:ext cx="2697480" cy="228600"/>
          </a:xfrm>
          <a:prstGeom prst="rect">
            <a:avLst/>
          </a:prstGeom>
          <a:noFill/>
        </p:spPr>
        <p:txBody>
          <a:bodyPr wrap="square" lIns="0" tIns="0" rIns="0" bIns="0" anchor="t">
            <a:noAutofit/>
          </a:bodyPr>
          <a:lstStyle/>
          <a:p>
            <a:pPr algn="l">
              <a:spcAft>
                <a:spcPts val="200"/>
              </a:spcAft>
            </a:pPr>
            <a:r>
              <a:rPr sz="1100" b="1" i="0">
                <a:solidFill>
                  <a:srgbClr val="FFFFFF"/>
                </a:solidFill>
                <a:latin typeface="Google Sans Flex"/>
                <a:ea typeface="Google Sans Flex"/>
                <a:cs typeface="Google Sans Flex"/>
              </a:rPr>
              <a:t>USP of the proposed solution</a:t>
            </a:r>
          </a:p>
        </p:txBody>
      </p:sp>
      <p:sp>
        <p:nvSpPr>
          <p:cNvPr id="101" name="TextBox 100"/>
          <p:cNvSpPr txBox="1"/>
          <p:nvPr/>
        </p:nvSpPr>
        <p:spPr>
          <a:xfrm>
            <a:off x="5961888" y="1755648"/>
            <a:ext cx="2697480" cy="3063240"/>
          </a:xfrm>
          <a:prstGeom prst="rect">
            <a:avLst/>
          </a:prstGeom>
          <a:noFill/>
        </p:spPr>
        <p:txBody>
          <a:bodyPr wrap="square" lIns="0" tIns="0" rIns="0" bIns="0" anchor="t">
            <a:noAutofit/>
          </a:bodyPr>
          <a:lstStyle/>
          <a:p>
            <a:pPr algn="l">
              <a:spcAft>
                <a:spcPts val="600"/>
              </a:spcAft>
            </a:pPr>
            <a:r>
              <a:rPr sz="850" b="1" i="0">
                <a:solidFill>
                  <a:srgbClr val="8AB4F8"/>
                </a:solidFill>
                <a:latin typeface="Google Sans Flex"/>
                <a:ea typeface="Google Sans Flex"/>
                <a:cs typeface="Google Sans Flex"/>
              </a:rPr>
              <a:t>Proof of inspection.</a:t>
            </a:r>
            <a:r>
              <a:rPr sz="850" b="0" i="0">
                <a:solidFill>
                  <a:srgbClr val="FFFFFF"/>
                </a:solidFill>
                <a:latin typeface="Google Sans Flex"/>
                <a:ea typeface="Google Sans Flex"/>
                <a:cs typeface="Google Sans Flex"/>
              </a:rPr>
              <a:t> A 10 cm coverage map and 3D-pinned findings show exactly what the AI saw, and what to film again.</a:t>
            </a:r>
          </a:p>
          <a:p>
            <a:pPr algn="l">
              <a:spcAft>
                <a:spcPts val="600"/>
              </a:spcAft>
            </a:pPr>
            <a:r>
              <a:rPr sz="850" b="1" i="0">
                <a:solidFill>
                  <a:srgbClr val="8AB4F8"/>
                </a:solidFill>
                <a:latin typeface="Google Sans Flex"/>
                <a:ea typeface="Google Sans Flex"/>
                <a:cs typeface="Google Sans Flex"/>
              </a:rPr>
              <a:t>Find → verify → decide.</a:t>
            </a:r>
            <a:r>
              <a:rPr sz="850" b="0" i="0">
                <a:solidFill>
                  <a:srgbClr val="FFFFFF"/>
                </a:solidFill>
                <a:latin typeface="Google Sans Flex"/>
                <a:ea typeface="Google Sans Flex"/>
                <a:cs typeface="Google Sans Flex"/>
              </a:rPr>
              <a:t> Two models cut false positives; deterministic rules make every decision auditable.</a:t>
            </a:r>
          </a:p>
          <a:p>
            <a:pPr algn="l">
              <a:spcAft>
                <a:spcPts val="600"/>
              </a:spcAft>
            </a:pPr>
            <a:r>
              <a:rPr sz="850" b="1" i="0">
                <a:solidFill>
                  <a:srgbClr val="8AB4F8"/>
                </a:solidFill>
                <a:latin typeface="Google Sans Flex"/>
                <a:ea typeface="Google Sans Flex"/>
                <a:cs typeface="Google Sans Flex"/>
              </a:rPr>
              <a:t>Fraud-resistant evidence.</a:t>
            </a:r>
            <a:r>
              <a:rPr sz="850" b="0" i="0">
                <a:solidFill>
                  <a:srgbClr val="FFFFFF"/>
                </a:solidFill>
                <a:latin typeface="Google Sans Flex"/>
                <a:ea typeface="Google Sans Flex"/>
                <a:cs typeface="Google Sans Flex"/>
              </a:rPr>
              <a:t> Recycled videos, screen recordings and AI footage are flagged before a decision.</a:t>
            </a:r>
          </a:p>
          <a:p>
            <a:pPr algn="l">
              <a:spcAft>
                <a:spcPts val="600"/>
              </a:spcAft>
            </a:pPr>
            <a:r>
              <a:rPr sz="850" b="1" i="0">
                <a:solidFill>
                  <a:srgbClr val="8AB4F8"/>
                </a:solidFill>
                <a:latin typeface="Google Sans Flex"/>
                <a:ea typeface="Google Sans Flex"/>
                <a:cs typeface="Google Sans Flex"/>
              </a:rPr>
              <a:t>One record, five teams.</a:t>
            </a:r>
            <a:r>
              <a:rPr sz="850" b="0" i="0">
                <a:solidFill>
                  <a:srgbClr val="FFFFFF"/>
                </a:solidFill>
                <a:latin typeface="Google Sans Flex"/>
                <a:ea typeface="Google Sans Flex"/>
                <a:cs typeface="Google Sans Flex"/>
              </a:rPr>
              <a:t> Lending, underwriting, claims, inspectors and owners share one BigQuery / Pub/Sub record.</a:t>
            </a:r>
          </a:p>
          <a:p>
            <a:pPr algn="l">
              <a:spcAft>
                <a:spcPts val="600"/>
              </a:spcAft>
            </a:pPr>
            <a:r>
              <a:rPr sz="850" b="1" i="0">
                <a:solidFill>
                  <a:srgbClr val="8AB4F8"/>
                </a:solidFill>
                <a:latin typeface="Google Sans Flex"/>
                <a:ea typeface="Google Sans Flex"/>
                <a:cs typeface="Google Sans Flex"/>
              </a:rPr>
              <a:t>About $1 per video.</a:t>
            </a:r>
            <a:r>
              <a:rPr sz="850" b="0" i="0">
                <a:solidFill>
                  <a:srgbClr val="FFFFFF"/>
                </a:solidFill>
                <a:latin typeface="Google Sans Flex"/>
                <a:ea typeface="Google Sans Flex"/>
                <a:cs typeface="Google Sans Flex"/>
              </a:rPr>
              <a:t> ≈ $0.35 of Gemini per walkthrough; one-command Cloud Run deploy that scales to zero.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One upload gives a complete, explainable risk file</a:t>
            </a:r>
          </a:p>
        </p:txBody>
      </p:sp>
      <p:sp>
        <p:nvSpPr>
          <p:cNvPr id="89" name="Rounded Rectangle 88"/>
          <p:cNvSpPr/>
          <p:nvPr/>
        </p:nvSpPr>
        <p:spPr>
          <a:xfrm>
            <a:off x="347472" y="1353312"/>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Oval 89"/>
          <p:cNvSpPr/>
          <p:nvPr/>
        </p:nvSpPr>
        <p:spPr>
          <a:xfrm>
            <a:off x="42062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a:t>
            </a:r>
          </a:p>
        </p:txBody>
      </p:sp>
      <p:sp>
        <p:nvSpPr>
          <p:cNvPr id="91" name="TextBox 90"/>
          <p:cNvSpPr txBox="1"/>
          <p:nvPr/>
        </p:nvSpPr>
        <p:spPr>
          <a:xfrm>
            <a:off x="694944" y="1426464"/>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Defects localised &amp; verified</a:t>
            </a:r>
          </a:p>
        </p:txBody>
      </p:sp>
      <p:sp>
        <p:nvSpPr>
          <p:cNvPr id="92" name="TextBox 91"/>
          <p:cNvSpPr txBox="1"/>
          <p:nvPr/>
        </p:nvSpPr>
        <p:spPr>
          <a:xfrm>
            <a:off x="694944" y="1682495"/>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18 defect types on 12 components</a:t>
            </a:r>
          </a:p>
        </p:txBody>
      </p:sp>
      <p:sp>
        <p:nvSpPr>
          <p:cNvPr id="93" name="Rounded Rectangle 92"/>
          <p:cNvSpPr/>
          <p:nvPr/>
        </p:nvSpPr>
        <p:spPr>
          <a:xfrm>
            <a:off x="2450591" y="1353312"/>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Oval 93"/>
          <p:cNvSpPr/>
          <p:nvPr/>
        </p:nvSpPr>
        <p:spPr>
          <a:xfrm>
            <a:off x="252374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2</a:t>
            </a:r>
          </a:p>
        </p:txBody>
      </p:sp>
      <p:sp>
        <p:nvSpPr>
          <p:cNvPr id="95" name="TextBox 94"/>
          <p:cNvSpPr txBox="1"/>
          <p:nvPr/>
        </p:nvSpPr>
        <p:spPr>
          <a:xfrm>
            <a:off x="2798063" y="1426464"/>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Condition grade A–E</a:t>
            </a:r>
          </a:p>
        </p:txBody>
      </p:sp>
      <p:sp>
        <p:nvSpPr>
          <p:cNvPr id="96" name="TextBox 95"/>
          <p:cNvSpPr txBox="1"/>
          <p:nvPr/>
        </p:nvSpPr>
        <p:spPr>
          <a:xfrm>
            <a:off x="2798063" y="1682495"/>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0–100 score, transparent formula</a:t>
            </a:r>
          </a:p>
        </p:txBody>
      </p:sp>
      <p:sp>
        <p:nvSpPr>
          <p:cNvPr id="97" name="Rounded Rectangle 96"/>
          <p:cNvSpPr/>
          <p:nvPr/>
        </p:nvSpPr>
        <p:spPr>
          <a:xfrm>
            <a:off x="347472" y="2066543"/>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Oval 97"/>
          <p:cNvSpPr/>
          <p:nvPr/>
        </p:nvSpPr>
        <p:spPr>
          <a:xfrm>
            <a:off x="420624" y="213969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3</a:t>
            </a:r>
          </a:p>
        </p:txBody>
      </p:sp>
      <p:sp>
        <p:nvSpPr>
          <p:cNvPr id="99" name="TextBox 98"/>
          <p:cNvSpPr txBox="1"/>
          <p:nvPr/>
        </p:nvSpPr>
        <p:spPr>
          <a:xfrm>
            <a:off x="694944" y="2139696"/>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Risk level &amp; insurance perils</a:t>
            </a:r>
          </a:p>
        </p:txBody>
      </p:sp>
      <p:sp>
        <p:nvSpPr>
          <p:cNvPr id="100" name="TextBox 99"/>
          <p:cNvSpPr txBox="1"/>
          <p:nvPr/>
        </p:nvSpPr>
        <p:spPr>
          <a:xfrm>
            <a:off x="694944" y="2395727"/>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Water, structural, moisture…</a:t>
            </a:r>
          </a:p>
        </p:txBody>
      </p:sp>
      <p:sp>
        <p:nvSpPr>
          <p:cNvPr id="101" name="Rounded Rectangle 100"/>
          <p:cNvSpPr/>
          <p:nvPr/>
        </p:nvSpPr>
        <p:spPr>
          <a:xfrm>
            <a:off x="2450591" y="2066543"/>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Oval 101"/>
          <p:cNvSpPr/>
          <p:nvPr/>
        </p:nvSpPr>
        <p:spPr>
          <a:xfrm>
            <a:off x="2523744" y="213969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4</a:t>
            </a:r>
          </a:p>
        </p:txBody>
      </p:sp>
      <p:sp>
        <p:nvSpPr>
          <p:cNvPr id="103" name="TextBox 102"/>
          <p:cNvSpPr txBox="1"/>
          <p:nvPr/>
        </p:nvSpPr>
        <p:spPr>
          <a:xfrm>
            <a:off x="2798063" y="2139696"/>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Indicative repair-cost range</a:t>
            </a:r>
          </a:p>
        </p:txBody>
      </p:sp>
      <p:sp>
        <p:nvSpPr>
          <p:cNvPr id="104" name="TextBox 103"/>
          <p:cNvSpPr txBox="1"/>
          <p:nvPr/>
        </p:nvSpPr>
        <p:spPr>
          <a:xfrm>
            <a:off x="2798063" y="2395727"/>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Per finding and per property</a:t>
            </a:r>
          </a:p>
        </p:txBody>
      </p:sp>
      <p:sp>
        <p:nvSpPr>
          <p:cNvPr id="105" name="Rounded Rectangle 104"/>
          <p:cNvSpPr/>
          <p:nvPr/>
        </p:nvSpPr>
        <p:spPr>
          <a:xfrm>
            <a:off x="347472" y="2779776"/>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Oval 105"/>
          <p:cNvSpPr/>
          <p:nvPr/>
        </p:nvSpPr>
        <p:spPr>
          <a:xfrm>
            <a:off x="420624" y="285292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5</a:t>
            </a:r>
          </a:p>
        </p:txBody>
      </p:sp>
      <p:sp>
        <p:nvSpPr>
          <p:cNvPr id="107" name="TextBox 106"/>
          <p:cNvSpPr txBox="1"/>
          <p:nvPr/>
        </p:nvSpPr>
        <p:spPr>
          <a:xfrm>
            <a:off x="694944" y="2852928"/>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Valuation &amp; collateral impact</a:t>
            </a:r>
          </a:p>
        </p:txBody>
      </p:sp>
      <p:sp>
        <p:nvSpPr>
          <p:cNvPr id="108" name="TextBox 107"/>
          <p:cNvSpPr txBox="1"/>
          <p:nvPr/>
        </p:nvSpPr>
        <p:spPr>
          <a:xfrm>
            <a:off x="694944" y="3108960"/>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Impact % and repair retention</a:t>
            </a:r>
          </a:p>
        </p:txBody>
      </p:sp>
      <p:sp>
        <p:nvSpPr>
          <p:cNvPr id="109" name="Rounded Rectangle 108"/>
          <p:cNvSpPr/>
          <p:nvPr/>
        </p:nvSpPr>
        <p:spPr>
          <a:xfrm>
            <a:off x="2450591" y="2779776"/>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Oval 109"/>
          <p:cNvSpPr/>
          <p:nvPr/>
        </p:nvSpPr>
        <p:spPr>
          <a:xfrm>
            <a:off x="2523744" y="285292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6</a:t>
            </a:r>
          </a:p>
        </p:txBody>
      </p:sp>
      <p:sp>
        <p:nvSpPr>
          <p:cNvPr id="111" name="TextBox 110"/>
          <p:cNvSpPr txBox="1"/>
          <p:nvPr/>
        </p:nvSpPr>
        <p:spPr>
          <a:xfrm>
            <a:off x="2798063" y="2852928"/>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Premium-loading suggestion</a:t>
            </a:r>
          </a:p>
        </p:txBody>
      </p:sp>
      <p:sp>
        <p:nvSpPr>
          <p:cNvPr id="112" name="TextBox 111"/>
          <p:cNvSpPr txBox="1"/>
          <p:nvPr/>
        </p:nvSpPr>
        <p:spPr>
          <a:xfrm>
            <a:off x="2798063" y="3108960"/>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For quote and renewal</a:t>
            </a:r>
          </a:p>
        </p:txBody>
      </p:sp>
      <p:sp>
        <p:nvSpPr>
          <p:cNvPr id="113" name="Rounded Rectangle 112"/>
          <p:cNvSpPr/>
          <p:nvPr/>
        </p:nvSpPr>
        <p:spPr>
          <a:xfrm>
            <a:off x="347472" y="3493008"/>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Oval 113"/>
          <p:cNvSpPr/>
          <p:nvPr/>
        </p:nvSpPr>
        <p:spPr>
          <a:xfrm>
            <a:off x="42062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7</a:t>
            </a:r>
          </a:p>
        </p:txBody>
      </p:sp>
      <p:sp>
        <p:nvSpPr>
          <p:cNvPr id="115" name="TextBox 114"/>
          <p:cNvSpPr txBox="1"/>
          <p:nvPr/>
        </p:nvSpPr>
        <p:spPr>
          <a:xfrm>
            <a:off x="694944" y="3566160"/>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Underwriting decision + reasons</a:t>
            </a:r>
          </a:p>
        </p:txBody>
      </p:sp>
      <p:sp>
        <p:nvSpPr>
          <p:cNvPr id="116" name="TextBox 115"/>
          <p:cNvSpPr txBox="1"/>
          <p:nvPr/>
        </p:nvSpPr>
        <p:spPr>
          <a:xfrm>
            <a:off x="694944" y="3822191"/>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PROCEED / CONDITIONS / REFER</a:t>
            </a:r>
          </a:p>
        </p:txBody>
      </p:sp>
      <p:sp>
        <p:nvSpPr>
          <p:cNvPr id="117" name="Rounded Rectangle 116"/>
          <p:cNvSpPr/>
          <p:nvPr/>
        </p:nvSpPr>
        <p:spPr>
          <a:xfrm>
            <a:off x="2450591" y="3493008"/>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Oval 117"/>
          <p:cNvSpPr/>
          <p:nvPr/>
        </p:nvSpPr>
        <p:spPr>
          <a:xfrm>
            <a:off x="252374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8</a:t>
            </a:r>
          </a:p>
        </p:txBody>
      </p:sp>
      <p:sp>
        <p:nvSpPr>
          <p:cNvPr id="119" name="TextBox 118"/>
          <p:cNvSpPr txBox="1"/>
          <p:nvPr/>
        </p:nvSpPr>
        <p:spPr>
          <a:xfrm>
            <a:off x="2798063" y="3566160"/>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Evidence-integrity flags</a:t>
            </a:r>
          </a:p>
        </p:txBody>
      </p:sp>
      <p:sp>
        <p:nvSpPr>
          <p:cNvPr id="120" name="TextBox 119"/>
          <p:cNvSpPr txBox="1"/>
          <p:nvPr/>
        </p:nvSpPr>
        <p:spPr>
          <a:xfrm>
            <a:off x="2798063" y="3822191"/>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Recycled video, screens, AI footage</a:t>
            </a:r>
          </a:p>
        </p:txBody>
      </p:sp>
      <p:sp>
        <p:nvSpPr>
          <p:cNvPr id="121" name="Rounded Rectangle 120"/>
          <p:cNvSpPr/>
          <p:nvPr/>
        </p:nvSpPr>
        <p:spPr>
          <a:xfrm>
            <a:off x="347472" y="4206240"/>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Oval 121"/>
          <p:cNvSpPr/>
          <p:nvPr/>
        </p:nvSpPr>
        <p:spPr>
          <a:xfrm>
            <a:off x="42062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9</a:t>
            </a:r>
          </a:p>
        </p:txBody>
      </p:sp>
      <p:sp>
        <p:nvSpPr>
          <p:cNvPr id="123" name="TextBox 122"/>
          <p:cNvSpPr txBox="1"/>
          <p:nvPr/>
        </p:nvSpPr>
        <p:spPr>
          <a:xfrm>
            <a:off x="694944" y="4279392"/>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Video → 3D, floor plan, coverage</a:t>
            </a:r>
          </a:p>
        </p:txBody>
      </p:sp>
      <p:sp>
        <p:nvSpPr>
          <p:cNvPr id="124" name="TextBox 123"/>
          <p:cNvSpPr txBox="1"/>
          <p:nvPr/>
        </p:nvSpPr>
        <p:spPr>
          <a:xfrm>
            <a:off x="694944" y="4535424"/>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GLB models, room areas, maps</a:t>
            </a:r>
          </a:p>
        </p:txBody>
      </p:sp>
      <p:sp>
        <p:nvSpPr>
          <p:cNvPr id="125" name="Rounded Rectangle 124"/>
          <p:cNvSpPr/>
          <p:nvPr/>
        </p:nvSpPr>
        <p:spPr>
          <a:xfrm>
            <a:off x="2450591" y="4206240"/>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Oval 125"/>
          <p:cNvSpPr/>
          <p:nvPr/>
        </p:nvSpPr>
        <p:spPr>
          <a:xfrm>
            <a:off x="252374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10</a:t>
            </a:r>
          </a:p>
        </p:txBody>
      </p:sp>
      <p:sp>
        <p:nvSpPr>
          <p:cNvPr id="127" name="TextBox 126"/>
          <p:cNvSpPr txBox="1"/>
          <p:nvPr/>
        </p:nvSpPr>
        <p:spPr>
          <a:xfrm>
            <a:off x="2798063" y="4279392"/>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Gemini analysis &amp; Q&amp;A</a:t>
            </a:r>
          </a:p>
        </p:txBody>
      </p:sp>
      <p:sp>
        <p:nvSpPr>
          <p:cNvPr id="128" name="TextBox 127"/>
          <p:cNvSpPr txBox="1"/>
          <p:nvPr/>
        </p:nvSpPr>
        <p:spPr>
          <a:xfrm>
            <a:off x="2798063" y="4535424"/>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Grounded answers citing issue IDs</a:t>
            </a:r>
          </a:p>
        </p:txBody>
      </p:sp>
      <p:sp>
        <p:nvSpPr>
          <p:cNvPr id="129" name="Rounded Rectangle 128"/>
          <p:cNvSpPr/>
          <p:nvPr/>
        </p:nvSpPr>
        <p:spPr>
          <a:xfrm>
            <a:off x="4663440" y="1353312"/>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Oval 129"/>
          <p:cNvSpPr/>
          <p:nvPr/>
        </p:nvSpPr>
        <p:spPr>
          <a:xfrm>
            <a:off x="4754880" y="144475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1" name="TextBox 130"/>
          <p:cNvSpPr txBox="1"/>
          <p:nvPr/>
        </p:nvSpPr>
        <p:spPr>
          <a:xfrm>
            <a:off x="5047488" y="1426464"/>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Detection scope</a:t>
            </a:r>
          </a:p>
        </p:txBody>
      </p:sp>
      <p:sp>
        <p:nvSpPr>
          <p:cNvPr id="132" name="TextBox 131"/>
          <p:cNvSpPr txBox="1"/>
          <p:nvPr/>
        </p:nvSpPr>
        <p:spPr>
          <a:xfrm>
            <a:off x="5047488" y="1627632"/>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Walls, ceilings, floor &amp; wall tiles, grout, wood/vinyl, countertops, doors, locks, windows, trim, kitchen exhausts in 8 room types. Look-alikes (grout, grain, shadows) rejected; locks, windows, fans always manual; cracks get a structural note, water/mold a moisture check.</a:t>
            </a:r>
          </a:p>
        </p:txBody>
      </p:sp>
      <p:sp>
        <p:nvSpPr>
          <p:cNvPr id="133" name="Rounded Rectangle 132"/>
          <p:cNvSpPr/>
          <p:nvPr/>
        </p:nvSpPr>
        <p:spPr>
          <a:xfrm>
            <a:off x="4663440" y="2249424"/>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Oval 133"/>
          <p:cNvSpPr/>
          <p:nvPr/>
        </p:nvSpPr>
        <p:spPr>
          <a:xfrm>
            <a:off x="4754880" y="23408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5" name="TextBox 134"/>
          <p:cNvSpPr txBox="1"/>
          <p:nvPr/>
        </p:nvSpPr>
        <p:spPr>
          <a:xfrm>
            <a:off x="5047488" y="2322576"/>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Fraud &amp; evidence integrity</a:t>
            </a:r>
          </a:p>
        </p:txBody>
      </p:sp>
      <p:sp>
        <p:nvSpPr>
          <p:cNvPr id="136" name="TextBox 135"/>
          <p:cNvSpPr txBox="1"/>
          <p:nvPr/>
        </p:nvSpPr>
        <p:spPr>
          <a:xfrm>
            <a:off x="5047488" y="2523744"/>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Keyframe dHash reuse across every property, Gemini screen / render / AI check on every keyframe, blurred frames dropped, video coverage &lt; 60% → REFER. Any HIGH flag → human review.</a:t>
            </a:r>
          </a:p>
        </p:txBody>
      </p:sp>
      <p:sp>
        <p:nvSpPr>
          <p:cNvPr id="137" name="Rounded Rectangle 136"/>
          <p:cNvSpPr/>
          <p:nvPr/>
        </p:nvSpPr>
        <p:spPr>
          <a:xfrm>
            <a:off x="4663440" y="3145536"/>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Oval 137"/>
          <p:cNvSpPr/>
          <p:nvPr/>
        </p:nvSpPr>
        <p:spPr>
          <a:xfrm>
            <a:off x="4754880" y="323697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9" name="TextBox 138"/>
          <p:cNvSpPr txBox="1"/>
          <p:nvPr/>
        </p:nvSpPr>
        <p:spPr>
          <a:xfrm>
            <a:off x="5047488" y="3218688"/>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3D digital twin &amp; coverage map</a:t>
            </a:r>
          </a:p>
        </p:txBody>
      </p:sp>
      <p:sp>
        <p:nvSpPr>
          <p:cNvPr id="140" name="TextBox 139"/>
          <p:cNvSpPr txBox="1"/>
          <p:nvPr/>
        </p:nvSpPr>
        <p:spPr>
          <a:xfrm>
            <a:off x="5047488" y="3419856"/>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Depth Anything 3 + OpenCV 5 SLAM + Open3D TSDF → clean &amp; SLAM GLB, floor plan (PNG + SVG), navigation map. Every 10 cm of surface checked; greedy AI keyframes; findings pinned to a wall and video time.</a:t>
            </a:r>
          </a:p>
        </p:txBody>
      </p:sp>
      <p:sp>
        <p:nvSpPr>
          <p:cNvPr id="141" name="Rounded Rectangle 140"/>
          <p:cNvSpPr/>
          <p:nvPr/>
        </p:nvSpPr>
        <p:spPr>
          <a:xfrm>
            <a:off x="4663440" y="4041648"/>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Oval 141"/>
          <p:cNvSpPr/>
          <p:nvPr/>
        </p:nvSpPr>
        <p:spPr>
          <a:xfrm>
            <a:off x="4754880" y="4133087"/>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3" name="TextBox 142"/>
          <p:cNvSpPr txBox="1"/>
          <p:nvPr/>
        </p:nvSpPr>
        <p:spPr>
          <a:xfrm>
            <a:off x="5047488" y="4114800"/>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Gemini co-pilot &amp; product</a:t>
            </a:r>
          </a:p>
        </p:txBody>
      </p:sp>
      <p:sp>
        <p:nvSpPr>
          <p:cNvPr id="144" name="TextBox 143"/>
          <p:cNvSpPr txBox="1"/>
          <p:nvPr/>
        </p:nvSpPr>
        <p:spPr>
          <a:xfrm>
            <a:off x="5047488" y="4315968"/>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Property analysis, grounded Q&amp;A, scene and object naming (explains, never changes results). Portfolio dashboard, live 3D-scan view, Lite / Advanced 3D, 3D viewer, HTML / Markdown / JSON reports, REST API at /docs.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Capture, inspect, decide, act: minutes instead of days</a:t>
            </a:r>
          </a:p>
        </p:txBody>
      </p:sp>
      <p:sp>
        <p:nvSpPr>
          <p:cNvPr id="97" name="TextBox 96"/>
          <p:cNvSpPr txBox="1"/>
          <p:nvPr/>
        </p:nvSpPr>
        <p:spPr>
          <a:xfrm>
            <a:off x="347472" y="1325880"/>
            <a:ext cx="1325880" cy="164592"/>
          </a:xfrm>
          <a:prstGeom prst="rect">
            <a:avLst/>
          </a:prstGeom>
          <a:noFill/>
        </p:spPr>
        <p:txBody>
          <a:bodyPr wrap="square" lIns="0" tIns="0" rIns="0" bIns="0" anchor="t">
            <a:noAutofit/>
          </a:bodyPr>
          <a:lstStyle/>
          <a:p>
            <a:pPr algn="l">
              <a:spcAft>
                <a:spcPts val="200"/>
              </a:spcAft>
            </a:pPr>
            <a:r>
              <a:rPr sz="700" b="1" i="0">
                <a:solidFill>
                  <a:srgbClr val="5F6368"/>
                </a:solidFill>
                <a:latin typeface="Google Sans Flex"/>
                <a:ea typeface="Google Sans Flex"/>
                <a:cs typeface="Google Sans Flex"/>
              </a:rPr>
              <a:t>ACTORS</a:t>
            </a:r>
          </a:p>
        </p:txBody>
      </p:sp>
      <p:sp>
        <p:nvSpPr>
          <p:cNvPr id="98" name="Rounded Rectangle 97"/>
          <p:cNvSpPr/>
          <p:nvPr/>
        </p:nvSpPr>
        <p:spPr>
          <a:xfrm>
            <a:off x="347472" y="1508760"/>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Inspector / owner</a:t>
            </a:r>
            <a:r>
              <a:rPr sz="650" b="0" i="0">
                <a:solidFill>
                  <a:srgbClr val="5F6368"/>
                </a:solidFill>
                <a:latin typeface="Google Sans Flex"/>
                <a:ea typeface="Google Sans Flex"/>
                <a:cs typeface="Google Sans Flex"/>
              </a:rPr>
              <a:t>  captures</a:t>
            </a:r>
          </a:p>
        </p:txBody>
      </p:sp>
      <p:sp>
        <p:nvSpPr>
          <p:cNvPr id="99" name="Rounded Rectangle 98"/>
          <p:cNvSpPr/>
          <p:nvPr/>
        </p:nvSpPr>
        <p:spPr>
          <a:xfrm>
            <a:off x="347472" y="1892807"/>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Underwriter / claims</a:t>
            </a:r>
            <a:r>
              <a:rPr sz="650" b="0" i="0">
                <a:solidFill>
                  <a:srgbClr val="5F6368"/>
                </a:solidFill>
                <a:latin typeface="Google Sans Flex"/>
                <a:ea typeface="Google Sans Flex"/>
                <a:cs typeface="Google Sans Flex"/>
              </a:rPr>
              <a:t>  reviews &amp; decides</a:t>
            </a:r>
          </a:p>
        </p:txBody>
      </p:sp>
      <p:sp>
        <p:nvSpPr>
          <p:cNvPr id="100" name="Rounded Rectangle 99"/>
          <p:cNvSpPr/>
          <p:nvPr/>
        </p:nvSpPr>
        <p:spPr>
          <a:xfrm>
            <a:off x="347472" y="2276856"/>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Core systems</a:t>
            </a:r>
            <a:r>
              <a:rPr sz="650" b="0" i="0">
                <a:solidFill>
                  <a:srgbClr val="5F6368"/>
                </a:solidFill>
                <a:latin typeface="Google Sans Flex"/>
                <a:ea typeface="Google Sans Flex"/>
                <a:cs typeface="Google Sans Flex"/>
              </a:rPr>
              <a:t>  LOS, policy, claims</a:t>
            </a:r>
          </a:p>
        </p:txBody>
      </p:sp>
      <p:sp>
        <p:nvSpPr>
          <p:cNvPr id="101" name="Rounded Rectangle 100"/>
          <p:cNvSpPr/>
          <p:nvPr/>
        </p:nvSpPr>
        <p:spPr>
          <a:xfrm>
            <a:off x="1874519"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ounded Rectangle 101"/>
          <p:cNvSpPr/>
          <p:nvPr/>
        </p:nvSpPr>
        <p:spPr>
          <a:xfrm>
            <a:off x="1874519"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1947672"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1  Capture</a:t>
            </a:r>
          </a:p>
        </p:txBody>
      </p:sp>
      <p:sp>
        <p:nvSpPr>
          <p:cNvPr id="104" name="TextBox 103"/>
          <p:cNvSpPr txBox="1"/>
          <p:nvPr/>
        </p:nvSpPr>
        <p:spPr>
          <a:xfrm>
            <a:off x="1947672"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A phone walkthrough video. No special hardware.</a:t>
            </a:r>
          </a:p>
        </p:txBody>
      </p:sp>
      <p:cxnSp>
        <p:nvCxnSpPr>
          <p:cNvPr id="105" name="Connector 104"/>
          <p:cNvCxnSpPr/>
          <p:nvPr/>
        </p:nvCxnSpPr>
        <p:spPr>
          <a:xfrm>
            <a:off x="3465576"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3630168"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Rounded Rectangle 106"/>
          <p:cNvSpPr/>
          <p:nvPr/>
        </p:nvSpPr>
        <p:spPr>
          <a:xfrm>
            <a:off x="3630168"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3703320"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2  AI inspection</a:t>
            </a:r>
          </a:p>
        </p:txBody>
      </p:sp>
      <p:sp>
        <p:nvSpPr>
          <p:cNvPr id="109" name="TextBox 108"/>
          <p:cNvSpPr txBox="1"/>
          <p:nvPr/>
        </p:nvSpPr>
        <p:spPr>
          <a:xfrm>
            <a:off x="3703320"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Gemini reads the room; LocateAnything finds defects; Gemma 4 verifies each crop.</a:t>
            </a:r>
          </a:p>
        </p:txBody>
      </p:sp>
      <p:cxnSp>
        <p:nvCxnSpPr>
          <p:cNvPr id="110" name="Connector 109"/>
          <p:cNvCxnSpPr/>
          <p:nvPr/>
        </p:nvCxnSpPr>
        <p:spPr>
          <a:xfrm>
            <a:off x="5221224"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5385816"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ounded Rectangle 111"/>
          <p:cNvSpPr/>
          <p:nvPr/>
        </p:nvSpPr>
        <p:spPr>
          <a:xfrm>
            <a:off x="5385816"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5458968"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3  Risk decision</a:t>
            </a:r>
          </a:p>
        </p:txBody>
      </p:sp>
      <p:sp>
        <p:nvSpPr>
          <p:cNvPr id="114" name="TextBox 113"/>
          <p:cNvSpPr txBox="1"/>
          <p:nvPr/>
        </p:nvSpPr>
        <p:spPr>
          <a:xfrm>
            <a:off x="5458968"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Rules set grade, perils, cost, valuation, premium, decision; Gemini explains.</a:t>
            </a:r>
          </a:p>
        </p:txBody>
      </p:sp>
      <p:cxnSp>
        <p:nvCxnSpPr>
          <p:cNvPr id="115" name="Connector 114"/>
          <p:cNvCxnSpPr/>
          <p:nvPr/>
        </p:nvCxnSpPr>
        <p:spPr>
          <a:xfrm>
            <a:off x="6976872"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7141464"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Rounded Rectangle 116"/>
          <p:cNvSpPr/>
          <p:nvPr/>
        </p:nvSpPr>
        <p:spPr>
          <a:xfrm>
            <a:off x="7141464"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7214616"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4  Act</a:t>
            </a:r>
          </a:p>
        </p:txBody>
      </p:sp>
      <p:sp>
        <p:nvSpPr>
          <p:cNvPr id="119" name="TextBox 118"/>
          <p:cNvSpPr txBox="1"/>
          <p:nvPr/>
        </p:nvSpPr>
        <p:spPr>
          <a:xfrm>
            <a:off x="7214616"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Report, Gemini Q&amp;A, BigQuery row and Pub/Sub event to core systems.</a:t>
            </a:r>
          </a:p>
        </p:txBody>
      </p:sp>
      <p:cxnSp>
        <p:nvCxnSpPr>
          <p:cNvPr id="120" name="Connector 119"/>
          <p:cNvCxnSpPr/>
          <p:nvPr/>
        </p:nvCxnSpPr>
        <p:spPr>
          <a:xfrm>
            <a:off x="1691640" y="1673352"/>
            <a:ext cx="164591"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347472" y="2697480"/>
            <a:ext cx="5486400" cy="164592"/>
          </a:xfrm>
          <a:prstGeom prst="rect">
            <a:avLst/>
          </a:prstGeom>
          <a:noFill/>
        </p:spPr>
        <p:txBody>
          <a:bodyPr wrap="square" lIns="0" tIns="0" rIns="0" bIns="0" anchor="t">
            <a:noAutofit/>
          </a:bodyPr>
          <a:lstStyle/>
          <a:p>
            <a:pPr algn="l">
              <a:spcAft>
                <a:spcPts val="200"/>
              </a:spcAft>
            </a:pPr>
            <a:r>
              <a:rPr sz="700" b="1" i="0">
                <a:solidFill>
                  <a:srgbClr val="5F6368"/>
                </a:solidFill>
                <a:latin typeface="Google Sans Flex"/>
                <a:ea typeface="Google Sans Flex"/>
                <a:cs typeface="Google Sans Flex"/>
              </a:rPr>
              <a:t>DECISION OUTCOMES (back to underwriter and core systems)</a:t>
            </a:r>
          </a:p>
        </p:txBody>
      </p:sp>
      <p:sp>
        <p:nvSpPr>
          <p:cNvPr id="122" name="Rounded Rectangle 121"/>
          <p:cNvSpPr/>
          <p:nvPr/>
        </p:nvSpPr>
        <p:spPr>
          <a:xfrm>
            <a:off x="34747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188038"/>
                </a:solidFill>
                <a:latin typeface="Google Sans Flex"/>
                <a:ea typeface="Google Sans Flex"/>
                <a:cs typeface="Google Sans Flex"/>
              </a:rPr>
              <a:t>PROCEED</a:t>
            </a:r>
          </a:p>
        </p:txBody>
      </p:sp>
      <p:sp>
        <p:nvSpPr>
          <p:cNvPr id="123" name="Rounded Rectangle 122"/>
          <p:cNvSpPr/>
          <p:nvPr/>
        </p:nvSpPr>
        <p:spPr>
          <a:xfrm>
            <a:off x="176479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188038"/>
                </a:solidFill>
                <a:latin typeface="Google Sans Flex"/>
                <a:ea typeface="Google Sans Flex"/>
                <a:cs typeface="Google Sans Flex"/>
              </a:rPr>
              <a:t>PROCEED W/ CONDITIONS: note defects</a:t>
            </a:r>
          </a:p>
        </p:txBody>
      </p:sp>
      <p:sp>
        <p:nvSpPr>
          <p:cNvPr id="124" name="Rounded Rectangle 123"/>
          <p:cNvSpPr/>
          <p:nvPr/>
        </p:nvSpPr>
        <p:spPr>
          <a:xfrm>
            <a:off x="3182112" y="2871216"/>
            <a:ext cx="1344168" cy="347472"/>
          </a:xfrm>
          <a:prstGeom prst="roundRect">
            <a:avLst>
              <a:gd name="adj" fmla="val 15789"/>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E37400"/>
                </a:solidFill>
                <a:latin typeface="Google Sans Flex"/>
                <a:ea typeface="Google Sans Flex"/>
                <a:cs typeface="Google Sans Flex"/>
              </a:rPr>
              <a:t>PROCEED W/ CONDITIONS: repairs / retention</a:t>
            </a:r>
          </a:p>
        </p:txBody>
      </p:sp>
      <p:sp>
        <p:nvSpPr>
          <p:cNvPr id="125" name="Rounded Rectangle 124"/>
          <p:cNvSpPr/>
          <p:nvPr/>
        </p:nvSpPr>
        <p:spPr>
          <a:xfrm>
            <a:off x="459943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professional survey</a:t>
            </a:r>
          </a:p>
        </p:txBody>
      </p:sp>
      <p:sp>
        <p:nvSpPr>
          <p:cNvPr id="126" name="Rounded Rectangle 125"/>
          <p:cNvSpPr/>
          <p:nvPr/>
        </p:nvSpPr>
        <p:spPr>
          <a:xfrm>
            <a:off x="601675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evidence integrity</a:t>
            </a:r>
          </a:p>
        </p:txBody>
      </p:sp>
      <p:sp>
        <p:nvSpPr>
          <p:cNvPr id="127" name="Rounded Rectangle 126"/>
          <p:cNvSpPr/>
          <p:nvPr/>
        </p:nvSpPr>
        <p:spPr>
          <a:xfrm>
            <a:off x="743407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additional evidence</a:t>
            </a:r>
          </a:p>
        </p:txBody>
      </p:sp>
      <p:sp>
        <p:nvSpPr>
          <p:cNvPr id="128" name="Rounded Rectangle 127"/>
          <p:cNvSpPr/>
          <p:nvPr/>
        </p:nvSpPr>
        <p:spPr>
          <a:xfrm>
            <a:off x="347472" y="3328416"/>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Box 128"/>
          <p:cNvSpPr txBox="1"/>
          <p:nvPr/>
        </p:nvSpPr>
        <p:spPr>
          <a:xfrm>
            <a:off x="420624" y="3328416"/>
            <a:ext cx="822960" cy="731520"/>
          </a:xfrm>
          <a:prstGeom prst="rect">
            <a:avLst/>
          </a:prstGeom>
          <a:noFill/>
        </p:spPr>
        <p:txBody>
          <a:bodyPr wrap="square" lIns="0" tIns="0" rIns="0" bIns="0" anchor="ctr">
            <a:noAutofit/>
          </a:bodyPr>
          <a:lstStyle/>
          <a:p>
            <a:pPr algn="l">
              <a:spcAft>
                <a:spcPts val="0"/>
              </a:spcAft>
            </a:pPr>
            <a:r>
              <a:rPr sz="750" b="1" i="0">
                <a:solidFill>
                  <a:srgbClr val="1A73E8"/>
                </a:solidFill>
                <a:latin typeface="Google Sans Flex"/>
                <a:ea typeface="Google Sans Flex"/>
                <a:cs typeface="Google Sans Flex"/>
              </a:rPr>
              <a:t>KEYFRAME</a:t>
            </a:r>
          </a:p>
          <a:p>
            <a:pPr algn="l">
              <a:spcAft>
                <a:spcPts val="0"/>
              </a:spcAft>
            </a:pPr>
            <a:r>
              <a:rPr sz="750" b="1" i="0">
                <a:solidFill>
                  <a:srgbClr val="1A73E8"/>
                </a:solidFill>
                <a:latin typeface="Google Sans Flex"/>
                <a:ea typeface="Google Sans Flex"/>
                <a:cs typeface="Google Sans Flex"/>
              </a:rPr>
              <a:t>PIPELINE</a:t>
            </a:r>
          </a:p>
        </p:txBody>
      </p:sp>
      <p:sp>
        <p:nvSpPr>
          <p:cNvPr id="130" name="Rounded Rectangle 129"/>
          <p:cNvSpPr/>
          <p:nvPr/>
        </p:nvSpPr>
        <p:spPr>
          <a:xfrm>
            <a:off x="121615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Box 130"/>
          <p:cNvSpPr txBox="1"/>
          <p:nvPr/>
        </p:nvSpPr>
        <p:spPr>
          <a:xfrm>
            <a:off x="1271016"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Quality + integrity (dHash)</a:t>
            </a:r>
          </a:p>
        </p:txBody>
      </p:sp>
      <p:cxnSp>
        <p:nvCxnSpPr>
          <p:cNvPr id="132" name="Connector 131"/>
          <p:cNvCxnSpPr/>
          <p:nvPr/>
        </p:nvCxnSpPr>
        <p:spPr>
          <a:xfrm>
            <a:off x="2368296"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3" name="Rounded Rectangle 132"/>
          <p:cNvSpPr/>
          <p:nvPr/>
        </p:nvSpPr>
        <p:spPr>
          <a:xfrm>
            <a:off x="2478024"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Box 133"/>
          <p:cNvSpPr txBox="1"/>
          <p:nvPr/>
        </p:nvSpPr>
        <p:spPr>
          <a:xfrm>
            <a:off x="2532888"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Gemini: room, components, authenticity</a:t>
            </a:r>
          </a:p>
        </p:txBody>
      </p:sp>
      <p:cxnSp>
        <p:nvCxnSpPr>
          <p:cNvPr id="135" name="Connector 134"/>
          <p:cNvCxnSpPr/>
          <p:nvPr/>
        </p:nvCxnSpPr>
        <p:spPr>
          <a:xfrm>
            <a:off x="3630168"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6" name="Rounded Rectangle 135"/>
          <p:cNvSpPr/>
          <p:nvPr/>
        </p:nvSpPr>
        <p:spPr>
          <a:xfrm>
            <a:off x="3739896"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Box 136"/>
          <p:cNvSpPr txBox="1"/>
          <p:nvPr/>
        </p:nvSpPr>
        <p:spPr>
          <a:xfrm>
            <a:off x="3794759"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Prompt router: 18 defects, 12 components</a:t>
            </a:r>
          </a:p>
        </p:txBody>
      </p:sp>
      <p:cxnSp>
        <p:nvCxnSpPr>
          <p:cNvPr id="138" name="Connector 137"/>
          <p:cNvCxnSpPr/>
          <p:nvPr/>
        </p:nvCxnSpPr>
        <p:spPr>
          <a:xfrm>
            <a:off x="4892040"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9" name="Rounded Rectangle 138"/>
          <p:cNvSpPr/>
          <p:nvPr/>
        </p:nvSpPr>
        <p:spPr>
          <a:xfrm>
            <a:off x="5001768"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TextBox 139"/>
          <p:cNvSpPr txBox="1"/>
          <p:nvPr/>
        </p:nvSpPr>
        <p:spPr>
          <a:xfrm>
            <a:off x="5056631"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LocateAnything-3B boxes → NMS</a:t>
            </a:r>
          </a:p>
        </p:txBody>
      </p:sp>
      <p:cxnSp>
        <p:nvCxnSpPr>
          <p:cNvPr id="141" name="Connector 140"/>
          <p:cNvCxnSpPr/>
          <p:nvPr/>
        </p:nvCxnSpPr>
        <p:spPr>
          <a:xfrm>
            <a:off x="6153912"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6263640"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Box 142"/>
          <p:cNvSpPr txBox="1"/>
          <p:nvPr/>
        </p:nvSpPr>
        <p:spPr>
          <a:xfrm>
            <a:off x="6318503"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Full-res crops → Gemma 4 verify</a:t>
            </a:r>
          </a:p>
        </p:txBody>
      </p:sp>
      <p:cxnSp>
        <p:nvCxnSpPr>
          <p:cNvPr id="144" name="Connector 143"/>
          <p:cNvCxnSpPr/>
          <p:nvPr/>
        </p:nvCxnSpPr>
        <p:spPr>
          <a:xfrm>
            <a:off x="7415783" y="3694176"/>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5" name="Rounded Rectangle 144"/>
          <p:cNvSpPr/>
          <p:nvPr/>
        </p:nvSpPr>
        <p:spPr>
          <a:xfrm>
            <a:off x="752551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TextBox 145"/>
          <p:cNvSpPr txBox="1"/>
          <p:nvPr/>
        </p:nvSpPr>
        <p:spPr>
          <a:xfrm>
            <a:off x="7580376"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Rule engine → status → risk engine</a:t>
            </a:r>
          </a:p>
        </p:txBody>
      </p:sp>
      <p:sp>
        <p:nvSpPr>
          <p:cNvPr id="147" name="Rounded Rectangle 146"/>
          <p:cNvSpPr/>
          <p:nvPr/>
        </p:nvSpPr>
        <p:spPr>
          <a:xfrm>
            <a:off x="347472" y="4123944"/>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420624" y="4123944"/>
            <a:ext cx="822960" cy="731520"/>
          </a:xfrm>
          <a:prstGeom prst="rect">
            <a:avLst/>
          </a:prstGeom>
          <a:noFill/>
        </p:spPr>
        <p:txBody>
          <a:bodyPr wrap="square" lIns="0" tIns="0" rIns="0" bIns="0" anchor="ctr">
            <a:noAutofit/>
          </a:bodyPr>
          <a:lstStyle/>
          <a:p>
            <a:pPr algn="l">
              <a:spcAft>
                <a:spcPts val="0"/>
              </a:spcAft>
            </a:pPr>
            <a:r>
              <a:rPr sz="750" b="1" i="0">
                <a:solidFill>
                  <a:srgbClr val="1A73E8"/>
                </a:solidFill>
                <a:latin typeface="Google Sans Flex"/>
                <a:ea typeface="Google Sans Flex"/>
                <a:cs typeface="Google Sans Flex"/>
              </a:rPr>
              <a:t>VIDEO</a:t>
            </a:r>
          </a:p>
          <a:p>
            <a:pPr algn="l">
              <a:spcAft>
                <a:spcPts val="0"/>
              </a:spcAft>
            </a:pPr>
            <a:r>
              <a:rPr sz="750" b="1" i="0">
                <a:solidFill>
                  <a:srgbClr val="1A73E8"/>
                </a:solidFill>
                <a:latin typeface="Google Sans Flex"/>
                <a:ea typeface="Google Sans Flex"/>
                <a:cs typeface="Google Sans Flex"/>
              </a:rPr>
              <a:t>PIPELINE</a:t>
            </a:r>
          </a:p>
        </p:txBody>
      </p:sp>
      <p:sp>
        <p:nvSpPr>
          <p:cNvPr id="149" name="Rounded Rectangle 148"/>
          <p:cNvSpPr/>
          <p:nvPr/>
        </p:nvSpPr>
        <p:spPr>
          <a:xfrm>
            <a:off x="1216152"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Box 149"/>
          <p:cNvSpPr txBox="1"/>
          <p:nvPr/>
        </p:nvSpPr>
        <p:spPr>
          <a:xfrm>
            <a:off x="1271016"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Depth Anything 3 depth per frame</a:t>
            </a:r>
          </a:p>
        </p:txBody>
      </p:sp>
      <p:cxnSp>
        <p:nvCxnSpPr>
          <p:cNvPr id="151" name="Connector 150"/>
          <p:cNvCxnSpPr/>
          <p:nvPr/>
        </p:nvCxnSpPr>
        <p:spPr>
          <a:xfrm>
            <a:off x="2368296"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2478024"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Box 152"/>
          <p:cNvSpPr txBox="1"/>
          <p:nvPr/>
        </p:nvSpPr>
        <p:spPr>
          <a:xfrm>
            <a:off x="2532888"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OpenCV 5 SLAM camera poses</a:t>
            </a:r>
          </a:p>
        </p:txBody>
      </p:sp>
      <p:cxnSp>
        <p:nvCxnSpPr>
          <p:cNvPr id="154" name="Connector 153"/>
          <p:cNvCxnSpPr/>
          <p:nvPr/>
        </p:nvCxnSpPr>
        <p:spPr>
          <a:xfrm>
            <a:off x="3630168"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5" name="Rounded Rectangle 154"/>
          <p:cNvSpPr/>
          <p:nvPr/>
        </p:nvSpPr>
        <p:spPr>
          <a:xfrm>
            <a:off x="3739896"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Box 155"/>
          <p:cNvSpPr txBox="1"/>
          <p:nvPr/>
        </p:nvSpPr>
        <p:spPr>
          <a:xfrm>
            <a:off x="3794759"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Open3D TSDF surface fusion</a:t>
            </a:r>
          </a:p>
        </p:txBody>
      </p:sp>
      <p:cxnSp>
        <p:nvCxnSpPr>
          <p:cNvPr id="157" name="Connector 156"/>
          <p:cNvCxnSpPr/>
          <p:nvPr/>
        </p:nvCxnSpPr>
        <p:spPr>
          <a:xfrm>
            <a:off x="4892040"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8" name="Rounded Rectangle 157"/>
          <p:cNvSpPr/>
          <p:nvPr/>
        </p:nvSpPr>
        <p:spPr>
          <a:xfrm>
            <a:off x="5001768"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Box 158"/>
          <p:cNvSpPr txBox="1"/>
          <p:nvPr/>
        </p:nvSpPr>
        <p:spPr>
          <a:xfrm>
            <a:off x="5056631"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Walls, floor, doors; Gemini names objects</a:t>
            </a:r>
          </a:p>
        </p:txBody>
      </p:sp>
      <p:cxnSp>
        <p:nvCxnSpPr>
          <p:cNvPr id="160" name="Connector 159"/>
          <p:cNvCxnSpPr/>
          <p:nvPr/>
        </p:nvCxnSpPr>
        <p:spPr>
          <a:xfrm>
            <a:off x="6153912"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263640"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6318503"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10 cm coverage + AI keyframes</a:t>
            </a:r>
          </a:p>
        </p:txBody>
      </p:sp>
      <p:cxnSp>
        <p:nvCxnSpPr>
          <p:cNvPr id="163" name="Connector 162"/>
          <p:cNvCxnSpPr/>
          <p:nvPr/>
        </p:nvCxnSpPr>
        <p:spPr>
          <a:xfrm>
            <a:off x="7415783" y="4489704"/>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7525512"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TextBox 164"/>
          <p:cNvSpPr txBox="1"/>
          <p:nvPr/>
        </p:nvSpPr>
        <p:spPr>
          <a:xfrm>
            <a:off x="7580376"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Keyframes → keyframe pipeline; pins in 3D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Actual product screens: an inspection app built for underwriters</a:t>
            </a:r>
          </a:p>
        </p:txBody>
      </p:sp>
      <p:pic>
        <p:nvPicPr>
          <p:cNvPr id="105" name="Picture 104" descr="s16_570.jpg"/>
          <p:cNvPicPr>
            <a:picLocks noChangeAspect="1"/>
          </p:cNvPicPr>
          <p:nvPr/>
        </p:nvPicPr>
        <p:blipFill>
          <a:blip r:embed="rId5"/>
          <a:stretch>
            <a:fillRect/>
          </a:stretch>
        </p:blipFill>
        <p:spPr>
          <a:xfrm>
            <a:off x="347472" y="1384662"/>
            <a:ext cx="4572000" cy="3174274"/>
          </a:xfrm>
          <a:prstGeom prst="rect">
            <a:avLst/>
          </a:prstGeom>
          <a:ln w="9525">
            <a:solidFill>
              <a:srgbClr val="DADCE0"/>
            </a:solidFill>
          </a:ln>
        </p:spPr>
      </p:pic>
      <p:sp>
        <p:nvSpPr>
          <p:cNvPr id="106" name="TextBox 105"/>
          <p:cNvSpPr txBox="1"/>
          <p:nvPr/>
        </p:nvSpPr>
        <p:spPr>
          <a:xfrm>
            <a:off x="347472" y="4595513"/>
            <a:ext cx="4572000" cy="182880"/>
          </a:xfrm>
          <a:prstGeom prst="rect">
            <a:avLst/>
          </a:prstGeom>
          <a:noFill/>
        </p:spPr>
        <p:txBody>
          <a:bodyPr wrap="square" lIns="0" tIns="0" rIns="0" bIns="0" anchor="t">
            <a:noAutofit/>
          </a:bodyPr>
          <a:lstStyle/>
          <a:p>
            <a:pPr algn="l">
              <a:spcAft>
                <a:spcPts val="200"/>
              </a:spcAft>
            </a:pPr>
            <a:r>
              <a:rPr sz="750" b="0" i="1">
                <a:solidFill>
                  <a:srgbClr val="5F6368"/>
                </a:solidFill>
                <a:latin typeface="Google Sans Flex"/>
                <a:ea typeface="Google Sans Flex"/>
                <a:cs typeface="Google Sans Flex"/>
              </a:rPr>
              <a:t>Dashboard: walkthroughs, repair exposure, referrals, coverage and condition grades across the book</a:t>
            </a:r>
          </a:p>
        </p:txBody>
      </p:sp>
      <p:pic>
        <p:nvPicPr>
          <p:cNvPr id="107" name="Picture 106" descr="s16_572.jpg"/>
          <p:cNvPicPr>
            <a:picLocks noChangeAspect="1"/>
          </p:cNvPicPr>
          <p:nvPr/>
        </p:nvPicPr>
        <p:blipFill>
          <a:blip r:embed="rId6"/>
          <a:stretch>
            <a:fillRect/>
          </a:stretch>
        </p:blipFill>
        <p:spPr>
          <a:xfrm>
            <a:off x="5120640" y="1372939"/>
            <a:ext cx="3675887" cy="2475345"/>
          </a:xfrm>
          <a:prstGeom prst="rect">
            <a:avLst/>
          </a:prstGeom>
          <a:ln w="9525">
            <a:solidFill>
              <a:srgbClr val="DADCE0"/>
            </a:solidFill>
          </a:ln>
        </p:spPr>
      </p:pic>
      <p:sp>
        <p:nvSpPr>
          <p:cNvPr id="108" name="TextBox 107"/>
          <p:cNvSpPr txBox="1"/>
          <p:nvPr/>
        </p:nvSpPr>
        <p:spPr>
          <a:xfrm>
            <a:off x="5120640" y="3884860"/>
            <a:ext cx="3675887" cy="182880"/>
          </a:xfrm>
          <a:prstGeom prst="rect">
            <a:avLst/>
          </a:prstGeom>
          <a:noFill/>
        </p:spPr>
        <p:txBody>
          <a:bodyPr wrap="square" lIns="0" tIns="0" rIns="0" bIns="0" anchor="t">
            <a:noAutofit/>
          </a:bodyPr>
          <a:lstStyle/>
          <a:p>
            <a:pPr algn="l">
              <a:spcAft>
                <a:spcPts val="200"/>
              </a:spcAft>
            </a:pPr>
            <a:r>
              <a:rPr sz="750" b="0" i="1">
                <a:solidFill>
                  <a:srgbClr val="5F6368"/>
                </a:solidFill>
                <a:latin typeface="Google Sans Flex"/>
                <a:ea typeface="Google Sans Flex"/>
                <a:cs typeface="Google Sans Flex"/>
              </a:rPr>
              <a:t>Video walkthrough: live 3D-scan progress while the video is processed</a:t>
            </a:r>
          </a:p>
        </p:txBody>
      </p:sp>
      <p:sp>
        <p:nvSpPr>
          <p:cNvPr id="109" name="TextBox 108"/>
          <p:cNvSpPr txBox="1"/>
          <p:nvPr/>
        </p:nvSpPr>
        <p:spPr>
          <a:xfrm>
            <a:off x="5120640" y="4114800"/>
            <a:ext cx="3675887" cy="822960"/>
          </a:xfrm>
          <a:prstGeom prst="rect">
            <a:avLst/>
          </a:prstGeom>
          <a:noFill/>
        </p:spPr>
        <p:txBody>
          <a:bodyPr wrap="square" lIns="0" tIns="0" rIns="0" bIns="0" anchor="t">
            <a:noAutofit/>
          </a:bodyPr>
          <a:lstStyle/>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Dashboard → Video walkthroughs → 3D report → Ask Gemini</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Video upload with a live 3D-scan view, Lite or Advanced</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Interactive 3D viewer: walk inside, see coverage gaps</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Reports in HTML, Markdown, JSON; REST API at /docs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One Cloud Run service, powered by Gemini on Vertex AI</a:t>
            </a:r>
          </a:p>
        </p:txBody>
      </p:sp>
      <p:pic>
        <p:nvPicPr>
          <p:cNvPr id="137" name="Architecture diagram" descr="Architecture: users upload a phone walkthrough to one Cloud Run service with an L4 GPU. Inside it the web app, 3D engine, coverage, AI inspection, risk engine and 3D report run in sequence. It calls Gemini 3.8 Flash on Vertex AI and writes to Cloud Storage, BigQuery and Pub/Sub, which notifies core systems."/>
          <p:cNvPicPr>
            <a:picLocks noChangeAspect="1"/>
          </p:cNvPicPr>
          <p:nvPr/>
        </p:nvPicPr>
        <p:blipFill>
          <a:blip r:embed="rId5"/>
          <a:stretch>
            <a:fillRect/>
          </a:stretch>
        </p:blipFill>
        <p:spPr>
          <a:xfrm>
            <a:off x="347472" y="1371600"/>
            <a:ext cx="8449056" cy="33796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Built on Google AI and Google Cloud, with best-in-class open models</a:t>
            </a:r>
          </a:p>
        </p:txBody>
      </p:sp>
      <p:sp>
        <p:nvSpPr>
          <p:cNvPr id="121" name="TextBox 120"/>
          <p:cNvSpPr txBox="1"/>
          <p:nvPr/>
        </p:nvSpPr>
        <p:spPr>
          <a:xfrm>
            <a:off x="347472" y="1353312"/>
            <a:ext cx="41148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GOOGLE AI &amp; CLOUD, IN THE PROTOTYPE</a:t>
            </a:r>
          </a:p>
        </p:txBody>
      </p:sp>
      <p:sp>
        <p:nvSpPr>
          <p:cNvPr id="122" name="Rounded Rectangle 121"/>
          <p:cNvSpPr/>
          <p:nvPr/>
        </p:nvSpPr>
        <p:spPr>
          <a:xfrm>
            <a:off x="347472"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Oval 122"/>
          <p:cNvSpPr/>
          <p:nvPr/>
        </p:nvSpPr>
        <p:spPr>
          <a:xfrm>
            <a:off x="420624"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24" name="TextBox 123"/>
          <p:cNvSpPr txBox="1"/>
          <p:nvPr/>
        </p:nvSpPr>
        <p:spPr>
          <a:xfrm>
            <a:off x="731520" y="1627632"/>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Gemini on Vertex AI</a:t>
            </a:r>
          </a:p>
        </p:txBody>
      </p:sp>
      <p:sp>
        <p:nvSpPr>
          <p:cNvPr id="125" name="TextBox 124"/>
          <p:cNvSpPr txBox="1"/>
          <p:nvPr/>
        </p:nvSpPr>
        <p:spPr>
          <a:xfrm>
            <a:off x="731520" y="1819656"/>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Scene, authenticity, analysis, grounded Q&amp;A, 3D object names</a:t>
            </a:r>
          </a:p>
        </p:txBody>
      </p:sp>
      <p:sp>
        <p:nvSpPr>
          <p:cNvPr id="126" name="Rounded Rectangle 125"/>
          <p:cNvSpPr/>
          <p:nvPr/>
        </p:nvSpPr>
        <p:spPr>
          <a:xfrm>
            <a:off x="2423160"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Oval 126"/>
          <p:cNvSpPr/>
          <p:nvPr/>
        </p:nvSpPr>
        <p:spPr>
          <a:xfrm>
            <a:off x="2496312"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28" name="TextBox 127"/>
          <p:cNvSpPr txBox="1"/>
          <p:nvPr/>
        </p:nvSpPr>
        <p:spPr>
          <a:xfrm>
            <a:off x="2807208" y="1627632"/>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Gemma 4 (E4B)</a:t>
            </a:r>
          </a:p>
        </p:txBody>
      </p:sp>
      <p:sp>
        <p:nvSpPr>
          <p:cNvPr id="129" name="TextBox 128"/>
          <p:cNvSpPr txBox="1"/>
          <p:nvPr/>
        </p:nvSpPr>
        <p:spPr>
          <a:xfrm>
            <a:off x="2807208" y="1819656"/>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Open Google model that verifies every defect crop on the GPU</a:t>
            </a:r>
          </a:p>
        </p:txBody>
      </p:sp>
      <p:sp>
        <p:nvSpPr>
          <p:cNvPr id="130" name="Rounded Rectangle 129"/>
          <p:cNvSpPr/>
          <p:nvPr/>
        </p:nvSpPr>
        <p:spPr>
          <a:xfrm>
            <a:off x="347472"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Oval 130"/>
          <p:cNvSpPr/>
          <p:nvPr/>
        </p:nvSpPr>
        <p:spPr>
          <a:xfrm>
            <a:off x="420624" y="231343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2" name="TextBox 131"/>
          <p:cNvSpPr txBox="1"/>
          <p:nvPr/>
        </p:nvSpPr>
        <p:spPr>
          <a:xfrm>
            <a:off x="731520" y="2231136"/>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Run + NVIDIA L4</a:t>
            </a:r>
          </a:p>
        </p:txBody>
      </p:sp>
      <p:sp>
        <p:nvSpPr>
          <p:cNvPr id="133" name="TextBox 132"/>
          <p:cNvSpPr txBox="1"/>
          <p:nvPr/>
        </p:nvSpPr>
        <p:spPr>
          <a:xfrm>
            <a:off x="731520" y="2423160"/>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The whole app in one container; scales to zero</a:t>
            </a:r>
          </a:p>
        </p:txBody>
      </p:sp>
      <p:sp>
        <p:nvSpPr>
          <p:cNvPr id="134" name="Rounded Rectangle 133"/>
          <p:cNvSpPr/>
          <p:nvPr/>
        </p:nvSpPr>
        <p:spPr>
          <a:xfrm>
            <a:off x="2423160"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Oval 134"/>
          <p:cNvSpPr/>
          <p:nvPr/>
        </p:nvSpPr>
        <p:spPr>
          <a:xfrm>
            <a:off x="2496312" y="231343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6" name="TextBox 135"/>
          <p:cNvSpPr txBox="1"/>
          <p:nvPr/>
        </p:nvSpPr>
        <p:spPr>
          <a:xfrm>
            <a:off x="2807208" y="2231136"/>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Storage</a:t>
            </a:r>
          </a:p>
        </p:txBody>
      </p:sp>
      <p:sp>
        <p:nvSpPr>
          <p:cNvPr id="137" name="TextBox 136"/>
          <p:cNvSpPr txBox="1"/>
          <p:nvPr/>
        </p:nvSpPr>
        <p:spPr>
          <a:xfrm>
            <a:off x="2807208" y="2423160"/>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FUSE-mounted data: uploads, reports, 3D models</a:t>
            </a:r>
          </a:p>
        </p:txBody>
      </p:sp>
      <p:sp>
        <p:nvSpPr>
          <p:cNvPr id="138" name="Rounded Rectangle 137"/>
          <p:cNvSpPr/>
          <p:nvPr/>
        </p:nvSpPr>
        <p:spPr>
          <a:xfrm>
            <a:off x="347472"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Oval 138"/>
          <p:cNvSpPr/>
          <p:nvPr/>
        </p:nvSpPr>
        <p:spPr>
          <a:xfrm>
            <a:off x="420624"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0" name="TextBox 139"/>
          <p:cNvSpPr txBox="1"/>
          <p:nvPr/>
        </p:nvSpPr>
        <p:spPr>
          <a:xfrm>
            <a:off x="731520" y="2834640"/>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BigQuery</a:t>
            </a:r>
          </a:p>
        </p:txBody>
      </p:sp>
      <p:sp>
        <p:nvSpPr>
          <p:cNvPr id="141" name="TextBox 140"/>
          <p:cNvSpPr txBox="1"/>
          <p:nvPr/>
        </p:nvSpPr>
        <p:spPr>
          <a:xfrm>
            <a:off x="731520" y="3026664"/>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One row per inspection: grade, decision, perils, flags, coverage</a:t>
            </a:r>
          </a:p>
        </p:txBody>
      </p:sp>
      <p:sp>
        <p:nvSpPr>
          <p:cNvPr id="142" name="Rounded Rectangle 141"/>
          <p:cNvSpPr/>
          <p:nvPr/>
        </p:nvSpPr>
        <p:spPr>
          <a:xfrm>
            <a:off x="2423160"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Oval 142"/>
          <p:cNvSpPr/>
          <p:nvPr/>
        </p:nvSpPr>
        <p:spPr>
          <a:xfrm>
            <a:off x="2496312"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4" name="TextBox 143"/>
          <p:cNvSpPr txBox="1"/>
          <p:nvPr/>
        </p:nvSpPr>
        <p:spPr>
          <a:xfrm>
            <a:off x="2807208" y="2834640"/>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Pub/Sub</a:t>
            </a:r>
          </a:p>
        </p:txBody>
      </p:sp>
      <p:sp>
        <p:nvSpPr>
          <p:cNvPr id="145" name="TextBox 144"/>
          <p:cNvSpPr txBox="1"/>
          <p:nvPr/>
        </p:nvSpPr>
        <p:spPr>
          <a:xfrm>
            <a:off x="2807208" y="3026664"/>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Event-driven hand-off to underwriting and claims</a:t>
            </a:r>
          </a:p>
        </p:txBody>
      </p:sp>
      <p:sp>
        <p:nvSpPr>
          <p:cNvPr id="146" name="Rounded Rectangle 145"/>
          <p:cNvSpPr/>
          <p:nvPr/>
        </p:nvSpPr>
        <p:spPr>
          <a:xfrm>
            <a:off x="347472"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Oval 146"/>
          <p:cNvSpPr/>
          <p:nvPr/>
        </p:nvSpPr>
        <p:spPr>
          <a:xfrm>
            <a:off x="420624" y="35204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8" name="TextBox 147"/>
          <p:cNvSpPr txBox="1"/>
          <p:nvPr/>
        </p:nvSpPr>
        <p:spPr>
          <a:xfrm>
            <a:off x="731520" y="3438144"/>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Build + Artifact Registry</a:t>
            </a:r>
          </a:p>
        </p:txBody>
      </p:sp>
      <p:sp>
        <p:nvSpPr>
          <p:cNvPr id="149" name="TextBox 148"/>
          <p:cNvSpPr txBox="1"/>
          <p:nvPr/>
        </p:nvSpPr>
        <p:spPr>
          <a:xfrm>
            <a:off x="731520" y="3630168"/>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Reproducible container build with baked-in models</a:t>
            </a:r>
          </a:p>
        </p:txBody>
      </p:sp>
      <p:sp>
        <p:nvSpPr>
          <p:cNvPr id="150" name="Rounded Rectangle 149"/>
          <p:cNvSpPr/>
          <p:nvPr/>
        </p:nvSpPr>
        <p:spPr>
          <a:xfrm>
            <a:off x="2423160"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Oval 150"/>
          <p:cNvSpPr/>
          <p:nvPr/>
        </p:nvSpPr>
        <p:spPr>
          <a:xfrm>
            <a:off x="2496312" y="35204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52" name="TextBox 151"/>
          <p:cNvSpPr txBox="1"/>
          <p:nvPr/>
        </p:nvSpPr>
        <p:spPr>
          <a:xfrm>
            <a:off x="2807208" y="3438144"/>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IAM service account + Logging</a:t>
            </a:r>
          </a:p>
        </p:txBody>
      </p:sp>
      <p:sp>
        <p:nvSpPr>
          <p:cNvPr id="153" name="TextBox 152"/>
          <p:cNvSpPr txBox="1"/>
          <p:nvPr/>
        </p:nvSpPr>
        <p:spPr>
          <a:xfrm>
            <a:off x="2807208" y="3630168"/>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Least privilege, no keys in production</a:t>
            </a:r>
          </a:p>
        </p:txBody>
      </p:sp>
      <p:sp>
        <p:nvSpPr>
          <p:cNvPr id="154" name="TextBox 153"/>
          <p:cNvSpPr txBox="1"/>
          <p:nvPr/>
        </p:nvSpPr>
        <p:spPr>
          <a:xfrm>
            <a:off x="4617720" y="1353312"/>
            <a:ext cx="201168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OPEN MODELS &amp; LIBRARIES</a:t>
            </a:r>
          </a:p>
        </p:txBody>
      </p:sp>
      <p:sp>
        <p:nvSpPr>
          <p:cNvPr id="155" name="TextBox 154"/>
          <p:cNvSpPr txBox="1"/>
          <p:nvPr/>
        </p:nvSpPr>
        <p:spPr>
          <a:xfrm>
            <a:off x="4617720" y="1572768"/>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LocateAnything-3B</a:t>
            </a:r>
            <a:r>
              <a:rPr sz="650" b="0" i="0">
                <a:solidFill>
                  <a:srgbClr val="5F6368"/>
                </a:solidFill>
                <a:latin typeface="Google Sans Flex"/>
                <a:ea typeface="Google Sans Flex"/>
                <a:cs typeface="Google Sans Flex"/>
              </a:rPr>
              <a:t>  open-vocabulary defect boxes</a:t>
            </a:r>
          </a:p>
        </p:txBody>
      </p:sp>
      <p:sp>
        <p:nvSpPr>
          <p:cNvPr id="156" name="TextBox 155"/>
          <p:cNvSpPr txBox="1"/>
          <p:nvPr/>
        </p:nvSpPr>
        <p:spPr>
          <a:xfrm>
            <a:off x="4617720" y="1874519"/>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llama.cpp</a:t>
            </a:r>
            <a:r>
              <a:rPr sz="650" b="0" i="0">
                <a:solidFill>
                  <a:srgbClr val="5F6368"/>
                </a:solidFill>
                <a:latin typeface="Google Sans Flex"/>
                <a:ea typeface="Google Sans Flex"/>
                <a:cs typeface="Google Sans Flex"/>
              </a:rPr>
              <a:t>  local GPU inference for Gemma 4</a:t>
            </a:r>
          </a:p>
        </p:txBody>
      </p:sp>
      <p:sp>
        <p:nvSpPr>
          <p:cNvPr id="157" name="TextBox 156"/>
          <p:cNvSpPr txBox="1"/>
          <p:nvPr/>
        </p:nvSpPr>
        <p:spPr>
          <a:xfrm>
            <a:off x="4617720" y="2176272"/>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Depth Anything 3</a:t>
            </a:r>
            <a:r>
              <a:rPr sz="650" b="0" i="0">
                <a:solidFill>
                  <a:srgbClr val="5F6368"/>
                </a:solidFill>
                <a:latin typeface="Google Sans Flex"/>
                <a:ea typeface="Google Sans Flex"/>
                <a:cs typeface="Google Sans Flex"/>
              </a:rPr>
              <a:t>  monocular depth per frame</a:t>
            </a:r>
          </a:p>
        </p:txBody>
      </p:sp>
      <p:sp>
        <p:nvSpPr>
          <p:cNvPr id="158" name="TextBox 157"/>
          <p:cNvSpPr txBox="1"/>
          <p:nvPr/>
        </p:nvSpPr>
        <p:spPr>
          <a:xfrm>
            <a:off x="4617720" y="2478024"/>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OpenCV 5</a:t>
            </a:r>
            <a:r>
              <a:rPr sz="650" b="0" i="0">
                <a:solidFill>
                  <a:srgbClr val="5F6368"/>
                </a:solidFill>
                <a:latin typeface="Google Sans Flex"/>
                <a:ea typeface="Google Sans Flex"/>
                <a:cs typeface="Google Sans Flex"/>
              </a:rPr>
              <a:t>  SLAM tracking, ICP, CV evidence</a:t>
            </a:r>
          </a:p>
        </p:txBody>
      </p:sp>
      <p:sp>
        <p:nvSpPr>
          <p:cNvPr id="159" name="TextBox 158"/>
          <p:cNvSpPr txBox="1"/>
          <p:nvPr/>
        </p:nvSpPr>
        <p:spPr>
          <a:xfrm>
            <a:off x="4617720" y="2779776"/>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Open3D</a:t>
            </a:r>
            <a:r>
              <a:rPr sz="650" b="0" i="0">
                <a:solidFill>
                  <a:srgbClr val="5F6368"/>
                </a:solidFill>
                <a:latin typeface="Google Sans Flex"/>
                <a:ea typeface="Google Sans Flex"/>
                <a:cs typeface="Google Sans Flex"/>
              </a:rPr>
              <a:t>  TSDF fusion, meshes, GLB export</a:t>
            </a:r>
          </a:p>
        </p:txBody>
      </p:sp>
      <p:sp>
        <p:nvSpPr>
          <p:cNvPr id="160" name="TextBox 159"/>
          <p:cNvSpPr txBox="1"/>
          <p:nvPr/>
        </p:nvSpPr>
        <p:spPr>
          <a:xfrm>
            <a:off x="4617720" y="3081528"/>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gsplat</a:t>
            </a:r>
            <a:r>
              <a:rPr sz="650" b="0" i="0">
                <a:solidFill>
                  <a:srgbClr val="5F6368"/>
                </a:solidFill>
                <a:latin typeface="Google Sans Flex"/>
                <a:ea typeface="Google Sans Flex"/>
                <a:cs typeface="Google Sans Flex"/>
              </a:rPr>
              <a:t>  Gaussian-splatting experiment</a:t>
            </a:r>
          </a:p>
        </p:txBody>
      </p:sp>
      <p:sp>
        <p:nvSpPr>
          <p:cNvPr id="161" name="TextBox 160"/>
          <p:cNvSpPr txBox="1"/>
          <p:nvPr/>
        </p:nvSpPr>
        <p:spPr>
          <a:xfrm>
            <a:off x="4617720" y="3383280"/>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FastAPI + Python</a:t>
            </a:r>
            <a:r>
              <a:rPr sz="650" b="0" i="0">
                <a:solidFill>
                  <a:srgbClr val="5F6368"/>
                </a:solidFill>
                <a:latin typeface="Google Sans Flex"/>
                <a:ea typeface="Google Sans Flex"/>
                <a:cs typeface="Google Sans Flex"/>
              </a:rPr>
              <a:t>  18 REST endpoints, web UI, /docs</a:t>
            </a:r>
          </a:p>
        </p:txBody>
      </p:sp>
      <p:sp>
        <p:nvSpPr>
          <p:cNvPr id="162" name="TextBox 161"/>
          <p:cNvSpPr txBox="1"/>
          <p:nvPr/>
        </p:nvSpPr>
        <p:spPr>
          <a:xfrm>
            <a:off x="4617720" y="3685032"/>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YAML rule engine</a:t>
            </a:r>
            <a:r>
              <a:rPr sz="650" b="0" i="0">
                <a:solidFill>
                  <a:srgbClr val="5F6368"/>
                </a:solidFill>
                <a:latin typeface="Google Sans Flex"/>
                <a:ea typeface="Google Sans Flex"/>
                <a:cs typeface="Google Sans Flex"/>
              </a:rPr>
              <a:t>  client-owned risk rules</a:t>
            </a:r>
          </a:p>
        </p:txBody>
      </p:sp>
      <p:sp>
        <p:nvSpPr>
          <p:cNvPr id="163" name="TextBox 162"/>
          <p:cNvSpPr txBox="1"/>
          <p:nvPr/>
        </p:nvSpPr>
        <p:spPr>
          <a:xfrm>
            <a:off x="6784848" y="1353312"/>
            <a:ext cx="201168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NEXT ON THE ROADMAP</a:t>
            </a:r>
          </a:p>
        </p:txBody>
      </p:sp>
      <p:sp>
        <p:nvSpPr>
          <p:cNvPr id="164" name="Rounded Rectangle 163"/>
          <p:cNvSpPr/>
          <p:nvPr/>
        </p:nvSpPr>
        <p:spPr>
          <a:xfrm>
            <a:off x="6784848" y="1572768"/>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Document AI</a:t>
            </a:r>
          </a:p>
          <a:p>
            <a:pPr algn="l">
              <a:spcAft>
                <a:spcPts val="200"/>
              </a:spcAft>
            </a:pPr>
            <a:r>
              <a:rPr sz="650" b="0" i="0">
                <a:solidFill>
                  <a:srgbClr val="202124"/>
                </a:solidFill>
                <a:latin typeface="Google Sans Flex"/>
                <a:ea typeface="Google Sans Flex"/>
                <a:cs typeface="Google Sans Flex"/>
              </a:rPr>
              <a:t>Title deeds, valuation reports, repair invoices cross-checked with images</a:t>
            </a:r>
          </a:p>
        </p:txBody>
      </p:sp>
      <p:sp>
        <p:nvSpPr>
          <p:cNvPr id="165" name="Rounded Rectangle 164"/>
          <p:cNvSpPr/>
          <p:nvPr/>
        </p:nvSpPr>
        <p:spPr>
          <a:xfrm>
            <a:off x="6784848" y="2176272"/>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Vertex AI Search</a:t>
            </a:r>
          </a:p>
          <a:p>
            <a:pPr algn="l">
              <a:spcAft>
                <a:spcPts val="200"/>
              </a:spcAft>
            </a:pPr>
            <a:r>
              <a:rPr sz="650" b="0" i="0">
                <a:solidFill>
                  <a:srgbClr val="202124"/>
                </a:solidFill>
                <a:latin typeface="Google Sans Flex"/>
                <a:ea typeface="Google Sans Flex"/>
                <a:cs typeface="Google Sans Flex"/>
              </a:rPr>
              <a:t>Policy wording and lending guidelines for the assistant</a:t>
            </a:r>
          </a:p>
        </p:txBody>
      </p:sp>
      <p:sp>
        <p:nvSpPr>
          <p:cNvPr id="166" name="Rounded Rectangle 165"/>
          <p:cNvSpPr/>
          <p:nvPr/>
        </p:nvSpPr>
        <p:spPr>
          <a:xfrm>
            <a:off x="6784848" y="2779776"/>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Vertex AI + BigQuery ML</a:t>
            </a:r>
          </a:p>
          <a:p>
            <a:pPr algn="l">
              <a:spcAft>
                <a:spcPts val="200"/>
              </a:spcAft>
            </a:pPr>
            <a:r>
              <a:rPr sz="650" b="0" i="0">
                <a:solidFill>
                  <a:srgbClr val="202124"/>
                </a:solidFill>
                <a:latin typeface="Google Sans Flex"/>
                <a:ea typeface="Google Sans Flex"/>
                <a:cs typeface="Google Sans Flex"/>
              </a:rPr>
              <a:t>Claim-likelihood and collateral-risk models</a:t>
            </a:r>
          </a:p>
        </p:txBody>
      </p:sp>
      <p:sp>
        <p:nvSpPr>
          <p:cNvPr id="167" name="Rounded Rectangle 166"/>
          <p:cNvSpPr/>
          <p:nvPr/>
        </p:nvSpPr>
        <p:spPr>
          <a:xfrm>
            <a:off x="6784848" y="3383280"/>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Cloud SQL / AlloyDB</a:t>
            </a:r>
          </a:p>
          <a:p>
            <a:pPr algn="l">
              <a:spcAft>
                <a:spcPts val="200"/>
              </a:spcAft>
            </a:pPr>
            <a:r>
              <a:rPr sz="650" b="0" i="0">
                <a:solidFill>
                  <a:srgbClr val="202124"/>
                </a:solidFill>
                <a:latin typeface="Google Sans Flex"/>
                <a:ea typeface="Google Sans Flex"/>
                <a:cs typeface="Google Sans Flex"/>
              </a:rPr>
              <a:t>Multi-tenant case management, audit trail, SSO</a:t>
            </a:r>
          </a:p>
        </p:txBody>
      </p:sp>
      <p:sp>
        <p:nvSpPr>
          <p:cNvPr id="168" name="Rounded Rectangle 167"/>
          <p:cNvSpPr/>
          <p:nvPr/>
        </p:nvSpPr>
        <p:spPr>
          <a:xfrm>
            <a:off x="347472" y="4096512"/>
            <a:ext cx="8449056" cy="786384"/>
          </a:xfrm>
          <a:prstGeom prst="roundRect">
            <a:avLst>
              <a:gd name="adj" fmla="val 697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02412" rIns="128016" bIns="102412" rtlCol="0" anchor="ctr">
            <a:noAutofit/>
          </a:bodyPr>
          <a:lstStyle/>
          <a:p>
            <a:pPr algn="l">
              <a:spcAft>
                <a:spcPts val="200"/>
              </a:spcAft>
            </a:pPr>
            <a:r>
              <a:rPr sz="850" b="1" i="0">
                <a:solidFill>
                  <a:srgbClr val="202124"/>
                </a:solidFill>
                <a:latin typeface="Google Sans Flex"/>
                <a:ea typeface="Google Sans Flex"/>
                <a:cs typeface="Google Sans Flex"/>
              </a:rPr>
              <a:t>Why this stack: </a:t>
            </a:r>
            <a:r>
              <a:rPr sz="850" b="0" i="0">
                <a:solidFill>
                  <a:srgbClr val="202124"/>
                </a:solidFill>
                <a:latin typeface="Google Sans Flex"/>
                <a:ea typeface="Google Sans Flex"/>
                <a:cs typeface="Google Sans Flex"/>
              </a:rPr>
              <a:t>Gemini does reasoning, authenticity and explanation; open models on the Cloud Run GPU do high-volume boxing and verification cheaply; deterministic rules keep decisions auditable. Data stays in the client's own Google Cloud project, and BigQuery + Pub/Sub plug straight into lending, underwriting and claims systems.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Priced per inspection, far below a physical site visit</a:t>
            </a:r>
          </a:p>
        </p:txBody>
      </p:sp>
      <p:sp>
        <p:nvSpPr>
          <p:cNvPr id="129" name="TextBox 128"/>
          <p:cNvSpPr txBox="1"/>
          <p:nvPr/>
        </p:nvSpPr>
        <p:spPr>
          <a:xfrm>
            <a:off x="347472" y="1353312"/>
            <a:ext cx="45720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UNIT ECONOMICS (INDICATIVE, FROM THE PROTOTYPE)</a:t>
            </a:r>
          </a:p>
        </p:txBody>
      </p:sp>
      <p:graphicFrame>
        <p:nvGraphicFramePr>
          <p:cNvPr id="130" name="Table 129"/>
          <p:cNvGraphicFramePr>
            <a:graphicFrameLocks noGrp="1"/>
          </p:cNvGraphicFramePr>
          <p:nvPr/>
        </p:nvGraphicFramePr>
        <p:xfrm>
          <a:off x="347472" y="1572768"/>
          <a:ext cx="4937760" cy="2368296"/>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338328">
                <a:tc>
                  <a:txBody>
                    <a:bodyPr/>
                    <a:lstStyle/>
                    <a:p>
                      <a:pPr algn="l">
                        <a:spcAft>
                          <a:spcPts val="200"/>
                        </a:spcAft>
                      </a:pPr>
                      <a:r>
                        <a:rPr sz="850" b="1" i="0">
                          <a:solidFill>
                            <a:srgbClr val="FFFFFF"/>
                          </a:solidFill>
                          <a:latin typeface="Google Sans Flex"/>
                          <a:ea typeface="Google Sans Flex"/>
                          <a:cs typeface="Google Sans Flex"/>
                        </a:rPr>
                        <a:t>Cost item</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Basis</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Estimate</a:t>
                      </a:r>
                    </a:p>
                  </a:txBody>
                  <a:tcPr marL="64008" marR="64008" anchor="ctr">
                    <a:solidFill>
                      <a:srgbClr val="202124"/>
                    </a:solidFill>
                  </a:tcPr>
                </a:tc>
                <a:extLst>
                  <a:ext uri="{0D108BD9-81ED-4DB2-BD59-A6C34878D82A}">
                    <a16:rowId xmlns:a16="http://schemas.microsoft.com/office/drawing/2014/main" val="10000"/>
                  </a:ext>
                </a:extLst>
              </a:tr>
              <a:tr h="338328">
                <a:tc>
                  <a:txBody>
                    <a:bodyPr/>
                    <a:lstStyle/>
                    <a:p>
                      <a:pPr algn="l">
                        <a:spcAft>
                          <a:spcPts val="200"/>
                        </a:spcAft>
                      </a:pPr>
                      <a:r>
                        <a:rPr sz="850" b="0" i="0">
                          <a:solidFill>
                            <a:srgbClr val="202124"/>
                          </a:solidFill>
                          <a:latin typeface="Google Sans Flex"/>
                          <a:ea typeface="Google Sans Flex"/>
                          <a:cs typeface="Google Sans Flex"/>
                        </a:rPr>
                        <a:t>Gemini calls (Vertex AI)</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 $0.005 per call</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$0.35 per walkthrough</a:t>
                      </a:r>
                    </a:p>
                  </a:txBody>
                  <a:tcPr marL="64008" marR="64008" anchor="ctr">
                    <a:solidFill>
                      <a:srgbClr val="F1F3F4"/>
                    </a:solidFill>
                  </a:tcPr>
                </a:tc>
                <a:extLst>
                  <a:ext uri="{0D108BD9-81ED-4DB2-BD59-A6C34878D82A}">
                    <a16:rowId xmlns:a16="http://schemas.microsoft.com/office/drawing/2014/main" val="10001"/>
                  </a:ext>
                </a:extLst>
              </a:tr>
              <a:tr h="338328">
                <a:tc>
                  <a:txBody>
                    <a:bodyPr/>
                    <a:lstStyle/>
                    <a:p>
                      <a:pPr algn="l">
                        <a:spcAft>
                          <a:spcPts val="200"/>
                        </a:spcAft>
                      </a:pPr>
                      <a:r>
                        <a:rPr sz="850" b="0" i="0">
                          <a:solidFill>
                            <a:srgbClr val="202124"/>
                          </a:solidFill>
                          <a:latin typeface="Google Sans Flex"/>
                          <a:ea typeface="Google Sans Flex"/>
                          <a:cs typeface="Google Sans Flex"/>
                        </a:rPr>
                        <a:t>NVIDIA L4 GPU on Cloud Run</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 $1.42 per hour (8 vCPU, 32 GiB)</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Scales to zero when idle</a:t>
                      </a:r>
                    </a:p>
                  </a:txBody>
                  <a:tcPr marL="64008" marR="64008" anchor="ctr">
                    <a:solidFill>
                      <a:srgbClr val="FFFFFF"/>
                    </a:solidFill>
                  </a:tcPr>
                </a:tc>
                <a:extLst>
                  <a:ext uri="{0D108BD9-81ED-4DB2-BD59-A6C34878D82A}">
                    <a16:rowId xmlns:a16="http://schemas.microsoft.com/office/drawing/2014/main" val="10002"/>
                  </a:ext>
                </a:extLst>
              </a:tr>
              <a:tr h="338328">
                <a:tc>
                  <a:txBody>
                    <a:bodyPr/>
                    <a:lstStyle/>
                    <a:p>
                      <a:pPr algn="l">
                        <a:spcAft>
                          <a:spcPts val="200"/>
                        </a:spcAft>
                      </a:pPr>
                      <a:r>
                        <a:rPr sz="850" b="0" i="0">
                          <a:solidFill>
                            <a:srgbClr val="202124"/>
                          </a:solidFill>
                          <a:latin typeface="Google Sans Flex"/>
                          <a:ea typeface="Google Sans Flex"/>
                          <a:cs typeface="Google Sans Flex"/>
                        </a:rPr>
                        <a:t>Video inspection compute</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10–35 min of GPU + Gemini</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$1 Lite, ≈ $1.50 Advanced</a:t>
                      </a:r>
                    </a:p>
                  </a:txBody>
                  <a:tcPr marL="64008" marR="64008" anchor="ctr">
                    <a:solidFill>
                      <a:srgbClr val="F1F3F4"/>
                    </a:solidFill>
                  </a:tcPr>
                </a:tc>
                <a:extLst>
                  <a:ext uri="{0D108BD9-81ED-4DB2-BD59-A6C34878D82A}">
                    <a16:rowId xmlns:a16="http://schemas.microsoft.com/office/drawing/2014/main" val="10003"/>
                  </a:ext>
                </a:extLst>
              </a:tr>
              <a:tr h="338328">
                <a:tc>
                  <a:txBody>
                    <a:bodyPr/>
                    <a:lstStyle/>
                    <a:p>
                      <a:pPr algn="l">
                        <a:spcAft>
                          <a:spcPts val="200"/>
                        </a:spcAft>
                      </a:pPr>
                      <a:r>
                        <a:rPr sz="850" b="0" i="0">
                          <a:solidFill>
                            <a:srgbClr val="202124"/>
                          </a:solidFill>
                          <a:latin typeface="Google Sans Flex"/>
                          <a:ea typeface="Google Sans Flex"/>
                          <a:cs typeface="Google Sans Flex"/>
                        </a:rPr>
                        <a:t>Two weeks of judging</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~40 visits, 20 videos</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 $50–70 in total</a:t>
                      </a:r>
                    </a:p>
                  </a:txBody>
                  <a:tcPr marL="64008" marR="64008" anchor="ctr">
                    <a:solidFill>
                      <a:srgbClr val="FFFFFF"/>
                    </a:solidFill>
                  </a:tcPr>
                </a:tc>
                <a:extLst>
                  <a:ext uri="{0D108BD9-81ED-4DB2-BD59-A6C34878D82A}">
                    <a16:rowId xmlns:a16="http://schemas.microsoft.com/office/drawing/2014/main" val="10004"/>
                  </a:ext>
                </a:extLst>
              </a:tr>
              <a:tr h="338328">
                <a:tc>
                  <a:txBody>
                    <a:bodyPr/>
                    <a:lstStyle/>
                    <a:p>
                      <a:pPr algn="l">
                        <a:spcAft>
                          <a:spcPts val="200"/>
                        </a:spcAft>
                      </a:pPr>
                      <a:r>
                        <a:rPr sz="850" b="0" i="0">
                          <a:solidFill>
                            <a:srgbClr val="202124"/>
                          </a:solidFill>
                          <a:latin typeface="Google Sans Flex"/>
                          <a:ea typeface="Google Sans Flex"/>
                          <a:cs typeface="Google Sans Flex"/>
                        </a:rPr>
                        <a:t>Storage, BigQuery, Pub/Sub</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Pay-per-use managed services</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Billed by usage</a:t>
                      </a:r>
                    </a:p>
                  </a:txBody>
                  <a:tcPr marL="64008" marR="64008" anchor="ctr">
                    <a:solidFill>
                      <a:srgbClr val="F1F3F4"/>
                    </a:solidFill>
                  </a:tcPr>
                </a:tc>
                <a:extLst>
                  <a:ext uri="{0D108BD9-81ED-4DB2-BD59-A6C34878D82A}">
                    <a16:rowId xmlns:a16="http://schemas.microsoft.com/office/drawing/2014/main" val="10005"/>
                  </a:ext>
                </a:extLst>
              </a:tr>
              <a:tr h="338328">
                <a:tc>
                  <a:txBody>
                    <a:bodyPr/>
                    <a:lstStyle/>
                    <a:p>
                      <a:pPr algn="l">
                        <a:spcAft>
                          <a:spcPts val="200"/>
                        </a:spcAft>
                      </a:pPr>
                      <a:r>
                        <a:rPr sz="850" b="0" i="0">
                          <a:solidFill>
                            <a:srgbClr val="202124"/>
                          </a:solidFill>
                          <a:latin typeface="Google Sans Flex"/>
                          <a:ea typeface="Google Sans Flex"/>
                          <a:cs typeface="Google Sans Flex"/>
                        </a:rPr>
                        <a:t>Deployment &amp; ops</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One-command deploy.sh, Cloud Build</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No servers to manage</a:t>
                      </a:r>
                    </a:p>
                  </a:txBody>
                  <a:tcPr marL="64008" marR="64008" anchor="ctr">
                    <a:solidFill>
                      <a:srgbClr val="FFFFFF"/>
                    </a:solidFill>
                  </a:tcPr>
                </a:tc>
                <a:extLst>
                  <a:ext uri="{0D108BD9-81ED-4DB2-BD59-A6C34878D82A}">
                    <a16:rowId xmlns:a16="http://schemas.microsoft.com/office/drawing/2014/main" val="10006"/>
                  </a:ext>
                </a:extLst>
              </a:tr>
            </a:tbl>
          </a:graphicData>
        </a:graphic>
      </p:graphicFrame>
      <p:sp>
        <p:nvSpPr>
          <p:cNvPr id="131" name="Rounded Rectangle 130"/>
          <p:cNvSpPr/>
          <p:nvPr/>
        </p:nvSpPr>
        <p:spPr>
          <a:xfrm>
            <a:off x="347472"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Box 131"/>
          <p:cNvSpPr txBox="1"/>
          <p:nvPr/>
        </p:nvSpPr>
        <p:spPr>
          <a:xfrm>
            <a:off x="438912"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 $0.35</a:t>
            </a:r>
          </a:p>
        </p:txBody>
      </p:sp>
      <p:sp>
        <p:nvSpPr>
          <p:cNvPr id="133" name="TextBox 132"/>
          <p:cNvSpPr txBox="1"/>
          <p:nvPr/>
        </p:nvSpPr>
        <p:spPr>
          <a:xfrm>
            <a:off x="438912"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Gemini per walkthrough</a:t>
            </a:r>
          </a:p>
        </p:txBody>
      </p:sp>
      <p:sp>
        <p:nvSpPr>
          <p:cNvPr id="134" name="Rounded Rectangle 133"/>
          <p:cNvSpPr/>
          <p:nvPr/>
        </p:nvSpPr>
        <p:spPr>
          <a:xfrm>
            <a:off x="2011680"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Box 134"/>
          <p:cNvSpPr txBox="1"/>
          <p:nvPr/>
        </p:nvSpPr>
        <p:spPr>
          <a:xfrm>
            <a:off x="2103120"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&lt; $1</a:t>
            </a:r>
          </a:p>
        </p:txBody>
      </p:sp>
      <p:sp>
        <p:nvSpPr>
          <p:cNvPr id="136" name="TextBox 135"/>
          <p:cNvSpPr txBox="1"/>
          <p:nvPr/>
        </p:nvSpPr>
        <p:spPr>
          <a:xfrm>
            <a:off x="2103120"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GPU compute per video</a:t>
            </a:r>
          </a:p>
        </p:txBody>
      </p:sp>
      <p:sp>
        <p:nvSpPr>
          <p:cNvPr id="137" name="Rounded Rectangle 136"/>
          <p:cNvSpPr/>
          <p:nvPr/>
        </p:nvSpPr>
        <p:spPr>
          <a:xfrm>
            <a:off x="3675888"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Box 137"/>
          <p:cNvSpPr txBox="1"/>
          <p:nvPr/>
        </p:nvSpPr>
        <p:spPr>
          <a:xfrm>
            <a:off x="3767328"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$0</a:t>
            </a:r>
          </a:p>
        </p:txBody>
      </p:sp>
      <p:sp>
        <p:nvSpPr>
          <p:cNvPr id="139" name="TextBox 138"/>
          <p:cNvSpPr txBox="1"/>
          <p:nvPr/>
        </p:nvSpPr>
        <p:spPr>
          <a:xfrm>
            <a:off x="3767328"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GPU cost when idle (scales to zero)</a:t>
            </a:r>
          </a:p>
        </p:txBody>
      </p:sp>
      <p:sp>
        <p:nvSpPr>
          <p:cNvPr id="140" name="TextBox 139"/>
          <p:cNvSpPr txBox="1"/>
          <p:nvPr/>
        </p:nvSpPr>
        <p:spPr>
          <a:xfrm>
            <a:off x="5532120" y="1353312"/>
            <a:ext cx="32004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BUSINESS MODEL</a:t>
            </a:r>
          </a:p>
        </p:txBody>
      </p:sp>
      <p:sp>
        <p:nvSpPr>
          <p:cNvPr id="141" name="Rounded Rectangle 140"/>
          <p:cNvSpPr/>
          <p:nvPr/>
        </p:nvSpPr>
        <p:spPr>
          <a:xfrm>
            <a:off x="5532120" y="157276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Pay-per-inspection API</a:t>
            </a:r>
          </a:p>
          <a:p>
            <a:pPr algn="l">
              <a:spcAft>
                <a:spcPts val="200"/>
              </a:spcAft>
            </a:pPr>
            <a:r>
              <a:rPr sz="750" b="0" i="0">
                <a:solidFill>
                  <a:srgbClr val="202124"/>
                </a:solidFill>
                <a:latin typeface="Google Sans Flex"/>
                <a:ea typeface="Google Sans Flex"/>
                <a:cs typeface="Google Sans Flex"/>
              </a:rPr>
              <a:t>Lenders and insurers send a walkthrough video from their own apps; get JSON, a report and a decision back.</a:t>
            </a:r>
          </a:p>
        </p:txBody>
      </p:sp>
      <p:sp>
        <p:nvSpPr>
          <p:cNvPr id="142" name="Rounded Rectangle 141"/>
          <p:cNvSpPr/>
          <p:nvPr/>
        </p:nvSpPr>
        <p:spPr>
          <a:xfrm>
            <a:off x="5532120" y="239572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Enterprise subscription</a:t>
            </a:r>
          </a:p>
          <a:p>
            <a:pPr algn="l">
              <a:spcAft>
                <a:spcPts val="200"/>
              </a:spcAft>
            </a:pPr>
            <a:r>
              <a:rPr sz="750" b="0" i="0">
                <a:solidFill>
                  <a:srgbClr val="202124"/>
                </a:solidFill>
                <a:latin typeface="Google Sans Flex"/>
                <a:ea typeface="Google Sans Flex"/>
                <a:cs typeface="Google Sans Flex"/>
              </a:rPr>
              <a:t>Portfolio dashboard, BigQuery export, custom risk rules, SSO, private deployment in the client's GCP project.</a:t>
            </a:r>
          </a:p>
        </p:txBody>
      </p:sp>
      <p:sp>
        <p:nvSpPr>
          <p:cNvPr id="143" name="Rounded Rectangle 142"/>
          <p:cNvSpPr/>
          <p:nvPr/>
        </p:nvSpPr>
        <p:spPr>
          <a:xfrm>
            <a:off x="5532120" y="321868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Inspector &amp; valuer firms</a:t>
            </a:r>
          </a:p>
          <a:p>
            <a:pPr algn="l">
              <a:spcAft>
                <a:spcPts val="200"/>
              </a:spcAft>
            </a:pPr>
            <a:r>
              <a:rPr sz="750" b="0" i="0">
                <a:solidFill>
                  <a:srgbClr val="202124"/>
                </a:solidFill>
                <a:latin typeface="Google Sans Flex"/>
                <a:ea typeface="Google Sans Flex"/>
                <a:cs typeface="Google Sans Flex"/>
              </a:rPr>
              <a:t>White-label app: AI drafts every report and coverage control, so each inspector handles more cases.</a:t>
            </a:r>
          </a:p>
        </p:txBody>
      </p:sp>
      <p:sp>
        <p:nvSpPr>
          <p:cNvPr id="144" name="Rounded Rectangle 143"/>
          <p:cNvSpPr/>
          <p:nvPr/>
        </p:nvSpPr>
        <p:spPr>
          <a:xfrm>
            <a:off x="5532120" y="4114800"/>
            <a:ext cx="3264408" cy="768096"/>
          </a:xfrm>
          <a:prstGeom prst="roundRect">
            <a:avLst>
              <a:gd name="adj" fmla="val 714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ctr">
            <a:noAutofit/>
          </a:bodyPr>
          <a:lstStyle/>
          <a:p>
            <a:pPr algn="l">
              <a:spcAft>
                <a:spcPts val="200"/>
              </a:spcAft>
            </a:pPr>
            <a:r>
              <a:rPr sz="800" b="1" i="0">
                <a:solidFill>
                  <a:srgbClr val="202124"/>
                </a:solidFill>
                <a:latin typeface="Google Sans Flex"/>
                <a:ea typeface="Google Sans Flex"/>
                <a:cs typeface="Google Sans Flex"/>
              </a:rPr>
              <a:t>Pricing hypothesis to validate in pilots: </a:t>
            </a:r>
            <a:r>
              <a:rPr sz="800" b="0" i="0">
                <a:solidFill>
                  <a:srgbClr val="202124"/>
                </a:solidFill>
                <a:latin typeface="Google Sans Flex"/>
                <a:ea typeface="Google Sans Flex"/>
                <a:cs typeface="Google Sans Flex"/>
              </a:rPr>
              <a:t>a per-inspection fee well below a physical visit, with volume tiers for portfolios.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Real screens and outputs from the working prototype v1.0.0</a:t>
            </a:r>
          </a:p>
        </p:txBody>
      </p:sp>
      <p:pic>
        <p:nvPicPr>
          <p:cNvPr id="137" name="Picture 136" descr="s05_154.jpg"/>
          <p:cNvPicPr>
            <a:picLocks noChangeAspect="1"/>
          </p:cNvPicPr>
          <p:nvPr/>
        </p:nvPicPr>
        <p:blipFill>
          <a:blip r:embed="rId5"/>
          <a:stretch>
            <a:fillRect/>
          </a:stretch>
        </p:blipFill>
        <p:spPr>
          <a:xfrm>
            <a:off x="604082" y="1325879"/>
            <a:ext cx="2211690" cy="1554480"/>
          </a:xfrm>
          <a:prstGeom prst="rect">
            <a:avLst/>
          </a:prstGeom>
          <a:ln w="9525">
            <a:solidFill>
              <a:srgbClr val="DADCE0"/>
            </a:solidFill>
          </a:ln>
        </p:spPr>
      </p:pic>
      <p:sp>
        <p:nvSpPr>
          <p:cNvPr id="138" name="TextBox 137"/>
          <p:cNvSpPr txBox="1"/>
          <p:nvPr/>
        </p:nvSpPr>
        <p:spPr>
          <a:xfrm>
            <a:off x="34747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3D report: findings, grade A, decision</a:t>
            </a:r>
          </a:p>
        </p:txBody>
      </p:sp>
      <p:pic>
        <p:nvPicPr>
          <p:cNvPr id="139" name="Picture 138" descr="s11_398.jpg"/>
          <p:cNvPicPr>
            <a:picLocks noChangeAspect="1"/>
          </p:cNvPicPr>
          <p:nvPr/>
        </p:nvPicPr>
        <p:blipFill>
          <a:blip r:embed="rId6"/>
          <a:stretch>
            <a:fillRect/>
          </a:stretch>
        </p:blipFill>
        <p:spPr>
          <a:xfrm>
            <a:off x="3300984" y="1325880"/>
            <a:ext cx="2487168" cy="1554480"/>
          </a:xfrm>
          <a:prstGeom prst="rect">
            <a:avLst/>
          </a:prstGeom>
          <a:ln w="9525">
            <a:solidFill>
              <a:srgbClr val="DADCE0"/>
            </a:solidFill>
          </a:ln>
        </p:spPr>
      </p:pic>
      <p:sp>
        <p:nvSpPr>
          <p:cNvPr id="140" name="TextBox 139"/>
          <p:cNvSpPr txBox="1"/>
          <p:nvPr/>
        </p:nvSpPr>
        <p:spPr>
          <a:xfrm>
            <a:off x="318211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Risk &amp; valuation panel: REFER with reasons</a:t>
            </a:r>
          </a:p>
        </p:txBody>
      </p:sp>
      <p:pic>
        <p:nvPicPr>
          <p:cNvPr id="141" name="Picture 140" descr="s09_319.jpg"/>
          <p:cNvPicPr>
            <a:picLocks noChangeAspect="1"/>
          </p:cNvPicPr>
          <p:nvPr/>
        </p:nvPicPr>
        <p:blipFill>
          <a:blip r:embed="rId7"/>
          <a:stretch>
            <a:fillRect/>
          </a:stretch>
        </p:blipFill>
        <p:spPr>
          <a:xfrm>
            <a:off x="6209626" y="1325880"/>
            <a:ext cx="2339162" cy="1554480"/>
          </a:xfrm>
          <a:prstGeom prst="rect">
            <a:avLst/>
          </a:prstGeom>
          <a:ln w="9525">
            <a:solidFill>
              <a:srgbClr val="DADCE0"/>
            </a:solidFill>
          </a:ln>
        </p:spPr>
      </p:pic>
      <p:sp>
        <p:nvSpPr>
          <p:cNvPr id="142" name="TextBox 141"/>
          <p:cNvSpPr txBox="1"/>
          <p:nvPr/>
        </p:nvSpPr>
        <p:spPr>
          <a:xfrm>
            <a:off x="601675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Keyframe detection: door and window damage</a:t>
            </a:r>
          </a:p>
        </p:txBody>
      </p:sp>
      <p:pic>
        <p:nvPicPr>
          <p:cNvPr id="143" name="Picture 142" descr="s13_484.jpg"/>
          <p:cNvPicPr>
            <a:picLocks noChangeAspect="1"/>
          </p:cNvPicPr>
          <p:nvPr/>
        </p:nvPicPr>
        <p:blipFill>
          <a:blip r:embed="rId8"/>
          <a:stretch>
            <a:fillRect/>
          </a:stretch>
        </p:blipFill>
        <p:spPr>
          <a:xfrm>
            <a:off x="853886" y="3127248"/>
            <a:ext cx="1712083" cy="1554480"/>
          </a:xfrm>
          <a:prstGeom prst="rect">
            <a:avLst/>
          </a:prstGeom>
          <a:ln w="9525">
            <a:solidFill>
              <a:srgbClr val="DADCE0"/>
            </a:solidFill>
          </a:ln>
        </p:spPr>
      </p:pic>
      <p:sp>
        <p:nvSpPr>
          <p:cNvPr id="144" name="TextBox 143"/>
          <p:cNvSpPr txBox="1"/>
          <p:nvPr/>
        </p:nvSpPr>
        <p:spPr>
          <a:xfrm>
            <a:off x="34747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Phone video → clean 3D model (GLB)</a:t>
            </a:r>
          </a:p>
        </p:txBody>
      </p:sp>
      <p:pic>
        <p:nvPicPr>
          <p:cNvPr id="145" name="Picture 144" descr="s14_524.jpg"/>
          <p:cNvPicPr>
            <a:picLocks noChangeAspect="1"/>
          </p:cNvPicPr>
          <p:nvPr/>
        </p:nvPicPr>
        <p:blipFill>
          <a:blip r:embed="rId9"/>
          <a:stretch>
            <a:fillRect/>
          </a:stretch>
        </p:blipFill>
        <p:spPr>
          <a:xfrm>
            <a:off x="3769517" y="3127248"/>
            <a:ext cx="1550101" cy="1554480"/>
          </a:xfrm>
          <a:prstGeom prst="rect">
            <a:avLst/>
          </a:prstGeom>
          <a:ln w="9525">
            <a:solidFill>
              <a:srgbClr val="DADCE0"/>
            </a:solidFill>
          </a:ln>
        </p:spPr>
      </p:pic>
      <p:sp>
        <p:nvSpPr>
          <p:cNvPr id="146" name="TextBox 145"/>
          <p:cNvSpPr txBox="1"/>
          <p:nvPr/>
        </p:nvSpPr>
        <p:spPr>
          <a:xfrm>
            <a:off x="318211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Coverage map: what to film again</a:t>
            </a:r>
          </a:p>
        </p:txBody>
      </p:sp>
      <p:pic>
        <p:nvPicPr>
          <p:cNvPr id="147" name="Picture 146" descr="s15_550.jpg"/>
          <p:cNvPicPr>
            <a:picLocks noChangeAspect="1"/>
          </p:cNvPicPr>
          <p:nvPr/>
        </p:nvPicPr>
        <p:blipFill>
          <a:blip r:embed="rId10"/>
          <a:stretch>
            <a:fillRect/>
          </a:stretch>
        </p:blipFill>
        <p:spPr>
          <a:xfrm>
            <a:off x="6016752" y="3298310"/>
            <a:ext cx="2724912" cy="1212354"/>
          </a:xfrm>
          <a:prstGeom prst="rect">
            <a:avLst/>
          </a:prstGeom>
          <a:ln w="9525">
            <a:solidFill>
              <a:srgbClr val="DADCE0"/>
            </a:solidFill>
          </a:ln>
        </p:spPr>
      </p:pic>
      <p:sp>
        <p:nvSpPr>
          <p:cNvPr id="148" name="TextBox 147"/>
          <p:cNvSpPr txBox="1"/>
          <p:nvPr/>
        </p:nvSpPr>
        <p:spPr>
          <a:xfrm>
            <a:off x="601675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Gemini property analysis (co-pilot)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Measured on a real 20-second walkthrough, plus a fair 4-pipeline evaluation</a:t>
            </a:r>
          </a:p>
        </p:txBody>
      </p:sp>
      <p:sp>
        <p:nvSpPr>
          <p:cNvPr id="145" name="TextBox 144"/>
          <p:cNvSpPr txBox="1"/>
          <p:nvPr/>
        </p:nvSpPr>
        <p:spPr>
          <a:xfrm>
            <a:off x="347472" y="1325880"/>
            <a:ext cx="4114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CASE STUDY: REAL HOME WALKTHROUGH (MEASURED)</a:t>
            </a:r>
          </a:p>
        </p:txBody>
      </p:sp>
      <p:sp>
        <p:nvSpPr>
          <p:cNvPr id="146" name="Rounded Rectangle 145"/>
          <p:cNvSpPr/>
          <p:nvPr/>
        </p:nvSpPr>
        <p:spPr>
          <a:xfrm>
            <a:off x="3474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Box 146"/>
          <p:cNvSpPr txBox="1"/>
          <p:nvPr/>
        </p:nvSpPr>
        <p:spPr>
          <a:xfrm>
            <a:off x="4389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19.6 s</a:t>
            </a:r>
          </a:p>
        </p:txBody>
      </p:sp>
      <p:sp>
        <p:nvSpPr>
          <p:cNvPr id="148" name="TextBox 147"/>
          <p:cNvSpPr txBox="1"/>
          <p:nvPr/>
        </p:nvSpPr>
        <p:spPr>
          <a:xfrm>
            <a:off x="4389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phone video</a:t>
            </a:r>
          </a:p>
        </p:txBody>
      </p:sp>
      <p:sp>
        <p:nvSpPr>
          <p:cNvPr id="149" name="Rounded Rectangle 148"/>
          <p:cNvSpPr/>
          <p:nvPr/>
        </p:nvSpPr>
        <p:spPr>
          <a:xfrm>
            <a:off x="17190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Box 149"/>
          <p:cNvSpPr txBox="1"/>
          <p:nvPr/>
        </p:nvSpPr>
        <p:spPr>
          <a:xfrm>
            <a:off x="18105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197</a:t>
            </a:r>
          </a:p>
        </p:txBody>
      </p:sp>
      <p:sp>
        <p:nvSpPr>
          <p:cNvPr id="151" name="TextBox 150"/>
          <p:cNvSpPr txBox="1"/>
          <p:nvPr/>
        </p:nvSpPr>
        <p:spPr>
          <a:xfrm>
            <a:off x="18105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SLAM frames</a:t>
            </a:r>
          </a:p>
        </p:txBody>
      </p:sp>
      <p:sp>
        <p:nvSpPr>
          <p:cNvPr id="152" name="Rounded Rectangle 151"/>
          <p:cNvSpPr/>
          <p:nvPr/>
        </p:nvSpPr>
        <p:spPr>
          <a:xfrm>
            <a:off x="30906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Box 152"/>
          <p:cNvSpPr txBox="1"/>
          <p:nvPr/>
        </p:nvSpPr>
        <p:spPr>
          <a:xfrm>
            <a:off x="31821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15</a:t>
            </a:r>
          </a:p>
        </p:txBody>
      </p:sp>
      <p:sp>
        <p:nvSpPr>
          <p:cNvPr id="154" name="TextBox 153"/>
          <p:cNvSpPr txBox="1"/>
          <p:nvPr/>
        </p:nvSpPr>
        <p:spPr>
          <a:xfrm>
            <a:off x="31821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AI keyframes</a:t>
            </a:r>
          </a:p>
        </p:txBody>
      </p:sp>
      <p:sp>
        <p:nvSpPr>
          <p:cNvPr id="155" name="Rounded Rectangle 154"/>
          <p:cNvSpPr/>
          <p:nvPr/>
        </p:nvSpPr>
        <p:spPr>
          <a:xfrm>
            <a:off x="3474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Box 155"/>
          <p:cNvSpPr txBox="1"/>
          <p:nvPr/>
        </p:nvSpPr>
        <p:spPr>
          <a:xfrm>
            <a:off x="4389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24.5 m²</a:t>
            </a:r>
          </a:p>
        </p:txBody>
      </p:sp>
      <p:sp>
        <p:nvSpPr>
          <p:cNvPr id="157" name="TextBox 156"/>
          <p:cNvSpPr txBox="1"/>
          <p:nvPr/>
        </p:nvSpPr>
        <p:spPr>
          <a:xfrm>
            <a:off x="4389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2 rooms measured</a:t>
            </a:r>
          </a:p>
        </p:txBody>
      </p:sp>
      <p:sp>
        <p:nvSpPr>
          <p:cNvPr id="158" name="Rounded Rectangle 157"/>
          <p:cNvSpPr/>
          <p:nvPr/>
        </p:nvSpPr>
        <p:spPr>
          <a:xfrm>
            <a:off x="17190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Box 158"/>
          <p:cNvSpPr txBox="1"/>
          <p:nvPr/>
        </p:nvSpPr>
        <p:spPr>
          <a:xfrm>
            <a:off x="18105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95.7 · A</a:t>
            </a:r>
          </a:p>
        </p:txBody>
      </p:sp>
      <p:sp>
        <p:nvSpPr>
          <p:cNvPr id="160" name="TextBox 159"/>
          <p:cNvSpPr txBox="1"/>
          <p:nvPr/>
        </p:nvSpPr>
        <p:spPr>
          <a:xfrm>
            <a:off x="18105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condition score</a:t>
            </a:r>
          </a:p>
        </p:txBody>
      </p:sp>
      <p:sp>
        <p:nvSpPr>
          <p:cNvPr id="161" name="Rounded Rectangle 160"/>
          <p:cNvSpPr/>
          <p:nvPr/>
        </p:nvSpPr>
        <p:spPr>
          <a:xfrm>
            <a:off x="30906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31821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$405–2,775</a:t>
            </a:r>
          </a:p>
        </p:txBody>
      </p:sp>
      <p:sp>
        <p:nvSpPr>
          <p:cNvPr id="163" name="TextBox 162"/>
          <p:cNvSpPr txBox="1"/>
          <p:nvPr/>
        </p:nvSpPr>
        <p:spPr>
          <a:xfrm>
            <a:off x="31821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indicative repairs</a:t>
            </a:r>
          </a:p>
        </p:txBody>
      </p:sp>
      <p:sp>
        <p:nvSpPr>
          <p:cNvPr id="164" name="Rounded Rectangle 163"/>
          <p:cNvSpPr/>
          <p:nvPr/>
        </p:nvSpPr>
        <p:spPr>
          <a:xfrm>
            <a:off x="347472" y="2688336"/>
            <a:ext cx="4050791"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50" b="1" i="0">
                <a:solidFill>
                  <a:srgbClr val="D93025"/>
                </a:solidFill>
                <a:latin typeface="Google Sans Flex"/>
                <a:ea typeface="Google Sans Flex"/>
                <a:cs typeface="Google Sans Flex"/>
              </a:rPr>
              <a:t>Decision: REFER, additional evidence required</a:t>
            </a:r>
          </a:p>
          <a:p>
            <a:pPr algn="l">
              <a:spcAft>
                <a:spcPts val="200"/>
              </a:spcAft>
            </a:pPr>
            <a:r>
              <a:rPr sz="720" b="0" i="0">
                <a:solidFill>
                  <a:srgbClr val="202124"/>
                </a:solidFill>
                <a:latin typeface="Google Sans Flex"/>
                <a:ea typeface="Google Sans Flex"/>
                <a:cs typeface="Google Sans Flex"/>
              </a:rPr>
              <a:t>Only 42.5% of surfaces were AI-inspected (min 60%), so the app lists the walls and ceilings to film again. 7 possible defects pinned in 3D (Needs review).</a:t>
            </a:r>
          </a:p>
        </p:txBody>
      </p:sp>
      <p:sp>
        <p:nvSpPr>
          <p:cNvPr id="165" name="TextBox 164"/>
          <p:cNvSpPr txBox="1"/>
          <p:nvPr/>
        </p:nvSpPr>
        <p:spPr>
          <a:xfrm>
            <a:off x="347472" y="3438144"/>
            <a:ext cx="4050791"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SPEED &amp; COST (FROM THE PROTOTYPE)</a:t>
            </a:r>
          </a:p>
        </p:txBody>
      </p:sp>
      <p:sp>
        <p:nvSpPr>
          <p:cNvPr id="166" name="Rounded Rectangle 165"/>
          <p:cNvSpPr/>
          <p:nvPr/>
        </p:nvSpPr>
        <p:spPr>
          <a:xfrm>
            <a:off x="3474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7" name="TextBox 166"/>
          <p:cNvSpPr txBox="1"/>
          <p:nvPr/>
        </p:nvSpPr>
        <p:spPr>
          <a:xfrm>
            <a:off x="438912" y="368503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10.6 min</a:t>
            </a:r>
          </a:p>
        </p:txBody>
      </p:sp>
      <p:sp>
        <p:nvSpPr>
          <p:cNvPr id="168" name="TextBox 167"/>
          <p:cNvSpPr txBox="1"/>
          <p:nvPr/>
        </p:nvSpPr>
        <p:spPr>
          <a:xfrm>
            <a:off x="438912" y="387553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end to end, 20 s video, laptop GPU</a:t>
            </a:r>
          </a:p>
        </p:txBody>
      </p:sp>
      <p:sp>
        <p:nvSpPr>
          <p:cNvPr id="169" name="Rounded Rectangle 168"/>
          <p:cNvSpPr/>
          <p:nvPr/>
        </p:nvSpPr>
        <p:spPr>
          <a:xfrm>
            <a:off x="24048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Box 169"/>
          <p:cNvSpPr txBox="1"/>
          <p:nvPr/>
        </p:nvSpPr>
        <p:spPr>
          <a:xfrm>
            <a:off x="2496312" y="368503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11.1 / 26.9 min</a:t>
            </a:r>
          </a:p>
        </p:txBody>
      </p:sp>
      <p:sp>
        <p:nvSpPr>
          <p:cNvPr id="171" name="TextBox 170"/>
          <p:cNvSpPr txBox="1"/>
          <p:nvPr/>
        </p:nvSpPr>
        <p:spPr>
          <a:xfrm>
            <a:off x="2496312" y="387553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3D build, Lite / Advanced</a:t>
            </a:r>
          </a:p>
        </p:txBody>
      </p:sp>
      <p:sp>
        <p:nvSpPr>
          <p:cNvPr id="172" name="Rounded Rectangle 171"/>
          <p:cNvSpPr/>
          <p:nvPr/>
        </p:nvSpPr>
        <p:spPr>
          <a:xfrm>
            <a:off x="3474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3" name="TextBox 172"/>
          <p:cNvSpPr txBox="1"/>
          <p:nvPr/>
        </p:nvSpPr>
        <p:spPr>
          <a:xfrm>
            <a:off x="438912" y="432511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21.8 / 21.6 dB</a:t>
            </a:r>
          </a:p>
        </p:txBody>
      </p:sp>
      <p:sp>
        <p:nvSpPr>
          <p:cNvPr id="174" name="TextBox 173"/>
          <p:cNvSpPr txBox="1"/>
          <p:nvPr/>
        </p:nvSpPr>
        <p:spPr>
          <a:xfrm>
            <a:off x="438912" y="451561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PSNR, Lite / Advanced</a:t>
            </a:r>
          </a:p>
        </p:txBody>
      </p:sp>
      <p:sp>
        <p:nvSpPr>
          <p:cNvPr id="175" name="Rounded Rectangle 174"/>
          <p:cNvSpPr/>
          <p:nvPr/>
        </p:nvSpPr>
        <p:spPr>
          <a:xfrm>
            <a:off x="24048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Box 175"/>
          <p:cNvSpPr txBox="1"/>
          <p:nvPr/>
        </p:nvSpPr>
        <p:spPr>
          <a:xfrm>
            <a:off x="2496312" y="432511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 $0.35</a:t>
            </a:r>
          </a:p>
        </p:txBody>
      </p:sp>
      <p:sp>
        <p:nvSpPr>
          <p:cNvPr id="177" name="TextBox 176"/>
          <p:cNvSpPr txBox="1"/>
          <p:nvPr/>
        </p:nvSpPr>
        <p:spPr>
          <a:xfrm>
            <a:off x="2496312" y="451561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Gemini per walkthrough</a:t>
            </a:r>
          </a:p>
        </p:txBody>
      </p:sp>
      <p:sp>
        <p:nvSpPr>
          <p:cNvPr id="178" name="TextBox 177"/>
          <p:cNvSpPr txBox="1"/>
          <p:nvPr/>
        </p:nvSpPr>
        <p:spPr>
          <a:xfrm>
            <a:off x="4572000" y="1325880"/>
            <a:ext cx="420624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EVALUATION: 4 PIPELINES · 10 ROOMS · 100 REGIONS</a:t>
            </a:r>
          </a:p>
        </p:txBody>
      </p:sp>
      <p:graphicFrame>
        <p:nvGraphicFramePr>
          <p:cNvPr id="179" name="Chart 178"/>
          <p:cNvGraphicFramePr>
            <a:graphicFrameLocks noGrp="1"/>
          </p:cNvGraphicFramePr>
          <p:nvPr/>
        </p:nvGraphicFramePr>
        <p:xfrm>
          <a:off x="4572000" y="1481328"/>
          <a:ext cx="4224528" cy="2240280"/>
        </p:xfrm>
        <a:graphic>
          <a:graphicData uri="http://schemas.openxmlformats.org/drawingml/2006/chart">
            <c:chart xmlns:c="http://schemas.openxmlformats.org/drawingml/2006/chart" xmlns:r="http://schemas.openxmlformats.org/officeDocument/2006/relationships" r:id="rId5"/>
          </a:graphicData>
        </a:graphic>
      </p:graphicFrame>
      <p:sp>
        <p:nvSpPr>
          <p:cNvPr id="180" name="Rounded Rectangle 179"/>
          <p:cNvSpPr/>
          <p:nvPr/>
        </p:nvSpPr>
        <p:spPr>
          <a:xfrm>
            <a:off x="4572000" y="3794760"/>
            <a:ext cx="4224528" cy="1097280"/>
          </a:xfrm>
          <a:prstGeom prst="roundRect">
            <a:avLst>
              <a:gd name="adj" fmla="val 5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660" b="1" i="0">
                <a:solidFill>
                  <a:srgbClr val="E37400"/>
                </a:solidFill>
                <a:latin typeface="Google Sans Flex"/>
                <a:ea typeface="Google Sans Flex"/>
                <a:cs typeface="Google Sans Flex"/>
              </a:rPr>
              <a:t>Simulated illustration, not yet measured: </a:t>
            </a:r>
            <a:r>
              <a:rPr sz="660" b="0" i="0">
                <a:solidFill>
                  <a:srgbClr val="202124"/>
                </a:solidFill>
                <a:latin typeface="Google Sans Flex"/>
                <a:ea typeface="Google Sans Flex"/>
                <a:cs typeface="Google Sans Flex"/>
              </a:rPr>
              <a:t>values show the report format and the expected gain; they will be replaced after running the protocol on D.</a:t>
            </a:r>
          </a:p>
          <a:p>
            <a:pPr algn="l">
              <a:spcAft>
                <a:spcPts val="200"/>
              </a:spcAft>
            </a:pPr>
            <a:r>
              <a:rPr sz="660" b="1" i="0">
                <a:solidFill>
                  <a:srgbClr val="202124"/>
                </a:solidFill>
                <a:latin typeface="Google Sans Flex"/>
                <a:ea typeface="Google Sans Flex"/>
                <a:cs typeface="Google Sans Flex"/>
              </a:rPr>
              <a:t>Fair test: </a:t>
            </a:r>
            <a:r>
              <a:rPr sz="660" b="0" i="0">
                <a:solidFill>
                  <a:srgbClr val="202124"/>
                </a:solidFill>
                <a:latin typeface="Google Sans Flex"/>
                <a:ea typeface="Google Sans Flex"/>
                <a:cs typeface="Google Sans Flex"/>
              </a:rPr>
              <a:t>same images, schema, Gemini settings and decision rule; test set frozen; 5 living rooms + 5 bedrooms incl. 2 clean controls; 40 defective / 60 clean regions.</a:t>
            </a:r>
          </a:p>
          <a:p>
            <a:pPr algn="l">
              <a:spcAft>
                <a:spcPts val="200"/>
              </a:spcAft>
            </a:pPr>
            <a:r>
              <a:rPr sz="660" b="1" i="0">
                <a:solidFill>
                  <a:srgbClr val="202124"/>
                </a:solidFill>
                <a:latin typeface="Google Sans Flex"/>
                <a:ea typeface="Google Sans Flex"/>
                <a:cs typeface="Google Sans Flex"/>
              </a:rPr>
              <a:t>Targets for D: </a:t>
            </a:r>
            <a:r>
              <a:rPr sz="660" b="0" i="0">
                <a:solidFill>
                  <a:srgbClr val="202124"/>
                </a:solidFill>
                <a:latin typeface="Google Sans Flex"/>
                <a:ea typeface="Google Sans Flex"/>
                <a:cs typeface="Google Sans Flex"/>
              </a:rPr>
              <a:t>≥ 85% accuracy, precision, recall, F1; ≤ 1 false alarm on clean rooms; beat A on every metric.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Roadmap: documents, policies and predictive portfolio risk</a:t>
            </a:r>
          </a:p>
        </p:txBody>
      </p:sp>
      <p:sp>
        <p:nvSpPr>
          <p:cNvPr id="153" name="Rounded Rectangle 152"/>
          <p:cNvSpPr/>
          <p:nvPr/>
        </p:nvSpPr>
        <p:spPr>
          <a:xfrm>
            <a:off x="347472" y="1325880"/>
            <a:ext cx="2724912" cy="1691640"/>
          </a:xfrm>
          <a:prstGeom prst="roundRect">
            <a:avLst>
              <a:gd name="adj" fmla="val 324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45720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NOW · v1.0.0</a:t>
            </a:r>
          </a:p>
        </p:txBody>
      </p:sp>
      <p:sp>
        <p:nvSpPr>
          <p:cNvPr id="155" name="TextBox 154"/>
          <p:cNvSpPr txBox="1"/>
          <p:nvPr/>
        </p:nvSpPr>
        <p:spPr>
          <a:xfrm>
            <a:off x="45720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Video walkthrough inspection</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Risk and valuation engine</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Fraud and coverage checks</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Gemini analysis and Q&amp;A</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Cloud Run, BigQuery, Pub/Sub</a:t>
            </a:r>
          </a:p>
        </p:txBody>
      </p:sp>
      <p:cxnSp>
        <p:nvCxnSpPr>
          <p:cNvPr id="156" name="Connector 155"/>
          <p:cNvCxnSpPr/>
          <p:nvPr/>
        </p:nvCxnSpPr>
        <p:spPr>
          <a:xfrm>
            <a:off x="308152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3182112" y="1325880"/>
            <a:ext cx="2724912" cy="1691640"/>
          </a:xfrm>
          <a:prstGeom prst="roundRect">
            <a:avLst>
              <a:gd name="adj" fmla="val 324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TextBox 157"/>
          <p:cNvSpPr txBox="1"/>
          <p:nvPr/>
        </p:nvSpPr>
        <p:spPr>
          <a:xfrm>
            <a:off x="329184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NEXT · 3 months</a:t>
            </a:r>
          </a:p>
        </p:txBody>
      </p:sp>
      <p:sp>
        <p:nvSpPr>
          <p:cNvPr id="159" name="TextBox 158"/>
          <p:cNvSpPr txBox="1"/>
          <p:nvPr/>
        </p:nvSpPr>
        <p:spPr>
          <a:xfrm>
            <a:off x="329184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Mobile guided capture with live coverage</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Document AI: deeds, valuations, invoices</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Vertex AI Search over policy wording</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Commercial localiser (Gemini / Vertex-tuned)</a:t>
            </a:r>
          </a:p>
        </p:txBody>
      </p:sp>
      <p:cxnSp>
        <p:nvCxnSpPr>
          <p:cNvPr id="160" name="Connector 159"/>
          <p:cNvCxnSpPr/>
          <p:nvPr/>
        </p:nvCxnSpPr>
        <p:spPr>
          <a:xfrm>
            <a:off x="591616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016752" y="1325880"/>
            <a:ext cx="2724912" cy="1691640"/>
          </a:xfrm>
          <a:prstGeom prst="roundRect">
            <a:avLst>
              <a:gd name="adj" fmla="val 3243"/>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612648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LATER · 6–12 months</a:t>
            </a:r>
          </a:p>
        </p:txBody>
      </p:sp>
      <p:sp>
        <p:nvSpPr>
          <p:cNvPr id="163" name="TextBox 162"/>
          <p:cNvSpPr txBox="1"/>
          <p:nvPr/>
        </p:nvSpPr>
        <p:spPr>
          <a:xfrm>
            <a:off x="612648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BigQuery ML claim &amp; collateral-risk scoring</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Before/after claim comparison in 3D</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Multilingual reports (Gemini)</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AlloyDB multi-tenant case management</a:t>
            </a:r>
          </a:p>
        </p:txBody>
      </p:sp>
      <p:sp>
        <p:nvSpPr>
          <p:cNvPr id="164" name="TextBox 163"/>
          <p:cNvSpPr txBox="1"/>
          <p:nvPr/>
        </p:nvSpPr>
        <p:spPr>
          <a:xfrm>
            <a:off x="347472" y="3108960"/>
            <a:ext cx="8449056"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WHAT WE BUILT: FROM DEPTH RESEARCH TO A DEPLOYABLE PRODUCT</a:t>
            </a:r>
          </a:p>
        </p:txBody>
      </p:sp>
      <p:sp>
        <p:nvSpPr>
          <p:cNvPr id="165" name="Rounded Rectangle 164"/>
          <p:cNvSpPr/>
          <p:nvPr/>
        </p:nvSpPr>
        <p:spPr>
          <a:xfrm>
            <a:off x="3474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01  </a:t>
            </a:r>
            <a:r>
              <a:rPr sz="660" b="1" i="0">
                <a:solidFill>
                  <a:srgbClr val="202124"/>
                </a:solidFill>
                <a:latin typeface="Google Sans Flex"/>
                <a:ea typeface="Google Sans Flex"/>
                <a:cs typeface="Google Sans Flex"/>
              </a:rPr>
              <a:t>Depth + SLAM</a:t>
            </a:r>
          </a:p>
          <a:p>
            <a:pPr algn="l">
              <a:spcAft>
                <a:spcPts val="200"/>
              </a:spcAft>
            </a:pPr>
            <a:r>
              <a:rPr sz="660" b="0" i="0">
                <a:solidFill>
                  <a:srgbClr val="202124"/>
                </a:solidFill>
                <a:latin typeface="Google Sans Flex"/>
                <a:ea typeface="Google Sans Flex"/>
                <a:cs typeface="Google Sans Flex"/>
              </a:rPr>
              <a:t>Depth Anything 3 visual SLAM, occupancy grid, A* path</a:t>
            </a:r>
          </a:p>
        </p:txBody>
      </p:sp>
      <p:sp>
        <p:nvSpPr>
          <p:cNvPr id="166" name="Rounded Rectangle 165"/>
          <p:cNvSpPr/>
          <p:nvPr/>
        </p:nvSpPr>
        <p:spPr>
          <a:xfrm>
            <a:off x="176479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02  </a:t>
            </a:r>
            <a:r>
              <a:rPr sz="660" b="1" i="0">
                <a:solidFill>
                  <a:srgbClr val="202124"/>
                </a:solidFill>
                <a:latin typeface="Google Sans Flex"/>
                <a:ea typeface="Google Sans Flex"/>
                <a:cs typeface="Google Sans Flex"/>
              </a:rPr>
              <a:t>Hybrid SLAM</a:t>
            </a:r>
          </a:p>
          <a:p>
            <a:pPr algn="l">
              <a:spcAft>
                <a:spcPts val="200"/>
              </a:spcAft>
            </a:pPr>
            <a:r>
              <a:rPr sz="660" b="0" i="0">
                <a:solidFill>
                  <a:srgbClr val="202124"/>
                </a:solidFill>
                <a:latin typeface="Google Sans Flex"/>
                <a:ea typeface="Google Sans Flex"/>
                <a:cs typeface="Google Sans Flex"/>
              </a:rPr>
              <a:t>OpenCV 5 tracking, ICP, Manhattan planes</a:t>
            </a:r>
          </a:p>
        </p:txBody>
      </p:sp>
      <p:sp>
        <p:nvSpPr>
          <p:cNvPr id="167" name="Rounded Rectangle 166"/>
          <p:cNvSpPr/>
          <p:nvPr/>
        </p:nvSpPr>
        <p:spPr>
          <a:xfrm>
            <a:off x="318211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03  </a:t>
            </a:r>
            <a:r>
              <a:rPr sz="660" b="1" i="0">
                <a:solidFill>
                  <a:srgbClr val="202124"/>
                </a:solidFill>
                <a:latin typeface="Google Sans Flex"/>
                <a:ea typeface="Google Sans Flex"/>
                <a:cs typeface="Google Sans Flex"/>
              </a:rPr>
              <a:t>Photo-real 3D</a:t>
            </a:r>
          </a:p>
          <a:p>
            <a:pPr algn="l">
              <a:spcAft>
                <a:spcPts val="200"/>
              </a:spcAft>
            </a:pPr>
            <a:r>
              <a:rPr sz="660" b="0" i="0">
                <a:solidFill>
                  <a:srgbClr val="202124"/>
                </a:solidFill>
                <a:latin typeface="Google Sans Flex"/>
                <a:ea typeface="Google Sans Flex"/>
                <a:cs typeface="Google Sans Flex"/>
              </a:rPr>
              <a:t>Gaussian Splatting experiment (gsplat)</a:t>
            </a:r>
          </a:p>
        </p:txBody>
      </p:sp>
      <p:sp>
        <p:nvSpPr>
          <p:cNvPr id="168" name="Rounded Rectangle 167"/>
          <p:cNvSpPr/>
          <p:nvPr/>
        </p:nvSpPr>
        <p:spPr>
          <a:xfrm>
            <a:off x="459943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04  </a:t>
            </a:r>
            <a:r>
              <a:rPr sz="660" b="1" i="0">
                <a:solidFill>
                  <a:srgbClr val="202124"/>
                </a:solidFill>
                <a:latin typeface="Google Sans Flex"/>
                <a:ea typeface="Google Sans Flex"/>
                <a:cs typeface="Google Sans Flex"/>
              </a:rPr>
              <a:t>Production 3D</a:t>
            </a:r>
          </a:p>
          <a:p>
            <a:pPr algn="l">
              <a:spcAft>
                <a:spcPts val="200"/>
              </a:spcAft>
            </a:pPr>
            <a:r>
              <a:rPr sz="660" b="0" i="0">
                <a:solidFill>
                  <a:srgbClr val="202124"/>
                </a:solidFill>
                <a:latin typeface="Google Sans Flex"/>
                <a:ea typeface="Google Sans Flex"/>
                <a:cs typeface="Google Sans Flex"/>
              </a:rPr>
              <a:t>Video → GLB models, floor plan (+SVG)</a:t>
            </a:r>
          </a:p>
        </p:txBody>
      </p:sp>
      <p:sp>
        <p:nvSpPr>
          <p:cNvPr id="169" name="Rounded Rectangle 168"/>
          <p:cNvSpPr/>
          <p:nvPr/>
        </p:nvSpPr>
        <p:spPr>
          <a:xfrm>
            <a:off x="601675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05  </a:t>
            </a:r>
            <a:r>
              <a:rPr sz="660" b="1" i="0">
                <a:solidFill>
                  <a:srgbClr val="202124"/>
                </a:solidFill>
                <a:latin typeface="Google Sans Flex"/>
                <a:ea typeface="Google Sans Flex"/>
                <a:cs typeface="Google Sans Flex"/>
              </a:rPr>
              <a:t>Inspection AI</a:t>
            </a:r>
          </a:p>
          <a:p>
            <a:pPr algn="l">
              <a:spcAft>
                <a:spcPts val="200"/>
              </a:spcAft>
            </a:pPr>
            <a:r>
              <a:rPr sz="660" b="0" i="0">
                <a:solidFill>
                  <a:srgbClr val="202124"/>
                </a:solidFill>
                <a:latin typeface="Google Sans Flex"/>
                <a:ea typeface="Google Sans Flex"/>
                <a:cs typeface="Google Sans Flex"/>
              </a:rPr>
              <a:t>Taxonomy, locate + verify, risk engine, fraud</a:t>
            </a:r>
          </a:p>
        </p:txBody>
      </p:sp>
      <p:sp>
        <p:nvSpPr>
          <p:cNvPr id="170" name="Rounded Rectangle 169"/>
          <p:cNvSpPr/>
          <p:nvPr/>
        </p:nvSpPr>
        <p:spPr>
          <a:xfrm>
            <a:off x="74340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06  </a:t>
            </a:r>
            <a:r>
              <a:rPr sz="660" b="1" i="0">
                <a:solidFill>
                  <a:srgbClr val="202124"/>
                </a:solidFill>
                <a:latin typeface="Google Sans Flex"/>
                <a:ea typeface="Google Sans Flex"/>
                <a:cs typeface="Google Sans Flex"/>
              </a:rPr>
              <a:t>Google Cloud v1.0.0</a:t>
            </a:r>
          </a:p>
          <a:p>
            <a:pPr algn="l">
              <a:spcAft>
                <a:spcPts val="200"/>
              </a:spcAft>
            </a:pPr>
            <a:r>
              <a:rPr sz="660" b="0" i="0">
                <a:solidFill>
                  <a:srgbClr val="202124"/>
                </a:solidFill>
                <a:latin typeface="Google Sans Flex"/>
                <a:ea typeface="Google Sans Flex"/>
                <a:cs typeface="Google Sans Flex"/>
              </a:rPr>
              <a:t>Gemini, Cloud Run + L4, BigQuery, Pub/Sub</a:t>
            </a:r>
          </a:p>
        </p:txBody>
      </p:sp>
      <p:sp>
        <p:nvSpPr>
          <p:cNvPr id="171" name="Rounded Rectangle 170"/>
          <p:cNvSpPr/>
          <p:nvPr/>
        </p:nvSpPr>
        <p:spPr>
          <a:xfrm>
            <a:off x="347472"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Box 171"/>
          <p:cNvSpPr txBox="1"/>
          <p:nvPr/>
        </p:nvSpPr>
        <p:spPr>
          <a:xfrm>
            <a:off x="438912"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3" name="TextBox 172"/>
          <p:cNvSpPr txBox="1"/>
          <p:nvPr/>
        </p:nvSpPr>
        <p:spPr>
          <a:xfrm>
            <a:off x="438912"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defect types, 12 components</a:t>
            </a:r>
          </a:p>
        </p:txBody>
      </p:sp>
      <p:sp>
        <p:nvSpPr>
          <p:cNvPr id="174" name="Rounded Rectangle 173"/>
          <p:cNvSpPr/>
          <p:nvPr/>
        </p:nvSpPr>
        <p:spPr>
          <a:xfrm>
            <a:off x="2048256"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Box 174"/>
          <p:cNvSpPr txBox="1"/>
          <p:nvPr/>
        </p:nvSpPr>
        <p:spPr>
          <a:xfrm>
            <a:off x="2139696"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8</a:t>
            </a:r>
          </a:p>
        </p:txBody>
      </p:sp>
      <p:sp>
        <p:nvSpPr>
          <p:cNvPr id="176" name="TextBox 175"/>
          <p:cNvSpPr txBox="1"/>
          <p:nvPr/>
        </p:nvSpPr>
        <p:spPr>
          <a:xfrm>
            <a:off x="2139696"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room types</a:t>
            </a:r>
          </a:p>
        </p:txBody>
      </p:sp>
      <p:sp>
        <p:nvSpPr>
          <p:cNvPr id="177" name="Rounded Rectangle 176"/>
          <p:cNvSpPr/>
          <p:nvPr/>
        </p:nvSpPr>
        <p:spPr>
          <a:xfrm>
            <a:off x="3749040"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8" name="TextBox 177"/>
          <p:cNvSpPr txBox="1"/>
          <p:nvPr/>
        </p:nvSpPr>
        <p:spPr>
          <a:xfrm>
            <a:off x="3840480"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9" name="TextBox 178"/>
          <p:cNvSpPr txBox="1"/>
          <p:nvPr/>
        </p:nvSpPr>
        <p:spPr>
          <a:xfrm>
            <a:off x="3840480"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REST API endpoints</a:t>
            </a:r>
          </a:p>
        </p:txBody>
      </p:sp>
      <p:sp>
        <p:nvSpPr>
          <p:cNvPr id="180" name="Rounded Rectangle 179"/>
          <p:cNvSpPr/>
          <p:nvPr/>
        </p:nvSpPr>
        <p:spPr>
          <a:xfrm>
            <a:off x="5449824"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1" name="TextBox 180"/>
          <p:cNvSpPr txBox="1"/>
          <p:nvPr/>
        </p:nvSpPr>
        <p:spPr>
          <a:xfrm>
            <a:off x="5541264"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2</a:t>
            </a:r>
          </a:p>
        </p:txBody>
      </p:sp>
      <p:sp>
        <p:nvSpPr>
          <p:cNvPr id="182" name="TextBox 181"/>
          <p:cNvSpPr txBox="1"/>
          <p:nvPr/>
        </p:nvSpPr>
        <p:spPr>
          <a:xfrm>
            <a:off x="5541264"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3D modes (Lite / Advanced)</a:t>
            </a:r>
          </a:p>
        </p:txBody>
      </p:sp>
      <p:sp>
        <p:nvSpPr>
          <p:cNvPr id="183" name="Rounded Rectangle 182"/>
          <p:cNvSpPr/>
          <p:nvPr/>
        </p:nvSpPr>
        <p:spPr>
          <a:xfrm>
            <a:off x="7150608"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Box 183"/>
          <p:cNvSpPr txBox="1"/>
          <p:nvPr/>
        </p:nvSpPr>
        <p:spPr>
          <a:xfrm>
            <a:off x="7242048"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a:t>
            </a:r>
          </a:p>
        </p:txBody>
      </p:sp>
      <p:sp>
        <p:nvSpPr>
          <p:cNvPr id="185" name="TextBox 184"/>
          <p:cNvSpPr txBox="1"/>
          <p:nvPr/>
        </p:nvSpPr>
        <p:spPr>
          <a:xfrm>
            <a:off x="7242048"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command to deploy on GCP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TextBox 166"/>
          <p:cNvSpPr txBox="1"/>
          <p:nvPr/>
        </p:nvSpPr>
        <p:spPr>
          <a:xfrm>
            <a:off x="356616" y="758952"/>
            <a:ext cx="8229600" cy="274320"/>
          </a:xfrm>
          <a:prstGeom prst="rect">
            <a:avLst/>
          </a:prstGeom>
          <a:noFill/>
        </p:spPr>
        <p:txBody>
          <a:bodyPr wrap="square" lIns="0" tIns="0" rIns="0" bIns="0" anchor="t">
            <a:noAutofit/>
          </a:bodyPr>
          <a:lstStyle/>
          <a:p>
            <a:pPr algn="l">
              <a:spcAft>
                <a:spcPts val="200"/>
              </a:spcAft>
            </a:pPr>
            <a:r>
              <a:rPr sz="1600" b="0" i="0">
                <a:solidFill>
                  <a:srgbClr val="202124"/>
                </a:solidFill>
                <a:latin typeface="Google Sans Flex SemiBold"/>
                <a:ea typeface="Google Sans Flex SemiBold"/>
                <a:cs typeface="Google Sans Flex SemiBold"/>
              </a:rPr>
              <a:t>Additional Details/Future Development (contd.)</a:t>
            </a:r>
          </a:p>
        </p:txBody>
      </p:sp>
      <p:sp>
        <p:nvSpPr>
          <p:cNvPr id="16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Responsible AI and the go-to-market plan</a:t>
            </a:r>
          </a:p>
        </p:txBody>
      </p:sp>
      <p:sp>
        <p:nvSpPr>
          <p:cNvPr id="169" name="TextBox 168"/>
          <p:cNvSpPr txBox="1"/>
          <p:nvPr/>
        </p:nvSpPr>
        <p:spPr>
          <a:xfrm>
            <a:off x="347472" y="1325880"/>
            <a:ext cx="45720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RESPONSIBLE AI: HUMANS DECIDE, AI SHOWS EVIDENCE</a:t>
            </a:r>
          </a:p>
        </p:txBody>
      </p:sp>
      <p:sp>
        <p:nvSpPr>
          <p:cNvPr id="170" name="Rounded Rectangle 169"/>
          <p:cNvSpPr/>
          <p:nvPr/>
        </p:nvSpPr>
        <p:spPr>
          <a:xfrm>
            <a:off x="347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1" name="Oval 170"/>
          <p:cNvSpPr/>
          <p:nvPr/>
        </p:nvSpPr>
        <p:spPr>
          <a:xfrm>
            <a:off x="420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a:t>
            </a:r>
          </a:p>
        </p:txBody>
      </p:sp>
      <p:sp>
        <p:nvSpPr>
          <p:cNvPr id="172" name="TextBox 171"/>
          <p:cNvSpPr txBox="1"/>
          <p:nvPr/>
        </p:nvSpPr>
        <p:spPr>
          <a:xfrm>
            <a:off x="713232" y="1591056"/>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Human in the loop</a:t>
            </a:r>
          </a:p>
        </p:txBody>
      </p:sp>
      <p:sp>
        <p:nvSpPr>
          <p:cNvPr id="173" name="TextBox 172"/>
          <p:cNvSpPr txBox="1"/>
          <p:nvPr/>
        </p:nvSpPr>
        <p:spPr>
          <a:xfrm>
            <a:off x="713232" y="1792224"/>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Decision support only; a qualified surveyor or underwriter makes the final call.</a:t>
            </a:r>
          </a:p>
        </p:txBody>
      </p:sp>
      <p:sp>
        <p:nvSpPr>
          <p:cNvPr id="174" name="Rounded Rectangle 173"/>
          <p:cNvSpPr/>
          <p:nvPr/>
        </p:nvSpPr>
        <p:spPr>
          <a:xfrm>
            <a:off x="2633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Oval 174"/>
          <p:cNvSpPr/>
          <p:nvPr/>
        </p:nvSpPr>
        <p:spPr>
          <a:xfrm>
            <a:off x="2706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2</a:t>
            </a:r>
          </a:p>
        </p:txBody>
      </p:sp>
      <p:sp>
        <p:nvSpPr>
          <p:cNvPr id="176" name="TextBox 175"/>
          <p:cNvSpPr txBox="1"/>
          <p:nvPr/>
        </p:nvSpPr>
        <p:spPr>
          <a:xfrm>
            <a:off x="2999232" y="1591056"/>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Explainable</a:t>
            </a:r>
          </a:p>
        </p:txBody>
      </p:sp>
      <p:sp>
        <p:nvSpPr>
          <p:cNvPr id="177" name="TextBox 176"/>
          <p:cNvSpPr txBox="1"/>
          <p:nvPr/>
        </p:nvSpPr>
        <p:spPr>
          <a:xfrm>
            <a:off x="2999232" y="1792224"/>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Deterministic YAML rules; every decision lists its reasons and risk points.</a:t>
            </a:r>
          </a:p>
        </p:txBody>
      </p:sp>
      <p:sp>
        <p:nvSpPr>
          <p:cNvPr id="178" name="Rounded Rectangle 177"/>
          <p:cNvSpPr/>
          <p:nvPr/>
        </p:nvSpPr>
        <p:spPr>
          <a:xfrm>
            <a:off x="347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9" name="Oval 178"/>
          <p:cNvSpPr/>
          <p:nvPr/>
        </p:nvSpPr>
        <p:spPr>
          <a:xfrm>
            <a:off x="420624" y="235000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3</a:t>
            </a:r>
          </a:p>
        </p:txBody>
      </p:sp>
      <p:sp>
        <p:nvSpPr>
          <p:cNvPr id="180" name="TextBox 179"/>
          <p:cNvSpPr txBox="1"/>
          <p:nvPr/>
        </p:nvSpPr>
        <p:spPr>
          <a:xfrm>
            <a:off x="713232" y="2340864"/>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Auditable</a:t>
            </a:r>
          </a:p>
        </p:txBody>
      </p:sp>
      <p:sp>
        <p:nvSpPr>
          <p:cNvPr id="181" name="TextBox 180"/>
          <p:cNvSpPr txBox="1"/>
          <p:nvPr/>
        </p:nvSpPr>
        <p:spPr>
          <a:xfrm>
            <a:off x="713232" y="2542032"/>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Raw outputs archived; each inspection a BigQuery record; versioned config.</a:t>
            </a:r>
          </a:p>
        </p:txBody>
      </p:sp>
      <p:sp>
        <p:nvSpPr>
          <p:cNvPr id="182" name="Rounded Rectangle 181"/>
          <p:cNvSpPr/>
          <p:nvPr/>
        </p:nvSpPr>
        <p:spPr>
          <a:xfrm>
            <a:off x="2633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3" name="Oval 182"/>
          <p:cNvSpPr/>
          <p:nvPr/>
        </p:nvSpPr>
        <p:spPr>
          <a:xfrm>
            <a:off x="2706624" y="235000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4</a:t>
            </a:r>
          </a:p>
        </p:txBody>
      </p:sp>
      <p:sp>
        <p:nvSpPr>
          <p:cNvPr id="184" name="TextBox 183"/>
          <p:cNvSpPr txBox="1"/>
          <p:nvPr/>
        </p:nvSpPr>
        <p:spPr>
          <a:xfrm>
            <a:off x="2999232" y="2340864"/>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Safe wording</a:t>
            </a:r>
          </a:p>
        </p:txBody>
      </p:sp>
      <p:sp>
        <p:nvSpPr>
          <p:cNvPr id="185" name="TextBox 184"/>
          <p:cNvSpPr txBox="1"/>
          <p:nvPr/>
        </p:nvSpPr>
        <p:spPr>
          <a:xfrm>
            <a:off x="2999232" y="2542032"/>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No structural-safety or root-cause claims; locks, fans, windows stay manual.</a:t>
            </a:r>
          </a:p>
        </p:txBody>
      </p:sp>
      <p:sp>
        <p:nvSpPr>
          <p:cNvPr id="186" name="Rounded Rectangle 185"/>
          <p:cNvSpPr/>
          <p:nvPr/>
        </p:nvSpPr>
        <p:spPr>
          <a:xfrm>
            <a:off x="347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7" name="Oval 186"/>
          <p:cNvSpPr/>
          <p:nvPr/>
        </p:nvSpPr>
        <p:spPr>
          <a:xfrm>
            <a:off x="420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5</a:t>
            </a:r>
          </a:p>
        </p:txBody>
      </p:sp>
      <p:sp>
        <p:nvSpPr>
          <p:cNvPr id="188" name="TextBox 187"/>
          <p:cNvSpPr txBox="1"/>
          <p:nvPr/>
        </p:nvSpPr>
        <p:spPr>
          <a:xfrm>
            <a:off x="713232" y="3090672"/>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Secure</a:t>
            </a:r>
          </a:p>
        </p:txBody>
      </p:sp>
      <p:sp>
        <p:nvSpPr>
          <p:cNvPr id="189" name="TextBox 188"/>
          <p:cNvSpPr txBox="1"/>
          <p:nvPr/>
        </p:nvSpPr>
        <p:spPr>
          <a:xfrm>
            <a:off x="713232" y="3291839"/>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Service account, no API keys in files, data stays in the client's project.</a:t>
            </a:r>
          </a:p>
        </p:txBody>
      </p:sp>
      <p:sp>
        <p:nvSpPr>
          <p:cNvPr id="190" name="Rounded Rectangle 189"/>
          <p:cNvSpPr/>
          <p:nvPr/>
        </p:nvSpPr>
        <p:spPr>
          <a:xfrm>
            <a:off x="2633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1" name="Oval 190"/>
          <p:cNvSpPr/>
          <p:nvPr/>
        </p:nvSpPr>
        <p:spPr>
          <a:xfrm>
            <a:off x="2706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6</a:t>
            </a:r>
          </a:p>
        </p:txBody>
      </p:sp>
      <p:sp>
        <p:nvSpPr>
          <p:cNvPr id="192" name="TextBox 191"/>
          <p:cNvSpPr txBox="1"/>
          <p:nvPr/>
        </p:nvSpPr>
        <p:spPr>
          <a:xfrm>
            <a:off x="2999232" y="3090672"/>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Licence-aware</a:t>
            </a:r>
          </a:p>
        </p:txBody>
      </p:sp>
      <p:sp>
        <p:nvSpPr>
          <p:cNvPr id="193" name="TextBox 192"/>
          <p:cNvSpPr txBox="1"/>
          <p:nvPr/>
        </p:nvSpPr>
        <p:spPr>
          <a:xfrm>
            <a:off x="2999232" y="3291839"/>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LocateAnything is non-commercial; Gemini localisation is the drop-in swap.</a:t>
            </a:r>
          </a:p>
        </p:txBody>
      </p:sp>
      <p:sp>
        <p:nvSpPr>
          <p:cNvPr id="194" name="TextBox 193"/>
          <p:cNvSpPr txBox="1"/>
          <p:nvPr/>
        </p:nvSpPr>
        <p:spPr>
          <a:xfrm>
            <a:off x="5029200" y="1325880"/>
            <a:ext cx="3749039"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GO-TO-MARKET: HOUSING FINANCE &amp; HOME INSURANCE, APAC</a:t>
            </a:r>
          </a:p>
        </p:txBody>
      </p:sp>
      <p:sp>
        <p:nvSpPr>
          <p:cNvPr id="195" name="Rounded Rectangle 194"/>
          <p:cNvSpPr/>
          <p:nvPr/>
        </p:nvSpPr>
        <p:spPr>
          <a:xfrm>
            <a:off x="5029200" y="1517904"/>
            <a:ext cx="3767328" cy="512064"/>
          </a:xfrm>
          <a:prstGeom prst="roundRect">
            <a:avLst>
              <a:gd name="adj" fmla="val 10714"/>
            </a:avLst>
          </a:prstGeom>
          <a:solidFill>
            <a:srgbClr val="FFFFFF"/>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6" name="TextBox 195"/>
          <p:cNvSpPr txBox="1"/>
          <p:nvPr/>
        </p:nvSpPr>
        <p:spPr>
          <a:xfrm>
            <a:off x="5120640" y="1563624"/>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PILOT · 0–3 months</a:t>
            </a:r>
          </a:p>
        </p:txBody>
      </p:sp>
      <p:sp>
        <p:nvSpPr>
          <p:cNvPr id="197" name="TextBox 196"/>
          <p:cNvSpPr txBox="1"/>
          <p:nvPr/>
        </p:nvSpPr>
        <p:spPr>
          <a:xfrm>
            <a:off x="5120640" y="1746504"/>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1 housing-finance lender + 1 home insurer; AI alongside existing inspections on ~500 cases.</a:t>
            </a:r>
          </a:p>
        </p:txBody>
      </p:sp>
      <p:sp>
        <p:nvSpPr>
          <p:cNvPr id="198" name="Rounded Rectangle 197"/>
          <p:cNvSpPr/>
          <p:nvPr/>
        </p:nvSpPr>
        <p:spPr>
          <a:xfrm>
            <a:off x="5029200" y="2084831"/>
            <a:ext cx="3767328" cy="512064"/>
          </a:xfrm>
          <a:prstGeom prst="roundRect">
            <a:avLst>
              <a:gd name="adj" fmla="val 10714"/>
            </a:avLst>
          </a:prstGeom>
          <a:solidFill>
            <a:srgbClr val="FFFFFF"/>
          </a:solidFill>
          <a:ln w="15875">
            <a:solidFill>
              <a:srgbClr val="8AB4F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9" name="TextBox 198"/>
          <p:cNvSpPr txBox="1"/>
          <p:nvPr/>
        </p:nvSpPr>
        <p:spPr>
          <a:xfrm>
            <a:off x="5120640" y="2130551"/>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INTEGRATE · 3–6 months</a:t>
            </a:r>
          </a:p>
        </p:txBody>
      </p:sp>
      <p:sp>
        <p:nvSpPr>
          <p:cNvPr id="200" name="TextBox 199"/>
          <p:cNvSpPr txBox="1"/>
          <p:nvPr/>
        </p:nvSpPr>
        <p:spPr>
          <a:xfrm>
            <a:off x="5120640" y="2313432"/>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Pub/Sub into loan-origination and claims; BigQuery dashboards; custom rules per client.</a:t>
            </a:r>
          </a:p>
        </p:txBody>
      </p:sp>
      <p:sp>
        <p:nvSpPr>
          <p:cNvPr id="201" name="Rounded Rectangle 200"/>
          <p:cNvSpPr/>
          <p:nvPr/>
        </p:nvSpPr>
        <p:spPr>
          <a:xfrm>
            <a:off x="5029200" y="2651760"/>
            <a:ext cx="3767328" cy="512064"/>
          </a:xfrm>
          <a:prstGeom prst="roundRect">
            <a:avLst>
              <a:gd name="adj" fmla="val 10714"/>
            </a:avLst>
          </a:prstGeom>
          <a:solidFill>
            <a:srgbClr val="FFFFFF"/>
          </a:solidFill>
          <a:ln w="1587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2" name="TextBox 201"/>
          <p:cNvSpPr txBox="1"/>
          <p:nvPr/>
        </p:nvSpPr>
        <p:spPr>
          <a:xfrm>
            <a:off x="5120640" y="2697479"/>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SCALE · 6–18 months</a:t>
            </a:r>
          </a:p>
        </p:txBody>
      </p:sp>
      <p:sp>
        <p:nvSpPr>
          <p:cNvPr id="203" name="TextBox 202"/>
          <p:cNvSpPr txBox="1"/>
          <p:nvPr/>
        </p:nvSpPr>
        <p:spPr>
          <a:xfrm>
            <a:off x="5120640" y="2880360"/>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Google Cloud Marketplace, valuer &amp; inspector networks, commercial property and claims.</a:t>
            </a:r>
          </a:p>
        </p:txBody>
      </p:sp>
      <p:sp>
        <p:nvSpPr>
          <p:cNvPr id="204" name="TextBox 203"/>
          <p:cNvSpPr txBox="1"/>
          <p:nvPr/>
        </p:nvSpPr>
        <p:spPr>
          <a:xfrm>
            <a:off x="5029200" y="3255264"/>
            <a:ext cx="3767328" cy="329184"/>
          </a:xfrm>
          <a:prstGeom prst="rect">
            <a:avLst/>
          </a:prstGeom>
          <a:noFill/>
        </p:spPr>
        <p:txBody>
          <a:bodyPr wrap="square" lIns="0" tIns="0" rIns="0" bIns="0" anchor="t">
            <a:noAutofit/>
          </a:bodyPr>
          <a:lstStyle/>
          <a:p>
            <a:pPr algn="l">
              <a:spcAft>
                <a:spcPts val="200"/>
              </a:spcAft>
            </a:pPr>
            <a:r>
              <a:rPr sz="700" b="1" i="0">
                <a:solidFill>
                  <a:srgbClr val="202124"/>
                </a:solidFill>
                <a:latin typeface="Google Sans Flex"/>
                <a:ea typeface="Google Sans Flex"/>
                <a:cs typeface="Google Sans Flex"/>
              </a:rPr>
              <a:t>Pilot KPIs: </a:t>
            </a:r>
            <a:r>
              <a:rPr sz="700" b="0" i="0">
                <a:solidFill>
                  <a:srgbClr val="5F6368"/>
                </a:solidFill>
                <a:latin typeface="Google Sans Flex"/>
                <a:ea typeface="Google Sans Flex"/>
                <a:cs typeface="Google Sans Flex"/>
              </a:rPr>
              <a:t>turnaround · cost per inspection · % auto-cleared vs referred · fraud flags confirmed · re-inspection rate</a:t>
            </a:r>
          </a:p>
        </p:txBody>
      </p:sp>
      <p:sp>
        <p:nvSpPr>
          <p:cNvPr id="205" name="Rounded Rectangle 204"/>
          <p:cNvSpPr/>
          <p:nvPr/>
        </p:nvSpPr>
        <p:spPr>
          <a:xfrm>
            <a:off x="347472" y="4114800"/>
            <a:ext cx="8449056" cy="457200"/>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noAutofit/>
          </a:bodyPr>
          <a:lstStyle/>
          <a:p>
            <a:pPr algn="l">
              <a:spcAft>
                <a:spcPts val="200"/>
              </a:spcAft>
            </a:pPr>
            <a:r>
              <a:rPr sz="950" b="1" i="1">
                <a:solidFill>
                  <a:srgbClr val="FFFFFF"/>
                </a:solidFill>
                <a:latin typeface="Google Sans Flex"/>
                <a:ea typeface="Google Sans Flex"/>
                <a:cs typeface="Google Sans Flex"/>
              </a:rPr>
              <a:t>“Every lender and insurer already asks for photos. We replace them with a short phone video that is trustworthy, explainable and ready for a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33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a:t>
            </a:r>
            <a:r>
              <a:rPr sz="1300" b="1" i="0">
                <a:solidFill>
                  <a:srgbClr val="1A73E8"/>
                </a:solidFill>
                <a:latin typeface="Google Sans Flex"/>
                <a:ea typeface="Google Sans Flex"/>
                <a:cs typeface="Google Sans Flex"/>
              </a:rPr>
              <a:t>github.com/XCore-Lab/property-inspection-ai</a:t>
            </a:r>
            <a:endParaRPr>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Final Product Link: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p:txBody>
      </p:sp>
      <p:pic>
        <p:nvPicPr>
          <p:cNvPr id="160" name="Picture 159" descr="s26_908.jpg"/>
          <p:cNvPicPr>
            <a:picLocks noChangeAspect="1"/>
          </p:cNvPicPr>
          <p:nvPr/>
        </p:nvPicPr>
        <p:blipFill>
          <a:blip r:embed="rId5"/>
          <a:stretch>
            <a:fillRect/>
          </a:stretch>
        </p:blipFill>
        <p:spPr>
          <a:xfrm>
            <a:off x="5166878" y="2148840"/>
            <a:ext cx="3565122" cy="2514600"/>
          </a:xfrm>
          <a:prstGeom prst="rect">
            <a:avLst/>
          </a:prstGeom>
          <a:ln w="9525">
            <a:solidFill>
              <a:srgbClr val="DADCE0"/>
            </a:solidFill>
          </a:ln>
        </p:spPr>
      </p:pic>
      <p:sp>
        <p:nvSpPr>
          <p:cNvPr id="161" name="TextBox 160"/>
          <p:cNvSpPr txBox="1"/>
          <p:nvPr/>
        </p:nvSpPr>
        <p:spPr>
          <a:xfrm>
            <a:off x="5120640" y="4690872"/>
            <a:ext cx="3657600"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Property Inspection AI · Prototype v1.0.0 · one-command Cloud Run deploy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2821</Words>
  <Application>Microsoft Office PowerPoint</Application>
  <PresentationFormat>On-screen Show (16:9)</PresentationFormat>
  <Paragraphs>374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Google Sans Flex Medium</vt:lpstr>
      <vt:lpstr>Google Sans Flex</vt:lpstr>
      <vt:lpstr>Arial</vt:lpstr>
      <vt:lpstr>Google Sans Flex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Thanveer Ahamed</cp:lastModifiedBy>
  <cp:revision>1</cp:revision>
  <dcterms:modified xsi:type="dcterms:W3CDTF">2026-10-18T09:58:56Z</dcterms:modified>
</cp:coreProperties>
</file>