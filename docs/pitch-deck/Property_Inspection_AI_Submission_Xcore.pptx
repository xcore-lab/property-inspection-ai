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70" r:id="rId20"/>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Accuracy</c:v>
                </c:pt>
              </c:strCache>
            </c:strRef>
          </c:tx>
          <c:spPr>
            <a:solidFill>
              <a:srgbClr val="9AA0A6"/>
            </a:solidFill>
          </c:spPr>
          <c:cat>
            <c:strRef>
              <c:f>Sheet1!$A$2:$A$5</c:f>
              <c:strCache>
                <c:ptCount val="4"/>
                <c:pt idx="0">
                  <c:v>A: Gemini</c:v>
                </c:pt>
                <c:pt idx="1">
                  <c:v>B: Locate+Gemini</c:v>
                </c:pt>
                <c:pt idx="2">
                  <c:v>C: Gemma 4+Gemini</c:v>
                </c:pt>
                <c:pt idx="3">
                  <c:v>D: ours (all three)</c:v>
                </c:pt>
              </c:strCache>
            </c:strRef>
          </c:cat>
          <c:val>
            <c:numRef>
              <c:f>Sheet1!$B$2:$B$5</c:f>
              <c:numCache>
                <c:formatCode>General</c:formatCode>
                <c:ptCount val="4"/>
                <c:pt idx="0">
                  <c:v>0.66</c:v>
                </c:pt>
                <c:pt idx="1">
                  <c:v>0.81</c:v>
                </c:pt>
                <c:pt idx="2">
                  <c:v>0.84</c:v>
                </c:pt>
                <c:pt idx="3">
                  <c:v>0.89</c:v>
                </c:pt>
              </c:numCache>
            </c:numRef>
          </c:val>
        </c:ser>
        <c:ser>
          <c:idx val="1"/>
          <c:order val="1"/>
          <c:tx>
            <c:strRef>
              <c:f>Sheet1!$C$1</c:f>
              <c:strCache>
                <c:ptCount val="1"/>
                <c:pt idx="0">
                  <c:v>Precision</c:v>
                </c:pt>
              </c:strCache>
            </c:strRef>
          </c:tx>
          <c:spPr>
            <a:solidFill>
              <a:srgbClr val="1A73E8"/>
            </a:solidFill>
          </c:spPr>
          <c:cat>
            <c:strRef>
              <c:f>Sheet1!$A$2:$A$5</c:f>
              <c:strCache>
                <c:ptCount val="4"/>
                <c:pt idx="0">
                  <c:v>A: Gemini</c:v>
                </c:pt>
                <c:pt idx="1">
                  <c:v>B: Locate+Gemini</c:v>
                </c:pt>
                <c:pt idx="2">
                  <c:v>C: Gemma 4+Gemini</c:v>
                </c:pt>
                <c:pt idx="3">
                  <c:v>D: ours (all three)</c:v>
                </c:pt>
              </c:strCache>
            </c:strRef>
          </c:cat>
          <c:val>
            <c:numRef>
              <c:f>Sheet1!$C$2:$C$5</c:f>
              <c:numCache>
                <c:formatCode>General</c:formatCode>
                <c:ptCount val="4"/>
                <c:pt idx="0">
                  <c:v>0.57</c:v>
                </c:pt>
                <c:pt idx="1">
                  <c:v>0.77</c:v>
                </c:pt>
                <c:pt idx="2">
                  <c:v>0.82</c:v>
                </c:pt>
                <c:pt idx="3">
                  <c:v>0.87</c:v>
                </c:pt>
              </c:numCache>
            </c:numRef>
          </c:val>
        </c:ser>
        <c:ser>
          <c:idx val="2"/>
          <c:order val="2"/>
          <c:tx>
            <c:strRef>
              <c:f>Sheet1!$D$1</c:f>
              <c:strCache>
                <c:ptCount val="1"/>
                <c:pt idx="0">
                  <c:v>Recall</c:v>
                </c:pt>
              </c:strCache>
            </c:strRef>
          </c:tx>
          <c:spPr>
            <a:solidFill>
              <a:srgbClr val="188038"/>
            </a:solidFill>
          </c:spPr>
          <c:cat>
            <c:strRef>
              <c:f>Sheet1!$A$2:$A$5</c:f>
              <c:strCache>
                <c:ptCount val="4"/>
                <c:pt idx="0">
                  <c:v>A: Gemini</c:v>
                </c:pt>
                <c:pt idx="1">
                  <c:v>B: Locate+Gemini</c:v>
                </c:pt>
                <c:pt idx="2">
                  <c:v>C: Gemma 4+Gemini</c:v>
                </c:pt>
                <c:pt idx="3">
                  <c:v>D: ours (all three)</c:v>
                </c:pt>
              </c:strCache>
            </c:strRef>
          </c:cat>
          <c:val>
            <c:numRef>
              <c:f>Sheet1!$D$2:$D$5</c:f>
              <c:numCache>
                <c:formatCode>General</c:formatCode>
                <c:ptCount val="4"/>
                <c:pt idx="0">
                  <c:v>0.6</c:v>
                </c:pt>
                <c:pt idx="1">
                  <c:v>0.75</c:v>
                </c:pt>
                <c:pt idx="2">
                  <c:v>0.78</c:v>
                </c:pt>
                <c:pt idx="3">
                  <c:v>0.85</c:v>
                </c:pt>
              </c:numCache>
            </c:numRef>
          </c:val>
        </c:ser>
        <c:ser>
          <c:idx val="3"/>
          <c:order val="3"/>
          <c:tx>
            <c:strRef>
              <c:f>Sheet1!$E$1</c:f>
              <c:strCache>
                <c:ptCount val="1"/>
                <c:pt idx="0">
                  <c:v>F1</c:v>
                </c:pt>
              </c:strCache>
            </c:strRef>
          </c:tx>
          <c:spPr>
            <a:solidFill>
              <a:srgbClr val="F9AB00"/>
            </a:solidFill>
          </c:spPr>
          <c:cat>
            <c:strRef>
              <c:f>Sheet1!$A$2:$A$5</c:f>
              <c:strCache>
                <c:ptCount val="4"/>
                <c:pt idx="0">
                  <c:v>A: Gemini</c:v>
                </c:pt>
                <c:pt idx="1">
                  <c:v>B: Locate+Gemini</c:v>
                </c:pt>
                <c:pt idx="2">
                  <c:v>C: Gemma 4+Gemini</c:v>
                </c:pt>
                <c:pt idx="3">
                  <c:v>D: ours (all three)</c:v>
                </c:pt>
              </c:strCache>
            </c:strRef>
          </c:cat>
          <c:val>
            <c:numRef>
              <c:f>Sheet1!$E$2:$E$5</c:f>
              <c:numCache>
                <c:formatCode>General</c:formatCode>
                <c:ptCount val="4"/>
                <c:pt idx="0">
                  <c:v>0.59</c:v>
                </c:pt>
                <c:pt idx="1">
                  <c:v>0.76</c:v>
                </c:pt>
                <c:pt idx="2">
                  <c:v>0.79</c:v>
                </c:pt>
                <c:pt idx="3">
                  <c:v>0.86</c:v>
                </c:pt>
              </c:numCache>
            </c:numRef>
          </c:val>
        </c:ser>
        <c:dLbls>
          <c:numFmt formatCode="0%" sourceLinked="0"/>
          <c:txPr>
            <a:bodyPr/>
            <a:lstStyle/>
            <a:p>
              <a:pPr>
                <a:defRPr sz="550">
                  <a:solidFill>
                    <a:srgbClr val="5F6368"/>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DADCE0"/>
            </a:solidFill>
          </a:ln>
        </c:spPr>
        <c:txPr>
          <a:bodyPr/>
          <a:lstStyle/>
          <a:p>
            <a:pPr>
              <a:defRPr sz="600">
                <a:solidFill>
                  <a:srgbClr val="5F6368"/>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DADCE0"/>
              </a:solidFill>
            </a:ln>
          </c:spPr>
        </c:majorGridlines>
        <c:numFmt formatCode="0%" sourceLinked="0"/>
        <c:majorTickMark val="out"/>
        <c:minorTickMark val="none"/>
        <c:tickLblPos val="nextTo"/>
        <c:spPr>
          <a:ln>
            <a:noFill/>
          </a:ln>
        </c:spPr>
        <c:txPr>
          <a:bodyPr/>
          <a:lstStyle/>
          <a:p>
            <a:pPr>
              <a:defRPr sz="600">
                <a:solidFill>
                  <a:srgbClr val="5F6368"/>
                </a:solidFill>
              </a:defRPr>
            </a:pPr>
          </a:p>
        </c:txPr>
        <c:crossAx val="-2068027336"/>
        <c:crosses val="autoZero"/>
      </c:valAx>
    </c:plotArea>
    <c:legend>
      <c:legendPos val="b"/>
      <c:overlay val="0"/>
      <c:txPr>
        <a:bodyPr/>
        <a:lstStyle/>
        <a:p>
          <a:pPr>
            <a:defRPr sz="700">
              <a:solidFill>
                <a:srgbClr val="5F6368"/>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Xcore, led by Thanveer Ahamed (Gen AI Lead), with Janitha Prathapa (Vision AI Lead) and Dinal Fernando (Solution Architect). BFSI track: Intelligent Risk, Fraud &amp; Financial Experiences.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One-liner: a 20-second phone video becomes an underwriting-ready property risk file. Insurance fraud is estimated at $308.6B a year in the US, about $45B of it in property and casualty. Five pains, five users.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single Cloud Run service with an L4 GPU runs the API, web UI, local models and 3D engine. Gemini on Vertex AI provides reasoning. Results go to Cloud Storage, BigQuery and Pub/Sub. One-script deploy, no keys.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Case study and speed numbers are measured. The chart is a simulated example of the evaluation report, not a measured result; say so explicitly.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jpg"/><Relationship Id="rId6"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jpg"/><Relationship Id="rId6" Type="http://schemas.openxmlformats.org/officeDocument/2006/relationships/image" Target="../media/image13.jpg"/><Relationship Id="rId7" Type="http://schemas.openxmlformats.org/officeDocument/2006/relationships/image" Target="../media/image14.jpg"/><Relationship Id="rId8" Type="http://schemas.openxmlformats.org/officeDocument/2006/relationships/image" Target="../media/image15.jpg"/><Relationship Id="rId9" Type="http://schemas.openxmlformats.org/officeDocument/2006/relationships/image" Target="../media/image16.jpg"/><Relationship Id="rId10"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5715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rPr sz="600"/>
              <a:t/>
            </a:r>
            <a:endParaRPr sz="600">
              <a:latin typeface="Google Sans Flex Medium"/>
              <a:ea typeface="Google Sans Flex Medium"/>
              <a:cs typeface="Google Sans Flex Medium"/>
              <a:sym typeface="Google Sans Flex Medium"/>
            </a:endParaRPr>
          </a:p>
          <a:p>
            <a:pPr indent="-228600" lvl="1" marL="502920" rtl="0" algn="l">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Team name: </a:t>
            </a:r>
            <a:r>
              <a:rPr sz="1200" b="1" i="0">
                <a:solidFill>
                  <a:srgbClr val="202124"/>
                </a:solidFill>
                <a:latin typeface="Google Sans Flex"/>
                <a:ea typeface="Google Sans Flex"/>
                <a:cs typeface="Google Sans Flex"/>
              </a:rPr>
              <a:t>Xcore</a:t>
            </a:r>
            <a:endParaRPr sz="1800">
              <a:latin typeface="Google Sans Flex"/>
              <a:ea typeface="Google Sans Flex"/>
              <a:cs typeface="Google Sans Flex"/>
              <a:sym typeface="Google Sans Flex"/>
            </a:endParaRPr>
          </a:p>
          <a:p>
            <a:pPr indent="-228600" lvl="1" marL="502920" rtl="0" algn="l">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Team leader name: </a:t>
            </a:r>
            <a:r>
              <a:rPr sz="1200" b="1" i="0">
                <a:solidFill>
                  <a:srgbClr val="202124"/>
                </a:solidFill>
                <a:latin typeface="Google Sans Flex"/>
                <a:ea typeface="Google Sans Flex"/>
                <a:cs typeface="Google Sans Flex"/>
              </a:rPr>
              <a:t>Thanveer Ahamed</a:t>
            </a:r>
            <a:endParaRPr sz="1800">
              <a:latin typeface="Google Sans Flex"/>
              <a:ea typeface="Google Sans Flex"/>
              <a:cs typeface="Google Sans Flex"/>
              <a:sym typeface="Google Sans Flex"/>
            </a:endParaRPr>
          </a:p>
          <a:p>
            <a:pPr indent="-228600" lvl="1" marL="502920" rtl="0" algn="l">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Problem Statement: </a:t>
            </a:r>
            <a:r>
              <a:rPr sz="1050" b="0" i="0">
                <a:solidFill>
                  <a:srgbClr val="202124"/>
                </a:solidFill>
                <a:latin typeface="Google Sans Flex"/>
                <a:ea typeface="Google Sans Flex"/>
                <a:cs typeface="Google Sans Flex"/>
              </a:rPr>
              <a:t>Intelligent Risk, Fraud &amp; Financial Experiences (BFSI). Lenders and insurers judge property risk from slow site visits or self-reported photos nobody can verify. We turn a 20-second phone video into a fraud-checked, explainable, underwriting-ready property risk file.</a:t>
            </a:r>
            <a:endParaRPr sz="1800">
              <a:latin typeface="Google Sans Flex"/>
              <a:ea typeface="Google Sans Flex"/>
              <a:cs typeface="Google Sans Flex"/>
              <a:sym typeface="Google Sans Flex"/>
            </a:endParaRPr>
          </a:p>
          <a:p>
            <a:pPr indent="0" lvl="0" marL="0" rtl="0" algn="l">
              <a:spcBef>
                <a:spcPts val="0"/>
              </a:spcBef>
              <a:spcAft>
                <a:spcPts val="0"/>
              </a:spcAft>
              <a:buNone/>
            </a:pPr>
            <a:r>
              <a:rPr sz="600"/>
              <a:t/>
            </a:r>
            <a:endParaRPr sz="6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
        <p:nvSpPr>
          <p:cNvPr id="57" name="TextBox 56"/>
          <p:cNvSpPr txBox="1"/>
          <p:nvPr/>
        </p:nvSpPr>
        <p:spPr>
          <a:xfrm>
            <a:off x="6035040" y="2999232"/>
            <a:ext cx="2834640" cy="274320"/>
          </a:xfrm>
          <a:prstGeom prst="rect">
            <a:avLst/>
          </a:prstGeom>
          <a:noFill/>
        </p:spPr>
        <p:txBody>
          <a:bodyPr wrap="square" lIns="0" rIns="0" tIns="0" bIns="0" anchor="t">
            <a:noAutofit/>
          </a:bodyPr>
          <a:lstStyle/>
          <a:p>
            <a:pPr algn="l">
              <a:spcAft>
                <a:spcPts val="200"/>
              </a:spcAft>
            </a:pPr>
            <a:r>
              <a:rPr sz="1300" b="1" i="0">
                <a:solidFill>
                  <a:srgbClr val="202124"/>
                </a:solidFill>
                <a:latin typeface="Google Sans Flex"/>
                <a:ea typeface="Google Sans Flex"/>
                <a:cs typeface="Google Sans Flex"/>
              </a:rPr>
              <a:t>Property Inspection AI</a:t>
            </a:r>
          </a:p>
        </p:txBody>
      </p:sp>
      <p:sp>
        <p:nvSpPr>
          <p:cNvPr id="58" name="TextBox 57"/>
          <p:cNvSpPr txBox="1"/>
          <p:nvPr/>
        </p:nvSpPr>
        <p:spPr>
          <a:xfrm>
            <a:off x="6035040" y="3255264"/>
            <a:ext cx="2834640" cy="228600"/>
          </a:xfrm>
          <a:prstGeom prst="rect">
            <a:avLst/>
          </a:prstGeom>
          <a:noFill/>
        </p:spPr>
        <p:txBody>
          <a:bodyPr wrap="square" lIns="0" rIns="0" tIns="0" bIns="0" anchor="t">
            <a:noAutofit/>
          </a:bodyPr>
          <a:lstStyle/>
          <a:p>
            <a:pPr algn="l">
              <a:spcAft>
                <a:spcPts val="200"/>
              </a:spcAft>
            </a:pPr>
            <a:r>
              <a:rPr sz="800" b="0" i="0">
                <a:solidFill>
                  <a:srgbClr val="5F6368"/>
                </a:solidFill>
                <a:latin typeface="Google Sans Flex"/>
                <a:ea typeface="Google Sans Flex"/>
                <a:cs typeface="Google Sans Flex"/>
              </a:rPr>
              <a:t>Phone video → underwriting-ready property risk file</a:t>
            </a:r>
          </a:p>
        </p:txBody>
      </p:sp>
      <p:pic>
        <p:nvPicPr>
          <p:cNvPr id="59" name="Picture 58" descr="s02_54.png"/>
          <p:cNvPicPr>
            <a:picLocks noChangeAspect="1"/>
          </p:cNvPicPr>
          <p:nvPr/>
        </p:nvPicPr>
        <p:blipFill>
          <a:blip r:embed="rId5"/>
          <a:stretch>
            <a:fillRect/>
          </a:stretch>
        </p:blipFill>
        <p:spPr>
          <a:xfrm>
            <a:off x="6163055" y="3566160"/>
            <a:ext cx="658368" cy="658368"/>
          </a:xfrm>
          <a:prstGeom prst="rect">
            <a:avLst/>
          </a:prstGeom>
        </p:spPr>
      </p:pic>
      <p:sp>
        <p:nvSpPr>
          <p:cNvPr id="60" name="TextBox 59"/>
          <p:cNvSpPr txBox="1"/>
          <p:nvPr/>
        </p:nvSpPr>
        <p:spPr>
          <a:xfrm>
            <a:off x="5998464" y="4261104"/>
            <a:ext cx="950976" cy="182880"/>
          </a:xfrm>
          <a:prstGeom prst="rect">
            <a:avLst/>
          </a:prstGeom>
          <a:noFill/>
        </p:spPr>
        <p:txBody>
          <a:bodyPr wrap="square" lIns="0" rIns="0" tIns="0" bIns="0" anchor="t">
            <a:noAutofit/>
          </a:bodyPr>
          <a:lstStyle/>
          <a:p>
            <a:pPr algn="ctr">
              <a:spcAft>
                <a:spcPts val="200"/>
              </a:spcAft>
            </a:pPr>
            <a:r>
              <a:rPr sz="750" b="1" i="0">
                <a:solidFill>
                  <a:srgbClr val="202124"/>
                </a:solidFill>
                <a:latin typeface="Google Sans Flex"/>
                <a:ea typeface="Google Sans Flex"/>
                <a:cs typeface="Google Sans Flex"/>
              </a:rPr>
              <a:t>Thanveer Ahamed</a:t>
            </a:r>
          </a:p>
        </p:txBody>
      </p:sp>
      <p:sp>
        <p:nvSpPr>
          <p:cNvPr id="61" name="TextBox 60"/>
          <p:cNvSpPr txBox="1"/>
          <p:nvPr/>
        </p:nvSpPr>
        <p:spPr>
          <a:xfrm>
            <a:off x="5998464" y="4425696"/>
            <a:ext cx="950976" cy="292608"/>
          </a:xfrm>
          <a:prstGeom prst="rect">
            <a:avLst/>
          </a:prstGeom>
          <a:noFill/>
        </p:spPr>
        <p:txBody>
          <a:bodyPr wrap="square" lIns="0" rIns="0" tIns="0" bIns="0" anchor="t">
            <a:noAutofit/>
          </a:bodyPr>
          <a:lstStyle/>
          <a:p>
            <a:pPr algn="ctr">
              <a:spcAft>
                <a:spcPts val="200"/>
              </a:spcAft>
            </a:pPr>
            <a:r>
              <a:rPr sz="650" b="0" i="0">
                <a:solidFill>
                  <a:srgbClr val="5F6368"/>
                </a:solidFill>
                <a:latin typeface="Google Sans Flex"/>
                <a:ea typeface="Google Sans Flex"/>
                <a:cs typeface="Google Sans Flex"/>
              </a:rPr>
              <a:t>Leader · Gen AI</a:t>
            </a:r>
          </a:p>
        </p:txBody>
      </p:sp>
      <p:pic>
        <p:nvPicPr>
          <p:cNvPr id="62" name="Picture 61" descr="s02_60.png"/>
          <p:cNvPicPr>
            <a:picLocks noChangeAspect="1"/>
          </p:cNvPicPr>
          <p:nvPr/>
        </p:nvPicPr>
        <p:blipFill>
          <a:blip r:embed="rId6"/>
          <a:stretch>
            <a:fillRect/>
          </a:stretch>
        </p:blipFill>
        <p:spPr>
          <a:xfrm>
            <a:off x="7114031" y="3566160"/>
            <a:ext cx="658368" cy="658368"/>
          </a:xfrm>
          <a:prstGeom prst="rect">
            <a:avLst/>
          </a:prstGeom>
        </p:spPr>
      </p:pic>
      <p:sp>
        <p:nvSpPr>
          <p:cNvPr id="63" name="TextBox 62"/>
          <p:cNvSpPr txBox="1"/>
          <p:nvPr/>
        </p:nvSpPr>
        <p:spPr>
          <a:xfrm>
            <a:off x="6949440" y="4261104"/>
            <a:ext cx="950976" cy="182880"/>
          </a:xfrm>
          <a:prstGeom prst="rect">
            <a:avLst/>
          </a:prstGeom>
          <a:noFill/>
        </p:spPr>
        <p:txBody>
          <a:bodyPr wrap="square" lIns="0" rIns="0" tIns="0" bIns="0" anchor="t">
            <a:noAutofit/>
          </a:bodyPr>
          <a:lstStyle/>
          <a:p>
            <a:pPr algn="ctr">
              <a:spcAft>
                <a:spcPts val="200"/>
              </a:spcAft>
            </a:pPr>
            <a:r>
              <a:rPr sz="750" b="1" i="0">
                <a:solidFill>
                  <a:srgbClr val="202124"/>
                </a:solidFill>
                <a:latin typeface="Google Sans Flex"/>
                <a:ea typeface="Google Sans Flex"/>
                <a:cs typeface="Google Sans Flex"/>
              </a:rPr>
              <a:t>Janitha Prathapa</a:t>
            </a:r>
          </a:p>
        </p:txBody>
      </p:sp>
      <p:sp>
        <p:nvSpPr>
          <p:cNvPr id="64" name="TextBox 63"/>
          <p:cNvSpPr txBox="1"/>
          <p:nvPr/>
        </p:nvSpPr>
        <p:spPr>
          <a:xfrm>
            <a:off x="6949440" y="4425696"/>
            <a:ext cx="950976" cy="292608"/>
          </a:xfrm>
          <a:prstGeom prst="rect">
            <a:avLst/>
          </a:prstGeom>
          <a:noFill/>
        </p:spPr>
        <p:txBody>
          <a:bodyPr wrap="square" lIns="0" rIns="0" tIns="0" bIns="0" anchor="t">
            <a:noAutofit/>
          </a:bodyPr>
          <a:lstStyle/>
          <a:p>
            <a:pPr algn="ctr">
              <a:spcAft>
                <a:spcPts val="200"/>
              </a:spcAft>
            </a:pPr>
            <a:r>
              <a:rPr sz="650" b="0" i="0">
                <a:solidFill>
                  <a:srgbClr val="5F6368"/>
                </a:solidFill>
                <a:latin typeface="Google Sans Flex"/>
                <a:ea typeface="Google Sans Flex"/>
                <a:cs typeface="Google Sans Flex"/>
              </a:rPr>
              <a:t>Vision AI Lead</a:t>
            </a:r>
          </a:p>
        </p:txBody>
      </p:sp>
      <p:pic>
        <p:nvPicPr>
          <p:cNvPr id="65" name="Picture 64" descr="s02_66.png"/>
          <p:cNvPicPr>
            <a:picLocks noChangeAspect="1"/>
          </p:cNvPicPr>
          <p:nvPr/>
        </p:nvPicPr>
        <p:blipFill>
          <a:blip r:embed="rId7"/>
          <a:stretch>
            <a:fillRect/>
          </a:stretch>
        </p:blipFill>
        <p:spPr>
          <a:xfrm>
            <a:off x="8065008" y="3566160"/>
            <a:ext cx="658368" cy="658368"/>
          </a:xfrm>
          <a:prstGeom prst="rect">
            <a:avLst/>
          </a:prstGeom>
        </p:spPr>
      </p:pic>
      <p:sp>
        <p:nvSpPr>
          <p:cNvPr id="66" name="TextBox 65"/>
          <p:cNvSpPr txBox="1"/>
          <p:nvPr/>
        </p:nvSpPr>
        <p:spPr>
          <a:xfrm>
            <a:off x="7900416" y="4261104"/>
            <a:ext cx="950976" cy="182880"/>
          </a:xfrm>
          <a:prstGeom prst="rect">
            <a:avLst/>
          </a:prstGeom>
          <a:noFill/>
        </p:spPr>
        <p:txBody>
          <a:bodyPr wrap="square" lIns="0" rIns="0" tIns="0" bIns="0" anchor="t">
            <a:noAutofit/>
          </a:bodyPr>
          <a:lstStyle/>
          <a:p>
            <a:pPr algn="ctr">
              <a:spcAft>
                <a:spcPts val="200"/>
              </a:spcAft>
            </a:pPr>
            <a:r>
              <a:rPr sz="750" b="1" i="0">
                <a:solidFill>
                  <a:srgbClr val="202124"/>
                </a:solidFill>
                <a:latin typeface="Google Sans Flex"/>
                <a:ea typeface="Google Sans Flex"/>
                <a:cs typeface="Google Sans Flex"/>
              </a:rPr>
              <a:t>Dinal Fernando</a:t>
            </a:r>
          </a:p>
        </p:txBody>
      </p:sp>
      <p:sp>
        <p:nvSpPr>
          <p:cNvPr id="67" name="TextBox 66"/>
          <p:cNvSpPr txBox="1"/>
          <p:nvPr/>
        </p:nvSpPr>
        <p:spPr>
          <a:xfrm>
            <a:off x="7900416" y="4425696"/>
            <a:ext cx="950976" cy="292608"/>
          </a:xfrm>
          <a:prstGeom prst="rect">
            <a:avLst/>
          </a:prstGeom>
          <a:noFill/>
        </p:spPr>
        <p:txBody>
          <a:bodyPr wrap="square" lIns="0" rIns="0" tIns="0" bIns="0" anchor="t">
            <a:noAutofit/>
          </a:bodyPr>
          <a:lstStyle/>
          <a:p>
            <a:pPr algn="ctr">
              <a:spcAft>
                <a:spcPts val="200"/>
              </a:spcAft>
            </a:pPr>
            <a:r>
              <a:rPr sz="650" b="0" i="0">
                <a:solidFill>
                  <a:srgbClr val="5F6368"/>
                </a:solidFill>
                <a:latin typeface="Google Sans Flex"/>
                <a:ea typeface="Google Sans Flex"/>
                <a:cs typeface="Google Sans Flex"/>
              </a:rPr>
              <a:t>Solution Architect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From a 20-second phone video to an underwriting-ready property risk file</a:t>
            </a:r>
          </a:p>
        </p:txBody>
      </p:sp>
      <p:sp>
        <p:nvSpPr>
          <p:cNvPr id="73" name="TextBox 72"/>
          <p:cNvSpPr txBox="1"/>
          <p:nvPr/>
        </p:nvSpPr>
        <p:spPr>
          <a:xfrm>
            <a:off x="347472" y="1353312"/>
            <a:ext cx="5257800" cy="822960"/>
          </a:xfrm>
          <a:prstGeom prst="rect">
            <a:avLst/>
          </a:prstGeom>
          <a:noFill/>
        </p:spPr>
        <p:txBody>
          <a:bodyPr wrap="square" lIns="0" rIns="0" tIns="0" bIns="0" anchor="t">
            <a:noAutofit/>
          </a:bodyPr>
          <a:lstStyle/>
          <a:p>
            <a:pPr algn="l">
              <a:spcAft>
                <a:spcPts val="200"/>
              </a:spcAft>
            </a:pPr>
            <a:r>
              <a:rPr sz="850" b="1" i="0">
                <a:solidFill>
                  <a:srgbClr val="202124"/>
                </a:solidFill>
                <a:latin typeface="Google Sans Flex"/>
                <a:ea typeface="Google Sans Flex"/>
                <a:cs typeface="Google Sans Flex"/>
              </a:rPr>
              <a:t>Property Inspection AI </a:t>
            </a:r>
            <a:r>
              <a:rPr sz="850" b="0" i="0">
                <a:solidFill>
                  <a:srgbClr val="202124"/>
                </a:solidFill>
                <a:latin typeface="Google Sans Flex"/>
                <a:ea typeface="Google Sans Flex"/>
                <a:cs typeface="Google Sans Flex"/>
              </a:rPr>
              <a:t>is a Gen AI inspection service for mortgage lenders, insurers and inspectors. Upload a phone walkthrough video; in minutes it returns defects, condition grade A–E, perils, repair cost, valuation impact, premium loading, an underwriting decision with reasons, fraud flags </a:t>
            </a:r>
            <a:r>
              <a:rPr sz="850" b="1" i="0">
                <a:solidFill>
                  <a:srgbClr val="202124"/>
                </a:solidFill>
                <a:latin typeface="Google Sans Flex"/>
                <a:ea typeface="Google Sans Flex"/>
                <a:cs typeface="Google Sans Flex"/>
              </a:rPr>
              <a:t>and a 3D model that proves what was inspected.</a:t>
            </a:r>
          </a:p>
        </p:txBody>
      </p:sp>
      <p:sp>
        <p:nvSpPr>
          <p:cNvPr id="74" name="TextBox 73"/>
          <p:cNvSpPr txBox="1"/>
          <p:nvPr/>
        </p:nvSpPr>
        <p:spPr>
          <a:xfrm>
            <a:off x="347472" y="2194560"/>
            <a:ext cx="5257800" cy="164592"/>
          </a:xfrm>
          <a:prstGeom prst="rect">
            <a:avLst/>
          </a:prstGeom>
          <a:noFill/>
        </p:spPr>
        <p:txBody>
          <a:bodyPr wrap="square" lIns="0" rIns="0" tIns="0" bIns="0" anchor="t">
            <a:noAutofit/>
          </a:bodyPr>
          <a:lstStyle/>
          <a:p>
            <a:pPr algn="l">
              <a:spcAft>
                <a:spcPts val="200"/>
              </a:spcAft>
            </a:pPr>
            <a:r>
              <a:rPr sz="700" b="1" i="0">
                <a:solidFill>
                  <a:srgbClr val="D93025"/>
                </a:solidFill>
                <a:latin typeface="Google Sans Flex"/>
                <a:ea typeface="Google Sans Flex"/>
                <a:cs typeface="Google Sans Flex"/>
              </a:rPr>
              <a:t>THE PROBLEM: property risk is judged from photos nobody can verify</a:t>
            </a:r>
          </a:p>
        </p:txBody>
      </p:sp>
      <p:sp>
        <p:nvSpPr>
          <p:cNvPr id="75" name="Rounded Rectangle 74"/>
          <p:cNvSpPr/>
          <p:nvPr/>
        </p:nvSpPr>
        <p:spPr>
          <a:xfrm>
            <a:off x="347472"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Slow site visits</a:t>
            </a:r>
          </a:p>
          <a:p>
            <a:pPr algn="l">
              <a:spcAft>
                <a:spcPts val="200"/>
              </a:spcAft>
            </a:pPr>
            <a:r>
              <a:rPr sz="650" b="0" i="0">
                <a:solidFill>
                  <a:srgbClr val="202124"/>
                </a:solidFill>
                <a:latin typeface="Google Sans Flex"/>
                <a:ea typeface="Google Sans Flex"/>
                <a:cs typeface="Google Sans Flex"/>
              </a:rPr>
              <a:t>Days of waiting; remote cases go unchecked</a:t>
            </a:r>
          </a:p>
        </p:txBody>
      </p:sp>
      <p:sp>
        <p:nvSpPr>
          <p:cNvPr id="76" name="Rounded Rectangle 75"/>
          <p:cNvSpPr/>
          <p:nvPr/>
        </p:nvSpPr>
        <p:spPr>
          <a:xfrm>
            <a:off x="1408176"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Unverifiable photos</a:t>
            </a:r>
          </a:p>
          <a:p>
            <a:pPr algn="l">
              <a:spcAft>
                <a:spcPts val="200"/>
              </a:spcAft>
            </a:pPr>
            <a:r>
              <a:rPr sz="650" b="0" i="0">
                <a:solidFill>
                  <a:srgbClr val="202124"/>
                </a:solidFill>
                <a:latin typeface="Google Sans Flex"/>
                <a:ea typeface="Google Sans Flex"/>
                <a:cs typeface="Google Sans Flex"/>
              </a:rPr>
              <a:t>Reused, edited, off-screen or wrong property</a:t>
            </a:r>
          </a:p>
        </p:txBody>
      </p:sp>
      <p:sp>
        <p:nvSpPr>
          <p:cNvPr id="77" name="Rounded Rectangle 76"/>
          <p:cNvSpPr/>
          <p:nvPr/>
        </p:nvSpPr>
        <p:spPr>
          <a:xfrm>
            <a:off x="2468879"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No proof of coverage</a:t>
            </a:r>
          </a:p>
          <a:p>
            <a:pPr algn="l">
              <a:spcAft>
                <a:spcPts val="200"/>
              </a:spcAft>
            </a:pPr>
            <a:r>
              <a:rPr sz="650" b="0" i="0">
                <a:solidFill>
                  <a:srgbClr val="202124"/>
                </a:solidFill>
                <a:latin typeface="Google Sans Flex"/>
                <a:ea typeface="Google Sans Flex"/>
                <a:cs typeface="Google Sans Flex"/>
              </a:rPr>
              <a:t>Which walls did the inspection see?</a:t>
            </a:r>
          </a:p>
        </p:txBody>
      </p:sp>
      <p:sp>
        <p:nvSpPr>
          <p:cNvPr id="78" name="Rounded Rectangle 77"/>
          <p:cNvSpPr/>
          <p:nvPr/>
        </p:nvSpPr>
        <p:spPr>
          <a:xfrm>
            <a:off x="3529583"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Subjective grading</a:t>
            </a:r>
          </a:p>
          <a:p>
            <a:pPr algn="l">
              <a:spcAft>
                <a:spcPts val="200"/>
              </a:spcAft>
            </a:pPr>
            <a:r>
              <a:rPr sz="650" b="0" i="0">
                <a:solidFill>
                  <a:srgbClr val="202124"/>
                </a:solidFill>
                <a:latin typeface="Google Sans Flex"/>
                <a:ea typeface="Google Sans Flex"/>
                <a:cs typeface="Google Sans Flex"/>
              </a:rPr>
              <a:t>Inspectors disagree; reasons unrecorded</a:t>
            </a:r>
          </a:p>
        </p:txBody>
      </p:sp>
      <p:sp>
        <p:nvSpPr>
          <p:cNvPr id="79" name="Rounded Rectangle 78"/>
          <p:cNvSpPr/>
          <p:nvPr/>
        </p:nvSpPr>
        <p:spPr>
          <a:xfrm>
            <a:off x="4590288"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Overvaluation</a:t>
            </a:r>
          </a:p>
          <a:p>
            <a:pPr algn="l">
              <a:spcAft>
                <a:spcPts val="200"/>
              </a:spcAft>
            </a:pPr>
            <a:r>
              <a:rPr sz="650" b="0" i="0">
                <a:solidFill>
                  <a:srgbClr val="202124"/>
                </a:solidFill>
                <a:latin typeface="Google Sans Flex"/>
                <a:ea typeface="Google Sans Flex"/>
                <a:cs typeface="Google Sans Flex"/>
              </a:rPr>
              <a:t>RBI has flagged inflated collateral values</a:t>
            </a:r>
          </a:p>
        </p:txBody>
      </p:sp>
      <p:sp>
        <p:nvSpPr>
          <p:cNvPr id="80" name="TextBox 79"/>
          <p:cNvSpPr txBox="1"/>
          <p:nvPr/>
        </p:nvSpPr>
        <p:spPr>
          <a:xfrm>
            <a:off x="347472" y="3127248"/>
            <a:ext cx="5257800" cy="164592"/>
          </a:xfrm>
          <a:prstGeom prst="rect">
            <a:avLst/>
          </a:prstGeom>
          <a:noFill/>
        </p:spPr>
        <p:txBody>
          <a:bodyPr wrap="square" lIns="0" rIns="0" tIns="0" bIns="0" anchor="t">
            <a:noAutofit/>
          </a:bodyPr>
          <a:lstStyle/>
          <a:p>
            <a:pPr algn="l">
              <a:spcAft>
                <a:spcPts val="200"/>
              </a:spcAft>
            </a:pPr>
            <a:r>
              <a:rPr sz="700" b="1" i="0">
                <a:solidFill>
                  <a:srgbClr val="1A73E8"/>
                </a:solidFill>
                <a:latin typeface="Google Sans Flex"/>
                <a:ea typeface="Google Sans Flex"/>
                <a:cs typeface="Google Sans Flex"/>
              </a:rPr>
              <a:t>WHO IT SERVES: one inspection record, five BFSI decision-makers</a:t>
            </a:r>
          </a:p>
        </p:txBody>
      </p:sp>
      <p:sp>
        <p:nvSpPr>
          <p:cNvPr id="81" name="Rounded Rectangle 80"/>
          <p:cNvSpPr/>
          <p:nvPr/>
        </p:nvSpPr>
        <p:spPr>
          <a:xfrm>
            <a:off x="347472"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Lenders, HFCs, NBFCs</a:t>
            </a:r>
          </a:p>
          <a:p>
            <a:pPr algn="l">
              <a:spcAft>
                <a:spcPts val="200"/>
              </a:spcAft>
            </a:pPr>
            <a:r>
              <a:rPr sz="650" b="0" i="0">
                <a:solidFill>
                  <a:srgbClr val="202124"/>
                </a:solidFill>
                <a:latin typeface="Google Sans Flex"/>
                <a:ea typeface="Google Sans Flex"/>
                <a:cs typeface="Google Sans Flex"/>
              </a:rPr>
              <a:t>Collateral grade, valuation impact, REFER flag</a:t>
            </a:r>
          </a:p>
        </p:txBody>
      </p:sp>
      <p:sp>
        <p:nvSpPr>
          <p:cNvPr id="82" name="Rounded Rectangle 81"/>
          <p:cNvSpPr/>
          <p:nvPr/>
        </p:nvSpPr>
        <p:spPr>
          <a:xfrm>
            <a:off x="1408176"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Insurers: underwriting</a:t>
            </a:r>
          </a:p>
          <a:p>
            <a:pPr algn="l">
              <a:spcAft>
                <a:spcPts val="200"/>
              </a:spcAft>
            </a:pPr>
            <a:r>
              <a:rPr sz="650" b="0" i="0">
                <a:solidFill>
                  <a:srgbClr val="202124"/>
                </a:solidFill>
                <a:latin typeface="Google Sans Flex"/>
                <a:ea typeface="Google Sans Flex"/>
                <a:cs typeface="Google Sans Flex"/>
              </a:rPr>
              <a:t>Perils, risk level, premium loading</a:t>
            </a:r>
          </a:p>
        </p:txBody>
      </p:sp>
      <p:sp>
        <p:nvSpPr>
          <p:cNvPr id="83" name="Rounded Rectangle 82"/>
          <p:cNvSpPr/>
          <p:nvPr/>
        </p:nvSpPr>
        <p:spPr>
          <a:xfrm>
            <a:off x="2468879"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Insurers: claims</a:t>
            </a:r>
          </a:p>
          <a:p>
            <a:pPr algn="l">
              <a:spcAft>
                <a:spcPts val="200"/>
              </a:spcAft>
            </a:pPr>
            <a:r>
              <a:rPr sz="650" b="0" i="0">
                <a:solidFill>
                  <a:srgbClr val="202124"/>
                </a:solidFill>
                <a:latin typeface="Google Sans Flex"/>
                <a:ea typeface="Google Sans Flex"/>
                <a:cs typeface="Google Sans Flex"/>
              </a:rPr>
              <a:t>Repair-cost range, fraud-checked evidence</a:t>
            </a:r>
          </a:p>
        </p:txBody>
      </p:sp>
      <p:sp>
        <p:nvSpPr>
          <p:cNvPr id="84" name="Rounded Rectangle 83"/>
          <p:cNvSpPr/>
          <p:nvPr/>
        </p:nvSpPr>
        <p:spPr>
          <a:xfrm>
            <a:off x="3529583"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Inspectors &amp; valuers</a:t>
            </a:r>
          </a:p>
          <a:p>
            <a:pPr algn="l">
              <a:spcAft>
                <a:spcPts val="200"/>
              </a:spcAft>
            </a:pPr>
            <a:r>
              <a:rPr sz="650" b="0" i="0">
                <a:solidFill>
                  <a:srgbClr val="202124"/>
                </a:solidFill>
                <a:latin typeface="Google Sans Flex"/>
                <a:ea typeface="Google Sans Flex"/>
                <a:cs typeface="Google Sans Flex"/>
              </a:rPr>
              <a:t>AI-drafted report, re-film list</a:t>
            </a:r>
          </a:p>
        </p:txBody>
      </p:sp>
      <p:sp>
        <p:nvSpPr>
          <p:cNvPr id="85" name="Rounded Rectangle 84"/>
          <p:cNvSpPr/>
          <p:nvPr/>
        </p:nvSpPr>
        <p:spPr>
          <a:xfrm>
            <a:off x="4590288"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43891" bIns="43891">
            <a:noAutofit/>
          </a:bodyPr>
          <a:lstStyle/>
          <a:p>
            <a:pPr algn="l">
              <a:spcAft>
                <a:spcPts val="200"/>
              </a:spcAft>
            </a:pPr>
            <a:r>
              <a:rPr sz="750" b="1" i="0">
                <a:solidFill>
                  <a:srgbClr val="202124"/>
                </a:solidFill>
                <a:latin typeface="Google Sans Flex"/>
                <a:ea typeface="Google Sans Flex"/>
                <a:cs typeface="Google Sans Flex"/>
              </a:rPr>
              <a:t>Owners &amp; buyers</a:t>
            </a:r>
          </a:p>
          <a:p>
            <a:pPr algn="l">
              <a:spcAft>
                <a:spcPts val="200"/>
              </a:spcAft>
            </a:pPr>
            <a:r>
              <a:rPr sz="650" b="0" i="0">
                <a:solidFill>
                  <a:srgbClr val="202124"/>
                </a:solidFill>
                <a:latin typeface="Google Sans Flex"/>
                <a:ea typeface="Google Sans Flex"/>
                <a:cs typeface="Google Sans Flex"/>
              </a:rPr>
              <a:t>Condition report, 3D model, floor plan</a:t>
            </a:r>
          </a:p>
        </p:txBody>
      </p:sp>
      <p:sp>
        <p:nvSpPr>
          <p:cNvPr id="86" name="Rounded Rectangle 85"/>
          <p:cNvSpPr/>
          <p:nvPr/>
        </p:nvSpPr>
        <p:spPr>
          <a:xfrm>
            <a:off x="347472"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438912" y="4133088"/>
            <a:ext cx="1517904" cy="365760"/>
          </a:xfrm>
          <a:prstGeom prst="rect">
            <a:avLst/>
          </a:prstGeom>
          <a:noFill/>
        </p:spPr>
        <p:txBody>
          <a:bodyPr wrap="square" lIns="0" rIns="0" tIns="0" bIns="0" anchor="t">
            <a:noAutofit/>
          </a:bodyPr>
          <a:lstStyle/>
          <a:p>
            <a:pPr algn="l">
              <a:spcAft>
                <a:spcPts val="200"/>
              </a:spcAft>
            </a:pPr>
            <a:r>
              <a:rPr sz="1400" b="1" i="0">
                <a:solidFill>
                  <a:srgbClr val="D93025"/>
                </a:solidFill>
                <a:latin typeface="Google Sans Flex"/>
                <a:ea typeface="Google Sans Flex"/>
                <a:cs typeface="Google Sans Flex"/>
              </a:rPr>
              <a:t>$308.6B</a:t>
            </a:r>
          </a:p>
        </p:txBody>
      </p:sp>
      <p:sp>
        <p:nvSpPr>
          <p:cNvPr id="88" name="TextBox 87"/>
          <p:cNvSpPr txBox="1"/>
          <p:nvPr/>
        </p:nvSpPr>
        <p:spPr>
          <a:xfrm>
            <a:off x="438912" y="4355338"/>
            <a:ext cx="1517904" cy="36576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yearly US insurance fraud, all lines (Coalition Against Insurance Fraud, 2022)</a:t>
            </a:r>
          </a:p>
        </p:txBody>
      </p:sp>
      <p:sp>
        <p:nvSpPr>
          <p:cNvPr id="89" name="Rounded Rectangle 88"/>
          <p:cNvSpPr/>
          <p:nvPr/>
        </p:nvSpPr>
        <p:spPr>
          <a:xfrm>
            <a:off x="2121408"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2212848" y="4133088"/>
            <a:ext cx="1517904" cy="365760"/>
          </a:xfrm>
          <a:prstGeom prst="rect">
            <a:avLst/>
          </a:prstGeom>
          <a:noFill/>
        </p:spPr>
        <p:txBody>
          <a:bodyPr wrap="square" lIns="0" rIns="0" tIns="0" bIns="0" anchor="t">
            <a:noAutofit/>
          </a:bodyPr>
          <a:lstStyle/>
          <a:p>
            <a:pPr algn="l">
              <a:spcAft>
                <a:spcPts val="200"/>
              </a:spcAft>
            </a:pPr>
            <a:r>
              <a:rPr sz="1400" b="1" i="0">
                <a:solidFill>
                  <a:srgbClr val="E37400"/>
                </a:solidFill>
                <a:latin typeface="Google Sans Flex"/>
                <a:ea typeface="Google Sans Flex"/>
                <a:cs typeface="Google Sans Flex"/>
              </a:rPr>
              <a:t>~$45B</a:t>
            </a:r>
          </a:p>
        </p:txBody>
      </p:sp>
      <p:sp>
        <p:nvSpPr>
          <p:cNvPr id="91" name="TextBox 90"/>
          <p:cNvSpPr txBox="1"/>
          <p:nvPr/>
        </p:nvSpPr>
        <p:spPr>
          <a:xfrm>
            <a:off x="2212848" y="4355338"/>
            <a:ext cx="1517904" cy="36576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of that in property &amp; casualty insurance (same study)</a:t>
            </a:r>
          </a:p>
        </p:txBody>
      </p:sp>
      <p:sp>
        <p:nvSpPr>
          <p:cNvPr id="92" name="Rounded Rectangle 91"/>
          <p:cNvSpPr/>
          <p:nvPr/>
        </p:nvSpPr>
        <p:spPr>
          <a:xfrm>
            <a:off x="3895344"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986783" y="4133088"/>
            <a:ext cx="1517904" cy="365760"/>
          </a:xfrm>
          <a:prstGeom prst="rect">
            <a:avLst/>
          </a:prstGeom>
          <a:noFill/>
        </p:spPr>
        <p:txBody>
          <a:bodyPr wrap="square" lIns="0" rIns="0" tIns="0" bIns="0" anchor="t">
            <a:noAutofit/>
          </a:bodyPr>
          <a:lstStyle/>
          <a:p>
            <a:pPr algn="l">
              <a:spcAft>
                <a:spcPts val="200"/>
              </a:spcAft>
            </a:pPr>
            <a:r>
              <a:rPr sz="1400" b="1" i="0">
                <a:solidFill>
                  <a:srgbClr val="1A73E8"/>
                </a:solidFill>
                <a:latin typeface="Google Sans Flex"/>
                <a:ea typeface="Google Sans Flex"/>
                <a:cs typeface="Google Sans Flex"/>
              </a:rPr>
              <a:t>$4.5–12.5B</a:t>
            </a:r>
          </a:p>
        </p:txBody>
      </p:sp>
      <p:sp>
        <p:nvSpPr>
          <p:cNvPr id="94" name="TextBox 93"/>
          <p:cNvSpPr txBox="1"/>
          <p:nvPr/>
        </p:nvSpPr>
        <p:spPr>
          <a:xfrm>
            <a:off x="3986783" y="4355338"/>
            <a:ext cx="1517904" cy="36576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global home-inspection services market, 2025 (industry reports)</a:t>
            </a:r>
          </a:p>
        </p:txBody>
      </p:sp>
      <p:pic>
        <p:nvPicPr>
          <p:cNvPr id="95" name="Picture 94" descr="s01_41.png"/>
          <p:cNvPicPr>
            <a:picLocks noChangeAspect="1"/>
          </p:cNvPicPr>
          <p:nvPr/>
        </p:nvPicPr>
        <p:blipFill>
          <a:blip r:embed="rId4"/>
          <a:stretch>
            <a:fillRect/>
          </a:stretch>
        </p:blipFill>
        <p:spPr>
          <a:xfrm>
            <a:off x="5760720" y="1325880"/>
            <a:ext cx="3035808" cy="3035808"/>
          </a:xfrm>
          <a:prstGeom prst="rect">
            <a:avLst/>
          </a:prstGeom>
        </p:spPr>
      </p:pic>
      <p:sp>
        <p:nvSpPr>
          <p:cNvPr id="96" name="TextBox 95"/>
          <p:cNvSpPr txBox="1"/>
          <p:nvPr/>
        </p:nvSpPr>
        <p:spPr>
          <a:xfrm>
            <a:off x="5760720" y="4389120"/>
            <a:ext cx="3035808" cy="502920"/>
          </a:xfrm>
          <a:prstGeom prst="rect">
            <a:avLst/>
          </a:prstGeom>
          <a:noFill/>
        </p:spPr>
        <p:txBody>
          <a:bodyPr wrap="square" lIns="0" rIns="0" tIns="0" bIns="0" anchor="t">
            <a:noAutofit/>
          </a:bodyPr>
          <a:lstStyle/>
          <a:p>
            <a:pPr algn="ctr">
              <a:spcAft>
                <a:spcPts val="200"/>
              </a:spcAft>
            </a:pPr>
            <a:r>
              <a:rPr sz="800" b="1" i="0">
                <a:solidFill>
                  <a:srgbClr val="1A73E8"/>
                </a:solidFill>
                <a:latin typeface="Google Sans Flex"/>
                <a:ea typeface="Google Sans Flex"/>
                <a:cs typeface="Google Sans Flex"/>
              </a:rPr>
              <a:t>Minutes, not days · Fraud-resistant · Explainable</a:t>
            </a:r>
          </a:p>
          <a:p>
            <a:pPr algn="ctr">
              <a:spcAft>
                <a:spcPts val="200"/>
              </a:spcAft>
            </a:pPr>
            <a:r>
              <a:rPr sz="700" b="0" i="1">
                <a:solidFill>
                  <a:srgbClr val="5F6368"/>
                </a:solidFill>
                <a:latin typeface="Google Sans Flex"/>
                <a:ea typeface="Google Sans Flex"/>
                <a:cs typeface="Google Sans Flex"/>
              </a:rPr>
              <a:t>Concept illustration of the product</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How it is different, how it solves the problem, and our USP</a:t>
            </a:r>
          </a:p>
        </p:txBody>
      </p:sp>
      <p:sp>
        <p:nvSpPr>
          <p:cNvPr id="81" name="TextBox 80"/>
          <p:cNvSpPr txBox="1"/>
          <p:nvPr/>
        </p:nvSpPr>
        <p:spPr>
          <a:xfrm>
            <a:off x="347472" y="1325880"/>
            <a:ext cx="5257800" cy="164592"/>
          </a:xfrm>
          <a:prstGeom prst="rect">
            <a:avLst/>
          </a:prstGeom>
          <a:noFill/>
        </p:spPr>
        <p:txBody>
          <a:bodyPr wrap="square" lIns="0" rIns="0" tIns="0" bIns="0" anchor="t">
            <a:noAutofit/>
          </a:bodyPr>
          <a:lstStyle/>
          <a:p>
            <a:pPr algn="l">
              <a:spcAft>
                <a:spcPts val="200"/>
              </a:spcAft>
            </a:pPr>
            <a:r>
              <a:rPr sz="700" b="1" i="0">
                <a:solidFill>
                  <a:srgbClr val="1A73E8"/>
                </a:solidFill>
                <a:latin typeface="Google Sans Flex"/>
                <a:ea typeface="Google Sans Flex"/>
                <a:cs typeface="Google Sans Flex"/>
              </a:rPr>
              <a:t>HOW DIFFERENT IS IT FROM EXISTING IDEAS?</a:t>
            </a:r>
          </a:p>
        </p:txBody>
      </p:sp>
      <p:graphicFrame>
        <p:nvGraphicFramePr>
          <p:cNvPr id="82" name="Table 81"/>
          <p:cNvGraphicFramePr>
            <a:graphicFrameLocks noGrp="1"/>
          </p:cNvGraphicFramePr>
          <p:nvPr/>
        </p:nvGraphicFramePr>
        <p:xfrm>
          <a:off x="347472" y="1508760"/>
          <a:ext cx="5257800" cy="1728216"/>
        </p:xfrm>
        <a:graphic>
          <a:graphicData uri="http://schemas.openxmlformats.org/drawingml/2006/table">
            <a:tbl>
              <a:tblPr firstRow="1" bandRow="1">
                <a:tableStyleId>{5C22544A-7EE6-4342-B048-85BDC9FD1C3A}</a:tableStyleId>
              </a:tblPr>
              <a:tblGrid>
                <a:gridCol w="1417320"/>
                <a:gridCol w="1554480"/>
                <a:gridCol w="2286000"/>
              </a:tblGrid>
              <a:tr h="246888">
                <a:tc>
                  <a:txBody>
                    <a:bodyPr/>
                    <a:lstStyle/>
                    <a:p>
                      <a:pPr algn="l">
                        <a:spcAft>
                          <a:spcPts val="200"/>
                        </a:spcAft>
                      </a:pPr>
                      <a:r>
                        <a:rPr sz="700" b="1" i="0">
                          <a:solidFill>
                            <a:srgbClr val="FFFFFF"/>
                          </a:solidFill>
                          <a:latin typeface="Google Sans Flex"/>
                          <a:ea typeface="Google Sans Flex"/>
                          <a:cs typeface="Google Sans Flex"/>
                        </a:rPr>
                        <a:t/>
                      </a:r>
                    </a:p>
                  </a:txBody>
                  <a:tcPr marL="45720" marR="45720" marT="18288" marB="18288" anchor="ctr">
                    <a:solidFill>
                      <a:srgbClr val="202124"/>
                    </a:solidFill>
                  </a:tcPr>
                </a:tc>
                <a:tc>
                  <a:txBody>
                    <a:bodyPr/>
                    <a:lstStyle/>
                    <a:p>
                      <a:pPr algn="l">
                        <a:spcAft>
                          <a:spcPts val="200"/>
                        </a:spcAft>
                      </a:pPr>
                      <a:r>
                        <a:rPr sz="700" b="1" i="0">
                          <a:solidFill>
                            <a:srgbClr val="FFFFFF"/>
                          </a:solidFill>
                          <a:latin typeface="Google Sans Flex"/>
                          <a:ea typeface="Google Sans Flex"/>
                          <a:cs typeface="Google Sans Flex"/>
                        </a:rPr>
                        <a:t>Site visit / photo-only AI tools</a:t>
                      </a:r>
                    </a:p>
                  </a:txBody>
                  <a:tcPr marL="45720" marR="45720" marT="18288" marB="18288" anchor="ctr">
                    <a:solidFill>
                      <a:srgbClr val="202124"/>
                    </a:solidFill>
                  </a:tcPr>
                </a:tc>
                <a:tc>
                  <a:txBody>
                    <a:bodyPr/>
                    <a:lstStyle/>
                    <a:p>
                      <a:pPr algn="l">
                        <a:spcAft>
                          <a:spcPts val="200"/>
                        </a:spcAft>
                      </a:pPr>
                      <a:r>
                        <a:rPr sz="700" b="1" i="0">
                          <a:solidFill>
                            <a:srgbClr val="FFFFFF"/>
                          </a:solidFill>
                          <a:latin typeface="Google Sans Flex"/>
                          <a:ea typeface="Google Sans Flex"/>
                          <a:cs typeface="Google Sans Flex"/>
                        </a:rPr>
                        <a:t>Property Inspection AI</a:t>
                      </a:r>
                    </a:p>
                  </a:txBody>
                  <a:tcPr marL="45720" marR="45720" marT="18288" marB="18288" anchor="ctr">
                    <a:solidFill>
                      <a:srgbClr val="1A73E8"/>
                    </a:solidFill>
                  </a:tcPr>
                </a:tc>
              </a:tr>
              <a:tr h="246888">
                <a:tc>
                  <a:txBody>
                    <a:bodyPr/>
                    <a:lstStyle/>
                    <a:p>
                      <a:pPr algn="l">
                        <a:spcAft>
                          <a:spcPts val="200"/>
                        </a:spcAft>
                      </a:pPr>
                      <a:r>
                        <a:rPr sz="700" b="1" i="0">
                          <a:solidFill>
                            <a:srgbClr val="202124"/>
                          </a:solidFill>
                          <a:latin typeface="Google Sans Flex"/>
                          <a:ea typeface="Google Sans Flex"/>
                          <a:cs typeface="Google Sans Flex"/>
                        </a:rPr>
                        <a:t>Turnaround</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Days (visit) / minutes (tools)</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Minutes; ~10 min per 20 s video</a:t>
                      </a:r>
                    </a:p>
                  </a:txBody>
                  <a:tcPr marL="45720" marR="45720" marT="18288" marB="18288" anchor="ctr">
                    <a:solidFill>
                      <a:srgbClr val="E8F0FE"/>
                    </a:solidFill>
                  </a:tcPr>
                </a:tc>
              </a:tr>
              <a:tr h="246888">
                <a:tc>
                  <a:txBody>
                    <a:bodyPr/>
                    <a:lstStyle/>
                    <a:p>
                      <a:pPr algn="l">
                        <a:spcAft>
                          <a:spcPts val="200"/>
                        </a:spcAft>
                      </a:pPr>
                      <a:r>
                        <a:rPr sz="700" b="1" i="0">
                          <a:solidFill>
                            <a:srgbClr val="202124"/>
                          </a:solidFill>
                          <a:latin typeface="Google Sans Flex"/>
                          <a:ea typeface="Google Sans Flex"/>
                          <a:cs typeface="Google Sans Flex"/>
                        </a:rPr>
                        <a:t>Proof of what was inspected</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Inspector's word / none</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10 cm coverage map + 3D-pinned findings</a:t>
                      </a:r>
                    </a:p>
                  </a:txBody>
                  <a:tcPr marL="45720" marR="45720" marT="18288" marB="18288" anchor="ctr">
                    <a:solidFill>
                      <a:srgbClr val="E8F0FE"/>
                    </a:solidFill>
                  </a:tcPr>
                </a:tc>
              </a:tr>
              <a:tr h="246888">
                <a:tc>
                  <a:txBody>
                    <a:bodyPr/>
                    <a:lstStyle/>
                    <a:p>
                      <a:pPr algn="l">
                        <a:spcAft>
                          <a:spcPts val="200"/>
                        </a:spcAft>
                      </a:pPr>
                      <a:r>
                        <a:rPr sz="700" b="1" i="0">
                          <a:solidFill>
                            <a:srgbClr val="202124"/>
                          </a:solidFill>
                          <a:latin typeface="Google Sans Flex"/>
                          <a:ea typeface="Google Sans Flex"/>
                          <a:cs typeface="Google Sans Flex"/>
                        </a:rPr>
                        <a:t>Evidence fraud checks</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None / limited</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Keyframe dHash reuse, Gemini screen / AI check</a:t>
                      </a:r>
                    </a:p>
                  </a:txBody>
                  <a:tcPr marL="45720" marR="45720" marT="18288" marB="18288" anchor="ctr">
                    <a:solidFill>
                      <a:srgbClr val="E8F0FE"/>
                    </a:solidFill>
                  </a:tcPr>
                </a:tc>
              </a:tr>
              <a:tr h="246888">
                <a:tc>
                  <a:txBody>
                    <a:bodyPr/>
                    <a:lstStyle/>
                    <a:p>
                      <a:pPr algn="l">
                        <a:spcAft>
                          <a:spcPts val="200"/>
                        </a:spcAft>
                      </a:pPr>
                      <a:r>
                        <a:rPr sz="700" b="1" i="0">
                          <a:solidFill>
                            <a:srgbClr val="202124"/>
                          </a:solidFill>
                          <a:latin typeface="Google Sans Flex"/>
                          <a:ea typeface="Google Sans Flex"/>
                          <a:cs typeface="Google Sans Flex"/>
                        </a:rPr>
                        <a:t>How the decision is made</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Subjective / black-box score</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Transparent YAML rules; Gemini explains</a:t>
                      </a:r>
                    </a:p>
                  </a:txBody>
                  <a:tcPr marL="45720" marR="45720" marT="18288" marB="18288" anchor="ctr">
                    <a:solidFill>
                      <a:srgbClr val="E8F0FE"/>
                    </a:solidFill>
                  </a:tcPr>
                </a:tc>
              </a:tr>
              <a:tr h="246888">
                <a:tc>
                  <a:txBody>
                    <a:bodyPr/>
                    <a:lstStyle/>
                    <a:p>
                      <a:pPr algn="l">
                        <a:spcAft>
                          <a:spcPts val="200"/>
                        </a:spcAft>
                      </a:pPr>
                      <a:r>
                        <a:rPr sz="700" b="1" i="0">
                          <a:solidFill>
                            <a:srgbClr val="202124"/>
                          </a:solidFill>
                          <a:latin typeface="Google Sans Flex"/>
                          <a:ea typeface="Google Sans Flex"/>
                          <a:cs typeface="Google Sans Flex"/>
                        </a:rPr>
                        <a:t>False-positive control</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Human / single model</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Find (LocateAnything) → verify (Gemma 4) → rules</a:t>
                      </a:r>
                    </a:p>
                  </a:txBody>
                  <a:tcPr marL="45720" marR="45720" marT="18288" marB="18288" anchor="ctr">
                    <a:solidFill>
                      <a:srgbClr val="E8F0FE"/>
                    </a:solidFill>
                  </a:tcPr>
                </a:tc>
              </a:tr>
              <a:tr h="246888">
                <a:tc>
                  <a:txBody>
                    <a:bodyPr/>
                    <a:lstStyle/>
                    <a:p>
                      <a:pPr algn="l">
                        <a:spcAft>
                          <a:spcPts val="200"/>
                        </a:spcAft>
                      </a:pPr>
                      <a:r>
                        <a:rPr sz="700" b="1" i="0">
                          <a:solidFill>
                            <a:srgbClr val="202124"/>
                          </a:solidFill>
                          <a:latin typeface="Google Sans Flex"/>
                          <a:ea typeface="Google Sans Flex"/>
                          <a:cs typeface="Google Sans Flex"/>
                        </a:rPr>
                        <a:t>BFSI outputs &amp; integration</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Report or damage list, PDF</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Grade, perils, cost, valuation, premium; BigQuery + Pub/Sub</a:t>
                      </a:r>
                    </a:p>
                  </a:txBody>
                  <a:tcPr marL="45720" marR="45720" marT="18288" marB="18288" anchor="ctr">
                    <a:solidFill>
                      <a:srgbClr val="E8F0FE"/>
                    </a:solidFill>
                  </a:tcPr>
                </a:tc>
              </a:tr>
            </a:tbl>
          </a:graphicData>
        </a:graphic>
      </p:graphicFrame>
      <p:sp>
        <p:nvSpPr>
          <p:cNvPr id="83" name="TextBox 82"/>
          <p:cNvSpPr txBox="1"/>
          <p:nvPr/>
        </p:nvSpPr>
        <p:spPr>
          <a:xfrm>
            <a:off x="347472" y="3401568"/>
            <a:ext cx="5257800" cy="164592"/>
          </a:xfrm>
          <a:prstGeom prst="rect">
            <a:avLst/>
          </a:prstGeom>
          <a:noFill/>
        </p:spPr>
        <p:txBody>
          <a:bodyPr wrap="square" lIns="0" rIns="0" tIns="0" bIns="0" anchor="t">
            <a:noAutofit/>
          </a:bodyPr>
          <a:lstStyle/>
          <a:p>
            <a:pPr algn="l">
              <a:spcAft>
                <a:spcPts val="200"/>
              </a:spcAft>
            </a:pPr>
            <a:r>
              <a:rPr sz="700" b="1" i="0">
                <a:solidFill>
                  <a:srgbClr val="188038"/>
                </a:solidFill>
                <a:latin typeface="Google Sans Flex"/>
                <a:ea typeface="Google Sans Flex"/>
                <a:cs typeface="Google Sans Flex"/>
              </a:rPr>
              <a:t>HOW WILL IT SOLVE THE PROBLEM?</a:t>
            </a:r>
          </a:p>
        </p:txBody>
      </p:sp>
      <p:sp>
        <p:nvSpPr>
          <p:cNvPr id="84" name="Rounded Rectangle 83"/>
          <p:cNvSpPr/>
          <p:nvPr/>
        </p:nvSpPr>
        <p:spPr>
          <a:xfrm>
            <a:off x="347472" y="3584448"/>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1" i="0">
                <a:solidFill>
                  <a:srgbClr val="202124"/>
                </a:solidFill>
                <a:latin typeface="Google Sans Flex"/>
                <a:ea typeface="Google Sans Flex"/>
                <a:cs typeface="Google Sans Flex"/>
              </a:rPr>
              <a:t>Slow site visits</a:t>
            </a:r>
          </a:p>
        </p:txBody>
      </p:sp>
      <p:cxnSp>
        <p:nvCxnSpPr>
          <p:cNvPr id="85" name="Connector 84"/>
          <p:cNvCxnSpPr/>
          <p:nvPr/>
        </p:nvCxnSpPr>
        <p:spPr>
          <a:xfrm>
            <a:off x="1700784" y="3698748"/>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901952" y="3584448"/>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0" i="0">
                <a:solidFill>
                  <a:srgbClr val="202124"/>
                </a:solidFill>
                <a:latin typeface="Google Sans Flex"/>
                <a:ea typeface="Google Sans Flex"/>
                <a:cs typeface="Google Sans Flex"/>
              </a:rPr>
              <a:t>full risk file in minutes; low-risk homes clear without a visit</a:t>
            </a:r>
          </a:p>
        </p:txBody>
      </p:sp>
      <p:sp>
        <p:nvSpPr>
          <p:cNvPr id="87" name="Rounded Rectangle 86"/>
          <p:cNvSpPr/>
          <p:nvPr/>
        </p:nvSpPr>
        <p:spPr>
          <a:xfrm>
            <a:off x="347472" y="3849624"/>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1" i="0">
                <a:solidFill>
                  <a:srgbClr val="202124"/>
                </a:solidFill>
                <a:latin typeface="Google Sans Flex"/>
                <a:ea typeface="Google Sans Flex"/>
                <a:cs typeface="Google Sans Flex"/>
              </a:rPr>
              <a:t>Unverifiable photos</a:t>
            </a:r>
          </a:p>
        </p:txBody>
      </p:sp>
      <p:cxnSp>
        <p:nvCxnSpPr>
          <p:cNvPr id="88" name="Connector 87"/>
          <p:cNvCxnSpPr/>
          <p:nvPr/>
        </p:nvCxnSpPr>
        <p:spPr>
          <a:xfrm>
            <a:off x="1700784" y="3963924"/>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901952" y="3849624"/>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0" i="0">
                <a:solidFill>
                  <a:srgbClr val="202124"/>
                </a:solidFill>
                <a:latin typeface="Google Sans Flex"/>
                <a:ea typeface="Google Sans Flex"/>
                <a:cs typeface="Google Sans Flex"/>
              </a:rPr>
              <a:t>every walkthrough fraud-checked; any HIGH flag → REFER</a:t>
            </a:r>
          </a:p>
        </p:txBody>
      </p:sp>
      <p:sp>
        <p:nvSpPr>
          <p:cNvPr id="90" name="Rounded Rectangle 89"/>
          <p:cNvSpPr/>
          <p:nvPr/>
        </p:nvSpPr>
        <p:spPr>
          <a:xfrm>
            <a:off x="347472" y="4114800"/>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1" i="0">
                <a:solidFill>
                  <a:srgbClr val="202124"/>
                </a:solidFill>
                <a:latin typeface="Google Sans Flex"/>
                <a:ea typeface="Google Sans Flex"/>
                <a:cs typeface="Google Sans Flex"/>
              </a:rPr>
              <a:t>No proof of coverage</a:t>
            </a:r>
          </a:p>
        </p:txBody>
      </p:sp>
      <p:cxnSp>
        <p:nvCxnSpPr>
          <p:cNvPr id="91" name="Connector 90"/>
          <p:cNvCxnSpPr/>
          <p:nvPr/>
        </p:nvCxnSpPr>
        <p:spPr>
          <a:xfrm>
            <a:off x="1700784" y="4229100"/>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1901952" y="4114800"/>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0" i="0">
                <a:solidFill>
                  <a:srgbClr val="202124"/>
                </a:solidFill>
                <a:latin typeface="Google Sans Flex"/>
                <a:ea typeface="Google Sans Flex"/>
                <a:cs typeface="Google Sans Flex"/>
              </a:rPr>
              <a:t>&lt; 60% AI-inspected surface → REFER with a re-film list</a:t>
            </a:r>
          </a:p>
        </p:txBody>
      </p:sp>
      <p:sp>
        <p:nvSpPr>
          <p:cNvPr id="93" name="Rounded Rectangle 92"/>
          <p:cNvSpPr/>
          <p:nvPr/>
        </p:nvSpPr>
        <p:spPr>
          <a:xfrm>
            <a:off x="347472" y="4379976"/>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1" i="0">
                <a:solidFill>
                  <a:srgbClr val="202124"/>
                </a:solidFill>
                <a:latin typeface="Google Sans Flex"/>
                <a:ea typeface="Google Sans Flex"/>
                <a:cs typeface="Google Sans Flex"/>
              </a:rPr>
              <a:t>Subjective grading</a:t>
            </a:r>
          </a:p>
        </p:txBody>
      </p:sp>
      <p:cxnSp>
        <p:nvCxnSpPr>
          <p:cNvPr id="94" name="Connector 93"/>
          <p:cNvCxnSpPr/>
          <p:nvPr/>
        </p:nvCxnSpPr>
        <p:spPr>
          <a:xfrm>
            <a:off x="1700784" y="4494276"/>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5" name="Rounded Rectangle 94"/>
          <p:cNvSpPr/>
          <p:nvPr/>
        </p:nvSpPr>
        <p:spPr>
          <a:xfrm>
            <a:off x="1901952" y="4379976"/>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0" i="0">
                <a:solidFill>
                  <a:srgbClr val="202124"/>
                </a:solidFill>
                <a:latin typeface="Google Sans Flex"/>
                <a:ea typeface="Google Sans Flex"/>
                <a:cs typeface="Google Sans Flex"/>
              </a:rPr>
              <a:t>score = 100 − Σ(points × severity × state weight)</a:t>
            </a:r>
          </a:p>
        </p:txBody>
      </p:sp>
      <p:sp>
        <p:nvSpPr>
          <p:cNvPr id="96" name="Rounded Rectangle 95"/>
          <p:cNvSpPr/>
          <p:nvPr/>
        </p:nvSpPr>
        <p:spPr>
          <a:xfrm>
            <a:off x="347472" y="4645152"/>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1" i="0">
                <a:solidFill>
                  <a:srgbClr val="202124"/>
                </a:solidFill>
                <a:latin typeface="Google Sans Flex"/>
                <a:ea typeface="Google Sans Flex"/>
                <a:cs typeface="Google Sans Flex"/>
              </a:rPr>
              <a:t>Overvaluation</a:t>
            </a:r>
          </a:p>
        </p:txBody>
      </p:sp>
      <p:cxnSp>
        <p:nvCxnSpPr>
          <p:cNvPr id="97" name="Connector 96"/>
          <p:cNvCxnSpPr/>
          <p:nvPr/>
        </p:nvCxnSpPr>
        <p:spPr>
          <a:xfrm>
            <a:off x="1700784" y="4759452"/>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1901952" y="4645152"/>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6576" bIns="36576">
            <a:noAutofit/>
          </a:bodyPr>
          <a:lstStyle/>
          <a:p>
            <a:pPr algn="l">
              <a:spcAft>
                <a:spcPts val="200"/>
              </a:spcAft>
            </a:pPr>
            <a:r>
              <a:rPr sz="700" b="0" i="0">
                <a:solidFill>
                  <a:srgbClr val="202124"/>
                </a:solidFill>
                <a:latin typeface="Google Sans Flex"/>
                <a:ea typeface="Google Sans Flex"/>
                <a:cs typeface="Google Sans Flex"/>
              </a:rPr>
              <a:t>valuation-impact %, repair retention, REFER before disbursal</a:t>
            </a:r>
          </a:p>
        </p:txBody>
      </p:sp>
      <p:sp>
        <p:nvSpPr>
          <p:cNvPr id="99" name="Rounded Rectangle 98"/>
          <p:cNvSpPr/>
          <p:nvPr/>
        </p:nvSpPr>
        <p:spPr>
          <a:xfrm>
            <a:off x="5806440" y="1325880"/>
            <a:ext cx="2990088" cy="3566160"/>
          </a:xfrm>
          <a:prstGeom prst="roundRect">
            <a:avLst>
              <a:gd name="adj" fmla="val 3058"/>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5961888" y="1444752"/>
            <a:ext cx="2697480" cy="228600"/>
          </a:xfrm>
          <a:prstGeom prst="rect">
            <a:avLst/>
          </a:prstGeom>
          <a:noFill/>
        </p:spPr>
        <p:txBody>
          <a:bodyPr wrap="square" lIns="0" rIns="0" tIns="0" bIns="0" anchor="t">
            <a:noAutofit/>
          </a:bodyPr>
          <a:lstStyle/>
          <a:p>
            <a:pPr algn="l">
              <a:spcAft>
                <a:spcPts val="200"/>
              </a:spcAft>
            </a:pPr>
            <a:r>
              <a:rPr sz="1100" b="1" i="0">
                <a:solidFill>
                  <a:srgbClr val="FFFFFF"/>
                </a:solidFill>
                <a:latin typeface="Google Sans Flex"/>
                <a:ea typeface="Google Sans Flex"/>
                <a:cs typeface="Google Sans Flex"/>
              </a:rPr>
              <a:t>USP of the proposed solution</a:t>
            </a:r>
          </a:p>
        </p:txBody>
      </p:sp>
      <p:sp>
        <p:nvSpPr>
          <p:cNvPr id="101" name="TextBox 100"/>
          <p:cNvSpPr txBox="1"/>
          <p:nvPr/>
        </p:nvSpPr>
        <p:spPr>
          <a:xfrm>
            <a:off x="5961888" y="1755648"/>
            <a:ext cx="2697480" cy="3063240"/>
          </a:xfrm>
          <a:prstGeom prst="rect">
            <a:avLst/>
          </a:prstGeom>
          <a:noFill/>
        </p:spPr>
        <p:txBody>
          <a:bodyPr wrap="square" lIns="0" rIns="0" tIns="0" bIns="0" anchor="t">
            <a:noAutofit/>
          </a:bodyPr>
          <a:lstStyle/>
          <a:p>
            <a:pPr algn="l">
              <a:spcAft>
                <a:spcPts val="600"/>
              </a:spcAft>
            </a:pPr>
            <a:r>
              <a:rPr sz="850" b="1" i="0">
                <a:solidFill>
                  <a:srgbClr val="8AB4F8"/>
                </a:solidFill>
                <a:latin typeface="Google Sans Flex"/>
                <a:ea typeface="Google Sans Flex"/>
                <a:cs typeface="Google Sans Flex"/>
              </a:rPr>
              <a:t>Proof of inspection.</a:t>
            </a:r>
            <a:r>
              <a:rPr sz="850" b="0" i="0">
                <a:solidFill>
                  <a:srgbClr val="FFFFFF"/>
                </a:solidFill>
                <a:latin typeface="Google Sans Flex"/>
                <a:ea typeface="Google Sans Flex"/>
                <a:cs typeface="Google Sans Flex"/>
              </a:rPr>
              <a:t> A 10 cm coverage map and 3D-pinned findings show exactly what the AI saw, and what to film again.</a:t>
            </a:r>
          </a:p>
          <a:p>
            <a:pPr algn="l">
              <a:spcAft>
                <a:spcPts val="600"/>
              </a:spcAft>
            </a:pPr>
            <a:r>
              <a:rPr sz="850" b="1" i="0">
                <a:solidFill>
                  <a:srgbClr val="8AB4F8"/>
                </a:solidFill>
                <a:latin typeface="Google Sans Flex"/>
                <a:ea typeface="Google Sans Flex"/>
                <a:cs typeface="Google Sans Flex"/>
              </a:rPr>
              <a:t>Find → verify → decide.</a:t>
            </a:r>
            <a:r>
              <a:rPr sz="850" b="0" i="0">
                <a:solidFill>
                  <a:srgbClr val="FFFFFF"/>
                </a:solidFill>
                <a:latin typeface="Google Sans Flex"/>
                <a:ea typeface="Google Sans Flex"/>
                <a:cs typeface="Google Sans Flex"/>
              </a:rPr>
              <a:t> Two models cut false positives; deterministic rules make every decision auditable.</a:t>
            </a:r>
          </a:p>
          <a:p>
            <a:pPr algn="l">
              <a:spcAft>
                <a:spcPts val="600"/>
              </a:spcAft>
            </a:pPr>
            <a:r>
              <a:rPr sz="850" b="1" i="0">
                <a:solidFill>
                  <a:srgbClr val="8AB4F8"/>
                </a:solidFill>
                <a:latin typeface="Google Sans Flex"/>
                <a:ea typeface="Google Sans Flex"/>
                <a:cs typeface="Google Sans Flex"/>
              </a:rPr>
              <a:t>Fraud-resistant evidence.</a:t>
            </a:r>
            <a:r>
              <a:rPr sz="850" b="0" i="0">
                <a:solidFill>
                  <a:srgbClr val="FFFFFF"/>
                </a:solidFill>
                <a:latin typeface="Google Sans Flex"/>
                <a:ea typeface="Google Sans Flex"/>
                <a:cs typeface="Google Sans Flex"/>
              </a:rPr>
              <a:t> Recycled videos, screen recordings and AI footage are flagged before a decision.</a:t>
            </a:r>
          </a:p>
          <a:p>
            <a:pPr algn="l">
              <a:spcAft>
                <a:spcPts val="600"/>
              </a:spcAft>
            </a:pPr>
            <a:r>
              <a:rPr sz="850" b="1" i="0">
                <a:solidFill>
                  <a:srgbClr val="8AB4F8"/>
                </a:solidFill>
                <a:latin typeface="Google Sans Flex"/>
                <a:ea typeface="Google Sans Flex"/>
                <a:cs typeface="Google Sans Flex"/>
              </a:rPr>
              <a:t>One record, five teams.</a:t>
            </a:r>
            <a:r>
              <a:rPr sz="850" b="0" i="0">
                <a:solidFill>
                  <a:srgbClr val="FFFFFF"/>
                </a:solidFill>
                <a:latin typeface="Google Sans Flex"/>
                <a:ea typeface="Google Sans Flex"/>
                <a:cs typeface="Google Sans Flex"/>
              </a:rPr>
              <a:t> Lending, underwriting, claims, inspectors and owners share one BigQuery / Pub/Sub record.</a:t>
            </a:r>
          </a:p>
          <a:p>
            <a:pPr algn="l">
              <a:spcAft>
                <a:spcPts val="600"/>
              </a:spcAft>
            </a:pPr>
            <a:r>
              <a:rPr sz="850" b="1" i="0">
                <a:solidFill>
                  <a:srgbClr val="8AB4F8"/>
                </a:solidFill>
                <a:latin typeface="Google Sans Flex"/>
                <a:ea typeface="Google Sans Flex"/>
                <a:cs typeface="Google Sans Flex"/>
              </a:rPr>
              <a:t>About $1 per video.</a:t>
            </a:r>
            <a:r>
              <a:rPr sz="850" b="0" i="0">
                <a:solidFill>
                  <a:srgbClr val="FFFFFF"/>
                </a:solidFill>
                <a:latin typeface="Google Sans Flex"/>
                <a:ea typeface="Google Sans Flex"/>
                <a:cs typeface="Google Sans Flex"/>
              </a:rPr>
              <a:t> ≈ $0.35 of Gemini per walkthrough; one-command Cloud Run deploy that scales to zero.</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One upload gives a complete, explainable risk file</a:t>
            </a:r>
          </a:p>
        </p:txBody>
      </p:sp>
      <p:sp>
        <p:nvSpPr>
          <p:cNvPr id="89" name="Rounded Rectangle 88"/>
          <p:cNvSpPr/>
          <p:nvPr/>
        </p:nvSpPr>
        <p:spPr>
          <a:xfrm>
            <a:off x="347472" y="1353312"/>
            <a:ext cx="2029968" cy="640080"/>
          </a:xfrm>
          <a:prstGeom prst="roundRect">
            <a:avLst>
              <a:gd name="adj" fmla="val 857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420624" y="14264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1</a:t>
            </a:r>
          </a:p>
        </p:txBody>
      </p:sp>
      <p:sp>
        <p:nvSpPr>
          <p:cNvPr id="91" name="TextBox 90"/>
          <p:cNvSpPr txBox="1"/>
          <p:nvPr/>
        </p:nvSpPr>
        <p:spPr>
          <a:xfrm>
            <a:off x="694944" y="1426464"/>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Defects localised &amp; verified</a:t>
            </a:r>
          </a:p>
        </p:txBody>
      </p:sp>
      <p:sp>
        <p:nvSpPr>
          <p:cNvPr id="92" name="TextBox 91"/>
          <p:cNvSpPr txBox="1"/>
          <p:nvPr/>
        </p:nvSpPr>
        <p:spPr>
          <a:xfrm>
            <a:off x="694944" y="1682495"/>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18 defect types on 12 components</a:t>
            </a:r>
          </a:p>
        </p:txBody>
      </p:sp>
      <p:sp>
        <p:nvSpPr>
          <p:cNvPr id="93" name="Rounded Rectangle 92"/>
          <p:cNvSpPr/>
          <p:nvPr/>
        </p:nvSpPr>
        <p:spPr>
          <a:xfrm>
            <a:off x="2450591" y="1353312"/>
            <a:ext cx="2029968" cy="640080"/>
          </a:xfrm>
          <a:prstGeom prst="roundRect">
            <a:avLst>
              <a:gd name="adj" fmla="val 857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2523744" y="1426464"/>
            <a:ext cx="219456" cy="219456"/>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2</a:t>
            </a:r>
          </a:p>
        </p:txBody>
      </p:sp>
      <p:sp>
        <p:nvSpPr>
          <p:cNvPr id="95" name="TextBox 94"/>
          <p:cNvSpPr txBox="1"/>
          <p:nvPr/>
        </p:nvSpPr>
        <p:spPr>
          <a:xfrm>
            <a:off x="2798063" y="1426464"/>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Condition grade A–E</a:t>
            </a:r>
          </a:p>
        </p:txBody>
      </p:sp>
      <p:sp>
        <p:nvSpPr>
          <p:cNvPr id="96" name="TextBox 95"/>
          <p:cNvSpPr txBox="1"/>
          <p:nvPr/>
        </p:nvSpPr>
        <p:spPr>
          <a:xfrm>
            <a:off x="2798063" y="1682495"/>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0–100 score, transparent formula</a:t>
            </a:r>
          </a:p>
        </p:txBody>
      </p:sp>
      <p:sp>
        <p:nvSpPr>
          <p:cNvPr id="97" name="Rounded Rectangle 96"/>
          <p:cNvSpPr/>
          <p:nvPr/>
        </p:nvSpPr>
        <p:spPr>
          <a:xfrm>
            <a:off x="347472" y="2066543"/>
            <a:ext cx="2029968" cy="640080"/>
          </a:xfrm>
          <a:prstGeom prst="roundRect">
            <a:avLst>
              <a:gd name="adj" fmla="val 857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420624" y="2139696"/>
            <a:ext cx="219456" cy="219456"/>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3</a:t>
            </a:r>
          </a:p>
        </p:txBody>
      </p:sp>
      <p:sp>
        <p:nvSpPr>
          <p:cNvPr id="99" name="TextBox 98"/>
          <p:cNvSpPr txBox="1"/>
          <p:nvPr/>
        </p:nvSpPr>
        <p:spPr>
          <a:xfrm>
            <a:off x="694944" y="2139696"/>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Risk level &amp; insurance perils</a:t>
            </a:r>
          </a:p>
        </p:txBody>
      </p:sp>
      <p:sp>
        <p:nvSpPr>
          <p:cNvPr id="100" name="TextBox 99"/>
          <p:cNvSpPr txBox="1"/>
          <p:nvPr/>
        </p:nvSpPr>
        <p:spPr>
          <a:xfrm>
            <a:off x="694944" y="2395727"/>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Water, structural, moisture…</a:t>
            </a:r>
          </a:p>
        </p:txBody>
      </p:sp>
      <p:sp>
        <p:nvSpPr>
          <p:cNvPr id="101" name="Rounded Rectangle 100"/>
          <p:cNvSpPr/>
          <p:nvPr/>
        </p:nvSpPr>
        <p:spPr>
          <a:xfrm>
            <a:off x="2450591" y="2066543"/>
            <a:ext cx="2029968" cy="640080"/>
          </a:xfrm>
          <a:prstGeom prst="roundRect">
            <a:avLst>
              <a:gd name="adj" fmla="val 8571"/>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2523744" y="2139696"/>
            <a:ext cx="219456" cy="219456"/>
          </a:xfrm>
          <a:prstGeom prst="ellipse">
            <a:avLst/>
          </a:prstGeom>
          <a:solidFill>
            <a:srgbClr val="E374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4</a:t>
            </a:r>
          </a:p>
        </p:txBody>
      </p:sp>
      <p:sp>
        <p:nvSpPr>
          <p:cNvPr id="103" name="TextBox 102"/>
          <p:cNvSpPr txBox="1"/>
          <p:nvPr/>
        </p:nvSpPr>
        <p:spPr>
          <a:xfrm>
            <a:off x="2798063" y="2139696"/>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Indicative repair-cost range</a:t>
            </a:r>
          </a:p>
        </p:txBody>
      </p:sp>
      <p:sp>
        <p:nvSpPr>
          <p:cNvPr id="104" name="TextBox 103"/>
          <p:cNvSpPr txBox="1"/>
          <p:nvPr/>
        </p:nvSpPr>
        <p:spPr>
          <a:xfrm>
            <a:off x="2798063" y="2395727"/>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Per finding and per property</a:t>
            </a:r>
          </a:p>
        </p:txBody>
      </p:sp>
      <p:sp>
        <p:nvSpPr>
          <p:cNvPr id="105" name="Rounded Rectangle 104"/>
          <p:cNvSpPr/>
          <p:nvPr/>
        </p:nvSpPr>
        <p:spPr>
          <a:xfrm>
            <a:off x="347472" y="2779776"/>
            <a:ext cx="2029968" cy="640080"/>
          </a:xfrm>
          <a:prstGeom prst="roundRect">
            <a:avLst>
              <a:gd name="adj" fmla="val 8571"/>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420624" y="2852928"/>
            <a:ext cx="219456" cy="219456"/>
          </a:xfrm>
          <a:prstGeom prst="ellipse">
            <a:avLst/>
          </a:prstGeom>
          <a:solidFill>
            <a:srgbClr val="E374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5</a:t>
            </a:r>
          </a:p>
        </p:txBody>
      </p:sp>
      <p:sp>
        <p:nvSpPr>
          <p:cNvPr id="107" name="TextBox 106"/>
          <p:cNvSpPr txBox="1"/>
          <p:nvPr/>
        </p:nvSpPr>
        <p:spPr>
          <a:xfrm>
            <a:off x="694944" y="2852928"/>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Valuation &amp; collateral impact</a:t>
            </a:r>
          </a:p>
        </p:txBody>
      </p:sp>
      <p:sp>
        <p:nvSpPr>
          <p:cNvPr id="108" name="TextBox 107"/>
          <p:cNvSpPr txBox="1"/>
          <p:nvPr/>
        </p:nvSpPr>
        <p:spPr>
          <a:xfrm>
            <a:off x="694944" y="3108960"/>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Impact % and repair retention</a:t>
            </a:r>
          </a:p>
        </p:txBody>
      </p:sp>
      <p:sp>
        <p:nvSpPr>
          <p:cNvPr id="109" name="Rounded Rectangle 108"/>
          <p:cNvSpPr/>
          <p:nvPr/>
        </p:nvSpPr>
        <p:spPr>
          <a:xfrm>
            <a:off x="2450591" y="2779776"/>
            <a:ext cx="2029968" cy="640080"/>
          </a:xfrm>
          <a:prstGeom prst="roundRect">
            <a:avLst>
              <a:gd name="adj" fmla="val 857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2523744" y="2852928"/>
            <a:ext cx="219456" cy="219456"/>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6</a:t>
            </a:r>
          </a:p>
        </p:txBody>
      </p:sp>
      <p:sp>
        <p:nvSpPr>
          <p:cNvPr id="111" name="TextBox 110"/>
          <p:cNvSpPr txBox="1"/>
          <p:nvPr/>
        </p:nvSpPr>
        <p:spPr>
          <a:xfrm>
            <a:off x="2798063" y="2852928"/>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Premium-loading suggestion</a:t>
            </a:r>
          </a:p>
        </p:txBody>
      </p:sp>
      <p:sp>
        <p:nvSpPr>
          <p:cNvPr id="112" name="TextBox 111"/>
          <p:cNvSpPr txBox="1"/>
          <p:nvPr/>
        </p:nvSpPr>
        <p:spPr>
          <a:xfrm>
            <a:off x="2798063" y="3108960"/>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For quote and renewal</a:t>
            </a:r>
          </a:p>
        </p:txBody>
      </p:sp>
      <p:sp>
        <p:nvSpPr>
          <p:cNvPr id="113" name="Rounded Rectangle 112"/>
          <p:cNvSpPr/>
          <p:nvPr/>
        </p:nvSpPr>
        <p:spPr>
          <a:xfrm>
            <a:off x="347472" y="3493008"/>
            <a:ext cx="2029968" cy="640080"/>
          </a:xfrm>
          <a:prstGeom prst="roundRect">
            <a:avLst>
              <a:gd name="adj" fmla="val 857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420624" y="3566160"/>
            <a:ext cx="219456" cy="219456"/>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7</a:t>
            </a:r>
          </a:p>
        </p:txBody>
      </p:sp>
      <p:sp>
        <p:nvSpPr>
          <p:cNvPr id="115" name="TextBox 114"/>
          <p:cNvSpPr txBox="1"/>
          <p:nvPr/>
        </p:nvSpPr>
        <p:spPr>
          <a:xfrm>
            <a:off x="694944" y="3566160"/>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Underwriting decision + reasons</a:t>
            </a:r>
          </a:p>
        </p:txBody>
      </p:sp>
      <p:sp>
        <p:nvSpPr>
          <p:cNvPr id="116" name="TextBox 115"/>
          <p:cNvSpPr txBox="1"/>
          <p:nvPr/>
        </p:nvSpPr>
        <p:spPr>
          <a:xfrm>
            <a:off x="694944" y="3822191"/>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PROCEED / CONDITIONS / REFER</a:t>
            </a:r>
          </a:p>
        </p:txBody>
      </p:sp>
      <p:sp>
        <p:nvSpPr>
          <p:cNvPr id="117" name="Rounded Rectangle 116"/>
          <p:cNvSpPr/>
          <p:nvPr/>
        </p:nvSpPr>
        <p:spPr>
          <a:xfrm>
            <a:off x="2450591" y="3493008"/>
            <a:ext cx="2029968" cy="640080"/>
          </a:xfrm>
          <a:prstGeom prst="roundRect">
            <a:avLst>
              <a:gd name="adj" fmla="val 857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2523744" y="356616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8</a:t>
            </a:r>
          </a:p>
        </p:txBody>
      </p:sp>
      <p:sp>
        <p:nvSpPr>
          <p:cNvPr id="119" name="TextBox 118"/>
          <p:cNvSpPr txBox="1"/>
          <p:nvPr/>
        </p:nvSpPr>
        <p:spPr>
          <a:xfrm>
            <a:off x="2798063" y="3566160"/>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Evidence-integrity flags</a:t>
            </a:r>
          </a:p>
        </p:txBody>
      </p:sp>
      <p:sp>
        <p:nvSpPr>
          <p:cNvPr id="120" name="TextBox 119"/>
          <p:cNvSpPr txBox="1"/>
          <p:nvPr/>
        </p:nvSpPr>
        <p:spPr>
          <a:xfrm>
            <a:off x="2798063" y="3822191"/>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Recycled video, screens, AI footage</a:t>
            </a:r>
          </a:p>
        </p:txBody>
      </p:sp>
      <p:sp>
        <p:nvSpPr>
          <p:cNvPr id="121" name="Rounded Rectangle 120"/>
          <p:cNvSpPr/>
          <p:nvPr/>
        </p:nvSpPr>
        <p:spPr>
          <a:xfrm>
            <a:off x="347472" y="4206240"/>
            <a:ext cx="2029968" cy="640080"/>
          </a:xfrm>
          <a:prstGeom prst="roundRect">
            <a:avLst>
              <a:gd name="adj" fmla="val 857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Oval 121"/>
          <p:cNvSpPr/>
          <p:nvPr/>
        </p:nvSpPr>
        <p:spPr>
          <a:xfrm>
            <a:off x="420624" y="427939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9</a:t>
            </a:r>
          </a:p>
        </p:txBody>
      </p:sp>
      <p:sp>
        <p:nvSpPr>
          <p:cNvPr id="123" name="TextBox 122"/>
          <p:cNvSpPr txBox="1"/>
          <p:nvPr/>
        </p:nvSpPr>
        <p:spPr>
          <a:xfrm>
            <a:off x="694944" y="4279392"/>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Video → 3D, floor plan, coverage</a:t>
            </a:r>
          </a:p>
        </p:txBody>
      </p:sp>
      <p:sp>
        <p:nvSpPr>
          <p:cNvPr id="124" name="TextBox 123"/>
          <p:cNvSpPr txBox="1"/>
          <p:nvPr/>
        </p:nvSpPr>
        <p:spPr>
          <a:xfrm>
            <a:off x="694944" y="4535424"/>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GLB models, room areas, maps</a:t>
            </a:r>
          </a:p>
        </p:txBody>
      </p:sp>
      <p:sp>
        <p:nvSpPr>
          <p:cNvPr id="125" name="Rounded Rectangle 124"/>
          <p:cNvSpPr/>
          <p:nvPr/>
        </p:nvSpPr>
        <p:spPr>
          <a:xfrm>
            <a:off x="2450591" y="4206240"/>
            <a:ext cx="2029968" cy="640080"/>
          </a:xfrm>
          <a:prstGeom prst="roundRect">
            <a:avLst>
              <a:gd name="adj" fmla="val 857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Oval 125"/>
          <p:cNvSpPr/>
          <p:nvPr/>
        </p:nvSpPr>
        <p:spPr>
          <a:xfrm>
            <a:off x="2523744" y="4279392"/>
            <a:ext cx="219456" cy="219456"/>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10</a:t>
            </a:r>
          </a:p>
        </p:txBody>
      </p:sp>
      <p:sp>
        <p:nvSpPr>
          <p:cNvPr id="127" name="TextBox 126"/>
          <p:cNvSpPr txBox="1"/>
          <p:nvPr/>
        </p:nvSpPr>
        <p:spPr>
          <a:xfrm>
            <a:off x="2798063" y="4279392"/>
            <a:ext cx="1645920" cy="20116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Gemini analysis &amp; Q&amp;A</a:t>
            </a:r>
          </a:p>
        </p:txBody>
      </p:sp>
      <p:sp>
        <p:nvSpPr>
          <p:cNvPr id="128" name="TextBox 127"/>
          <p:cNvSpPr txBox="1"/>
          <p:nvPr/>
        </p:nvSpPr>
        <p:spPr>
          <a:xfrm>
            <a:off x="2798063" y="4535424"/>
            <a:ext cx="1645920" cy="27432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Grounded answers citing issue IDs</a:t>
            </a:r>
          </a:p>
        </p:txBody>
      </p:sp>
      <p:sp>
        <p:nvSpPr>
          <p:cNvPr id="129" name="Rounded Rectangle 128"/>
          <p:cNvSpPr/>
          <p:nvPr/>
        </p:nvSpPr>
        <p:spPr>
          <a:xfrm>
            <a:off x="4663440" y="1353312"/>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Oval 129"/>
          <p:cNvSpPr/>
          <p:nvPr/>
        </p:nvSpPr>
        <p:spPr>
          <a:xfrm>
            <a:off x="4754880" y="144475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31" name="TextBox 130"/>
          <p:cNvSpPr txBox="1"/>
          <p:nvPr/>
        </p:nvSpPr>
        <p:spPr>
          <a:xfrm>
            <a:off x="5047488" y="1426464"/>
            <a:ext cx="3657600" cy="182880"/>
          </a:xfrm>
          <a:prstGeom prst="rect">
            <a:avLst/>
          </a:prstGeom>
          <a:noFill/>
        </p:spPr>
        <p:txBody>
          <a:bodyPr wrap="square" lIns="0" rIns="0" tIns="0" bIns="0" anchor="t">
            <a:noAutofit/>
          </a:bodyPr>
          <a:lstStyle/>
          <a:p>
            <a:pPr algn="l">
              <a:spcAft>
                <a:spcPts val="200"/>
              </a:spcAft>
            </a:pPr>
            <a:r>
              <a:rPr sz="850" b="1" i="0">
                <a:solidFill>
                  <a:srgbClr val="1A73E8"/>
                </a:solidFill>
                <a:latin typeface="Google Sans Flex"/>
                <a:ea typeface="Google Sans Flex"/>
                <a:cs typeface="Google Sans Flex"/>
              </a:rPr>
              <a:t>Detection scope</a:t>
            </a:r>
          </a:p>
        </p:txBody>
      </p:sp>
      <p:sp>
        <p:nvSpPr>
          <p:cNvPr id="132" name="TextBox 131"/>
          <p:cNvSpPr txBox="1"/>
          <p:nvPr/>
        </p:nvSpPr>
        <p:spPr>
          <a:xfrm>
            <a:off x="5047488" y="1627632"/>
            <a:ext cx="3675887" cy="530352"/>
          </a:xfrm>
          <a:prstGeom prst="rect">
            <a:avLst/>
          </a:prstGeom>
          <a:noFill/>
        </p:spPr>
        <p:txBody>
          <a:bodyPr wrap="square" lIns="0" rIns="0" tIns="0" bIns="0" anchor="t">
            <a:noAutofit/>
          </a:bodyPr>
          <a:lstStyle/>
          <a:p>
            <a:pPr algn="l">
              <a:spcAft>
                <a:spcPts val="200"/>
              </a:spcAft>
            </a:pPr>
            <a:r>
              <a:rPr sz="680" b="0" i="0">
                <a:solidFill>
                  <a:srgbClr val="202124"/>
                </a:solidFill>
                <a:latin typeface="Google Sans Flex"/>
                <a:ea typeface="Google Sans Flex"/>
                <a:cs typeface="Google Sans Flex"/>
              </a:rPr>
              <a:t>Walls, ceilings, floor &amp; wall tiles, grout, wood/vinyl, countertops, doors, locks, windows, trim, kitchen exhausts in 8 room types. Look-alikes (grout, grain, shadows) rejected; locks, windows, fans always manual; cracks get a structural note, water/mold a moisture check.</a:t>
            </a:r>
          </a:p>
        </p:txBody>
      </p:sp>
      <p:sp>
        <p:nvSpPr>
          <p:cNvPr id="133" name="Rounded Rectangle 132"/>
          <p:cNvSpPr/>
          <p:nvPr/>
        </p:nvSpPr>
        <p:spPr>
          <a:xfrm>
            <a:off x="4663440" y="2249424"/>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Oval 133"/>
          <p:cNvSpPr/>
          <p:nvPr/>
        </p:nvSpPr>
        <p:spPr>
          <a:xfrm>
            <a:off x="4754880" y="2340864"/>
            <a:ext cx="219456" cy="219456"/>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35" name="TextBox 134"/>
          <p:cNvSpPr txBox="1"/>
          <p:nvPr/>
        </p:nvSpPr>
        <p:spPr>
          <a:xfrm>
            <a:off x="5047488" y="2322576"/>
            <a:ext cx="3657600" cy="182880"/>
          </a:xfrm>
          <a:prstGeom prst="rect">
            <a:avLst/>
          </a:prstGeom>
          <a:noFill/>
        </p:spPr>
        <p:txBody>
          <a:bodyPr wrap="square" lIns="0" rIns="0" tIns="0" bIns="0" anchor="t">
            <a:noAutofit/>
          </a:bodyPr>
          <a:lstStyle/>
          <a:p>
            <a:pPr algn="l">
              <a:spcAft>
                <a:spcPts val="200"/>
              </a:spcAft>
            </a:pPr>
            <a:r>
              <a:rPr sz="850" b="1" i="0">
                <a:solidFill>
                  <a:srgbClr val="D93025"/>
                </a:solidFill>
                <a:latin typeface="Google Sans Flex"/>
                <a:ea typeface="Google Sans Flex"/>
                <a:cs typeface="Google Sans Flex"/>
              </a:rPr>
              <a:t>Fraud &amp; evidence integrity</a:t>
            </a:r>
          </a:p>
        </p:txBody>
      </p:sp>
      <p:sp>
        <p:nvSpPr>
          <p:cNvPr id="136" name="TextBox 135"/>
          <p:cNvSpPr txBox="1"/>
          <p:nvPr/>
        </p:nvSpPr>
        <p:spPr>
          <a:xfrm>
            <a:off x="5047488" y="2523744"/>
            <a:ext cx="3675887" cy="530352"/>
          </a:xfrm>
          <a:prstGeom prst="rect">
            <a:avLst/>
          </a:prstGeom>
          <a:noFill/>
        </p:spPr>
        <p:txBody>
          <a:bodyPr wrap="square" lIns="0" rIns="0" tIns="0" bIns="0" anchor="t">
            <a:noAutofit/>
          </a:bodyPr>
          <a:lstStyle/>
          <a:p>
            <a:pPr algn="l">
              <a:spcAft>
                <a:spcPts val="200"/>
              </a:spcAft>
            </a:pPr>
            <a:r>
              <a:rPr sz="680" b="0" i="0">
                <a:solidFill>
                  <a:srgbClr val="202124"/>
                </a:solidFill>
                <a:latin typeface="Google Sans Flex"/>
                <a:ea typeface="Google Sans Flex"/>
                <a:cs typeface="Google Sans Flex"/>
              </a:rPr>
              <a:t>Keyframe dHash reuse across every property, Gemini screen / render / AI check on every keyframe, blurred frames dropped, video coverage &lt; 60% → REFER. Any HIGH flag → human review.</a:t>
            </a:r>
          </a:p>
        </p:txBody>
      </p:sp>
      <p:sp>
        <p:nvSpPr>
          <p:cNvPr id="137" name="Rounded Rectangle 136"/>
          <p:cNvSpPr/>
          <p:nvPr/>
        </p:nvSpPr>
        <p:spPr>
          <a:xfrm>
            <a:off x="4663440" y="3145536"/>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Oval 137"/>
          <p:cNvSpPr/>
          <p:nvPr/>
        </p:nvSpPr>
        <p:spPr>
          <a:xfrm>
            <a:off x="4754880" y="3236976"/>
            <a:ext cx="219456" cy="219456"/>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39" name="TextBox 138"/>
          <p:cNvSpPr txBox="1"/>
          <p:nvPr/>
        </p:nvSpPr>
        <p:spPr>
          <a:xfrm>
            <a:off x="5047488" y="3218688"/>
            <a:ext cx="3657600" cy="182880"/>
          </a:xfrm>
          <a:prstGeom prst="rect">
            <a:avLst/>
          </a:prstGeom>
          <a:noFill/>
        </p:spPr>
        <p:txBody>
          <a:bodyPr wrap="square" lIns="0" rIns="0" tIns="0" bIns="0" anchor="t">
            <a:noAutofit/>
          </a:bodyPr>
          <a:lstStyle/>
          <a:p>
            <a:pPr algn="l">
              <a:spcAft>
                <a:spcPts val="200"/>
              </a:spcAft>
            </a:pPr>
            <a:r>
              <a:rPr sz="850" b="1" i="0">
                <a:solidFill>
                  <a:srgbClr val="188038"/>
                </a:solidFill>
                <a:latin typeface="Google Sans Flex"/>
                <a:ea typeface="Google Sans Flex"/>
                <a:cs typeface="Google Sans Flex"/>
              </a:rPr>
              <a:t>3D digital twin &amp; coverage map</a:t>
            </a:r>
          </a:p>
        </p:txBody>
      </p:sp>
      <p:sp>
        <p:nvSpPr>
          <p:cNvPr id="140" name="TextBox 139"/>
          <p:cNvSpPr txBox="1"/>
          <p:nvPr/>
        </p:nvSpPr>
        <p:spPr>
          <a:xfrm>
            <a:off x="5047488" y="3419856"/>
            <a:ext cx="3675887" cy="530352"/>
          </a:xfrm>
          <a:prstGeom prst="rect">
            <a:avLst/>
          </a:prstGeom>
          <a:noFill/>
        </p:spPr>
        <p:txBody>
          <a:bodyPr wrap="square" lIns="0" rIns="0" tIns="0" bIns="0" anchor="t">
            <a:noAutofit/>
          </a:bodyPr>
          <a:lstStyle/>
          <a:p>
            <a:pPr algn="l">
              <a:spcAft>
                <a:spcPts val="200"/>
              </a:spcAft>
            </a:pPr>
            <a:r>
              <a:rPr sz="680" b="0" i="0">
                <a:solidFill>
                  <a:srgbClr val="202124"/>
                </a:solidFill>
                <a:latin typeface="Google Sans Flex"/>
                <a:ea typeface="Google Sans Flex"/>
                <a:cs typeface="Google Sans Flex"/>
              </a:rPr>
              <a:t>Depth Anything 3 + OpenCV 5 SLAM + Open3D TSDF → clean &amp; SLAM GLB, floor plan (PNG + SVG), navigation map. Every 10 cm of surface checked; greedy AI keyframes; findings pinned to a wall and video time.</a:t>
            </a:r>
          </a:p>
        </p:txBody>
      </p:sp>
      <p:sp>
        <p:nvSpPr>
          <p:cNvPr id="141" name="Rounded Rectangle 140"/>
          <p:cNvSpPr/>
          <p:nvPr/>
        </p:nvSpPr>
        <p:spPr>
          <a:xfrm>
            <a:off x="4663440" y="4041648"/>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Oval 141"/>
          <p:cNvSpPr/>
          <p:nvPr/>
        </p:nvSpPr>
        <p:spPr>
          <a:xfrm>
            <a:off x="4754880" y="4133087"/>
            <a:ext cx="219456" cy="219456"/>
          </a:xfrm>
          <a:prstGeom prst="ellipse">
            <a:avLst/>
          </a:prstGeom>
          <a:solidFill>
            <a:srgbClr val="E374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43" name="TextBox 142"/>
          <p:cNvSpPr txBox="1"/>
          <p:nvPr/>
        </p:nvSpPr>
        <p:spPr>
          <a:xfrm>
            <a:off x="5047488" y="4114800"/>
            <a:ext cx="3657600" cy="182880"/>
          </a:xfrm>
          <a:prstGeom prst="rect">
            <a:avLst/>
          </a:prstGeom>
          <a:noFill/>
        </p:spPr>
        <p:txBody>
          <a:bodyPr wrap="square" lIns="0" rIns="0" tIns="0" bIns="0" anchor="t">
            <a:noAutofit/>
          </a:bodyPr>
          <a:lstStyle/>
          <a:p>
            <a:pPr algn="l">
              <a:spcAft>
                <a:spcPts val="200"/>
              </a:spcAft>
            </a:pPr>
            <a:r>
              <a:rPr sz="850" b="1" i="0">
                <a:solidFill>
                  <a:srgbClr val="E37400"/>
                </a:solidFill>
                <a:latin typeface="Google Sans Flex"/>
                <a:ea typeface="Google Sans Flex"/>
                <a:cs typeface="Google Sans Flex"/>
              </a:rPr>
              <a:t>Gemini co-pilot &amp; product</a:t>
            </a:r>
          </a:p>
        </p:txBody>
      </p:sp>
      <p:sp>
        <p:nvSpPr>
          <p:cNvPr id="144" name="TextBox 143"/>
          <p:cNvSpPr txBox="1"/>
          <p:nvPr/>
        </p:nvSpPr>
        <p:spPr>
          <a:xfrm>
            <a:off x="5047488" y="4315968"/>
            <a:ext cx="3675887" cy="530352"/>
          </a:xfrm>
          <a:prstGeom prst="rect">
            <a:avLst/>
          </a:prstGeom>
          <a:noFill/>
        </p:spPr>
        <p:txBody>
          <a:bodyPr wrap="square" lIns="0" rIns="0" tIns="0" bIns="0" anchor="t">
            <a:noAutofit/>
          </a:bodyPr>
          <a:lstStyle/>
          <a:p>
            <a:pPr algn="l">
              <a:spcAft>
                <a:spcPts val="200"/>
              </a:spcAft>
            </a:pPr>
            <a:r>
              <a:rPr sz="680" b="0" i="0">
                <a:solidFill>
                  <a:srgbClr val="202124"/>
                </a:solidFill>
                <a:latin typeface="Google Sans Flex"/>
                <a:ea typeface="Google Sans Flex"/>
                <a:cs typeface="Google Sans Flex"/>
              </a:rPr>
              <a:t>Property analysis, grounded Q&amp;A, scene and object naming (explains, never changes results). Portfolio dashboard, live 3D-scan view, Lite / Advanced 3D, 3D viewer, HTML / Markdown / JSON reports, REST API at /docs.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Capture, inspect, decide, act: minutes instead of days</a:t>
            </a:r>
          </a:p>
        </p:txBody>
      </p:sp>
      <p:sp>
        <p:nvSpPr>
          <p:cNvPr id="97" name="TextBox 96"/>
          <p:cNvSpPr txBox="1"/>
          <p:nvPr/>
        </p:nvSpPr>
        <p:spPr>
          <a:xfrm>
            <a:off x="347472" y="1325880"/>
            <a:ext cx="1325880" cy="164592"/>
          </a:xfrm>
          <a:prstGeom prst="rect">
            <a:avLst/>
          </a:prstGeom>
          <a:noFill/>
        </p:spPr>
        <p:txBody>
          <a:bodyPr wrap="square" lIns="0" rIns="0" tIns="0" bIns="0" anchor="t">
            <a:noAutofit/>
          </a:bodyPr>
          <a:lstStyle/>
          <a:p>
            <a:pPr algn="l">
              <a:spcAft>
                <a:spcPts val="200"/>
              </a:spcAft>
            </a:pPr>
            <a:r>
              <a:rPr sz="700" b="1" i="0">
                <a:solidFill>
                  <a:srgbClr val="5F6368"/>
                </a:solidFill>
                <a:latin typeface="Google Sans Flex"/>
                <a:ea typeface="Google Sans Flex"/>
                <a:cs typeface="Google Sans Flex"/>
              </a:rPr>
              <a:t>ACTORS</a:t>
            </a:r>
          </a:p>
        </p:txBody>
      </p:sp>
      <p:sp>
        <p:nvSpPr>
          <p:cNvPr id="98" name="Rounded Rectangle 97"/>
          <p:cNvSpPr/>
          <p:nvPr/>
        </p:nvSpPr>
        <p:spPr>
          <a:xfrm>
            <a:off x="347472" y="1508760"/>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43891" bIns="43891">
            <a:noAutofit/>
          </a:bodyPr>
          <a:lstStyle/>
          <a:p>
            <a:pPr algn="l">
              <a:spcAft>
                <a:spcPts val="200"/>
              </a:spcAft>
            </a:pPr>
            <a:r>
              <a:rPr sz="650" b="1" i="0">
                <a:solidFill>
                  <a:srgbClr val="202124"/>
                </a:solidFill>
                <a:latin typeface="Google Sans Flex"/>
                <a:ea typeface="Google Sans Flex"/>
                <a:cs typeface="Google Sans Flex"/>
              </a:rPr>
              <a:t>Inspector / owner</a:t>
            </a:r>
            <a:r>
              <a:rPr sz="650" b="0" i="0">
                <a:solidFill>
                  <a:srgbClr val="5F6368"/>
                </a:solidFill>
                <a:latin typeface="Google Sans Flex"/>
                <a:ea typeface="Google Sans Flex"/>
                <a:cs typeface="Google Sans Flex"/>
              </a:rPr>
              <a:t>  captures</a:t>
            </a:r>
          </a:p>
        </p:txBody>
      </p:sp>
      <p:sp>
        <p:nvSpPr>
          <p:cNvPr id="99" name="Rounded Rectangle 98"/>
          <p:cNvSpPr/>
          <p:nvPr/>
        </p:nvSpPr>
        <p:spPr>
          <a:xfrm>
            <a:off x="347472" y="1892807"/>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43891" bIns="43891">
            <a:noAutofit/>
          </a:bodyPr>
          <a:lstStyle/>
          <a:p>
            <a:pPr algn="l">
              <a:spcAft>
                <a:spcPts val="200"/>
              </a:spcAft>
            </a:pPr>
            <a:r>
              <a:rPr sz="650" b="1" i="0">
                <a:solidFill>
                  <a:srgbClr val="202124"/>
                </a:solidFill>
                <a:latin typeface="Google Sans Flex"/>
                <a:ea typeface="Google Sans Flex"/>
                <a:cs typeface="Google Sans Flex"/>
              </a:rPr>
              <a:t>Underwriter / claims</a:t>
            </a:r>
            <a:r>
              <a:rPr sz="650" b="0" i="0">
                <a:solidFill>
                  <a:srgbClr val="5F6368"/>
                </a:solidFill>
                <a:latin typeface="Google Sans Flex"/>
                <a:ea typeface="Google Sans Flex"/>
                <a:cs typeface="Google Sans Flex"/>
              </a:rPr>
              <a:t>  reviews &amp; decides</a:t>
            </a:r>
          </a:p>
        </p:txBody>
      </p:sp>
      <p:sp>
        <p:nvSpPr>
          <p:cNvPr id="100" name="Rounded Rectangle 99"/>
          <p:cNvSpPr/>
          <p:nvPr/>
        </p:nvSpPr>
        <p:spPr>
          <a:xfrm>
            <a:off x="347472" y="2276856"/>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43891" bIns="43891">
            <a:noAutofit/>
          </a:bodyPr>
          <a:lstStyle/>
          <a:p>
            <a:pPr algn="l">
              <a:spcAft>
                <a:spcPts val="200"/>
              </a:spcAft>
            </a:pPr>
            <a:r>
              <a:rPr sz="650" b="1" i="0">
                <a:solidFill>
                  <a:srgbClr val="202124"/>
                </a:solidFill>
                <a:latin typeface="Google Sans Flex"/>
                <a:ea typeface="Google Sans Flex"/>
                <a:cs typeface="Google Sans Flex"/>
              </a:rPr>
              <a:t>Core systems</a:t>
            </a:r>
            <a:r>
              <a:rPr sz="650" b="0" i="0">
                <a:solidFill>
                  <a:srgbClr val="5F6368"/>
                </a:solidFill>
                <a:latin typeface="Google Sans Flex"/>
                <a:ea typeface="Google Sans Flex"/>
                <a:cs typeface="Google Sans Flex"/>
              </a:rPr>
              <a:t>  LOS, policy, claims</a:t>
            </a:r>
          </a:p>
        </p:txBody>
      </p:sp>
      <p:sp>
        <p:nvSpPr>
          <p:cNvPr id="101" name="Rounded Rectangle 100"/>
          <p:cNvSpPr/>
          <p:nvPr/>
        </p:nvSpPr>
        <p:spPr>
          <a:xfrm>
            <a:off x="1874519"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ounded Rectangle 101"/>
          <p:cNvSpPr/>
          <p:nvPr/>
        </p:nvSpPr>
        <p:spPr>
          <a:xfrm>
            <a:off x="1874519"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1947672" y="1508760"/>
            <a:ext cx="1463040" cy="274320"/>
          </a:xfrm>
          <a:prstGeom prst="rect">
            <a:avLst/>
          </a:prstGeom>
          <a:noFill/>
        </p:spPr>
        <p:txBody>
          <a:bodyPr wrap="square" lIns="0" rIns="0" tIns="0" bIns="0" anchor="ctr">
            <a:noAutofit/>
          </a:bodyPr>
          <a:lstStyle/>
          <a:p>
            <a:pPr algn="l">
              <a:spcAft>
                <a:spcPts val="200"/>
              </a:spcAft>
            </a:pPr>
            <a:r>
              <a:rPr sz="850" b="1" i="0">
                <a:solidFill>
                  <a:srgbClr val="FFFFFF"/>
                </a:solidFill>
                <a:latin typeface="Google Sans Flex"/>
                <a:ea typeface="Google Sans Flex"/>
                <a:cs typeface="Google Sans Flex"/>
              </a:rPr>
              <a:t>1  Capture</a:t>
            </a:r>
          </a:p>
        </p:txBody>
      </p:sp>
      <p:sp>
        <p:nvSpPr>
          <p:cNvPr id="104" name="TextBox 103"/>
          <p:cNvSpPr txBox="1"/>
          <p:nvPr/>
        </p:nvSpPr>
        <p:spPr>
          <a:xfrm>
            <a:off x="1947672" y="1828800"/>
            <a:ext cx="1444752" cy="749808"/>
          </a:xfrm>
          <a:prstGeom prst="rect">
            <a:avLst/>
          </a:prstGeom>
          <a:noFill/>
        </p:spPr>
        <p:txBody>
          <a:bodyPr wrap="square" lIns="0" rIns="0" tIns="0" bIns="0" anchor="t">
            <a:noAutofit/>
          </a:bodyPr>
          <a:lstStyle/>
          <a:p>
            <a:pPr algn="l">
              <a:spcAft>
                <a:spcPts val="200"/>
              </a:spcAft>
            </a:pPr>
            <a:r>
              <a:rPr sz="750" b="0" i="0">
                <a:solidFill>
                  <a:srgbClr val="202124"/>
                </a:solidFill>
                <a:latin typeface="Google Sans Flex"/>
                <a:ea typeface="Google Sans Flex"/>
                <a:cs typeface="Google Sans Flex"/>
              </a:rPr>
              <a:t>A phone walkthrough video. No special hardware.</a:t>
            </a:r>
          </a:p>
        </p:txBody>
      </p:sp>
      <p:cxnSp>
        <p:nvCxnSpPr>
          <p:cNvPr id="105" name="Connector 104"/>
          <p:cNvCxnSpPr/>
          <p:nvPr/>
        </p:nvCxnSpPr>
        <p:spPr>
          <a:xfrm>
            <a:off x="3465576"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3630168" y="1508760"/>
            <a:ext cx="1572768" cy="1097280"/>
          </a:xfrm>
          <a:prstGeom prst="roundRect">
            <a:avLst>
              <a:gd name="adj" fmla="val 5000"/>
            </a:avLst>
          </a:prstGeom>
          <a:solidFill>
            <a:srgbClr val="FFFFFF"/>
          </a:solidFill>
          <a:ln w="1905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unded Rectangle 106"/>
          <p:cNvSpPr/>
          <p:nvPr/>
        </p:nvSpPr>
        <p:spPr>
          <a:xfrm>
            <a:off x="3630168" y="1508760"/>
            <a:ext cx="1572768" cy="274320"/>
          </a:xfrm>
          <a:prstGeom prst="roundRect">
            <a:avLst>
              <a:gd name="adj" fmla="val 20000"/>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3703320" y="1508760"/>
            <a:ext cx="1463040" cy="274320"/>
          </a:xfrm>
          <a:prstGeom prst="rect">
            <a:avLst/>
          </a:prstGeom>
          <a:noFill/>
        </p:spPr>
        <p:txBody>
          <a:bodyPr wrap="square" lIns="0" rIns="0" tIns="0" bIns="0" anchor="ctr">
            <a:noAutofit/>
          </a:bodyPr>
          <a:lstStyle/>
          <a:p>
            <a:pPr algn="l">
              <a:spcAft>
                <a:spcPts val="200"/>
              </a:spcAft>
            </a:pPr>
            <a:r>
              <a:rPr sz="850" b="1" i="0">
                <a:solidFill>
                  <a:srgbClr val="FFFFFF"/>
                </a:solidFill>
                <a:latin typeface="Google Sans Flex"/>
                <a:ea typeface="Google Sans Flex"/>
                <a:cs typeface="Google Sans Flex"/>
              </a:rPr>
              <a:t>2  AI inspection</a:t>
            </a:r>
          </a:p>
        </p:txBody>
      </p:sp>
      <p:sp>
        <p:nvSpPr>
          <p:cNvPr id="109" name="TextBox 108"/>
          <p:cNvSpPr txBox="1"/>
          <p:nvPr/>
        </p:nvSpPr>
        <p:spPr>
          <a:xfrm>
            <a:off x="3703320" y="1828800"/>
            <a:ext cx="1444752" cy="749808"/>
          </a:xfrm>
          <a:prstGeom prst="rect">
            <a:avLst/>
          </a:prstGeom>
          <a:noFill/>
        </p:spPr>
        <p:txBody>
          <a:bodyPr wrap="square" lIns="0" rIns="0" tIns="0" bIns="0" anchor="t">
            <a:noAutofit/>
          </a:bodyPr>
          <a:lstStyle/>
          <a:p>
            <a:pPr algn="l">
              <a:spcAft>
                <a:spcPts val="200"/>
              </a:spcAft>
            </a:pPr>
            <a:r>
              <a:rPr sz="750" b="0" i="0">
                <a:solidFill>
                  <a:srgbClr val="202124"/>
                </a:solidFill>
                <a:latin typeface="Google Sans Flex"/>
                <a:ea typeface="Google Sans Flex"/>
                <a:cs typeface="Google Sans Flex"/>
              </a:rPr>
              <a:t>Gemini reads the room; LocateAnything finds defects; Gemma 4 verifies each crop.</a:t>
            </a:r>
          </a:p>
        </p:txBody>
      </p:sp>
      <p:cxnSp>
        <p:nvCxnSpPr>
          <p:cNvPr id="110" name="Connector 109"/>
          <p:cNvCxnSpPr/>
          <p:nvPr/>
        </p:nvCxnSpPr>
        <p:spPr>
          <a:xfrm>
            <a:off x="5221224"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5385816" y="1508760"/>
            <a:ext cx="1572768" cy="1097280"/>
          </a:xfrm>
          <a:prstGeom prst="roundRect">
            <a:avLst>
              <a:gd name="adj" fmla="val 5000"/>
            </a:avLst>
          </a:prstGeom>
          <a:solidFill>
            <a:srgbClr val="FFFFFF"/>
          </a:solidFill>
          <a:ln w="19050">
            <a:solidFill>
              <a:srgbClr val="E374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5385816" y="1508760"/>
            <a:ext cx="1572768" cy="274320"/>
          </a:xfrm>
          <a:prstGeom prst="roundRect">
            <a:avLst>
              <a:gd name="adj" fmla="val 20000"/>
            </a:avLst>
          </a:prstGeom>
          <a:solidFill>
            <a:srgbClr val="E37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5458968" y="1508760"/>
            <a:ext cx="1463040" cy="274320"/>
          </a:xfrm>
          <a:prstGeom prst="rect">
            <a:avLst/>
          </a:prstGeom>
          <a:noFill/>
        </p:spPr>
        <p:txBody>
          <a:bodyPr wrap="square" lIns="0" rIns="0" tIns="0" bIns="0" anchor="ctr">
            <a:noAutofit/>
          </a:bodyPr>
          <a:lstStyle/>
          <a:p>
            <a:pPr algn="l">
              <a:spcAft>
                <a:spcPts val="200"/>
              </a:spcAft>
            </a:pPr>
            <a:r>
              <a:rPr sz="850" b="1" i="0">
                <a:solidFill>
                  <a:srgbClr val="FFFFFF"/>
                </a:solidFill>
                <a:latin typeface="Google Sans Flex"/>
                <a:ea typeface="Google Sans Flex"/>
                <a:cs typeface="Google Sans Flex"/>
              </a:rPr>
              <a:t>3  Risk decision</a:t>
            </a:r>
          </a:p>
        </p:txBody>
      </p:sp>
      <p:sp>
        <p:nvSpPr>
          <p:cNvPr id="114" name="TextBox 113"/>
          <p:cNvSpPr txBox="1"/>
          <p:nvPr/>
        </p:nvSpPr>
        <p:spPr>
          <a:xfrm>
            <a:off x="5458968" y="1828800"/>
            <a:ext cx="1444752" cy="749808"/>
          </a:xfrm>
          <a:prstGeom prst="rect">
            <a:avLst/>
          </a:prstGeom>
          <a:noFill/>
        </p:spPr>
        <p:txBody>
          <a:bodyPr wrap="square" lIns="0" rIns="0" tIns="0" bIns="0" anchor="t">
            <a:noAutofit/>
          </a:bodyPr>
          <a:lstStyle/>
          <a:p>
            <a:pPr algn="l">
              <a:spcAft>
                <a:spcPts val="200"/>
              </a:spcAft>
            </a:pPr>
            <a:r>
              <a:rPr sz="750" b="0" i="0">
                <a:solidFill>
                  <a:srgbClr val="202124"/>
                </a:solidFill>
                <a:latin typeface="Google Sans Flex"/>
                <a:ea typeface="Google Sans Flex"/>
                <a:cs typeface="Google Sans Flex"/>
              </a:rPr>
              <a:t>Rules set grade, perils, cost, valuation, premium, decision; Gemini explains.</a:t>
            </a:r>
          </a:p>
        </p:txBody>
      </p:sp>
      <p:cxnSp>
        <p:nvCxnSpPr>
          <p:cNvPr id="115" name="Connector 114"/>
          <p:cNvCxnSpPr/>
          <p:nvPr/>
        </p:nvCxnSpPr>
        <p:spPr>
          <a:xfrm>
            <a:off x="6976872"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7141464" y="1508760"/>
            <a:ext cx="1572768" cy="1097280"/>
          </a:xfrm>
          <a:prstGeom prst="roundRect">
            <a:avLst>
              <a:gd name="adj" fmla="val 5000"/>
            </a:avLst>
          </a:prstGeom>
          <a:solidFill>
            <a:srgbClr val="FFFFFF"/>
          </a:solidFill>
          <a:ln w="190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7141464" y="1508760"/>
            <a:ext cx="1572768" cy="274320"/>
          </a:xfrm>
          <a:prstGeom prst="roundRect">
            <a:avLst>
              <a:gd name="adj" fmla="val 20000"/>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7214616" y="1508760"/>
            <a:ext cx="1463040" cy="274320"/>
          </a:xfrm>
          <a:prstGeom prst="rect">
            <a:avLst/>
          </a:prstGeom>
          <a:noFill/>
        </p:spPr>
        <p:txBody>
          <a:bodyPr wrap="square" lIns="0" rIns="0" tIns="0" bIns="0" anchor="ctr">
            <a:noAutofit/>
          </a:bodyPr>
          <a:lstStyle/>
          <a:p>
            <a:pPr algn="l">
              <a:spcAft>
                <a:spcPts val="200"/>
              </a:spcAft>
            </a:pPr>
            <a:r>
              <a:rPr sz="850" b="1" i="0">
                <a:solidFill>
                  <a:srgbClr val="FFFFFF"/>
                </a:solidFill>
                <a:latin typeface="Google Sans Flex"/>
                <a:ea typeface="Google Sans Flex"/>
                <a:cs typeface="Google Sans Flex"/>
              </a:rPr>
              <a:t>4  Act</a:t>
            </a:r>
          </a:p>
        </p:txBody>
      </p:sp>
      <p:sp>
        <p:nvSpPr>
          <p:cNvPr id="119" name="TextBox 118"/>
          <p:cNvSpPr txBox="1"/>
          <p:nvPr/>
        </p:nvSpPr>
        <p:spPr>
          <a:xfrm>
            <a:off x="7214616" y="1828800"/>
            <a:ext cx="1444752" cy="749808"/>
          </a:xfrm>
          <a:prstGeom prst="rect">
            <a:avLst/>
          </a:prstGeom>
          <a:noFill/>
        </p:spPr>
        <p:txBody>
          <a:bodyPr wrap="square" lIns="0" rIns="0" tIns="0" bIns="0" anchor="t">
            <a:noAutofit/>
          </a:bodyPr>
          <a:lstStyle/>
          <a:p>
            <a:pPr algn="l">
              <a:spcAft>
                <a:spcPts val="200"/>
              </a:spcAft>
            </a:pPr>
            <a:r>
              <a:rPr sz="750" b="0" i="0">
                <a:solidFill>
                  <a:srgbClr val="202124"/>
                </a:solidFill>
                <a:latin typeface="Google Sans Flex"/>
                <a:ea typeface="Google Sans Flex"/>
                <a:cs typeface="Google Sans Flex"/>
              </a:rPr>
              <a:t>Report, Gemini Q&amp;A, BigQuery row and Pub/Sub event to core systems.</a:t>
            </a:r>
          </a:p>
        </p:txBody>
      </p:sp>
      <p:cxnSp>
        <p:nvCxnSpPr>
          <p:cNvPr id="120" name="Connector 119"/>
          <p:cNvCxnSpPr/>
          <p:nvPr/>
        </p:nvCxnSpPr>
        <p:spPr>
          <a:xfrm>
            <a:off x="1691640" y="1673352"/>
            <a:ext cx="164591" cy="0"/>
          </a:xfrm>
          <a:prstGeom prst="line">
            <a:avLst/>
          </a:prstGeom>
          <a:ln w="15875">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347472" y="2697480"/>
            <a:ext cx="5486400" cy="164592"/>
          </a:xfrm>
          <a:prstGeom prst="rect">
            <a:avLst/>
          </a:prstGeom>
          <a:noFill/>
        </p:spPr>
        <p:txBody>
          <a:bodyPr wrap="square" lIns="0" rIns="0" tIns="0" bIns="0" anchor="t">
            <a:noAutofit/>
          </a:bodyPr>
          <a:lstStyle/>
          <a:p>
            <a:pPr algn="l">
              <a:spcAft>
                <a:spcPts val="200"/>
              </a:spcAft>
            </a:pPr>
            <a:r>
              <a:rPr sz="700" b="1" i="0">
                <a:solidFill>
                  <a:srgbClr val="5F6368"/>
                </a:solidFill>
                <a:latin typeface="Google Sans Flex"/>
                <a:ea typeface="Google Sans Flex"/>
                <a:cs typeface="Google Sans Flex"/>
              </a:rPr>
              <a:t>DECISION OUTCOMES (back to underwriter and core systems)</a:t>
            </a:r>
          </a:p>
        </p:txBody>
      </p:sp>
      <p:sp>
        <p:nvSpPr>
          <p:cNvPr id="122" name="Rounded Rectangle 121"/>
          <p:cNvSpPr/>
          <p:nvPr/>
        </p:nvSpPr>
        <p:spPr>
          <a:xfrm>
            <a:off x="347472" y="2871216"/>
            <a:ext cx="1344168" cy="347472"/>
          </a:xfrm>
          <a:prstGeom prst="roundRect">
            <a:avLst>
              <a:gd name="adj" fmla="val 15789"/>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9260" bIns="29260">
            <a:noAutofit/>
          </a:bodyPr>
          <a:lstStyle/>
          <a:p>
            <a:pPr algn="ctr">
              <a:spcAft>
                <a:spcPts val="200"/>
              </a:spcAft>
            </a:pPr>
            <a:r>
              <a:rPr sz="650" b="1" i="0">
                <a:solidFill>
                  <a:srgbClr val="188038"/>
                </a:solidFill>
                <a:latin typeface="Google Sans Flex"/>
                <a:ea typeface="Google Sans Flex"/>
                <a:cs typeface="Google Sans Flex"/>
              </a:rPr>
              <a:t>PROCEED</a:t>
            </a:r>
          </a:p>
        </p:txBody>
      </p:sp>
      <p:sp>
        <p:nvSpPr>
          <p:cNvPr id="123" name="Rounded Rectangle 122"/>
          <p:cNvSpPr/>
          <p:nvPr/>
        </p:nvSpPr>
        <p:spPr>
          <a:xfrm>
            <a:off x="1764792" y="2871216"/>
            <a:ext cx="1344168" cy="347472"/>
          </a:xfrm>
          <a:prstGeom prst="roundRect">
            <a:avLst>
              <a:gd name="adj" fmla="val 15789"/>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9260" bIns="29260">
            <a:noAutofit/>
          </a:bodyPr>
          <a:lstStyle/>
          <a:p>
            <a:pPr algn="ctr">
              <a:spcAft>
                <a:spcPts val="200"/>
              </a:spcAft>
            </a:pPr>
            <a:r>
              <a:rPr sz="650" b="1" i="0">
                <a:solidFill>
                  <a:srgbClr val="188038"/>
                </a:solidFill>
                <a:latin typeface="Google Sans Flex"/>
                <a:ea typeface="Google Sans Flex"/>
                <a:cs typeface="Google Sans Flex"/>
              </a:rPr>
              <a:t>PROCEED W/ CONDITIONS: note defects</a:t>
            </a:r>
          </a:p>
        </p:txBody>
      </p:sp>
      <p:sp>
        <p:nvSpPr>
          <p:cNvPr id="124" name="Rounded Rectangle 123"/>
          <p:cNvSpPr/>
          <p:nvPr/>
        </p:nvSpPr>
        <p:spPr>
          <a:xfrm>
            <a:off x="3182112" y="2871216"/>
            <a:ext cx="1344168" cy="347472"/>
          </a:xfrm>
          <a:prstGeom prst="roundRect">
            <a:avLst>
              <a:gd name="adj" fmla="val 15789"/>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9260" bIns="29260">
            <a:noAutofit/>
          </a:bodyPr>
          <a:lstStyle/>
          <a:p>
            <a:pPr algn="ctr">
              <a:spcAft>
                <a:spcPts val="200"/>
              </a:spcAft>
            </a:pPr>
            <a:r>
              <a:rPr sz="650" b="1" i="0">
                <a:solidFill>
                  <a:srgbClr val="E37400"/>
                </a:solidFill>
                <a:latin typeface="Google Sans Flex"/>
                <a:ea typeface="Google Sans Flex"/>
                <a:cs typeface="Google Sans Flex"/>
              </a:rPr>
              <a:t>PROCEED W/ CONDITIONS: repairs / retention</a:t>
            </a:r>
          </a:p>
        </p:txBody>
      </p:sp>
      <p:sp>
        <p:nvSpPr>
          <p:cNvPr id="125" name="Rounded Rectangle 124"/>
          <p:cNvSpPr/>
          <p:nvPr/>
        </p:nvSpPr>
        <p:spPr>
          <a:xfrm>
            <a:off x="459943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9260" bIns="29260">
            <a:noAutofit/>
          </a:bodyPr>
          <a:lstStyle/>
          <a:p>
            <a:pPr algn="ctr">
              <a:spcAft>
                <a:spcPts val="200"/>
              </a:spcAft>
            </a:pPr>
            <a:r>
              <a:rPr sz="650" b="1" i="0">
                <a:solidFill>
                  <a:srgbClr val="D93025"/>
                </a:solidFill>
                <a:latin typeface="Google Sans Flex"/>
                <a:ea typeface="Google Sans Flex"/>
                <a:cs typeface="Google Sans Flex"/>
              </a:rPr>
              <a:t>REFER: professional survey</a:t>
            </a:r>
          </a:p>
        </p:txBody>
      </p:sp>
      <p:sp>
        <p:nvSpPr>
          <p:cNvPr id="126" name="Rounded Rectangle 125"/>
          <p:cNvSpPr/>
          <p:nvPr/>
        </p:nvSpPr>
        <p:spPr>
          <a:xfrm>
            <a:off x="601675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9260" bIns="29260">
            <a:noAutofit/>
          </a:bodyPr>
          <a:lstStyle/>
          <a:p>
            <a:pPr algn="ctr">
              <a:spcAft>
                <a:spcPts val="200"/>
              </a:spcAft>
            </a:pPr>
            <a:r>
              <a:rPr sz="650" b="1" i="0">
                <a:solidFill>
                  <a:srgbClr val="D93025"/>
                </a:solidFill>
                <a:latin typeface="Google Sans Flex"/>
                <a:ea typeface="Google Sans Flex"/>
                <a:cs typeface="Google Sans Flex"/>
              </a:rPr>
              <a:t>REFER: evidence integrity</a:t>
            </a:r>
          </a:p>
        </p:txBody>
      </p:sp>
      <p:sp>
        <p:nvSpPr>
          <p:cNvPr id="127" name="Rounded Rectangle 126"/>
          <p:cNvSpPr/>
          <p:nvPr/>
        </p:nvSpPr>
        <p:spPr>
          <a:xfrm>
            <a:off x="743407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9260" bIns="29260">
            <a:noAutofit/>
          </a:bodyPr>
          <a:lstStyle/>
          <a:p>
            <a:pPr algn="ctr">
              <a:spcAft>
                <a:spcPts val="200"/>
              </a:spcAft>
            </a:pPr>
            <a:r>
              <a:rPr sz="650" b="1" i="0">
                <a:solidFill>
                  <a:srgbClr val="D93025"/>
                </a:solidFill>
                <a:latin typeface="Google Sans Flex"/>
                <a:ea typeface="Google Sans Flex"/>
                <a:cs typeface="Google Sans Flex"/>
              </a:rPr>
              <a:t>REFER: additional evidence</a:t>
            </a:r>
          </a:p>
        </p:txBody>
      </p:sp>
      <p:sp>
        <p:nvSpPr>
          <p:cNvPr id="128" name="Rounded Rectangle 127"/>
          <p:cNvSpPr/>
          <p:nvPr/>
        </p:nvSpPr>
        <p:spPr>
          <a:xfrm>
            <a:off x="347472" y="3328416"/>
            <a:ext cx="8449056" cy="731520"/>
          </a:xfrm>
          <a:prstGeom prst="roundRect">
            <a:avLst>
              <a:gd name="adj" fmla="val 75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20624" y="3328416"/>
            <a:ext cx="822960" cy="731520"/>
          </a:xfrm>
          <a:prstGeom prst="rect">
            <a:avLst/>
          </a:prstGeom>
          <a:noFill/>
        </p:spPr>
        <p:txBody>
          <a:bodyPr wrap="square" lIns="0" rIns="0" tIns="0" bIns="0" anchor="ctr">
            <a:noAutofit/>
          </a:bodyPr>
          <a:lstStyle/>
          <a:p>
            <a:pPr algn="l">
              <a:spcAft>
                <a:spcPts val="0"/>
              </a:spcAft>
            </a:pPr>
            <a:r>
              <a:rPr sz="750" b="1" i="0">
                <a:solidFill>
                  <a:srgbClr val="1A73E8"/>
                </a:solidFill>
                <a:latin typeface="Google Sans Flex"/>
                <a:ea typeface="Google Sans Flex"/>
                <a:cs typeface="Google Sans Flex"/>
              </a:rPr>
              <a:t>KEYFRAME</a:t>
            </a:r>
          </a:p>
          <a:p>
            <a:pPr algn="l">
              <a:spcAft>
                <a:spcPts val="0"/>
              </a:spcAft>
            </a:pPr>
            <a:r>
              <a:rPr sz="750" b="1" i="0">
                <a:solidFill>
                  <a:srgbClr val="1A73E8"/>
                </a:solidFill>
                <a:latin typeface="Google Sans Flex"/>
                <a:ea typeface="Google Sans Flex"/>
                <a:cs typeface="Google Sans Flex"/>
              </a:rPr>
              <a:t>PIPELINE</a:t>
            </a:r>
          </a:p>
        </p:txBody>
      </p:sp>
      <p:sp>
        <p:nvSpPr>
          <p:cNvPr id="130" name="Rounded Rectangle 129"/>
          <p:cNvSpPr/>
          <p:nvPr/>
        </p:nvSpPr>
        <p:spPr>
          <a:xfrm>
            <a:off x="1216152"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1271016" y="3419856"/>
            <a:ext cx="1051560" cy="548640"/>
          </a:xfrm>
          <a:prstGeom prst="rect">
            <a:avLst/>
          </a:prstGeom>
          <a:noFill/>
        </p:spPr>
        <p:txBody>
          <a:bodyPr wrap="square" lIns="0" rIns="0" tIns="0" bIns="0" anchor="ctr">
            <a:noAutofit/>
          </a:bodyPr>
          <a:lstStyle/>
          <a:p>
            <a:pPr algn="l">
              <a:spcAft>
                <a:spcPts val="200"/>
              </a:spcAft>
            </a:pPr>
            <a:r>
              <a:rPr sz="680" b="1" i="0">
                <a:solidFill>
                  <a:srgbClr val="1A73E8"/>
                </a:solidFill>
                <a:latin typeface="Google Sans Flex"/>
                <a:ea typeface="Google Sans Flex"/>
                <a:cs typeface="Google Sans Flex"/>
              </a:rPr>
              <a:t>1  </a:t>
            </a:r>
            <a:r>
              <a:rPr sz="680" b="0" i="0">
                <a:solidFill>
                  <a:srgbClr val="202124"/>
                </a:solidFill>
                <a:latin typeface="Google Sans Flex"/>
                <a:ea typeface="Google Sans Flex"/>
                <a:cs typeface="Google Sans Flex"/>
              </a:rPr>
              <a:t>Quality + integrity (dHash)</a:t>
            </a:r>
          </a:p>
        </p:txBody>
      </p:sp>
      <p:cxnSp>
        <p:nvCxnSpPr>
          <p:cNvPr id="132" name="Connector 131"/>
          <p:cNvCxnSpPr/>
          <p:nvPr/>
        </p:nvCxnSpPr>
        <p:spPr>
          <a:xfrm>
            <a:off x="2368296"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3" name="Rounded Rectangle 132"/>
          <p:cNvSpPr/>
          <p:nvPr/>
        </p:nvSpPr>
        <p:spPr>
          <a:xfrm>
            <a:off x="2478024"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2532888" y="3419856"/>
            <a:ext cx="1051560" cy="548640"/>
          </a:xfrm>
          <a:prstGeom prst="rect">
            <a:avLst/>
          </a:prstGeom>
          <a:noFill/>
        </p:spPr>
        <p:txBody>
          <a:bodyPr wrap="square" lIns="0" rIns="0" tIns="0" bIns="0" anchor="ctr">
            <a:noAutofit/>
          </a:bodyPr>
          <a:lstStyle/>
          <a:p>
            <a:pPr algn="l">
              <a:spcAft>
                <a:spcPts val="200"/>
              </a:spcAft>
            </a:pPr>
            <a:r>
              <a:rPr sz="680" b="1" i="0">
                <a:solidFill>
                  <a:srgbClr val="1A73E8"/>
                </a:solidFill>
                <a:latin typeface="Google Sans Flex"/>
                <a:ea typeface="Google Sans Flex"/>
                <a:cs typeface="Google Sans Flex"/>
              </a:rPr>
              <a:t>2  </a:t>
            </a:r>
            <a:r>
              <a:rPr sz="680" b="0" i="0">
                <a:solidFill>
                  <a:srgbClr val="202124"/>
                </a:solidFill>
                <a:latin typeface="Google Sans Flex"/>
                <a:ea typeface="Google Sans Flex"/>
                <a:cs typeface="Google Sans Flex"/>
              </a:rPr>
              <a:t>Gemini: room, components, authenticity</a:t>
            </a:r>
          </a:p>
        </p:txBody>
      </p:sp>
      <p:cxnSp>
        <p:nvCxnSpPr>
          <p:cNvPr id="135" name="Connector 134"/>
          <p:cNvCxnSpPr/>
          <p:nvPr/>
        </p:nvCxnSpPr>
        <p:spPr>
          <a:xfrm>
            <a:off x="3630168"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6" name="Rounded Rectangle 135"/>
          <p:cNvSpPr/>
          <p:nvPr/>
        </p:nvSpPr>
        <p:spPr>
          <a:xfrm>
            <a:off x="3739896"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794759" y="3419856"/>
            <a:ext cx="1051560" cy="548640"/>
          </a:xfrm>
          <a:prstGeom prst="rect">
            <a:avLst/>
          </a:prstGeom>
          <a:noFill/>
        </p:spPr>
        <p:txBody>
          <a:bodyPr wrap="square" lIns="0" rIns="0" tIns="0" bIns="0" anchor="ctr">
            <a:noAutofit/>
          </a:bodyPr>
          <a:lstStyle/>
          <a:p>
            <a:pPr algn="l">
              <a:spcAft>
                <a:spcPts val="200"/>
              </a:spcAft>
            </a:pPr>
            <a:r>
              <a:rPr sz="680" b="1" i="0">
                <a:solidFill>
                  <a:srgbClr val="1A73E8"/>
                </a:solidFill>
                <a:latin typeface="Google Sans Flex"/>
                <a:ea typeface="Google Sans Flex"/>
                <a:cs typeface="Google Sans Flex"/>
              </a:rPr>
              <a:t>3  </a:t>
            </a:r>
            <a:r>
              <a:rPr sz="680" b="0" i="0">
                <a:solidFill>
                  <a:srgbClr val="202124"/>
                </a:solidFill>
                <a:latin typeface="Google Sans Flex"/>
                <a:ea typeface="Google Sans Flex"/>
                <a:cs typeface="Google Sans Flex"/>
              </a:rPr>
              <a:t>Prompt router: 18 defects, 12 components</a:t>
            </a:r>
          </a:p>
        </p:txBody>
      </p:sp>
      <p:cxnSp>
        <p:nvCxnSpPr>
          <p:cNvPr id="138" name="Connector 137"/>
          <p:cNvCxnSpPr/>
          <p:nvPr/>
        </p:nvCxnSpPr>
        <p:spPr>
          <a:xfrm>
            <a:off x="4892040"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9" name="Rounded Rectangle 138"/>
          <p:cNvSpPr/>
          <p:nvPr/>
        </p:nvSpPr>
        <p:spPr>
          <a:xfrm>
            <a:off x="5001768"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5056631" y="3419856"/>
            <a:ext cx="1051560" cy="548640"/>
          </a:xfrm>
          <a:prstGeom prst="rect">
            <a:avLst/>
          </a:prstGeom>
          <a:noFill/>
        </p:spPr>
        <p:txBody>
          <a:bodyPr wrap="square" lIns="0" rIns="0" tIns="0" bIns="0" anchor="ctr">
            <a:noAutofit/>
          </a:bodyPr>
          <a:lstStyle/>
          <a:p>
            <a:pPr algn="l">
              <a:spcAft>
                <a:spcPts val="200"/>
              </a:spcAft>
            </a:pPr>
            <a:r>
              <a:rPr sz="680" b="1" i="0">
                <a:solidFill>
                  <a:srgbClr val="1A73E8"/>
                </a:solidFill>
                <a:latin typeface="Google Sans Flex"/>
                <a:ea typeface="Google Sans Flex"/>
                <a:cs typeface="Google Sans Flex"/>
              </a:rPr>
              <a:t>4  </a:t>
            </a:r>
            <a:r>
              <a:rPr sz="680" b="0" i="0">
                <a:solidFill>
                  <a:srgbClr val="202124"/>
                </a:solidFill>
                <a:latin typeface="Google Sans Flex"/>
                <a:ea typeface="Google Sans Flex"/>
                <a:cs typeface="Google Sans Flex"/>
              </a:rPr>
              <a:t>LocateAnything-3B boxes → NMS</a:t>
            </a:r>
          </a:p>
        </p:txBody>
      </p:sp>
      <p:cxnSp>
        <p:nvCxnSpPr>
          <p:cNvPr id="141" name="Connector 140"/>
          <p:cNvCxnSpPr/>
          <p:nvPr/>
        </p:nvCxnSpPr>
        <p:spPr>
          <a:xfrm>
            <a:off x="6153912"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42" name="Rounded Rectangle 141"/>
          <p:cNvSpPr/>
          <p:nvPr/>
        </p:nvSpPr>
        <p:spPr>
          <a:xfrm>
            <a:off x="6263640"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6318503" y="3419856"/>
            <a:ext cx="1051560" cy="548640"/>
          </a:xfrm>
          <a:prstGeom prst="rect">
            <a:avLst/>
          </a:prstGeom>
          <a:noFill/>
        </p:spPr>
        <p:txBody>
          <a:bodyPr wrap="square" lIns="0" rIns="0" tIns="0" bIns="0" anchor="ctr">
            <a:noAutofit/>
          </a:bodyPr>
          <a:lstStyle/>
          <a:p>
            <a:pPr algn="l">
              <a:spcAft>
                <a:spcPts val="200"/>
              </a:spcAft>
            </a:pPr>
            <a:r>
              <a:rPr sz="680" b="1" i="0">
                <a:solidFill>
                  <a:srgbClr val="1A73E8"/>
                </a:solidFill>
                <a:latin typeface="Google Sans Flex"/>
                <a:ea typeface="Google Sans Flex"/>
                <a:cs typeface="Google Sans Flex"/>
              </a:rPr>
              <a:t>5  </a:t>
            </a:r>
            <a:r>
              <a:rPr sz="680" b="0" i="0">
                <a:solidFill>
                  <a:srgbClr val="202124"/>
                </a:solidFill>
                <a:latin typeface="Google Sans Flex"/>
                <a:ea typeface="Google Sans Flex"/>
                <a:cs typeface="Google Sans Flex"/>
              </a:rPr>
              <a:t>Full-res crops → Gemma 4 verify</a:t>
            </a:r>
          </a:p>
        </p:txBody>
      </p:sp>
      <p:cxnSp>
        <p:nvCxnSpPr>
          <p:cNvPr id="144" name="Connector 143"/>
          <p:cNvCxnSpPr/>
          <p:nvPr/>
        </p:nvCxnSpPr>
        <p:spPr>
          <a:xfrm>
            <a:off x="7415783" y="3694176"/>
            <a:ext cx="109729"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45" name="Rounded Rectangle 144"/>
          <p:cNvSpPr/>
          <p:nvPr/>
        </p:nvSpPr>
        <p:spPr>
          <a:xfrm>
            <a:off x="7525512"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7580376" y="3419856"/>
            <a:ext cx="1051560" cy="548640"/>
          </a:xfrm>
          <a:prstGeom prst="rect">
            <a:avLst/>
          </a:prstGeom>
          <a:noFill/>
        </p:spPr>
        <p:txBody>
          <a:bodyPr wrap="square" lIns="0" rIns="0" tIns="0" bIns="0" anchor="ctr">
            <a:noAutofit/>
          </a:bodyPr>
          <a:lstStyle/>
          <a:p>
            <a:pPr algn="l">
              <a:spcAft>
                <a:spcPts val="200"/>
              </a:spcAft>
            </a:pPr>
            <a:r>
              <a:rPr sz="680" b="1" i="0">
                <a:solidFill>
                  <a:srgbClr val="1A73E8"/>
                </a:solidFill>
                <a:latin typeface="Google Sans Flex"/>
                <a:ea typeface="Google Sans Flex"/>
                <a:cs typeface="Google Sans Flex"/>
              </a:rPr>
              <a:t>6  </a:t>
            </a:r>
            <a:r>
              <a:rPr sz="680" b="0" i="0">
                <a:solidFill>
                  <a:srgbClr val="202124"/>
                </a:solidFill>
                <a:latin typeface="Google Sans Flex"/>
                <a:ea typeface="Google Sans Flex"/>
                <a:cs typeface="Google Sans Flex"/>
              </a:rPr>
              <a:t>Rule engine → status → risk engine</a:t>
            </a:r>
          </a:p>
        </p:txBody>
      </p:sp>
      <p:sp>
        <p:nvSpPr>
          <p:cNvPr id="147" name="Rounded Rectangle 146"/>
          <p:cNvSpPr/>
          <p:nvPr/>
        </p:nvSpPr>
        <p:spPr>
          <a:xfrm>
            <a:off x="347472" y="4123944"/>
            <a:ext cx="8449056" cy="731520"/>
          </a:xfrm>
          <a:prstGeom prst="roundRect">
            <a:avLst>
              <a:gd name="adj" fmla="val 75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20624" y="4123944"/>
            <a:ext cx="822960" cy="731520"/>
          </a:xfrm>
          <a:prstGeom prst="rect">
            <a:avLst/>
          </a:prstGeom>
          <a:noFill/>
        </p:spPr>
        <p:txBody>
          <a:bodyPr wrap="square" lIns="0" rIns="0" tIns="0" bIns="0" anchor="ctr">
            <a:noAutofit/>
          </a:bodyPr>
          <a:lstStyle/>
          <a:p>
            <a:pPr algn="l">
              <a:spcAft>
                <a:spcPts val="0"/>
              </a:spcAft>
            </a:pPr>
            <a:r>
              <a:rPr sz="750" b="1" i="0">
                <a:solidFill>
                  <a:srgbClr val="188038"/>
                </a:solidFill>
                <a:latin typeface="Google Sans Flex"/>
                <a:ea typeface="Google Sans Flex"/>
                <a:cs typeface="Google Sans Flex"/>
              </a:rPr>
              <a:t>VIDEO</a:t>
            </a:r>
          </a:p>
          <a:p>
            <a:pPr algn="l">
              <a:spcAft>
                <a:spcPts val="0"/>
              </a:spcAft>
            </a:pPr>
            <a:r>
              <a:rPr sz="750" b="1" i="0">
                <a:solidFill>
                  <a:srgbClr val="188038"/>
                </a:solidFill>
                <a:latin typeface="Google Sans Flex"/>
                <a:ea typeface="Google Sans Flex"/>
                <a:cs typeface="Google Sans Flex"/>
              </a:rPr>
              <a:t>PIPELINE</a:t>
            </a:r>
          </a:p>
        </p:txBody>
      </p:sp>
      <p:sp>
        <p:nvSpPr>
          <p:cNvPr id="149" name="Rounded Rectangle 148"/>
          <p:cNvSpPr/>
          <p:nvPr/>
        </p:nvSpPr>
        <p:spPr>
          <a:xfrm>
            <a:off x="1216152" y="4197096"/>
            <a:ext cx="1152144" cy="585216"/>
          </a:xfrm>
          <a:prstGeom prst="roundRect">
            <a:avLst>
              <a:gd name="adj" fmla="val 9375"/>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1271016" y="4215383"/>
            <a:ext cx="1051560" cy="548640"/>
          </a:xfrm>
          <a:prstGeom prst="rect">
            <a:avLst/>
          </a:prstGeom>
          <a:noFill/>
        </p:spPr>
        <p:txBody>
          <a:bodyPr wrap="square" lIns="0" rIns="0" tIns="0" bIns="0" anchor="ctr">
            <a:noAutofit/>
          </a:bodyPr>
          <a:lstStyle/>
          <a:p>
            <a:pPr algn="l">
              <a:spcAft>
                <a:spcPts val="200"/>
              </a:spcAft>
            </a:pPr>
            <a:r>
              <a:rPr sz="680" b="1" i="0">
                <a:solidFill>
                  <a:srgbClr val="188038"/>
                </a:solidFill>
                <a:latin typeface="Google Sans Flex"/>
                <a:ea typeface="Google Sans Flex"/>
                <a:cs typeface="Google Sans Flex"/>
              </a:rPr>
              <a:t>1  </a:t>
            </a:r>
            <a:r>
              <a:rPr sz="680" b="0" i="0">
                <a:solidFill>
                  <a:srgbClr val="202124"/>
                </a:solidFill>
                <a:latin typeface="Google Sans Flex"/>
                <a:ea typeface="Google Sans Flex"/>
                <a:cs typeface="Google Sans Flex"/>
              </a:rPr>
              <a:t>Depth Anything 3 depth per frame</a:t>
            </a:r>
          </a:p>
        </p:txBody>
      </p:sp>
      <p:cxnSp>
        <p:nvCxnSpPr>
          <p:cNvPr id="151" name="Connector 150"/>
          <p:cNvCxnSpPr/>
          <p:nvPr/>
        </p:nvCxnSpPr>
        <p:spPr>
          <a:xfrm>
            <a:off x="2368296" y="4489704"/>
            <a:ext cx="109728" cy="0"/>
          </a:xfrm>
          <a:prstGeom prst="line">
            <a:avLst/>
          </a:prstGeom>
          <a:ln w="12700">
            <a:solidFill>
              <a:srgbClr val="188038"/>
            </a:solidFill>
            <a:tailEnd type="triangle"/>
          </a:ln>
        </p:spPr>
        <p:style>
          <a:lnRef idx="2">
            <a:schemeClr val="accent1"/>
          </a:lnRef>
          <a:fillRef idx="0">
            <a:schemeClr val="accent1"/>
          </a:fillRef>
          <a:effectRef idx="1">
            <a:schemeClr val="accent1"/>
          </a:effectRef>
          <a:fontRef idx="minor">
            <a:schemeClr val="tx1"/>
          </a:fontRef>
        </p:style>
      </p:cxnSp>
      <p:sp>
        <p:nvSpPr>
          <p:cNvPr id="152" name="Rounded Rectangle 151"/>
          <p:cNvSpPr/>
          <p:nvPr/>
        </p:nvSpPr>
        <p:spPr>
          <a:xfrm>
            <a:off x="2478024" y="4197096"/>
            <a:ext cx="1152144" cy="585216"/>
          </a:xfrm>
          <a:prstGeom prst="roundRect">
            <a:avLst>
              <a:gd name="adj" fmla="val 9375"/>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2532888" y="4215383"/>
            <a:ext cx="1051560" cy="548640"/>
          </a:xfrm>
          <a:prstGeom prst="rect">
            <a:avLst/>
          </a:prstGeom>
          <a:noFill/>
        </p:spPr>
        <p:txBody>
          <a:bodyPr wrap="square" lIns="0" rIns="0" tIns="0" bIns="0" anchor="ctr">
            <a:noAutofit/>
          </a:bodyPr>
          <a:lstStyle/>
          <a:p>
            <a:pPr algn="l">
              <a:spcAft>
                <a:spcPts val="200"/>
              </a:spcAft>
            </a:pPr>
            <a:r>
              <a:rPr sz="680" b="1" i="0">
                <a:solidFill>
                  <a:srgbClr val="188038"/>
                </a:solidFill>
                <a:latin typeface="Google Sans Flex"/>
                <a:ea typeface="Google Sans Flex"/>
                <a:cs typeface="Google Sans Flex"/>
              </a:rPr>
              <a:t>2  </a:t>
            </a:r>
            <a:r>
              <a:rPr sz="680" b="0" i="0">
                <a:solidFill>
                  <a:srgbClr val="202124"/>
                </a:solidFill>
                <a:latin typeface="Google Sans Flex"/>
                <a:ea typeface="Google Sans Flex"/>
                <a:cs typeface="Google Sans Flex"/>
              </a:rPr>
              <a:t>OpenCV 5 SLAM camera poses</a:t>
            </a:r>
          </a:p>
        </p:txBody>
      </p:sp>
      <p:cxnSp>
        <p:nvCxnSpPr>
          <p:cNvPr id="154" name="Connector 153"/>
          <p:cNvCxnSpPr/>
          <p:nvPr/>
        </p:nvCxnSpPr>
        <p:spPr>
          <a:xfrm>
            <a:off x="3630168" y="4489704"/>
            <a:ext cx="109728" cy="0"/>
          </a:xfrm>
          <a:prstGeom prst="line">
            <a:avLst/>
          </a:prstGeom>
          <a:ln w="12700">
            <a:solidFill>
              <a:srgbClr val="188038"/>
            </a:solidFill>
            <a:tailEnd type="triangle"/>
          </a:ln>
        </p:spPr>
        <p:style>
          <a:lnRef idx="2">
            <a:schemeClr val="accent1"/>
          </a:lnRef>
          <a:fillRef idx="0">
            <a:schemeClr val="accent1"/>
          </a:fillRef>
          <a:effectRef idx="1">
            <a:schemeClr val="accent1"/>
          </a:effectRef>
          <a:fontRef idx="minor">
            <a:schemeClr val="tx1"/>
          </a:fontRef>
        </p:style>
      </p:cxnSp>
      <p:sp>
        <p:nvSpPr>
          <p:cNvPr id="155" name="Rounded Rectangle 154"/>
          <p:cNvSpPr/>
          <p:nvPr/>
        </p:nvSpPr>
        <p:spPr>
          <a:xfrm>
            <a:off x="3739896" y="4197096"/>
            <a:ext cx="1152144" cy="585216"/>
          </a:xfrm>
          <a:prstGeom prst="roundRect">
            <a:avLst>
              <a:gd name="adj" fmla="val 9375"/>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3794759" y="4215383"/>
            <a:ext cx="1051560" cy="548640"/>
          </a:xfrm>
          <a:prstGeom prst="rect">
            <a:avLst/>
          </a:prstGeom>
          <a:noFill/>
        </p:spPr>
        <p:txBody>
          <a:bodyPr wrap="square" lIns="0" rIns="0" tIns="0" bIns="0" anchor="ctr">
            <a:noAutofit/>
          </a:bodyPr>
          <a:lstStyle/>
          <a:p>
            <a:pPr algn="l">
              <a:spcAft>
                <a:spcPts val="200"/>
              </a:spcAft>
            </a:pPr>
            <a:r>
              <a:rPr sz="680" b="1" i="0">
                <a:solidFill>
                  <a:srgbClr val="188038"/>
                </a:solidFill>
                <a:latin typeface="Google Sans Flex"/>
                <a:ea typeface="Google Sans Flex"/>
                <a:cs typeface="Google Sans Flex"/>
              </a:rPr>
              <a:t>3  </a:t>
            </a:r>
            <a:r>
              <a:rPr sz="680" b="0" i="0">
                <a:solidFill>
                  <a:srgbClr val="202124"/>
                </a:solidFill>
                <a:latin typeface="Google Sans Flex"/>
                <a:ea typeface="Google Sans Flex"/>
                <a:cs typeface="Google Sans Flex"/>
              </a:rPr>
              <a:t>Open3D TSDF surface fusion</a:t>
            </a:r>
          </a:p>
        </p:txBody>
      </p:sp>
      <p:cxnSp>
        <p:nvCxnSpPr>
          <p:cNvPr id="157" name="Connector 156"/>
          <p:cNvCxnSpPr/>
          <p:nvPr/>
        </p:nvCxnSpPr>
        <p:spPr>
          <a:xfrm>
            <a:off x="4892040" y="4489704"/>
            <a:ext cx="109728" cy="0"/>
          </a:xfrm>
          <a:prstGeom prst="line">
            <a:avLst/>
          </a:prstGeom>
          <a:ln w="12700">
            <a:solidFill>
              <a:srgbClr val="188038"/>
            </a:solidFill>
            <a:tailEnd type="triangle"/>
          </a:ln>
        </p:spPr>
        <p:style>
          <a:lnRef idx="2">
            <a:schemeClr val="accent1"/>
          </a:lnRef>
          <a:fillRef idx="0">
            <a:schemeClr val="accent1"/>
          </a:fillRef>
          <a:effectRef idx="1">
            <a:schemeClr val="accent1"/>
          </a:effectRef>
          <a:fontRef idx="minor">
            <a:schemeClr val="tx1"/>
          </a:fontRef>
        </p:style>
      </p:cxnSp>
      <p:sp>
        <p:nvSpPr>
          <p:cNvPr id="158" name="Rounded Rectangle 157"/>
          <p:cNvSpPr/>
          <p:nvPr/>
        </p:nvSpPr>
        <p:spPr>
          <a:xfrm>
            <a:off x="5001768" y="4197096"/>
            <a:ext cx="1152144" cy="585216"/>
          </a:xfrm>
          <a:prstGeom prst="roundRect">
            <a:avLst>
              <a:gd name="adj" fmla="val 9375"/>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5056631" y="4215383"/>
            <a:ext cx="1051560" cy="548640"/>
          </a:xfrm>
          <a:prstGeom prst="rect">
            <a:avLst/>
          </a:prstGeom>
          <a:noFill/>
        </p:spPr>
        <p:txBody>
          <a:bodyPr wrap="square" lIns="0" rIns="0" tIns="0" bIns="0" anchor="ctr">
            <a:noAutofit/>
          </a:bodyPr>
          <a:lstStyle/>
          <a:p>
            <a:pPr algn="l">
              <a:spcAft>
                <a:spcPts val="200"/>
              </a:spcAft>
            </a:pPr>
            <a:r>
              <a:rPr sz="680" b="1" i="0">
                <a:solidFill>
                  <a:srgbClr val="188038"/>
                </a:solidFill>
                <a:latin typeface="Google Sans Flex"/>
                <a:ea typeface="Google Sans Flex"/>
                <a:cs typeface="Google Sans Flex"/>
              </a:rPr>
              <a:t>4  </a:t>
            </a:r>
            <a:r>
              <a:rPr sz="680" b="0" i="0">
                <a:solidFill>
                  <a:srgbClr val="202124"/>
                </a:solidFill>
                <a:latin typeface="Google Sans Flex"/>
                <a:ea typeface="Google Sans Flex"/>
                <a:cs typeface="Google Sans Flex"/>
              </a:rPr>
              <a:t>Walls, floor, doors; Gemini names objects</a:t>
            </a:r>
          </a:p>
        </p:txBody>
      </p:sp>
      <p:cxnSp>
        <p:nvCxnSpPr>
          <p:cNvPr id="160" name="Connector 159"/>
          <p:cNvCxnSpPr/>
          <p:nvPr/>
        </p:nvCxnSpPr>
        <p:spPr>
          <a:xfrm>
            <a:off x="6153912" y="4489704"/>
            <a:ext cx="109728" cy="0"/>
          </a:xfrm>
          <a:prstGeom prst="line">
            <a:avLst/>
          </a:prstGeom>
          <a:ln w="12700">
            <a:solidFill>
              <a:srgbClr val="188038"/>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6263640" y="4197096"/>
            <a:ext cx="1152144" cy="585216"/>
          </a:xfrm>
          <a:prstGeom prst="roundRect">
            <a:avLst>
              <a:gd name="adj" fmla="val 9375"/>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318503" y="4215383"/>
            <a:ext cx="1051560" cy="548640"/>
          </a:xfrm>
          <a:prstGeom prst="rect">
            <a:avLst/>
          </a:prstGeom>
          <a:noFill/>
        </p:spPr>
        <p:txBody>
          <a:bodyPr wrap="square" lIns="0" rIns="0" tIns="0" bIns="0" anchor="ctr">
            <a:noAutofit/>
          </a:bodyPr>
          <a:lstStyle/>
          <a:p>
            <a:pPr algn="l">
              <a:spcAft>
                <a:spcPts val="200"/>
              </a:spcAft>
            </a:pPr>
            <a:r>
              <a:rPr sz="680" b="1" i="0">
                <a:solidFill>
                  <a:srgbClr val="188038"/>
                </a:solidFill>
                <a:latin typeface="Google Sans Flex"/>
                <a:ea typeface="Google Sans Flex"/>
                <a:cs typeface="Google Sans Flex"/>
              </a:rPr>
              <a:t>5  </a:t>
            </a:r>
            <a:r>
              <a:rPr sz="680" b="0" i="0">
                <a:solidFill>
                  <a:srgbClr val="202124"/>
                </a:solidFill>
                <a:latin typeface="Google Sans Flex"/>
                <a:ea typeface="Google Sans Flex"/>
                <a:cs typeface="Google Sans Flex"/>
              </a:rPr>
              <a:t>10 cm coverage + AI keyframes</a:t>
            </a:r>
          </a:p>
        </p:txBody>
      </p:sp>
      <p:cxnSp>
        <p:nvCxnSpPr>
          <p:cNvPr id="163" name="Connector 162"/>
          <p:cNvCxnSpPr/>
          <p:nvPr/>
        </p:nvCxnSpPr>
        <p:spPr>
          <a:xfrm>
            <a:off x="7415783" y="4489704"/>
            <a:ext cx="109729" cy="0"/>
          </a:xfrm>
          <a:prstGeom prst="line">
            <a:avLst/>
          </a:prstGeom>
          <a:ln w="12700">
            <a:solidFill>
              <a:srgbClr val="188038"/>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7525512" y="4197096"/>
            <a:ext cx="1152144" cy="585216"/>
          </a:xfrm>
          <a:prstGeom prst="roundRect">
            <a:avLst>
              <a:gd name="adj" fmla="val 9375"/>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7580376" y="4215383"/>
            <a:ext cx="1051560" cy="548640"/>
          </a:xfrm>
          <a:prstGeom prst="rect">
            <a:avLst/>
          </a:prstGeom>
          <a:noFill/>
        </p:spPr>
        <p:txBody>
          <a:bodyPr wrap="square" lIns="0" rIns="0" tIns="0" bIns="0" anchor="ctr">
            <a:noAutofit/>
          </a:bodyPr>
          <a:lstStyle/>
          <a:p>
            <a:pPr algn="l">
              <a:spcAft>
                <a:spcPts val="200"/>
              </a:spcAft>
            </a:pPr>
            <a:r>
              <a:rPr sz="680" b="1" i="0">
                <a:solidFill>
                  <a:srgbClr val="188038"/>
                </a:solidFill>
                <a:latin typeface="Google Sans Flex"/>
                <a:ea typeface="Google Sans Flex"/>
                <a:cs typeface="Google Sans Flex"/>
              </a:rPr>
              <a:t>6  </a:t>
            </a:r>
            <a:r>
              <a:rPr sz="680" b="0" i="0">
                <a:solidFill>
                  <a:srgbClr val="202124"/>
                </a:solidFill>
                <a:latin typeface="Google Sans Flex"/>
                <a:ea typeface="Google Sans Flex"/>
                <a:cs typeface="Google Sans Flex"/>
              </a:rPr>
              <a:t>Keyframes → keyframe pipeline; pins in 3D</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Actual product screens: an inspection app built for underwriters</a:t>
            </a:r>
          </a:p>
        </p:txBody>
      </p:sp>
      <p:pic>
        <p:nvPicPr>
          <p:cNvPr id="105" name="Picture 104" descr="s16_570.jpg"/>
          <p:cNvPicPr>
            <a:picLocks noChangeAspect="1"/>
          </p:cNvPicPr>
          <p:nvPr/>
        </p:nvPicPr>
        <p:blipFill>
          <a:blip r:embed="rId5"/>
          <a:stretch>
            <a:fillRect/>
          </a:stretch>
        </p:blipFill>
        <p:spPr>
          <a:xfrm>
            <a:off x="347472" y="1384662"/>
            <a:ext cx="4572000" cy="3174274"/>
          </a:xfrm>
          <a:prstGeom prst="rect">
            <a:avLst/>
          </a:prstGeom>
          <a:ln w="9525">
            <a:solidFill>
              <a:srgbClr val="DADCE0"/>
            </a:solidFill>
          </a:ln>
        </p:spPr>
      </p:pic>
      <p:sp>
        <p:nvSpPr>
          <p:cNvPr id="106" name="TextBox 105"/>
          <p:cNvSpPr txBox="1"/>
          <p:nvPr/>
        </p:nvSpPr>
        <p:spPr>
          <a:xfrm>
            <a:off x="347472" y="4595513"/>
            <a:ext cx="4572000" cy="182880"/>
          </a:xfrm>
          <a:prstGeom prst="rect">
            <a:avLst/>
          </a:prstGeom>
          <a:noFill/>
        </p:spPr>
        <p:txBody>
          <a:bodyPr wrap="square" lIns="0" rIns="0" tIns="0" bIns="0" anchor="t">
            <a:noAutofit/>
          </a:bodyPr>
          <a:lstStyle/>
          <a:p>
            <a:pPr algn="l">
              <a:spcAft>
                <a:spcPts val="200"/>
              </a:spcAft>
            </a:pPr>
            <a:r>
              <a:rPr sz="750" b="0" i="1">
                <a:solidFill>
                  <a:srgbClr val="5F6368"/>
                </a:solidFill>
                <a:latin typeface="Google Sans Flex"/>
                <a:ea typeface="Google Sans Flex"/>
                <a:cs typeface="Google Sans Flex"/>
              </a:rPr>
              <a:t>Dashboard: walkthroughs, repair exposure, referrals, coverage and condition grades across the book</a:t>
            </a:r>
          </a:p>
        </p:txBody>
      </p:sp>
      <p:pic>
        <p:nvPicPr>
          <p:cNvPr id="107" name="Picture 106" descr="s16_572.jpg"/>
          <p:cNvPicPr>
            <a:picLocks noChangeAspect="1"/>
          </p:cNvPicPr>
          <p:nvPr/>
        </p:nvPicPr>
        <p:blipFill>
          <a:blip r:embed="rId6"/>
          <a:stretch>
            <a:fillRect/>
          </a:stretch>
        </p:blipFill>
        <p:spPr>
          <a:xfrm>
            <a:off x="5120640" y="1372939"/>
            <a:ext cx="3675887" cy="2475345"/>
          </a:xfrm>
          <a:prstGeom prst="rect">
            <a:avLst/>
          </a:prstGeom>
          <a:ln w="9525">
            <a:solidFill>
              <a:srgbClr val="DADCE0"/>
            </a:solidFill>
          </a:ln>
        </p:spPr>
      </p:pic>
      <p:sp>
        <p:nvSpPr>
          <p:cNvPr id="108" name="TextBox 107"/>
          <p:cNvSpPr txBox="1"/>
          <p:nvPr/>
        </p:nvSpPr>
        <p:spPr>
          <a:xfrm>
            <a:off x="5120640" y="3884860"/>
            <a:ext cx="3675887" cy="182880"/>
          </a:xfrm>
          <a:prstGeom prst="rect">
            <a:avLst/>
          </a:prstGeom>
          <a:noFill/>
        </p:spPr>
        <p:txBody>
          <a:bodyPr wrap="square" lIns="0" rIns="0" tIns="0" bIns="0" anchor="t">
            <a:noAutofit/>
          </a:bodyPr>
          <a:lstStyle/>
          <a:p>
            <a:pPr algn="l">
              <a:spcAft>
                <a:spcPts val="200"/>
              </a:spcAft>
            </a:pPr>
            <a:r>
              <a:rPr sz="750" b="0" i="1">
                <a:solidFill>
                  <a:srgbClr val="5F6368"/>
                </a:solidFill>
                <a:latin typeface="Google Sans Flex"/>
                <a:ea typeface="Google Sans Flex"/>
                <a:cs typeface="Google Sans Flex"/>
              </a:rPr>
              <a:t>Video walkthrough: live 3D-scan progress while the video is processed</a:t>
            </a:r>
          </a:p>
        </p:txBody>
      </p:sp>
      <p:sp>
        <p:nvSpPr>
          <p:cNvPr id="109" name="TextBox 108"/>
          <p:cNvSpPr txBox="1"/>
          <p:nvPr/>
        </p:nvSpPr>
        <p:spPr>
          <a:xfrm>
            <a:off x="5120640" y="4114800"/>
            <a:ext cx="3675887" cy="822960"/>
          </a:xfrm>
          <a:prstGeom prst="rect">
            <a:avLst/>
          </a:prstGeom>
          <a:noFill/>
        </p:spPr>
        <p:txBody>
          <a:bodyPr wrap="square" lIns="0" rIns="0" tIns="0" bIns="0" anchor="t">
            <a:noAutofit/>
          </a:bodyPr>
          <a:lstStyle/>
          <a:p>
            <a:pPr algn="l" marL="128016" indent="-128016">
              <a:spcAft>
                <a:spcPts val="200"/>
              </a:spcAft>
              <a:buClr>
                <a:srgbClr val="1A73E8"/>
              </a:buClr>
              <a:buFont typeface="Arial"/>
              <a:buChar char="•"/>
            </a:pPr>
            <a:r>
              <a:rPr sz="800" b="0" i="0">
                <a:solidFill>
                  <a:srgbClr val="202124"/>
                </a:solidFill>
                <a:latin typeface="Google Sans Flex"/>
                <a:ea typeface="Google Sans Flex"/>
                <a:cs typeface="Google Sans Flex"/>
              </a:rPr>
              <a:t>Dashboard → Video walkthroughs → 3D report → Ask Gemini</a:t>
            </a:r>
          </a:p>
          <a:p>
            <a:pPr algn="l" marL="128016" indent="-128016">
              <a:spcAft>
                <a:spcPts val="200"/>
              </a:spcAft>
              <a:buClr>
                <a:srgbClr val="1A73E8"/>
              </a:buClr>
              <a:buFont typeface="Arial"/>
              <a:buChar char="•"/>
            </a:pPr>
            <a:r>
              <a:rPr sz="800" b="0" i="0">
                <a:solidFill>
                  <a:srgbClr val="202124"/>
                </a:solidFill>
                <a:latin typeface="Google Sans Flex"/>
                <a:ea typeface="Google Sans Flex"/>
                <a:cs typeface="Google Sans Flex"/>
              </a:rPr>
              <a:t>Video upload with a live 3D-scan view, Lite or Advanced</a:t>
            </a:r>
          </a:p>
          <a:p>
            <a:pPr algn="l" marL="128016" indent="-128016">
              <a:spcAft>
                <a:spcPts val="200"/>
              </a:spcAft>
              <a:buClr>
                <a:srgbClr val="1A73E8"/>
              </a:buClr>
              <a:buFont typeface="Arial"/>
              <a:buChar char="•"/>
            </a:pPr>
            <a:r>
              <a:rPr sz="800" b="0" i="0">
                <a:solidFill>
                  <a:srgbClr val="202124"/>
                </a:solidFill>
                <a:latin typeface="Google Sans Flex"/>
                <a:ea typeface="Google Sans Flex"/>
                <a:cs typeface="Google Sans Flex"/>
              </a:rPr>
              <a:t>Interactive 3D viewer: walk inside, see coverage gaps</a:t>
            </a:r>
          </a:p>
          <a:p>
            <a:pPr algn="l" marL="128016" indent="-128016">
              <a:spcAft>
                <a:spcPts val="200"/>
              </a:spcAft>
              <a:buClr>
                <a:srgbClr val="1A73E8"/>
              </a:buClr>
              <a:buFont typeface="Arial"/>
              <a:buChar char="•"/>
            </a:pPr>
            <a:r>
              <a:rPr sz="800" b="0" i="0">
                <a:solidFill>
                  <a:srgbClr val="202124"/>
                </a:solidFill>
                <a:latin typeface="Google Sans Flex"/>
                <a:ea typeface="Google Sans Flex"/>
                <a:cs typeface="Google Sans Flex"/>
              </a:rPr>
              <a:t>Reports in HTML, Markdown, JSON; REST API at /docs</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One Cloud Run service, powered by Gemini on Vertex AI</a:t>
            </a:r>
          </a:p>
        </p:txBody>
      </p:sp>
      <p:sp>
        <p:nvSpPr>
          <p:cNvPr id="113" name="TextBox 112"/>
          <p:cNvSpPr txBox="1"/>
          <p:nvPr/>
        </p:nvSpPr>
        <p:spPr>
          <a:xfrm>
            <a:off x="347472" y="1325880"/>
            <a:ext cx="1554480" cy="182880"/>
          </a:xfrm>
          <a:prstGeom prst="rect">
            <a:avLst/>
          </a:prstGeom>
          <a:noFill/>
        </p:spPr>
        <p:txBody>
          <a:bodyPr wrap="square" lIns="0" rIns="0" tIns="0" bIns="0" anchor="t">
            <a:noAutofit/>
          </a:bodyPr>
          <a:lstStyle/>
          <a:p>
            <a:pPr algn="l">
              <a:spcAft>
                <a:spcPts val="200"/>
              </a:spcAft>
            </a:pPr>
            <a:r>
              <a:rPr sz="750" b="1" i="0">
                <a:solidFill>
                  <a:srgbClr val="5F6368"/>
                </a:solidFill>
                <a:latin typeface="Google Sans Flex"/>
                <a:ea typeface="Google Sans Flex"/>
                <a:cs typeface="Google Sans Flex"/>
              </a:rPr>
              <a:t>USERS</a:t>
            </a:r>
          </a:p>
        </p:txBody>
      </p:sp>
      <p:sp>
        <p:nvSpPr>
          <p:cNvPr id="114" name="Rounded Rectangle 113"/>
          <p:cNvSpPr/>
          <p:nvPr/>
        </p:nvSpPr>
        <p:spPr>
          <a:xfrm>
            <a:off x="347472" y="1554480"/>
            <a:ext cx="1554480" cy="713232"/>
          </a:xfrm>
          <a:prstGeom prst="roundRect">
            <a:avLst>
              <a:gd name="adj" fmla="val 769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00" b="1" i="0">
                <a:solidFill>
                  <a:srgbClr val="202124"/>
                </a:solidFill>
                <a:latin typeface="Google Sans Flex"/>
                <a:ea typeface="Google Sans Flex"/>
                <a:cs typeface="Google Sans Flex"/>
              </a:rPr>
              <a:t>Inspector / owner</a:t>
            </a:r>
          </a:p>
          <a:p>
            <a:pPr algn="l">
              <a:spcAft>
                <a:spcPts val="200"/>
              </a:spcAft>
            </a:pPr>
            <a:r>
              <a:rPr sz="800" b="0" i="0">
                <a:solidFill>
                  <a:srgbClr val="202124"/>
                </a:solidFill>
                <a:latin typeface="Google Sans Flex"/>
                <a:ea typeface="Google Sans Flex"/>
                <a:cs typeface="Google Sans Flex"/>
              </a:rPr>
              <a:t>Phone walkthrough video via the web app</a:t>
            </a:r>
          </a:p>
        </p:txBody>
      </p:sp>
      <p:cxnSp>
        <p:nvCxnSpPr>
          <p:cNvPr id="115" name="Connector 114"/>
          <p:cNvCxnSpPr/>
          <p:nvPr/>
        </p:nvCxnSpPr>
        <p:spPr>
          <a:xfrm>
            <a:off x="1920240" y="1911095"/>
            <a:ext cx="210312" cy="0"/>
          </a:xfrm>
          <a:prstGeom prst="line">
            <a:avLst/>
          </a:prstGeom>
          <a:ln w="15875">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347472" y="2423160"/>
            <a:ext cx="1554480" cy="713232"/>
          </a:xfrm>
          <a:prstGeom prst="roundRect">
            <a:avLst>
              <a:gd name="adj" fmla="val 769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00" b="1" i="0">
                <a:solidFill>
                  <a:srgbClr val="202124"/>
                </a:solidFill>
                <a:latin typeface="Google Sans Flex"/>
                <a:ea typeface="Google Sans Flex"/>
                <a:cs typeface="Google Sans Flex"/>
              </a:rPr>
              <a:t>Underwriter / claims</a:t>
            </a:r>
          </a:p>
          <a:p>
            <a:pPr algn="l">
              <a:spcAft>
                <a:spcPts val="200"/>
              </a:spcAft>
            </a:pPr>
            <a:r>
              <a:rPr sz="800" b="0" i="0">
                <a:solidFill>
                  <a:srgbClr val="202124"/>
                </a:solidFill>
                <a:latin typeface="Google Sans Flex"/>
                <a:ea typeface="Google Sans Flex"/>
                <a:cs typeface="Google Sans Flex"/>
              </a:rPr>
              <a:t>Dashboard, reports, Ask Gemini</a:t>
            </a:r>
          </a:p>
        </p:txBody>
      </p:sp>
      <p:cxnSp>
        <p:nvCxnSpPr>
          <p:cNvPr id="117" name="Connector 116"/>
          <p:cNvCxnSpPr/>
          <p:nvPr/>
        </p:nvCxnSpPr>
        <p:spPr>
          <a:xfrm>
            <a:off x="1920240" y="2779776"/>
            <a:ext cx="210312" cy="0"/>
          </a:xfrm>
          <a:prstGeom prst="line">
            <a:avLst/>
          </a:prstGeom>
          <a:ln w="15875">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347472" y="3291839"/>
            <a:ext cx="1554480" cy="713232"/>
          </a:xfrm>
          <a:prstGeom prst="roundRect">
            <a:avLst>
              <a:gd name="adj" fmla="val 769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00" b="1" i="0">
                <a:solidFill>
                  <a:srgbClr val="202124"/>
                </a:solidFill>
                <a:latin typeface="Google Sans Flex"/>
                <a:ea typeface="Google Sans Flex"/>
                <a:cs typeface="Google Sans Flex"/>
              </a:rPr>
              <a:t>Core systems</a:t>
            </a:r>
          </a:p>
          <a:p>
            <a:pPr algn="l">
              <a:spcAft>
                <a:spcPts val="200"/>
              </a:spcAft>
            </a:pPr>
            <a:r>
              <a:rPr sz="800" b="0" i="0">
                <a:solidFill>
                  <a:srgbClr val="202124"/>
                </a:solidFill>
                <a:latin typeface="Google Sans Flex"/>
                <a:ea typeface="Google Sans Flex"/>
                <a:cs typeface="Google Sans Flex"/>
              </a:rPr>
              <a:t>LOS, policy admin and claims via REST API</a:t>
            </a:r>
          </a:p>
        </p:txBody>
      </p:sp>
      <p:cxnSp>
        <p:nvCxnSpPr>
          <p:cNvPr id="119" name="Connector 118"/>
          <p:cNvCxnSpPr/>
          <p:nvPr/>
        </p:nvCxnSpPr>
        <p:spPr>
          <a:xfrm>
            <a:off x="1920240" y="3648456"/>
            <a:ext cx="210312" cy="0"/>
          </a:xfrm>
          <a:prstGeom prst="line">
            <a:avLst/>
          </a:prstGeom>
          <a:ln w="15875">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20" name="Rounded Rectangle 119"/>
          <p:cNvSpPr/>
          <p:nvPr/>
        </p:nvSpPr>
        <p:spPr>
          <a:xfrm>
            <a:off x="2148840" y="1325880"/>
            <a:ext cx="4224528" cy="3090672"/>
          </a:xfrm>
          <a:prstGeom prst="roundRect">
            <a:avLst>
              <a:gd name="adj" fmla="val 1775"/>
            </a:avLst>
          </a:prstGeom>
          <a:solidFill>
            <a:srgbClr val="E8F0FE"/>
          </a:solidFill>
          <a:ln w="15875">
            <a:solidFill>
              <a:srgbClr val="1A73E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2258568" y="1389888"/>
            <a:ext cx="4023360" cy="201168"/>
          </a:xfrm>
          <a:prstGeom prst="rect">
            <a:avLst/>
          </a:prstGeom>
          <a:noFill/>
        </p:spPr>
        <p:txBody>
          <a:bodyPr wrap="square" lIns="0" rIns="0" tIns="0" bIns="0" anchor="t">
            <a:noAutofit/>
          </a:bodyPr>
          <a:lstStyle/>
          <a:p>
            <a:pPr algn="l">
              <a:spcAft>
                <a:spcPts val="200"/>
              </a:spcAft>
            </a:pPr>
            <a:r>
              <a:rPr sz="900" b="1" i="0">
                <a:solidFill>
                  <a:srgbClr val="1A73E8"/>
                </a:solidFill>
                <a:latin typeface="Google Sans Flex"/>
                <a:ea typeface="Google Sans Flex"/>
                <a:cs typeface="Google Sans Flex"/>
              </a:rPr>
              <a:t>Cloud Run  ·  FastAPI + web UI  ·  NVIDIA L4 GPU</a:t>
            </a:r>
          </a:p>
        </p:txBody>
      </p:sp>
      <p:sp>
        <p:nvSpPr>
          <p:cNvPr id="122" name="Rounded Rectangle 121"/>
          <p:cNvSpPr/>
          <p:nvPr/>
        </p:nvSpPr>
        <p:spPr>
          <a:xfrm>
            <a:off x="2258568" y="1664208"/>
            <a:ext cx="1956816" cy="713232"/>
          </a:xfrm>
          <a:prstGeom prst="roundRect">
            <a:avLst>
              <a:gd name="adj" fmla="val 7692"/>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noAutofit/>
          </a:bodyPr>
          <a:lstStyle/>
          <a:p>
            <a:pPr algn="l">
              <a:spcAft>
                <a:spcPts val="200"/>
              </a:spcAft>
            </a:pPr>
            <a:r>
              <a:rPr sz="800" b="1" i="0">
                <a:solidFill>
                  <a:srgbClr val="202124"/>
                </a:solidFill>
                <a:latin typeface="Google Sans Flex"/>
                <a:ea typeface="Google Sans Flex"/>
                <a:cs typeface="Google Sans Flex"/>
              </a:rPr>
              <a:t>Keyframe pipeline</a:t>
            </a:r>
          </a:p>
          <a:p>
            <a:pPr algn="l">
              <a:spcAft>
                <a:spcPts val="200"/>
              </a:spcAft>
            </a:pPr>
            <a:r>
              <a:rPr sz="800" b="0" i="0">
                <a:solidFill>
                  <a:srgbClr val="202124"/>
                </a:solidFill>
                <a:latin typeface="Google Sans Flex"/>
                <a:ea typeface="Google Sans Flex"/>
                <a:cs typeface="Google Sans Flex"/>
              </a:rPr>
              <a:t>Quality + integrity checks, prompt router, NMS, crops</a:t>
            </a:r>
          </a:p>
        </p:txBody>
      </p:sp>
      <p:sp>
        <p:nvSpPr>
          <p:cNvPr id="123" name="Rounded Rectangle 122"/>
          <p:cNvSpPr/>
          <p:nvPr/>
        </p:nvSpPr>
        <p:spPr>
          <a:xfrm>
            <a:off x="4288536" y="1664208"/>
            <a:ext cx="1956816" cy="713232"/>
          </a:xfrm>
          <a:prstGeom prst="roundRect">
            <a:avLst>
              <a:gd name="adj" fmla="val 7692"/>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noAutofit/>
          </a:bodyPr>
          <a:lstStyle/>
          <a:p>
            <a:pPr algn="l">
              <a:spcAft>
                <a:spcPts val="200"/>
              </a:spcAft>
            </a:pPr>
            <a:r>
              <a:rPr sz="800" b="1" i="0">
                <a:solidFill>
                  <a:srgbClr val="202124"/>
                </a:solidFill>
                <a:latin typeface="Google Sans Flex"/>
                <a:ea typeface="Google Sans Flex"/>
                <a:cs typeface="Google Sans Flex"/>
              </a:rPr>
              <a:t>Local GPU models</a:t>
            </a:r>
          </a:p>
          <a:p>
            <a:pPr algn="l">
              <a:spcAft>
                <a:spcPts val="200"/>
              </a:spcAft>
            </a:pPr>
            <a:r>
              <a:rPr sz="800" b="0" i="0">
                <a:solidFill>
                  <a:srgbClr val="202124"/>
                </a:solidFill>
                <a:latin typeface="Google Sans Flex"/>
                <a:ea typeface="Google Sans Flex"/>
                <a:cs typeface="Google Sans Flex"/>
              </a:rPr>
              <a:t>LocateAnything-3B (boxes) · Gemma 4 E4B (verify), llama.cpp</a:t>
            </a:r>
          </a:p>
        </p:txBody>
      </p:sp>
      <p:sp>
        <p:nvSpPr>
          <p:cNvPr id="124" name="Rounded Rectangle 123"/>
          <p:cNvSpPr/>
          <p:nvPr/>
        </p:nvSpPr>
        <p:spPr>
          <a:xfrm>
            <a:off x="2258568" y="2450592"/>
            <a:ext cx="1956816" cy="713232"/>
          </a:xfrm>
          <a:prstGeom prst="roundRect">
            <a:avLst>
              <a:gd name="adj" fmla="val 7692"/>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noAutofit/>
          </a:bodyPr>
          <a:lstStyle/>
          <a:p>
            <a:pPr algn="l">
              <a:spcAft>
                <a:spcPts val="200"/>
              </a:spcAft>
            </a:pPr>
            <a:r>
              <a:rPr sz="800" b="1" i="0">
                <a:solidFill>
                  <a:srgbClr val="202124"/>
                </a:solidFill>
                <a:latin typeface="Google Sans Flex"/>
                <a:ea typeface="Google Sans Flex"/>
                <a:cs typeface="Google Sans Flex"/>
              </a:rPr>
              <a:t>3D engine</a:t>
            </a:r>
          </a:p>
          <a:p>
            <a:pPr algn="l">
              <a:spcAft>
                <a:spcPts val="200"/>
              </a:spcAft>
            </a:pPr>
            <a:r>
              <a:rPr sz="800" b="0" i="0">
                <a:solidFill>
                  <a:srgbClr val="202124"/>
                </a:solidFill>
                <a:latin typeface="Google Sans Flex"/>
                <a:ea typeface="Google Sans Flex"/>
                <a:cs typeface="Google Sans Flex"/>
              </a:rPr>
              <a:t>Depth Anything 3 + OpenCV 5 SLAM + Open3D TSDF</a:t>
            </a:r>
          </a:p>
        </p:txBody>
      </p:sp>
      <p:sp>
        <p:nvSpPr>
          <p:cNvPr id="125" name="Rounded Rectangle 124"/>
          <p:cNvSpPr/>
          <p:nvPr/>
        </p:nvSpPr>
        <p:spPr>
          <a:xfrm>
            <a:off x="4288536" y="2450592"/>
            <a:ext cx="1956816" cy="713232"/>
          </a:xfrm>
          <a:prstGeom prst="roundRect">
            <a:avLst>
              <a:gd name="adj" fmla="val 7692"/>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noAutofit/>
          </a:bodyPr>
          <a:lstStyle/>
          <a:p>
            <a:pPr algn="l">
              <a:spcAft>
                <a:spcPts val="200"/>
              </a:spcAft>
            </a:pPr>
            <a:r>
              <a:rPr sz="800" b="1" i="0">
                <a:solidFill>
                  <a:srgbClr val="202124"/>
                </a:solidFill>
                <a:latin typeface="Google Sans Flex"/>
                <a:ea typeface="Google Sans Flex"/>
                <a:cs typeface="Google Sans Flex"/>
              </a:rPr>
              <a:t>Coverage + 3D pins</a:t>
            </a:r>
          </a:p>
          <a:p>
            <a:pPr algn="l">
              <a:spcAft>
                <a:spcPts val="200"/>
              </a:spcAft>
            </a:pPr>
            <a:r>
              <a:rPr sz="800" b="0" i="0">
                <a:solidFill>
                  <a:srgbClr val="202124"/>
                </a:solidFill>
                <a:latin typeface="Google Sans Flex"/>
                <a:ea typeface="Google Sans Flex"/>
                <a:cs typeface="Google Sans Flex"/>
              </a:rPr>
              <a:t>10 cm surface coverage, keyframe set cover, GLB</a:t>
            </a:r>
          </a:p>
        </p:txBody>
      </p:sp>
      <p:sp>
        <p:nvSpPr>
          <p:cNvPr id="126" name="Rounded Rectangle 125"/>
          <p:cNvSpPr/>
          <p:nvPr/>
        </p:nvSpPr>
        <p:spPr>
          <a:xfrm>
            <a:off x="2258568" y="3273552"/>
            <a:ext cx="3986784" cy="1042415"/>
          </a:xfrm>
          <a:prstGeom prst="roundRect">
            <a:avLst>
              <a:gd name="adj" fmla="val 5263"/>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50" b="1" i="0">
                <a:solidFill>
                  <a:srgbClr val="E37400"/>
                </a:solidFill>
                <a:latin typeface="Google Sans Flex"/>
                <a:ea typeface="Google Sans Flex"/>
                <a:cs typeface="Google Sans Flex"/>
              </a:rPr>
              <a:t>Rule &amp; risk engine (YAML) + Gemini</a:t>
            </a:r>
          </a:p>
          <a:p>
            <a:pPr algn="l">
              <a:spcAft>
                <a:spcPts val="200"/>
              </a:spcAft>
            </a:pPr>
            <a:r>
              <a:rPr sz="850" b="0" i="0">
                <a:solidFill>
                  <a:srgbClr val="202124"/>
                </a:solidFill>
                <a:latin typeface="Google Sans Flex"/>
                <a:ea typeface="Google Sans Flex"/>
                <a:cs typeface="Google Sans Flex"/>
              </a:rPr>
              <a:t>DETECTED / NEEDS_REVIEW · grade A–E · perils · repair cost · valuation · premium · decision, explained by Gemini</a:t>
            </a:r>
          </a:p>
        </p:txBody>
      </p:sp>
      <p:sp>
        <p:nvSpPr>
          <p:cNvPr id="127" name="TextBox 126"/>
          <p:cNvSpPr txBox="1"/>
          <p:nvPr/>
        </p:nvSpPr>
        <p:spPr>
          <a:xfrm>
            <a:off x="6583680" y="1325880"/>
            <a:ext cx="2194560" cy="182880"/>
          </a:xfrm>
          <a:prstGeom prst="rect">
            <a:avLst/>
          </a:prstGeom>
          <a:noFill/>
        </p:spPr>
        <p:txBody>
          <a:bodyPr wrap="square" lIns="0" rIns="0" tIns="0" bIns="0" anchor="t">
            <a:noAutofit/>
          </a:bodyPr>
          <a:lstStyle/>
          <a:p>
            <a:pPr algn="l">
              <a:spcAft>
                <a:spcPts val="200"/>
              </a:spcAft>
            </a:pPr>
            <a:r>
              <a:rPr sz="750" b="1" i="0">
                <a:solidFill>
                  <a:srgbClr val="5F6368"/>
                </a:solidFill>
                <a:latin typeface="Google Sans Flex"/>
                <a:ea typeface="Google Sans Flex"/>
                <a:cs typeface="Google Sans Flex"/>
              </a:rPr>
              <a:t>GOOGLE CLOUD SERVICES</a:t>
            </a:r>
          </a:p>
        </p:txBody>
      </p:sp>
      <p:sp>
        <p:nvSpPr>
          <p:cNvPr id="128" name="Rounded Rectangle 127"/>
          <p:cNvSpPr/>
          <p:nvPr/>
        </p:nvSpPr>
        <p:spPr>
          <a:xfrm>
            <a:off x="6583680" y="1554480"/>
            <a:ext cx="2212848" cy="621792"/>
          </a:xfrm>
          <a:prstGeom prst="roundRect">
            <a:avLst>
              <a:gd name="adj" fmla="val 8823"/>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00" b="1" i="0">
                <a:solidFill>
                  <a:srgbClr val="202124"/>
                </a:solidFill>
                <a:latin typeface="Google Sans Flex"/>
                <a:ea typeface="Google Sans Flex"/>
                <a:cs typeface="Google Sans Flex"/>
              </a:rPr>
              <a:t>Gemini 3.8 Flash · Vertex AI</a:t>
            </a:r>
          </a:p>
          <a:p>
            <a:pPr algn="l">
              <a:spcAft>
                <a:spcPts val="200"/>
              </a:spcAft>
            </a:pPr>
            <a:r>
              <a:rPr sz="800" b="0" i="0">
                <a:solidFill>
                  <a:srgbClr val="202124"/>
                </a:solidFill>
                <a:latin typeface="Google Sans Flex"/>
                <a:ea typeface="Google Sans Flex"/>
                <a:cs typeface="Google Sans Flex"/>
              </a:rPr>
              <a:t>Scene, authenticity, object names, analysis, Q&amp;A</a:t>
            </a:r>
          </a:p>
        </p:txBody>
      </p:sp>
      <p:cxnSp>
        <p:nvCxnSpPr>
          <p:cNvPr id="129" name="Connector 128"/>
          <p:cNvCxnSpPr/>
          <p:nvPr/>
        </p:nvCxnSpPr>
        <p:spPr>
          <a:xfrm>
            <a:off x="6382512" y="1865376"/>
            <a:ext cx="182880" cy="0"/>
          </a:xfrm>
          <a:prstGeom prst="line">
            <a:avLst/>
          </a:prstGeom>
          <a:ln w="15875">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0" name="Rounded Rectangle 129"/>
          <p:cNvSpPr/>
          <p:nvPr/>
        </p:nvSpPr>
        <p:spPr>
          <a:xfrm>
            <a:off x="6583680" y="2276856"/>
            <a:ext cx="2212848" cy="621792"/>
          </a:xfrm>
          <a:prstGeom prst="roundRect">
            <a:avLst>
              <a:gd name="adj" fmla="val 8823"/>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00" b="1" i="0">
                <a:solidFill>
                  <a:srgbClr val="202124"/>
                </a:solidFill>
                <a:latin typeface="Google Sans Flex"/>
                <a:ea typeface="Google Sans Flex"/>
                <a:cs typeface="Google Sans Flex"/>
              </a:rPr>
              <a:t>Cloud Storage (FUSE)</a:t>
            </a:r>
          </a:p>
          <a:p>
            <a:pPr algn="l">
              <a:spcAft>
                <a:spcPts val="200"/>
              </a:spcAft>
            </a:pPr>
            <a:r>
              <a:rPr sz="800" b="0" i="0">
                <a:solidFill>
                  <a:srgbClr val="202124"/>
                </a:solidFill>
                <a:latin typeface="Google Sans Flex"/>
                <a:ea typeface="Google Sans Flex"/>
                <a:cs typeface="Google Sans Flex"/>
              </a:rPr>
              <a:t>Uploads, reports, GLB models, maps</a:t>
            </a:r>
          </a:p>
        </p:txBody>
      </p:sp>
      <p:cxnSp>
        <p:nvCxnSpPr>
          <p:cNvPr id="131" name="Connector 130"/>
          <p:cNvCxnSpPr/>
          <p:nvPr/>
        </p:nvCxnSpPr>
        <p:spPr>
          <a:xfrm>
            <a:off x="6382512" y="2587752"/>
            <a:ext cx="182880" cy="0"/>
          </a:xfrm>
          <a:prstGeom prst="line">
            <a:avLst/>
          </a:prstGeom>
          <a:ln w="15875">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2" name="Rounded Rectangle 131"/>
          <p:cNvSpPr/>
          <p:nvPr/>
        </p:nvSpPr>
        <p:spPr>
          <a:xfrm>
            <a:off x="6583680" y="2999232"/>
            <a:ext cx="2212848" cy="621792"/>
          </a:xfrm>
          <a:prstGeom prst="roundRect">
            <a:avLst>
              <a:gd name="adj" fmla="val 8823"/>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00" b="1" i="0">
                <a:solidFill>
                  <a:srgbClr val="202124"/>
                </a:solidFill>
                <a:latin typeface="Google Sans Flex"/>
                <a:ea typeface="Google Sans Flex"/>
                <a:cs typeface="Google Sans Flex"/>
              </a:rPr>
              <a:t>BigQuery</a:t>
            </a:r>
          </a:p>
          <a:p>
            <a:pPr algn="l">
              <a:spcAft>
                <a:spcPts val="200"/>
              </a:spcAft>
            </a:pPr>
            <a:r>
              <a:rPr sz="800" b="0" i="0">
                <a:solidFill>
                  <a:srgbClr val="202124"/>
                </a:solidFill>
                <a:latin typeface="Google Sans Flex"/>
                <a:ea typeface="Google Sans Flex"/>
                <a:cs typeface="Google Sans Flex"/>
              </a:rPr>
              <a:t>property_risk.inspections for portfolio analytics</a:t>
            </a:r>
          </a:p>
        </p:txBody>
      </p:sp>
      <p:cxnSp>
        <p:nvCxnSpPr>
          <p:cNvPr id="133" name="Connector 132"/>
          <p:cNvCxnSpPr/>
          <p:nvPr/>
        </p:nvCxnSpPr>
        <p:spPr>
          <a:xfrm>
            <a:off x="6382512" y="3310128"/>
            <a:ext cx="182880" cy="0"/>
          </a:xfrm>
          <a:prstGeom prst="line">
            <a:avLst/>
          </a:prstGeom>
          <a:ln w="15875">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4" name="Rounded Rectangle 133"/>
          <p:cNvSpPr/>
          <p:nvPr/>
        </p:nvSpPr>
        <p:spPr>
          <a:xfrm>
            <a:off x="6583680" y="3721608"/>
            <a:ext cx="2212848" cy="621792"/>
          </a:xfrm>
          <a:prstGeom prst="roundRect">
            <a:avLst>
              <a:gd name="adj" fmla="val 8823"/>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00" b="1" i="0">
                <a:solidFill>
                  <a:srgbClr val="202124"/>
                </a:solidFill>
                <a:latin typeface="Google Sans Flex"/>
                <a:ea typeface="Google Sans Flex"/>
                <a:cs typeface="Google Sans Flex"/>
              </a:rPr>
              <a:t>Pub/Sub</a:t>
            </a:r>
          </a:p>
          <a:p>
            <a:pPr algn="l">
              <a:spcAft>
                <a:spcPts val="200"/>
              </a:spcAft>
            </a:pPr>
            <a:r>
              <a:rPr sz="800" b="0" i="0">
                <a:solidFill>
                  <a:srgbClr val="202124"/>
                </a:solidFill>
                <a:latin typeface="Google Sans Flex"/>
                <a:ea typeface="Google Sans Flex"/>
                <a:cs typeface="Google Sans Flex"/>
              </a:rPr>
              <a:t>inspection.completed and walkthrough.completed events</a:t>
            </a:r>
          </a:p>
        </p:txBody>
      </p:sp>
      <p:cxnSp>
        <p:nvCxnSpPr>
          <p:cNvPr id="135" name="Connector 134"/>
          <p:cNvCxnSpPr/>
          <p:nvPr/>
        </p:nvCxnSpPr>
        <p:spPr>
          <a:xfrm>
            <a:off x="6382512" y="4032504"/>
            <a:ext cx="182880" cy="0"/>
          </a:xfrm>
          <a:prstGeom prst="line">
            <a:avLst/>
          </a:prstGeom>
          <a:ln w="15875">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6" name="Rounded Rectangle 135"/>
          <p:cNvSpPr/>
          <p:nvPr/>
        </p:nvSpPr>
        <p:spPr>
          <a:xfrm>
            <a:off x="347472" y="4526280"/>
            <a:ext cx="8449056" cy="365760"/>
          </a:xfrm>
          <a:prstGeom prst="roundRect">
            <a:avLst>
              <a:gd name="adj" fmla="val 15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00" b="1" i="0">
                <a:solidFill>
                  <a:srgbClr val="FFFFFF"/>
                </a:solidFill>
                <a:latin typeface="Google Sans Flex"/>
                <a:ea typeface="Google Sans Flex"/>
                <a:cs typeface="Google Sans Flex"/>
              </a:rPr>
              <a:t>Build &amp; ops:  </a:t>
            </a:r>
            <a:r>
              <a:rPr sz="800" b="0" i="0">
                <a:solidFill>
                  <a:srgbClr val="FFFFFF"/>
                </a:solidFill>
                <a:latin typeface="Google Sans Flex"/>
                <a:ea typeface="Google Sans Flex"/>
                <a:cs typeface="Google Sans Flex"/>
              </a:rPr>
              <a:t>Cloud Build + Artifact Registry  ·  least-privilege IAM service account (no API keys in production)  ·  Cloud Logging  ·  one-command deploy.sh  ·  scales to zero</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Built on Google AI and Google Cloud, with best-in-class open models</a:t>
            </a:r>
          </a:p>
        </p:txBody>
      </p:sp>
      <p:sp>
        <p:nvSpPr>
          <p:cNvPr id="121" name="TextBox 120"/>
          <p:cNvSpPr txBox="1"/>
          <p:nvPr/>
        </p:nvSpPr>
        <p:spPr>
          <a:xfrm>
            <a:off x="347472" y="1353312"/>
            <a:ext cx="4114800" cy="182880"/>
          </a:xfrm>
          <a:prstGeom prst="rect">
            <a:avLst/>
          </a:prstGeom>
          <a:noFill/>
        </p:spPr>
        <p:txBody>
          <a:bodyPr wrap="square" lIns="0" rIns="0" tIns="0" bIns="0" anchor="t">
            <a:noAutofit/>
          </a:bodyPr>
          <a:lstStyle/>
          <a:p>
            <a:pPr algn="l">
              <a:spcAft>
                <a:spcPts val="200"/>
              </a:spcAft>
            </a:pPr>
            <a:r>
              <a:rPr sz="750" b="1" i="0">
                <a:solidFill>
                  <a:srgbClr val="1A73E8"/>
                </a:solidFill>
                <a:latin typeface="Google Sans Flex"/>
                <a:ea typeface="Google Sans Flex"/>
                <a:cs typeface="Google Sans Flex"/>
              </a:rPr>
              <a:t>GOOGLE AI &amp; CLOUD, IN THE PROTOTYPE</a:t>
            </a:r>
          </a:p>
        </p:txBody>
      </p:sp>
      <p:sp>
        <p:nvSpPr>
          <p:cNvPr id="122" name="Rounded Rectangle 121"/>
          <p:cNvSpPr/>
          <p:nvPr/>
        </p:nvSpPr>
        <p:spPr>
          <a:xfrm>
            <a:off x="347472" y="1572768"/>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Oval 122"/>
          <p:cNvSpPr/>
          <p:nvPr/>
        </p:nvSpPr>
        <p:spPr>
          <a:xfrm>
            <a:off x="420624" y="1709928"/>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24" name="TextBox 123"/>
          <p:cNvSpPr txBox="1"/>
          <p:nvPr/>
        </p:nvSpPr>
        <p:spPr>
          <a:xfrm>
            <a:off x="731520" y="1627632"/>
            <a:ext cx="1572768"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Gemini on Vertex AI</a:t>
            </a:r>
          </a:p>
        </p:txBody>
      </p:sp>
      <p:sp>
        <p:nvSpPr>
          <p:cNvPr id="125" name="TextBox 124"/>
          <p:cNvSpPr txBox="1"/>
          <p:nvPr/>
        </p:nvSpPr>
        <p:spPr>
          <a:xfrm>
            <a:off x="731520" y="1819656"/>
            <a:ext cx="1572768" cy="27432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Scene, authenticity, analysis, grounded Q&amp;A, 3D object names</a:t>
            </a:r>
          </a:p>
        </p:txBody>
      </p:sp>
      <p:sp>
        <p:nvSpPr>
          <p:cNvPr id="126" name="Rounded Rectangle 125"/>
          <p:cNvSpPr/>
          <p:nvPr/>
        </p:nvSpPr>
        <p:spPr>
          <a:xfrm>
            <a:off x="2423160" y="1572768"/>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Oval 126"/>
          <p:cNvSpPr/>
          <p:nvPr/>
        </p:nvSpPr>
        <p:spPr>
          <a:xfrm>
            <a:off x="2496312" y="1709928"/>
            <a:ext cx="237744" cy="23774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28" name="TextBox 127"/>
          <p:cNvSpPr txBox="1"/>
          <p:nvPr/>
        </p:nvSpPr>
        <p:spPr>
          <a:xfrm>
            <a:off x="2807208" y="1627632"/>
            <a:ext cx="1572768"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Gemma 4 (E4B)</a:t>
            </a:r>
          </a:p>
        </p:txBody>
      </p:sp>
      <p:sp>
        <p:nvSpPr>
          <p:cNvPr id="129" name="TextBox 128"/>
          <p:cNvSpPr txBox="1"/>
          <p:nvPr/>
        </p:nvSpPr>
        <p:spPr>
          <a:xfrm>
            <a:off x="2807208" y="1819656"/>
            <a:ext cx="1572768" cy="27432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Open Google model that verifies every defect crop on the GPU</a:t>
            </a:r>
          </a:p>
        </p:txBody>
      </p:sp>
      <p:sp>
        <p:nvSpPr>
          <p:cNvPr id="130" name="Rounded Rectangle 129"/>
          <p:cNvSpPr/>
          <p:nvPr/>
        </p:nvSpPr>
        <p:spPr>
          <a:xfrm>
            <a:off x="347472" y="2176272"/>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420624" y="2313432"/>
            <a:ext cx="237744" cy="237744"/>
          </a:xfrm>
          <a:prstGeom prst="ellipse">
            <a:avLst/>
          </a:prstGeom>
          <a:solidFill>
            <a:srgbClr val="E374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32" name="TextBox 131"/>
          <p:cNvSpPr txBox="1"/>
          <p:nvPr/>
        </p:nvSpPr>
        <p:spPr>
          <a:xfrm>
            <a:off x="731520" y="2231136"/>
            <a:ext cx="1572768"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Cloud Run + NVIDIA L4</a:t>
            </a:r>
          </a:p>
        </p:txBody>
      </p:sp>
      <p:sp>
        <p:nvSpPr>
          <p:cNvPr id="133" name="TextBox 132"/>
          <p:cNvSpPr txBox="1"/>
          <p:nvPr/>
        </p:nvSpPr>
        <p:spPr>
          <a:xfrm>
            <a:off x="731520" y="2423160"/>
            <a:ext cx="1572768" cy="27432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The whole app in one container; scales to zero</a:t>
            </a:r>
          </a:p>
        </p:txBody>
      </p:sp>
      <p:sp>
        <p:nvSpPr>
          <p:cNvPr id="134" name="Rounded Rectangle 133"/>
          <p:cNvSpPr/>
          <p:nvPr/>
        </p:nvSpPr>
        <p:spPr>
          <a:xfrm>
            <a:off x="2423160" y="2176272"/>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Oval 134"/>
          <p:cNvSpPr/>
          <p:nvPr/>
        </p:nvSpPr>
        <p:spPr>
          <a:xfrm>
            <a:off x="2496312" y="2313432"/>
            <a:ext cx="237744" cy="23774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36" name="TextBox 135"/>
          <p:cNvSpPr txBox="1"/>
          <p:nvPr/>
        </p:nvSpPr>
        <p:spPr>
          <a:xfrm>
            <a:off x="2807208" y="2231136"/>
            <a:ext cx="1572768"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Cloud Storage</a:t>
            </a:r>
          </a:p>
        </p:txBody>
      </p:sp>
      <p:sp>
        <p:nvSpPr>
          <p:cNvPr id="137" name="TextBox 136"/>
          <p:cNvSpPr txBox="1"/>
          <p:nvPr/>
        </p:nvSpPr>
        <p:spPr>
          <a:xfrm>
            <a:off x="2807208" y="2423160"/>
            <a:ext cx="1572768" cy="27432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FUSE-mounted data: uploads, reports, 3D models</a:t>
            </a:r>
          </a:p>
        </p:txBody>
      </p:sp>
      <p:sp>
        <p:nvSpPr>
          <p:cNvPr id="138" name="Rounded Rectangle 137"/>
          <p:cNvSpPr/>
          <p:nvPr/>
        </p:nvSpPr>
        <p:spPr>
          <a:xfrm>
            <a:off x="347472" y="2779776"/>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Oval 138"/>
          <p:cNvSpPr/>
          <p:nvPr/>
        </p:nvSpPr>
        <p:spPr>
          <a:xfrm>
            <a:off x="420624" y="2916936"/>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40" name="TextBox 139"/>
          <p:cNvSpPr txBox="1"/>
          <p:nvPr/>
        </p:nvSpPr>
        <p:spPr>
          <a:xfrm>
            <a:off x="731520" y="2834640"/>
            <a:ext cx="1572768"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BigQuery</a:t>
            </a:r>
          </a:p>
        </p:txBody>
      </p:sp>
      <p:sp>
        <p:nvSpPr>
          <p:cNvPr id="141" name="TextBox 140"/>
          <p:cNvSpPr txBox="1"/>
          <p:nvPr/>
        </p:nvSpPr>
        <p:spPr>
          <a:xfrm>
            <a:off x="731520" y="3026664"/>
            <a:ext cx="1572768" cy="27432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One row per inspection: grade, decision, perils, flags, coverage</a:t>
            </a:r>
          </a:p>
        </p:txBody>
      </p:sp>
      <p:sp>
        <p:nvSpPr>
          <p:cNvPr id="142" name="Rounded Rectangle 141"/>
          <p:cNvSpPr/>
          <p:nvPr/>
        </p:nvSpPr>
        <p:spPr>
          <a:xfrm>
            <a:off x="2423160" y="2779776"/>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Oval 142"/>
          <p:cNvSpPr/>
          <p:nvPr/>
        </p:nvSpPr>
        <p:spPr>
          <a:xfrm>
            <a:off x="2496312" y="2916936"/>
            <a:ext cx="237744" cy="23774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44" name="TextBox 143"/>
          <p:cNvSpPr txBox="1"/>
          <p:nvPr/>
        </p:nvSpPr>
        <p:spPr>
          <a:xfrm>
            <a:off x="2807208" y="2834640"/>
            <a:ext cx="1572768"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Pub/Sub</a:t>
            </a:r>
          </a:p>
        </p:txBody>
      </p:sp>
      <p:sp>
        <p:nvSpPr>
          <p:cNvPr id="145" name="TextBox 144"/>
          <p:cNvSpPr txBox="1"/>
          <p:nvPr/>
        </p:nvSpPr>
        <p:spPr>
          <a:xfrm>
            <a:off x="2807208" y="3026664"/>
            <a:ext cx="1572768" cy="27432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Event-driven hand-off to underwriting and claims</a:t>
            </a:r>
          </a:p>
        </p:txBody>
      </p:sp>
      <p:sp>
        <p:nvSpPr>
          <p:cNvPr id="146" name="Rounded Rectangle 145"/>
          <p:cNvSpPr/>
          <p:nvPr/>
        </p:nvSpPr>
        <p:spPr>
          <a:xfrm>
            <a:off x="347472" y="3383280"/>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Oval 146"/>
          <p:cNvSpPr/>
          <p:nvPr/>
        </p:nvSpPr>
        <p:spPr>
          <a:xfrm>
            <a:off x="420624" y="3520440"/>
            <a:ext cx="237744" cy="237744"/>
          </a:xfrm>
          <a:prstGeom prst="ellipse">
            <a:avLst/>
          </a:prstGeom>
          <a:solidFill>
            <a:srgbClr val="E374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48" name="TextBox 147"/>
          <p:cNvSpPr txBox="1"/>
          <p:nvPr/>
        </p:nvSpPr>
        <p:spPr>
          <a:xfrm>
            <a:off x="731520" y="3438144"/>
            <a:ext cx="1572768"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Cloud Build + Artifact Registry</a:t>
            </a:r>
          </a:p>
        </p:txBody>
      </p:sp>
      <p:sp>
        <p:nvSpPr>
          <p:cNvPr id="149" name="TextBox 148"/>
          <p:cNvSpPr txBox="1"/>
          <p:nvPr/>
        </p:nvSpPr>
        <p:spPr>
          <a:xfrm>
            <a:off x="731520" y="3630168"/>
            <a:ext cx="1572768" cy="27432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Reproducible container build with baked-in models</a:t>
            </a:r>
          </a:p>
        </p:txBody>
      </p:sp>
      <p:sp>
        <p:nvSpPr>
          <p:cNvPr id="150" name="Rounded Rectangle 149"/>
          <p:cNvSpPr/>
          <p:nvPr/>
        </p:nvSpPr>
        <p:spPr>
          <a:xfrm>
            <a:off x="2423160" y="3383280"/>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Oval 150"/>
          <p:cNvSpPr/>
          <p:nvPr/>
        </p:nvSpPr>
        <p:spPr>
          <a:xfrm>
            <a:off x="2496312" y="3520440"/>
            <a:ext cx="237744" cy="23774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800" b="1" i="0">
                <a:solidFill>
                  <a:srgbClr val="FFFFFF"/>
                </a:solidFill>
                <a:latin typeface="Google Sans Flex"/>
                <a:ea typeface="Google Sans Flex"/>
                <a:cs typeface="Google Sans Flex"/>
              </a:rPr>
              <a:t>✓</a:t>
            </a:r>
          </a:p>
        </p:txBody>
      </p:sp>
      <p:sp>
        <p:nvSpPr>
          <p:cNvPr id="152" name="TextBox 151"/>
          <p:cNvSpPr txBox="1"/>
          <p:nvPr/>
        </p:nvSpPr>
        <p:spPr>
          <a:xfrm>
            <a:off x="2807208" y="3438144"/>
            <a:ext cx="1572768"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IAM service account + Logging</a:t>
            </a:r>
          </a:p>
        </p:txBody>
      </p:sp>
      <p:sp>
        <p:nvSpPr>
          <p:cNvPr id="153" name="TextBox 152"/>
          <p:cNvSpPr txBox="1"/>
          <p:nvPr/>
        </p:nvSpPr>
        <p:spPr>
          <a:xfrm>
            <a:off x="2807208" y="3630168"/>
            <a:ext cx="1572768" cy="274320"/>
          </a:xfrm>
          <a:prstGeom prst="rect">
            <a:avLst/>
          </a:prstGeom>
          <a:noFill/>
        </p:spPr>
        <p:txBody>
          <a:bodyPr wrap="square" lIns="0" rIns="0" tIns="0" bIns="0" anchor="t">
            <a:noAutofit/>
          </a:bodyPr>
          <a:lstStyle/>
          <a:p>
            <a:pPr algn="l">
              <a:spcAft>
                <a:spcPts val="200"/>
              </a:spcAft>
            </a:pPr>
            <a:r>
              <a:rPr sz="650" b="0" i="0">
                <a:solidFill>
                  <a:srgbClr val="5F6368"/>
                </a:solidFill>
                <a:latin typeface="Google Sans Flex"/>
                <a:ea typeface="Google Sans Flex"/>
                <a:cs typeface="Google Sans Flex"/>
              </a:rPr>
              <a:t>Least privilege, no keys in production</a:t>
            </a:r>
          </a:p>
        </p:txBody>
      </p:sp>
      <p:sp>
        <p:nvSpPr>
          <p:cNvPr id="154" name="TextBox 153"/>
          <p:cNvSpPr txBox="1"/>
          <p:nvPr/>
        </p:nvSpPr>
        <p:spPr>
          <a:xfrm>
            <a:off x="4617720" y="1353312"/>
            <a:ext cx="2011680" cy="182880"/>
          </a:xfrm>
          <a:prstGeom prst="rect">
            <a:avLst/>
          </a:prstGeom>
          <a:noFill/>
        </p:spPr>
        <p:txBody>
          <a:bodyPr wrap="square" lIns="0" rIns="0" tIns="0" bIns="0" anchor="t">
            <a:noAutofit/>
          </a:bodyPr>
          <a:lstStyle/>
          <a:p>
            <a:pPr algn="l">
              <a:spcAft>
                <a:spcPts val="200"/>
              </a:spcAft>
            </a:pPr>
            <a:r>
              <a:rPr sz="750" b="1" i="0">
                <a:solidFill>
                  <a:srgbClr val="188038"/>
                </a:solidFill>
                <a:latin typeface="Google Sans Flex"/>
                <a:ea typeface="Google Sans Flex"/>
                <a:cs typeface="Google Sans Flex"/>
              </a:rPr>
              <a:t>OPEN MODELS &amp; LIBRARIES</a:t>
            </a:r>
          </a:p>
        </p:txBody>
      </p:sp>
      <p:sp>
        <p:nvSpPr>
          <p:cNvPr id="155" name="TextBox 154"/>
          <p:cNvSpPr txBox="1"/>
          <p:nvPr/>
        </p:nvSpPr>
        <p:spPr>
          <a:xfrm>
            <a:off x="4617720" y="1572768"/>
            <a:ext cx="2057400" cy="29260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LocateAnything-3B</a:t>
            </a:r>
            <a:r>
              <a:rPr sz="650" b="0" i="0">
                <a:solidFill>
                  <a:srgbClr val="5F6368"/>
                </a:solidFill>
                <a:latin typeface="Google Sans Flex"/>
                <a:ea typeface="Google Sans Flex"/>
                <a:cs typeface="Google Sans Flex"/>
              </a:rPr>
              <a:t>  open-vocabulary defect boxes</a:t>
            </a:r>
          </a:p>
        </p:txBody>
      </p:sp>
      <p:sp>
        <p:nvSpPr>
          <p:cNvPr id="156" name="TextBox 155"/>
          <p:cNvSpPr txBox="1"/>
          <p:nvPr/>
        </p:nvSpPr>
        <p:spPr>
          <a:xfrm>
            <a:off x="4617720" y="1874519"/>
            <a:ext cx="2057400" cy="29260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llama.cpp</a:t>
            </a:r>
            <a:r>
              <a:rPr sz="650" b="0" i="0">
                <a:solidFill>
                  <a:srgbClr val="5F6368"/>
                </a:solidFill>
                <a:latin typeface="Google Sans Flex"/>
                <a:ea typeface="Google Sans Flex"/>
                <a:cs typeface="Google Sans Flex"/>
              </a:rPr>
              <a:t>  local GPU inference for Gemma 4</a:t>
            </a:r>
          </a:p>
        </p:txBody>
      </p:sp>
      <p:sp>
        <p:nvSpPr>
          <p:cNvPr id="157" name="TextBox 156"/>
          <p:cNvSpPr txBox="1"/>
          <p:nvPr/>
        </p:nvSpPr>
        <p:spPr>
          <a:xfrm>
            <a:off x="4617720" y="2176272"/>
            <a:ext cx="2057400" cy="29260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Depth Anything 3</a:t>
            </a:r>
            <a:r>
              <a:rPr sz="650" b="0" i="0">
                <a:solidFill>
                  <a:srgbClr val="5F6368"/>
                </a:solidFill>
                <a:latin typeface="Google Sans Flex"/>
                <a:ea typeface="Google Sans Flex"/>
                <a:cs typeface="Google Sans Flex"/>
              </a:rPr>
              <a:t>  monocular depth per frame</a:t>
            </a:r>
          </a:p>
        </p:txBody>
      </p:sp>
      <p:sp>
        <p:nvSpPr>
          <p:cNvPr id="158" name="TextBox 157"/>
          <p:cNvSpPr txBox="1"/>
          <p:nvPr/>
        </p:nvSpPr>
        <p:spPr>
          <a:xfrm>
            <a:off x="4617720" y="2478024"/>
            <a:ext cx="2057400" cy="29260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OpenCV 5</a:t>
            </a:r>
            <a:r>
              <a:rPr sz="650" b="0" i="0">
                <a:solidFill>
                  <a:srgbClr val="5F6368"/>
                </a:solidFill>
                <a:latin typeface="Google Sans Flex"/>
                <a:ea typeface="Google Sans Flex"/>
                <a:cs typeface="Google Sans Flex"/>
              </a:rPr>
              <a:t>  SLAM tracking, ICP, CV evidence</a:t>
            </a:r>
          </a:p>
        </p:txBody>
      </p:sp>
      <p:sp>
        <p:nvSpPr>
          <p:cNvPr id="159" name="TextBox 158"/>
          <p:cNvSpPr txBox="1"/>
          <p:nvPr/>
        </p:nvSpPr>
        <p:spPr>
          <a:xfrm>
            <a:off x="4617720" y="2779776"/>
            <a:ext cx="2057400" cy="29260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Open3D</a:t>
            </a:r>
            <a:r>
              <a:rPr sz="650" b="0" i="0">
                <a:solidFill>
                  <a:srgbClr val="5F6368"/>
                </a:solidFill>
                <a:latin typeface="Google Sans Flex"/>
                <a:ea typeface="Google Sans Flex"/>
                <a:cs typeface="Google Sans Flex"/>
              </a:rPr>
              <a:t>  TSDF fusion, meshes, GLB export</a:t>
            </a:r>
          </a:p>
        </p:txBody>
      </p:sp>
      <p:sp>
        <p:nvSpPr>
          <p:cNvPr id="160" name="TextBox 159"/>
          <p:cNvSpPr txBox="1"/>
          <p:nvPr/>
        </p:nvSpPr>
        <p:spPr>
          <a:xfrm>
            <a:off x="4617720" y="3081528"/>
            <a:ext cx="2057400" cy="29260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gsplat</a:t>
            </a:r>
            <a:r>
              <a:rPr sz="650" b="0" i="0">
                <a:solidFill>
                  <a:srgbClr val="5F6368"/>
                </a:solidFill>
                <a:latin typeface="Google Sans Flex"/>
                <a:ea typeface="Google Sans Flex"/>
                <a:cs typeface="Google Sans Flex"/>
              </a:rPr>
              <a:t>  Gaussian-splatting experiment</a:t>
            </a:r>
          </a:p>
        </p:txBody>
      </p:sp>
      <p:sp>
        <p:nvSpPr>
          <p:cNvPr id="161" name="TextBox 160"/>
          <p:cNvSpPr txBox="1"/>
          <p:nvPr/>
        </p:nvSpPr>
        <p:spPr>
          <a:xfrm>
            <a:off x="4617720" y="3383280"/>
            <a:ext cx="2057400" cy="29260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FastAPI + Python</a:t>
            </a:r>
            <a:r>
              <a:rPr sz="650" b="0" i="0">
                <a:solidFill>
                  <a:srgbClr val="5F6368"/>
                </a:solidFill>
                <a:latin typeface="Google Sans Flex"/>
                <a:ea typeface="Google Sans Flex"/>
                <a:cs typeface="Google Sans Flex"/>
              </a:rPr>
              <a:t>  18 REST endpoints, web UI, /docs</a:t>
            </a:r>
          </a:p>
        </p:txBody>
      </p:sp>
      <p:sp>
        <p:nvSpPr>
          <p:cNvPr id="162" name="TextBox 161"/>
          <p:cNvSpPr txBox="1"/>
          <p:nvPr/>
        </p:nvSpPr>
        <p:spPr>
          <a:xfrm>
            <a:off x="4617720" y="3685032"/>
            <a:ext cx="2057400" cy="292608"/>
          </a:xfrm>
          <a:prstGeom prst="rect">
            <a:avLst/>
          </a:prstGeom>
          <a:noFill/>
        </p:spPr>
        <p:txBody>
          <a:bodyPr wrap="square" lIns="0" rIns="0" tIns="0" bIns="0" anchor="t">
            <a:noAutofit/>
          </a:bodyPr>
          <a:lstStyle/>
          <a:p>
            <a:pPr algn="l">
              <a:spcAft>
                <a:spcPts val="200"/>
              </a:spcAft>
            </a:pPr>
            <a:r>
              <a:rPr sz="750" b="1" i="0">
                <a:solidFill>
                  <a:srgbClr val="202124"/>
                </a:solidFill>
                <a:latin typeface="Google Sans Flex"/>
                <a:ea typeface="Google Sans Flex"/>
                <a:cs typeface="Google Sans Flex"/>
              </a:rPr>
              <a:t>YAML rule engine</a:t>
            </a:r>
            <a:r>
              <a:rPr sz="650" b="0" i="0">
                <a:solidFill>
                  <a:srgbClr val="5F6368"/>
                </a:solidFill>
                <a:latin typeface="Google Sans Flex"/>
                <a:ea typeface="Google Sans Flex"/>
                <a:cs typeface="Google Sans Flex"/>
              </a:rPr>
              <a:t>  client-owned risk rules</a:t>
            </a:r>
          </a:p>
        </p:txBody>
      </p:sp>
      <p:sp>
        <p:nvSpPr>
          <p:cNvPr id="163" name="TextBox 162"/>
          <p:cNvSpPr txBox="1"/>
          <p:nvPr/>
        </p:nvSpPr>
        <p:spPr>
          <a:xfrm>
            <a:off x="6784848" y="1353312"/>
            <a:ext cx="2011680" cy="182880"/>
          </a:xfrm>
          <a:prstGeom prst="rect">
            <a:avLst/>
          </a:prstGeom>
          <a:noFill/>
        </p:spPr>
        <p:txBody>
          <a:bodyPr wrap="square" lIns="0" rIns="0" tIns="0" bIns="0" anchor="t">
            <a:noAutofit/>
          </a:bodyPr>
          <a:lstStyle/>
          <a:p>
            <a:pPr algn="l">
              <a:spcAft>
                <a:spcPts val="200"/>
              </a:spcAft>
            </a:pPr>
            <a:r>
              <a:rPr sz="750" b="1" i="0">
                <a:solidFill>
                  <a:srgbClr val="E37400"/>
                </a:solidFill>
                <a:latin typeface="Google Sans Flex"/>
                <a:ea typeface="Google Sans Flex"/>
                <a:cs typeface="Google Sans Flex"/>
              </a:rPr>
              <a:t>NEXT ON THE ROADMAP</a:t>
            </a:r>
          </a:p>
        </p:txBody>
      </p:sp>
      <p:sp>
        <p:nvSpPr>
          <p:cNvPr id="164" name="Rounded Rectangle 163"/>
          <p:cNvSpPr/>
          <p:nvPr/>
        </p:nvSpPr>
        <p:spPr>
          <a:xfrm>
            <a:off x="6784848" y="1572768"/>
            <a:ext cx="2011680"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58521" bIns="58521">
            <a:noAutofit/>
          </a:bodyPr>
          <a:lstStyle/>
          <a:p>
            <a:pPr algn="l">
              <a:spcAft>
                <a:spcPts val="200"/>
              </a:spcAft>
            </a:pPr>
            <a:r>
              <a:rPr sz="800" b="1" i="0">
                <a:solidFill>
                  <a:srgbClr val="202124"/>
                </a:solidFill>
                <a:latin typeface="Google Sans Flex"/>
                <a:ea typeface="Google Sans Flex"/>
                <a:cs typeface="Google Sans Flex"/>
              </a:rPr>
              <a:t>Document AI</a:t>
            </a:r>
          </a:p>
          <a:p>
            <a:pPr algn="l">
              <a:spcAft>
                <a:spcPts val="200"/>
              </a:spcAft>
            </a:pPr>
            <a:r>
              <a:rPr sz="650" b="0" i="0">
                <a:solidFill>
                  <a:srgbClr val="202124"/>
                </a:solidFill>
                <a:latin typeface="Google Sans Flex"/>
                <a:ea typeface="Google Sans Flex"/>
                <a:cs typeface="Google Sans Flex"/>
              </a:rPr>
              <a:t>Title deeds, valuation reports, repair invoices cross-checked with images</a:t>
            </a:r>
          </a:p>
        </p:txBody>
      </p:sp>
      <p:sp>
        <p:nvSpPr>
          <p:cNvPr id="165" name="Rounded Rectangle 164"/>
          <p:cNvSpPr/>
          <p:nvPr/>
        </p:nvSpPr>
        <p:spPr>
          <a:xfrm>
            <a:off x="6784848" y="2176272"/>
            <a:ext cx="2011680"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58521" bIns="58521">
            <a:noAutofit/>
          </a:bodyPr>
          <a:lstStyle/>
          <a:p>
            <a:pPr algn="l">
              <a:spcAft>
                <a:spcPts val="200"/>
              </a:spcAft>
            </a:pPr>
            <a:r>
              <a:rPr sz="800" b="1" i="0">
                <a:solidFill>
                  <a:srgbClr val="202124"/>
                </a:solidFill>
                <a:latin typeface="Google Sans Flex"/>
                <a:ea typeface="Google Sans Flex"/>
                <a:cs typeface="Google Sans Flex"/>
              </a:rPr>
              <a:t>Vertex AI Search</a:t>
            </a:r>
          </a:p>
          <a:p>
            <a:pPr algn="l">
              <a:spcAft>
                <a:spcPts val="200"/>
              </a:spcAft>
            </a:pPr>
            <a:r>
              <a:rPr sz="650" b="0" i="0">
                <a:solidFill>
                  <a:srgbClr val="202124"/>
                </a:solidFill>
                <a:latin typeface="Google Sans Flex"/>
                <a:ea typeface="Google Sans Flex"/>
                <a:cs typeface="Google Sans Flex"/>
              </a:rPr>
              <a:t>Policy wording and lending guidelines for the assistant</a:t>
            </a:r>
          </a:p>
        </p:txBody>
      </p:sp>
      <p:sp>
        <p:nvSpPr>
          <p:cNvPr id="166" name="Rounded Rectangle 165"/>
          <p:cNvSpPr/>
          <p:nvPr/>
        </p:nvSpPr>
        <p:spPr>
          <a:xfrm>
            <a:off x="6784848" y="2779776"/>
            <a:ext cx="2011680"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58521" bIns="58521">
            <a:noAutofit/>
          </a:bodyPr>
          <a:lstStyle/>
          <a:p>
            <a:pPr algn="l">
              <a:spcAft>
                <a:spcPts val="200"/>
              </a:spcAft>
            </a:pPr>
            <a:r>
              <a:rPr sz="800" b="1" i="0">
                <a:solidFill>
                  <a:srgbClr val="202124"/>
                </a:solidFill>
                <a:latin typeface="Google Sans Flex"/>
                <a:ea typeface="Google Sans Flex"/>
                <a:cs typeface="Google Sans Flex"/>
              </a:rPr>
              <a:t>Vertex AI + BigQuery ML</a:t>
            </a:r>
          </a:p>
          <a:p>
            <a:pPr algn="l">
              <a:spcAft>
                <a:spcPts val="200"/>
              </a:spcAft>
            </a:pPr>
            <a:r>
              <a:rPr sz="650" b="0" i="0">
                <a:solidFill>
                  <a:srgbClr val="202124"/>
                </a:solidFill>
                <a:latin typeface="Google Sans Flex"/>
                <a:ea typeface="Google Sans Flex"/>
                <a:cs typeface="Google Sans Flex"/>
              </a:rPr>
              <a:t>Claim-likelihood and collateral-risk models</a:t>
            </a:r>
          </a:p>
        </p:txBody>
      </p:sp>
      <p:sp>
        <p:nvSpPr>
          <p:cNvPr id="167" name="Rounded Rectangle 166"/>
          <p:cNvSpPr/>
          <p:nvPr/>
        </p:nvSpPr>
        <p:spPr>
          <a:xfrm>
            <a:off x="6784848" y="3383280"/>
            <a:ext cx="2011680"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58521" bIns="58521">
            <a:noAutofit/>
          </a:bodyPr>
          <a:lstStyle/>
          <a:p>
            <a:pPr algn="l">
              <a:spcAft>
                <a:spcPts val="200"/>
              </a:spcAft>
            </a:pPr>
            <a:r>
              <a:rPr sz="800" b="1" i="0">
                <a:solidFill>
                  <a:srgbClr val="202124"/>
                </a:solidFill>
                <a:latin typeface="Google Sans Flex"/>
                <a:ea typeface="Google Sans Flex"/>
                <a:cs typeface="Google Sans Flex"/>
              </a:rPr>
              <a:t>Cloud SQL / AlloyDB</a:t>
            </a:r>
          </a:p>
          <a:p>
            <a:pPr algn="l">
              <a:spcAft>
                <a:spcPts val="200"/>
              </a:spcAft>
            </a:pPr>
            <a:r>
              <a:rPr sz="650" b="0" i="0">
                <a:solidFill>
                  <a:srgbClr val="202124"/>
                </a:solidFill>
                <a:latin typeface="Google Sans Flex"/>
                <a:ea typeface="Google Sans Flex"/>
                <a:cs typeface="Google Sans Flex"/>
              </a:rPr>
              <a:t>Multi-tenant case management, audit trail, SSO</a:t>
            </a:r>
          </a:p>
        </p:txBody>
      </p:sp>
      <p:sp>
        <p:nvSpPr>
          <p:cNvPr id="168" name="Rounded Rectangle 167"/>
          <p:cNvSpPr/>
          <p:nvPr/>
        </p:nvSpPr>
        <p:spPr>
          <a:xfrm>
            <a:off x="347472" y="4096512"/>
            <a:ext cx="8449056" cy="786384"/>
          </a:xfrm>
          <a:prstGeom prst="roundRect">
            <a:avLst>
              <a:gd name="adj" fmla="val 697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2412" bIns="102412">
            <a:noAutofit/>
          </a:bodyPr>
          <a:lstStyle/>
          <a:p>
            <a:pPr algn="l">
              <a:spcAft>
                <a:spcPts val="200"/>
              </a:spcAft>
            </a:pPr>
            <a:r>
              <a:rPr sz="850" b="1" i="0">
                <a:solidFill>
                  <a:srgbClr val="202124"/>
                </a:solidFill>
                <a:latin typeface="Google Sans Flex"/>
                <a:ea typeface="Google Sans Flex"/>
                <a:cs typeface="Google Sans Flex"/>
              </a:rPr>
              <a:t>Why this stack: </a:t>
            </a:r>
            <a:r>
              <a:rPr sz="850" b="0" i="0">
                <a:solidFill>
                  <a:srgbClr val="202124"/>
                </a:solidFill>
                <a:latin typeface="Google Sans Flex"/>
                <a:ea typeface="Google Sans Flex"/>
                <a:cs typeface="Google Sans Flex"/>
              </a:rPr>
              <a:t>Gemini does reasoning, authenticity and explanation; open models on the Cloud Run GPU do high-volume boxing and verification cheaply; deterministic rules keep decisions auditable. Data stays in the client's own Google Cloud project, and BigQuery + Pub/Sub plug straight into lending, underwriting and claims systems.</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Priced per inspection, far below a physical site visit</a:t>
            </a:r>
          </a:p>
        </p:txBody>
      </p:sp>
      <p:sp>
        <p:nvSpPr>
          <p:cNvPr id="129" name="TextBox 128"/>
          <p:cNvSpPr txBox="1"/>
          <p:nvPr/>
        </p:nvSpPr>
        <p:spPr>
          <a:xfrm>
            <a:off x="347472" y="1353312"/>
            <a:ext cx="4572000" cy="182880"/>
          </a:xfrm>
          <a:prstGeom prst="rect">
            <a:avLst/>
          </a:prstGeom>
          <a:noFill/>
        </p:spPr>
        <p:txBody>
          <a:bodyPr wrap="square" lIns="0" rIns="0" tIns="0" bIns="0" anchor="t">
            <a:noAutofit/>
          </a:bodyPr>
          <a:lstStyle/>
          <a:p>
            <a:pPr algn="l">
              <a:spcAft>
                <a:spcPts val="200"/>
              </a:spcAft>
            </a:pPr>
            <a:r>
              <a:rPr sz="750" b="1" i="0">
                <a:solidFill>
                  <a:srgbClr val="1A73E8"/>
                </a:solidFill>
                <a:latin typeface="Google Sans Flex"/>
                <a:ea typeface="Google Sans Flex"/>
                <a:cs typeface="Google Sans Flex"/>
              </a:rPr>
              <a:t>UNIT ECONOMICS (INDICATIVE, FROM THE PROTOTYPE)</a:t>
            </a:r>
          </a:p>
        </p:txBody>
      </p:sp>
      <p:graphicFrame>
        <p:nvGraphicFramePr>
          <p:cNvPr id="130" name="Table 129"/>
          <p:cNvGraphicFramePr>
            <a:graphicFrameLocks noGrp="1"/>
          </p:cNvGraphicFramePr>
          <p:nvPr/>
        </p:nvGraphicFramePr>
        <p:xfrm>
          <a:off x="347472" y="1572768"/>
          <a:ext cx="4937760" cy="2368296"/>
        </p:xfrm>
        <a:graphic>
          <a:graphicData uri="http://schemas.openxmlformats.org/drawingml/2006/table">
            <a:tbl>
              <a:tblPr firstRow="1" bandRow="1">
                <a:tableStyleId>{5C22544A-7EE6-4342-B048-85BDC9FD1C3A}</a:tableStyleId>
              </a:tblPr>
              <a:tblGrid>
                <a:gridCol w="1828800"/>
                <a:gridCol w="1691640"/>
                <a:gridCol w="1417320"/>
              </a:tblGrid>
              <a:tr h="338328">
                <a:tc>
                  <a:txBody>
                    <a:bodyPr/>
                    <a:lstStyle/>
                    <a:p>
                      <a:pPr algn="l">
                        <a:spcAft>
                          <a:spcPts val="200"/>
                        </a:spcAft>
                      </a:pPr>
                      <a:r>
                        <a:rPr sz="850" b="1" i="0">
                          <a:solidFill>
                            <a:srgbClr val="FFFFFF"/>
                          </a:solidFill>
                          <a:latin typeface="Google Sans Flex"/>
                          <a:ea typeface="Google Sans Flex"/>
                          <a:cs typeface="Google Sans Flex"/>
                        </a:rPr>
                        <a:t>Cost item</a:t>
                      </a:r>
                    </a:p>
                  </a:txBody>
                  <a:tcPr marL="64008" marR="64008" anchor="ctr">
                    <a:solidFill>
                      <a:srgbClr val="202124"/>
                    </a:solidFill>
                  </a:tcPr>
                </a:tc>
                <a:tc>
                  <a:txBody>
                    <a:bodyPr/>
                    <a:lstStyle/>
                    <a:p>
                      <a:pPr algn="l">
                        <a:spcAft>
                          <a:spcPts val="200"/>
                        </a:spcAft>
                      </a:pPr>
                      <a:r>
                        <a:rPr sz="850" b="1" i="0">
                          <a:solidFill>
                            <a:srgbClr val="FFFFFF"/>
                          </a:solidFill>
                          <a:latin typeface="Google Sans Flex"/>
                          <a:ea typeface="Google Sans Flex"/>
                          <a:cs typeface="Google Sans Flex"/>
                        </a:rPr>
                        <a:t>Basis</a:t>
                      </a:r>
                    </a:p>
                  </a:txBody>
                  <a:tcPr marL="64008" marR="64008" anchor="ctr">
                    <a:solidFill>
                      <a:srgbClr val="202124"/>
                    </a:solidFill>
                  </a:tcPr>
                </a:tc>
                <a:tc>
                  <a:txBody>
                    <a:bodyPr/>
                    <a:lstStyle/>
                    <a:p>
                      <a:pPr algn="l">
                        <a:spcAft>
                          <a:spcPts val="200"/>
                        </a:spcAft>
                      </a:pPr>
                      <a:r>
                        <a:rPr sz="850" b="1" i="0">
                          <a:solidFill>
                            <a:srgbClr val="FFFFFF"/>
                          </a:solidFill>
                          <a:latin typeface="Google Sans Flex"/>
                          <a:ea typeface="Google Sans Flex"/>
                          <a:cs typeface="Google Sans Flex"/>
                        </a:rPr>
                        <a:t>Estimate</a:t>
                      </a:r>
                    </a:p>
                  </a:txBody>
                  <a:tcPr marL="64008" marR="64008" anchor="ctr">
                    <a:solidFill>
                      <a:srgbClr val="202124"/>
                    </a:solidFill>
                  </a:tcPr>
                </a:tc>
              </a:tr>
              <a:tr h="338328">
                <a:tc>
                  <a:txBody>
                    <a:bodyPr/>
                    <a:lstStyle/>
                    <a:p>
                      <a:pPr algn="l">
                        <a:spcAft>
                          <a:spcPts val="200"/>
                        </a:spcAft>
                      </a:pPr>
                      <a:r>
                        <a:rPr sz="850" b="0" i="0">
                          <a:solidFill>
                            <a:srgbClr val="202124"/>
                          </a:solidFill>
                          <a:latin typeface="Google Sans Flex"/>
                          <a:ea typeface="Google Sans Flex"/>
                          <a:cs typeface="Google Sans Flex"/>
                        </a:rPr>
                        <a:t>Gemini calls (Vertex AI)</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 $0.005 per call</a:t>
                      </a:r>
                    </a:p>
                  </a:txBody>
                  <a:tcPr marL="64008" marR="64008" anchor="ctr">
                    <a:solidFill>
                      <a:srgbClr val="F1F3F4"/>
                    </a:solidFill>
                  </a:tcPr>
                </a:tc>
                <a:tc>
                  <a:txBody>
                    <a:bodyPr/>
                    <a:lstStyle/>
                    <a:p>
                      <a:pPr algn="l">
                        <a:spcAft>
                          <a:spcPts val="200"/>
                        </a:spcAft>
                      </a:pPr>
                      <a:r>
                        <a:rPr sz="850" b="1" i="0">
                          <a:solidFill>
                            <a:srgbClr val="188038"/>
                          </a:solidFill>
                          <a:latin typeface="Google Sans Flex"/>
                          <a:ea typeface="Google Sans Flex"/>
                          <a:cs typeface="Google Sans Flex"/>
                        </a:rPr>
                        <a:t>≈ $0.35 per walkthrough</a:t>
                      </a:r>
                    </a:p>
                  </a:txBody>
                  <a:tcPr marL="64008" marR="64008" anchor="ctr">
                    <a:solidFill>
                      <a:srgbClr val="F1F3F4"/>
                    </a:solidFill>
                  </a:tcPr>
                </a:tc>
              </a:tr>
              <a:tr h="338328">
                <a:tc>
                  <a:txBody>
                    <a:bodyPr/>
                    <a:lstStyle/>
                    <a:p>
                      <a:pPr algn="l">
                        <a:spcAft>
                          <a:spcPts val="200"/>
                        </a:spcAft>
                      </a:pPr>
                      <a:r>
                        <a:rPr sz="850" b="0" i="0">
                          <a:solidFill>
                            <a:srgbClr val="202124"/>
                          </a:solidFill>
                          <a:latin typeface="Google Sans Flex"/>
                          <a:ea typeface="Google Sans Flex"/>
                          <a:cs typeface="Google Sans Flex"/>
                        </a:rPr>
                        <a:t>NVIDIA L4 GPU on Cloud Run</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 $1.42 per hour (8 vCPU, 32 GiB)</a:t>
                      </a:r>
                    </a:p>
                  </a:txBody>
                  <a:tcPr marL="64008" marR="64008" anchor="ctr">
                    <a:solidFill>
                      <a:srgbClr val="FFFFFF"/>
                    </a:solidFill>
                  </a:tcPr>
                </a:tc>
                <a:tc>
                  <a:txBody>
                    <a:bodyPr/>
                    <a:lstStyle/>
                    <a:p>
                      <a:pPr algn="l">
                        <a:spcAft>
                          <a:spcPts val="200"/>
                        </a:spcAft>
                      </a:pPr>
                      <a:r>
                        <a:rPr sz="850" b="1" i="0">
                          <a:solidFill>
                            <a:srgbClr val="188038"/>
                          </a:solidFill>
                          <a:latin typeface="Google Sans Flex"/>
                          <a:ea typeface="Google Sans Flex"/>
                          <a:cs typeface="Google Sans Flex"/>
                        </a:rPr>
                        <a:t>Scales to zero when idle</a:t>
                      </a:r>
                    </a:p>
                  </a:txBody>
                  <a:tcPr marL="64008" marR="64008" anchor="ctr">
                    <a:solidFill>
                      <a:srgbClr val="FFFFFF"/>
                    </a:solidFill>
                  </a:tcPr>
                </a:tc>
              </a:tr>
              <a:tr h="338328">
                <a:tc>
                  <a:txBody>
                    <a:bodyPr/>
                    <a:lstStyle/>
                    <a:p>
                      <a:pPr algn="l">
                        <a:spcAft>
                          <a:spcPts val="200"/>
                        </a:spcAft>
                      </a:pPr>
                      <a:r>
                        <a:rPr sz="850" b="0" i="0">
                          <a:solidFill>
                            <a:srgbClr val="202124"/>
                          </a:solidFill>
                          <a:latin typeface="Google Sans Flex"/>
                          <a:ea typeface="Google Sans Flex"/>
                          <a:cs typeface="Google Sans Flex"/>
                        </a:rPr>
                        <a:t>Video inspection compute</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10–35 min of GPU + Gemini</a:t>
                      </a:r>
                    </a:p>
                  </a:txBody>
                  <a:tcPr marL="64008" marR="64008" anchor="ctr">
                    <a:solidFill>
                      <a:srgbClr val="F1F3F4"/>
                    </a:solidFill>
                  </a:tcPr>
                </a:tc>
                <a:tc>
                  <a:txBody>
                    <a:bodyPr/>
                    <a:lstStyle/>
                    <a:p>
                      <a:pPr algn="l">
                        <a:spcAft>
                          <a:spcPts val="200"/>
                        </a:spcAft>
                      </a:pPr>
                      <a:r>
                        <a:rPr sz="850" b="1" i="0">
                          <a:solidFill>
                            <a:srgbClr val="188038"/>
                          </a:solidFill>
                          <a:latin typeface="Google Sans Flex"/>
                          <a:ea typeface="Google Sans Flex"/>
                          <a:cs typeface="Google Sans Flex"/>
                        </a:rPr>
                        <a:t>≈ $1 Lite, ≈ $1.50 Advanced</a:t>
                      </a:r>
                    </a:p>
                  </a:txBody>
                  <a:tcPr marL="64008" marR="64008" anchor="ctr">
                    <a:solidFill>
                      <a:srgbClr val="F1F3F4"/>
                    </a:solidFill>
                  </a:tcPr>
                </a:tc>
              </a:tr>
              <a:tr h="338328">
                <a:tc>
                  <a:txBody>
                    <a:bodyPr/>
                    <a:lstStyle/>
                    <a:p>
                      <a:pPr algn="l">
                        <a:spcAft>
                          <a:spcPts val="200"/>
                        </a:spcAft>
                      </a:pPr>
                      <a:r>
                        <a:rPr sz="850" b="0" i="0">
                          <a:solidFill>
                            <a:srgbClr val="202124"/>
                          </a:solidFill>
                          <a:latin typeface="Google Sans Flex"/>
                          <a:ea typeface="Google Sans Flex"/>
                          <a:cs typeface="Google Sans Flex"/>
                        </a:rPr>
                        <a:t>Two weeks of judging</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~40 visits, 20 videos</a:t>
                      </a:r>
                    </a:p>
                  </a:txBody>
                  <a:tcPr marL="64008" marR="64008" anchor="ctr">
                    <a:solidFill>
                      <a:srgbClr val="FFFFFF"/>
                    </a:solidFill>
                  </a:tcPr>
                </a:tc>
                <a:tc>
                  <a:txBody>
                    <a:bodyPr/>
                    <a:lstStyle/>
                    <a:p>
                      <a:pPr algn="l">
                        <a:spcAft>
                          <a:spcPts val="200"/>
                        </a:spcAft>
                      </a:pPr>
                      <a:r>
                        <a:rPr sz="850" b="1" i="0">
                          <a:solidFill>
                            <a:srgbClr val="188038"/>
                          </a:solidFill>
                          <a:latin typeface="Google Sans Flex"/>
                          <a:ea typeface="Google Sans Flex"/>
                          <a:cs typeface="Google Sans Flex"/>
                        </a:rPr>
                        <a:t>≈ $50–70 in total</a:t>
                      </a:r>
                    </a:p>
                  </a:txBody>
                  <a:tcPr marL="64008" marR="64008" anchor="ctr">
                    <a:solidFill>
                      <a:srgbClr val="FFFFFF"/>
                    </a:solidFill>
                  </a:tcPr>
                </a:tc>
              </a:tr>
              <a:tr h="338328">
                <a:tc>
                  <a:txBody>
                    <a:bodyPr/>
                    <a:lstStyle/>
                    <a:p>
                      <a:pPr algn="l">
                        <a:spcAft>
                          <a:spcPts val="200"/>
                        </a:spcAft>
                      </a:pPr>
                      <a:r>
                        <a:rPr sz="850" b="0" i="0">
                          <a:solidFill>
                            <a:srgbClr val="202124"/>
                          </a:solidFill>
                          <a:latin typeface="Google Sans Flex"/>
                          <a:ea typeface="Google Sans Flex"/>
                          <a:cs typeface="Google Sans Flex"/>
                        </a:rPr>
                        <a:t>Storage, BigQuery, Pub/Sub</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Pay-per-use managed services</a:t>
                      </a:r>
                    </a:p>
                  </a:txBody>
                  <a:tcPr marL="64008" marR="64008" anchor="ctr">
                    <a:solidFill>
                      <a:srgbClr val="F1F3F4"/>
                    </a:solidFill>
                  </a:tcPr>
                </a:tc>
                <a:tc>
                  <a:txBody>
                    <a:bodyPr/>
                    <a:lstStyle/>
                    <a:p>
                      <a:pPr algn="l">
                        <a:spcAft>
                          <a:spcPts val="200"/>
                        </a:spcAft>
                      </a:pPr>
                      <a:r>
                        <a:rPr sz="850" b="1" i="0">
                          <a:solidFill>
                            <a:srgbClr val="188038"/>
                          </a:solidFill>
                          <a:latin typeface="Google Sans Flex"/>
                          <a:ea typeface="Google Sans Flex"/>
                          <a:cs typeface="Google Sans Flex"/>
                        </a:rPr>
                        <a:t>Billed by usage</a:t>
                      </a:r>
                    </a:p>
                  </a:txBody>
                  <a:tcPr marL="64008" marR="64008" anchor="ctr">
                    <a:solidFill>
                      <a:srgbClr val="F1F3F4"/>
                    </a:solidFill>
                  </a:tcPr>
                </a:tc>
              </a:tr>
              <a:tr h="338328">
                <a:tc>
                  <a:txBody>
                    <a:bodyPr/>
                    <a:lstStyle/>
                    <a:p>
                      <a:pPr algn="l">
                        <a:spcAft>
                          <a:spcPts val="200"/>
                        </a:spcAft>
                      </a:pPr>
                      <a:r>
                        <a:rPr sz="850" b="0" i="0">
                          <a:solidFill>
                            <a:srgbClr val="202124"/>
                          </a:solidFill>
                          <a:latin typeface="Google Sans Flex"/>
                          <a:ea typeface="Google Sans Flex"/>
                          <a:cs typeface="Google Sans Flex"/>
                        </a:rPr>
                        <a:t>Deployment &amp; ops</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One-command deploy.sh, Cloud Build</a:t>
                      </a:r>
                    </a:p>
                  </a:txBody>
                  <a:tcPr marL="64008" marR="64008" anchor="ctr">
                    <a:solidFill>
                      <a:srgbClr val="FFFFFF"/>
                    </a:solidFill>
                  </a:tcPr>
                </a:tc>
                <a:tc>
                  <a:txBody>
                    <a:bodyPr/>
                    <a:lstStyle/>
                    <a:p>
                      <a:pPr algn="l">
                        <a:spcAft>
                          <a:spcPts val="200"/>
                        </a:spcAft>
                      </a:pPr>
                      <a:r>
                        <a:rPr sz="850" b="1" i="0">
                          <a:solidFill>
                            <a:srgbClr val="188038"/>
                          </a:solidFill>
                          <a:latin typeface="Google Sans Flex"/>
                          <a:ea typeface="Google Sans Flex"/>
                          <a:cs typeface="Google Sans Flex"/>
                        </a:rPr>
                        <a:t>No servers to manage</a:t>
                      </a:r>
                    </a:p>
                  </a:txBody>
                  <a:tcPr marL="64008" marR="64008" anchor="ctr">
                    <a:solidFill>
                      <a:srgbClr val="FFFFFF"/>
                    </a:solidFill>
                  </a:tcPr>
                </a:tc>
              </a:tr>
            </a:tbl>
          </a:graphicData>
        </a:graphic>
      </p:graphicFrame>
      <p:sp>
        <p:nvSpPr>
          <p:cNvPr id="131" name="Rounded Rectangle 130"/>
          <p:cNvSpPr/>
          <p:nvPr/>
        </p:nvSpPr>
        <p:spPr>
          <a:xfrm>
            <a:off x="347472"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8912" y="4178808"/>
            <a:ext cx="1408176" cy="365760"/>
          </a:xfrm>
          <a:prstGeom prst="rect">
            <a:avLst/>
          </a:prstGeom>
          <a:noFill/>
        </p:spPr>
        <p:txBody>
          <a:bodyPr wrap="square" lIns="0" rIns="0" tIns="0" bIns="0" anchor="t">
            <a:noAutofit/>
          </a:bodyPr>
          <a:lstStyle/>
          <a:p>
            <a:pPr algn="l">
              <a:spcAft>
                <a:spcPts val="200"/>
              </a:spcAft>
            </a:pPr>
            <a:r>
              <a:rPr sz="1600" b="1" i="0">
                <a:solidFill>
                  <a:srgbClr val="1A73E8"/>
                </a:solidFill>
                <a:latin typeface="Google Sans Flex"/>
                <a:ea typeface="Google Sans Flex"/>
                <a:cs typeface="Google Sans Flex"/>
              </a:rPr>
              <a:t>≈ $0.35</a:t>
            </a:r>
          </a:p>
        </p:txBody>
      </p:sp>
      <p:sp>
        <p:nvSpPr>
          <p:cNvPr id="133" name="TextBox 132"/>
          <p:cNvSpPr txBox="1"/>
          <p:nvPr/>
        </p:nvSpPr>
        <p:spPr>
          <a:xfrm>
            <a:off x="438912" y="4432808"/>
            <a:ext cx="1408176" cy="310896"/>
          </a:xfrm>
          <a:prstGeom prst="rect">
            <a:avLst/>
          </a:prstGeom>
          <a:noFill/>
        </p:spPr>
        <p:txBody>
          <a:bodyPr wrap="square" lIns="0" rIns="0" tIns="0" bIns="0" anchor="t">
            <a:noAutofit/>
          </a:bodyPr>
          <a:lstStyle/>
          <a:p>
            <a:pPr algn="l">
              <a:spcAft>
                <a:spcPts val="200"/>
              </a:spcAft>
            </a:pPr>
            <a:r>
              <a:rPr sz="800" b="0" i="0">
                <a:solidFill>
                  <a:srgbClr val="5F6368"/>
                </a:solidFill>
                <a:latin typeface="Google Sans Flex"/>
                <a:ea typeface="Google Sans Flex"/>
                <a:cs typeface="Google Sans Flex"/>
              </a:rPr>
              <a:t>Gemini per walkthrough</a:t>
            </a:r>
          </a:p>
        </p:txBody>
      </p:sp>
      <p:sp>
        <p:nvSpPr>
          <p:cNvPr id="134" name="Rounded Rectangle 133"/>
          <p:cNvSpPr/>
          <p:nvPr/>
        </p:nvSpPr>
        <p:spPr>
          <a:xfrm>
            <a:off x="2011680"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2103120" y="4178808"/>
            <a:ext cx="1408176" cy="365760"/>
          </a:xfrm>
          <a:prstGeom prst="rect">
            <a:avLst/>
          </a:prstGeom>
          <a:noFill/>
        </p:spPr>
        <p:txBody>
          <a:bodyPr wrap="square" lIns="0" rIns="0" tIns="0" bIns="0" anchor="t">
            <a:noAutofit/>
          </a:bodyPr>
          <a:lstStyle/>
          <a:p>
            <a:pPr algn="l">
              <a:spcAft>
                <a:spcPts val="200"/>
              </a:spcAft>
            </a:pPr>
            <a:r>
              <a:rPr sz="1600" b="1" i="0">
                <a:solidFill>
                  <a:srgbClr val="D93025"/>
                </a:solidFill>
                <a:latin typeface="Google Sans Flex"/>
                <a:ea typeface="Google Sans Flex"/>
                <a:cs typeface="Google Sans Flex"/>
              </a:rPr>
              <a:t>&lt; $1</a:t>
            </a:r>
          </a:p>
        </p:txBody>
      </p:sp>
      <p:sp>
        <p:nvSpPr>
          <p:cNvPr id="136" name="TextBox 135"/>
          <p:cNvSpPr txBox="1"/>
          <p:nvPr/>
        </p:nvSpPr>
        <p:spPr>
          <a:xfrm>
            <a:off x="2103120" y="4432808"/>
            <a:ext cx="1408176" cy="310896"/>
          </a:xfrm>
          <a:prstGeom prst="rect">
            <a:avLst/>
          </a:prstGeom>
          <a:noFill/>
        </p:spPr>
        <p:txBody>
          <a:bodyPr wrap="square" lIns="0" rIns="0" tIns="0" bIns="0" anchor="t">
            <a:noAutofit/>
          </a:bodyPr>
          <a:lstStyle/>
          <a:p>
            <a:pPr algn="l">
              <a:spcAft>
                <a:spcPts val="200"/>
              </a:spcAft>
            </a:pPr>
            <a:r>
              <a:rPr sz="800" b="0" i="0">
                <a:solidFill>
                  <a:srgbClr val="5F6368"/>
                </a:solidFill>
                <a:latin typeface="Google Sans Flex"/>
                <a:ea typeface="Google Sans Flex"/>
                <a:cs typeface="Google Sans Flex"/>
              </a:rPr>
              <a:t>GPU compute per video</a:t>
            </a:r>
          </a:p>
        </p:txBody>
      </p:sp>
      <p:sp>
        <p:nvSpPr>
          <p:cNvPr id="137" name="Rounded Rectangle 136"/>
          <p:cNvSpPr/>
          <p:nvPr/>
        </p:nvSpPr>
        <p:spPr>
          <a:xfrm>
            <a:off x="3675888"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3767328" y="4178808"/>
            <a:ext cx="1408176" cy="365760"/>
          </a:xfrm>
          <a:prstGeom prst="rect">
            <a:avLst/>
          </a:prstGeom>
          <a:noFill/>
        </p:spPr>
        <p:txBody>
          <a:bodyPr wrap="square" lIns="0" rIns="0" tIns="0" bIns="0" anchor="t">
            <a:noAutofit/>
          </a:bodyPr>
          <a:lstStyle/>
          <a:p>
            <a:pPr algn="l">
              <a:spcAft>
                <a:spcPts val="200"/>
              </a:spcAft>
            </a:pPr>
            <a:r>
              <a:rPr sz="1600" b="1" i="0">
                <a:solidFill>
                  <a:srgbClr val="E37400"/>
                </a:solidFill>
                <a:latin typeface="Google Sans Flex"/>
                <a:ea typeface="Google Sans Flex"/>
                <a:cs typeface="Google Sans Flex"/>
              </a:rPr>
              <a:t>$0</a:t>
            </a:r>
          </a:p>
        </p:txBody>
      </p:sp>
      <p:sp>
        <p:nvSpPr>
          <p:cNvPr id="139" name="TextBox 138"/>
          <p:cNvSpPr txBox="1"/>
          <p:nvPr/>
        </p:nvSpPr>
        <p:spPr>
          <a:xfrm>
            <a:off x="3767328" y="4432808"/>
            <a:ext cx="1408176" cy="310896"/>
          </a:xfrm>
          <a:prstGeom prst="rect">
            <a:avLst/>
          </a:prstGeom>
          <a:noFill/>
        </p:spPr>
        <p:txBody>
          <a:bodyPr wrap="square" lIns="0" rIns="0" tIns="0" bIns="0" anchor="t">
            <a:noAutofit/>
          </a:bodyPr>
          <a:lstStyle/>
          <a:p>
            <a:pPr algn="l">
              <a:spcAft>
                <a:spcPts val="200"/>
              </a:spcAft>
            </a:pPr>
            <a:r>
              <a:rPr sz="800" b="0" i="0">
                <a:solidFill>
                  <a:srgbClr val="5F6368"/>
                </a:solidFill>
                <a:latin typeface="Google Sans Flex"/>
                <a:ea typeface="Google Sans Flex"/>
                <a:cs typeface="Google Sans Flex"/>
              </a:rPr>
              <a:t>GPU cost when idle (scales to zero)</a:t>
            </a:r>
          </a:p>
        </p:txBody>
      </p:sp>
      <p:sp>
        <p:nvSpPr>
          <p:cNvPr id="140" name="TextBox 139"/>
          <p:cNvSpPr txBox="1"/>
          <p:nvPr/>
        </p:nvSpPr>
        <p:spPr>
          <a:xfrm>
            <a:off x="5532120" y="1353312"/>
            <a:ext cx="3200400" cy="182880"/>
          </a:xfrm>
          <a:prstGeom prst="rect">
            <a:avLst/>
          </a:prstGeom>
          <a:noFill/>
        </p:spPr>
        <p:txBody>
          <a:bodyPr wrap="square" lIns="0" rIns="0" tIns="0" bIns="0" anchor="t">
            <a:noAutofit/>
          </a:bodyPr>
          <a:lstStyle/>
          <a:p>
            <a:pPr algn="l">
              <a:spcAft>
                <a:spcPts val="200"/>
              </a:spcAft>
            </a:pPr>
            <a:r>
              <a:rPr sz="750" b="1" i="0">
                <a:solidFill>
                  <a:srgbClr val="1A73E8"/>
                </a:solidFill>
                <a:latin typeface="Google Sans Flex"/>
                <a:ea typeface="Google Sans Flex"/>
                <a:cs typeface="Google Sans Flex"/>
              </a:rPr>
              <a:t>BUSINESS MODEL</a:t>
            </a:r>
          </a:p>
        </p:txBody>
      </p:sp>
      <p:sp>
        <p:nvSpPr>
          <p:cNvPr id="141" name="Rounded Rectangle 140"/>
          <p:cNvSpPr/>
          <p:nvPr/>
        </p:nvSpPr>
        <p:spPr>
          <a:xfrm>
            <a:off x="5532120" y="157276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noAutofit/>
          </a:bodyPr>
          <a:lstStyle/>
          <a:p>
            <a:pPr algn="l">
              <a:spcAft>
                <a:spcPts val="200"/>
              </a:spcAft>
            </a:pPr>
            <a:r>
              <a:rPr sz="900" b="1" i="0">
                <a:solidFill>
                  <a:srgbClr val="202124"/>
                </a:solidFill>
                <a:latin typeface="Google Sans Flex"/>
                <a:ea typeface="Google Sans Flex"/>
                <a:cs typeface="Google Sans Flex"/>
              </a:rPr>
              <a:t>Pay-per-inspection API</a:t>
            </a:r>
          </a:p>
          <a:p>
            <a:pPr algn="l">
              <a:spcAft>
                <a:spcPts val="200"/>
              </a:spcAft>
            </a:pPr>
            <a:r>
              <a:rPr sz="750" b="0" i="0">
                <a:solidFill>
                  <a:srgbClr val="202124"/>
                </a:solidFill>
                <a:latin typeface="Google Sans Flex"/>
                <a:ea typeface="Google Sans Flex"/>
                <a:cs typeface="Google Sans Flex"/>
              </a:rPr>
              <a:t>Lenders and insurers send a walkthrough video from their own apps; get JSON, a report and a decision back.</a:t>
            </a:r>
          </a:p>
        </p:txBody>
      </p:sp>
      <p:sp>
        <p:nvSpPr>
          <p:cNvPr id="142" name="Rounded Rectangle 141"/>
          <p:cNvSpPr/>
          <p:nvPr/>
        </p:nvSpPr>
        <p:spPr>
          <a:xfrm>
            <a:off x="5532120" y="239572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noAutofit/>
          </a:bodyPr>
          <a:lstStyle/>
          <a:p>
            <a:pPr algn="l">
              <a:spcAft>
                <a:spcPts val="200"/>
              </a:spcAft>
            </a:pPr>
            <a:r>
              <a:rPr sz="900" b="1" i="0">
                <a:solidFill>
                  <a:srgbClr val="202124"/>
                </a:solidFill>
                <a:latin typeface="Google Sans Flex"/>
                <a:ea typeface="Google Sans Flex"/>
                <a:cs typeface="Google Sans Flex"/>
              </a:rPr>
              <a:t>Enterprise subscription</a:t>
            </a:r>
          </a:p>
          <a:p>
            <a:pPr algn="l">
              <a:spcAft>
                <a:spcPts val="200"/>
              </a:spcAft>
            </a:pPr>
            <a:r>
              <a:rPr sz="750" b="0" i="0">
                <a:solidFill>
                  <a:srgbClr val="202124"/>
                </a:solidFill>
                <a:latin typeface="Google Sans Flex"/>
                <a:ea typeface="Google Sans Flex"/>
                <a:cs typeface="Google Sans Flex"/>
              </a:rPr>
              <a:t>Portfolio dashboard, BigQuery export, custom risk rules, SSO, private deployment in the client's GCP project.</a:t>
            </a:r>
          </a:p>
        </p:txBody>
      </p:sp>
      <p:sp>
        <p:nvSpPr>
          <p:cNvPr id="143" name="Rounded Rectangle 142"/>
          <p:cNvSpPr/>
          <p:nvPr/>
        </p:nvSpPr>
        <p:spPr>
          <a:xfrm>
            <a:off x="5532120" y="321868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noAutofit/>
          </a:bodyPr>
          <a:lstStyle/>
          <a:p>
            <a:pPr algn="l">
              <a:spcAft>
                <a:spcPts val="200"/>
              </a:spcAft>
            </a:pPr>
            <a:r>
              <a:rPr sz="900" b="1" i="0">
                <a:solidFill>
                  <a:srgbClr val="202124"/>
                </a:solidFill>
                <a:latin typeface="Google Sans Flex"/>
                <a:ea typeface="Google Sans Flex"/>
                <a:cs typeface="Google Sans Flex"/>
              </a:rPr>
              <a:t>Inspector &amp; valuer firms</a:t>
            </a:r>
          </a:p>
          <a:p>
            <a:pPr algn="l">
              <a:spcAft>
                <a:spcPts val="200"/>
              </a:spcAft>
            </a:pPr>
            <a:r>
              <a:rPr sz="750" b="0" i="0">
                <a:solidFill>
                  <a:srgbClr val="202124"/>
                </a:solidFill>
                <a:latin typeface="Google Sans Flex"/>
                <a:ea typeface="Google Sans Flex"/>
                <a:cs typeface="Google Sans Flex"/>
              </a:rPr>
              <a:t>White-label app: AI drafts every report and coverage control, so each inspector handles more cases.</a:t>
            </a:r>
          </a:p>
        </p:txBody>
      </p:sp>
      <p:sp>
        <p:nvSpPr>
          <p:cNvPr id="144" name="Rounded Rectangle 143"/>
          <p:cNvSpPr/>
          <p:nvPr/>
        </p:nvSpPr>
        <p:spPr>
          <a:xfrm>
            <a:off x="5532120" y="4114800"/>
            <a:ext cx="3264408" cy="768096"/>
          </a:xfrm>
          <a:prstGeom prst="roundRect">
            <a:avLst>
              <a:gd name="adj" fmla="val 714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800" b="1" i="0">
                <a:solidFill>
                  <a:srgbClr val="202124"/>
                </a:solidFill>
                <a:latin typeface="Google Sans Flex"/>
                <a:ea typeface="Google Sans Flex"/>
                <a:cs typeface="Google Sans Flex"/>
              </a:rPr>
              <a:t>Pricing hypothesis to validate in pilots: </a:t>
            </a:r>
            <a:r>
              <a:rPr sz="800" b="0" i="0">
                <a:solidFill>
                  <a:srgbClr val="202124"/>
                </a:solidFill>
                <a:latin typeface="Google Sans Flex"/>
                <a:ea typeface="Google Sans Flex"/>
                <a:cs typeface="Google Sans Flex"/>
              </a:rPr>
              <a:t>a per-inspection fee well below a physical visit, with volume tiers for portfolios.</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Real screens and outputs from the working prototype v1.0.0</a:t>
            </a:r>
          </a:p>
        </p:txBody>
      </p:sp>
      <p:pic>
        <p:nvPicPr>
          <p:cNvPr id="137" name="Picture 136" descr="s05_154.jpg"/>
          <p:cNvPicPr>
            <a:picLocks noChangeAspect="1"/>
          </p:cNvPicPr>
          <p:nvPr/>
        </p:nvPicPr>
        <p:blipFill>
          <a:blip r:embed="rId5"/>
          <a:stretch>
            <a:fillRect/>
          </a:stretch>
        </p:blipFill>
        <p:spPr>
          <a:xfrm>
            <a:off x="604082" y="1325879"/>
            <a:ext cx="2211690" cy="1554480"/>
          </a:xfrm>
          <a:prstGeom prst="rect">
            <a:avLst/>
          </a:prstGeom>
          <a:ln w="9525">
            <a:solidFill>
              <a:srgbClr val="DADCE0"/>
            </a:solidFill>
          </a:ln>
        </p:spPr>
      </p:pic>
      <p:sp>
        <p:nvSpPr>
          <p:cNvPr id="138" name="TextBox 137"/>
          <p:cNvSpPr txBox="1"/>
          <p:nvPr/>
        </p:nvSpPr>
        <p:spPr>
          <a:xfrm>
            <a:off x="347472" y="2898648"/>
            <a:ext cx="2724912" cy="182880"/>
          </a:xfrm>
          <a:prstGeom prst="rect">
            <a:avLst/>
          </a:prstGeom>
          <a:noFill/>
        </p:spPr>
        <p:txBody>
          <a:bodyPr wrap="square" lIns="0" rIns="0" tIns="0" bIns="0" anchor="t">
            <a:noAutofit/>
          </a:bodyPr>
          <a:lstStyle/>
          <a:p>
            <a:pPr algn="ctr">
              <a:spcAft>
                <a:spcPts val="200"/>
              </a:spcAft>
            </a:pPr>
            <a:r>
              <a:rPr sz="750" b="0" i="1">
                <a:solidFill>
                  <a:srgbClr val="5F6368"/>
                </a:solidFill>
                <a:latin typeface="Google Sans Flex"/>
                <a:ea typeface="Google Sans Flex"/>
                <a:cs typeface="Google Sans Flex"/>
              </a:rPr>
              <a:t>3D report: findings, grade A, decision</a:t>
            </a:r>
          </a:p>
        </p:txBody>
      </p:sp>
      <p:pic>
        <p:nvPicPr>
          <p:cNvPr id="139" name="Picture 138" descr="s11_398.jpg"/>
          <p:cNvPicPr>
            <a:picLocks noChangeAspect="1"/>
          </p:cNvPicPr>
          <p:nvPr/>
        </p:nvPicPr>
        <p:blipFill>
          <a:blip r:embed="rId6"/>
          <a:stretch>
            <a:fillRect/>
          </a:stretch>
        </p:blipFill>
        <p:spPr>
          <a:xfrm>
            <a:off x="3300984" y="1325880"/>
            <a:ext cx="2487168" cy="1554480"/>
          </a:xfrm>
          <a:prstGeom prst="rect">
            <a:avLst/>
          </a:prstGeom>
          <a:ln w="9525">
            <a:solidFill>
              <a:srgbClr val="DADCE0"/>
            </a:solidFill>
          </a:ln>
        </p:spPr>
      </p:pic>
      <p:sp>
        <p:nvSpPr>
          <p:cNvPr id="140" name="TextBox 139"/>
          <p:cNvSpPr txBox="1"/>
          <p:nvPr/>
        </p:nvSpPr>
        <p:spPr>
          <a:xfrm>
            <a:off x="3182112" y="2898648"/>
            <a:ext cx="2724912" cy="182880"/>
          </a:xfrm>
          <a:prstGeom prst="rect">
            <a:avLst/>
          </a:prstGeom>
          <a:noFill/>
        </p:spPr>
        <p:txBody>
          <a:bodyPr wrap="square" lIns="0" rIns="0" tIns="0" bIns="0" anchor="t">
            <a:noAutofit/>
          </a:bodyPr>
          <a:lstStyle/>
          <a:p>
            <a:pPr algn="ctr">
              <a:spcAft>
                <a:spcPts val="200"/>
              </a:spcAft>
            </a:pPr>
            <a:r>
              <a:rPr sz="750" b="0" i="1">
                <a:solidFill>
                  <a:srgbClr val="5F6368"/>
                </a:solidFill>
                <a:latin typeface="Google Sans Flex"/>
                <a:ea typeface="Google Sans Flex"/>
                <a:cs typeface="Google Sans Flex"/>
              </a:rPr>
              <a:t>Risk &amp; valuation panel: REFER with reasons</a:t>
            </a:r>
          </a:p>
        </p:txBody>
      </p:sp>
      <p:pic>
        <p:nvPicPr>
          <p:cNvPr id="141" name="Picture 140" descr="s09_319.jpg"/>
          <p:cNvPicPr>
            <a:picLocks noChangeAspect="1"/>
          </p:cNvPicPr>
          <p:nvPr/>
        </p:nvPicPr>
        <p:blipFill>
          <a:blip r:embed="rId7"/>
          <a:stretch>
            <a:fillRect/>
          </a:stretch>
        </p:blipFill>
        <p:spPr>
          <a:xfrm>
            <a:off x="6209626" y="1325880"/>
            <a:ext cx="2339162" cy="1554480"/>
          </a:xfrm>
          <a:prstGeom prst="rect">
            <a:avLst/>
          </a:prstGeom>
          <a:ln w="9525">
            <a:solidFill>
              <a:srgbClr val="DADCE0"/>
            </a:solidFill>
          </a:ln>
        </p:spPr>
      </p:pic>
      <p:sp>
        <p:nvSpPr>
          <p:cNvPr id="142" name="TextBox 141"/>
          <p:cNvSpPr txBox="1"/>
          <p:nvPr/>
        </p:nvSpPr>
        <p:spPr>
          <a:xfrm>
            <a:off x="6016752" y="2898648"/>
            <a:ext cx="2724912" cy="182880"/>
          </a:xfrm>
          <a:prstGeom prst="rect">
            <a:avLst/>
          </a:prstGeom>
          <a:noFill/>
        </p:spPr>
        <p:txBody>
          <a:bodyPr wrap="square" lIns="0" rIns="0" tIns="0" bIns="0" anchor="t">
            <a:noAutofit/>
          </a:bodyPr>
          <a:lstStyle/>
          <a:p>
            <a:pPr algn="ctr">
              <a:spcAft>
                <a:spcPts val="200"/>
              </a:spcAft>
            </a:pPr>
            <a:r>
              <a:rPr sz="750" b="0" i="1">
                <a:solidFill>
                  <a:srgbClr val="5F6368"/>
                </a:solidFill>
                <a:latin typeface="Google Sans Flex"/>
                <a:ea typeface="Google Sans Flex"/>
                <a:cs typeface="Google Sans Flex"/>
              </a:rPr>
              <a:t>Keyframe detection: door and window damage</a:t>
            </a:r>
          </a:p>
        </p:txBody>
      </p:sp>
      <p:pic>
        <p:nvPicPr>
          <p:cNvPr id="143" name="Picture 142" descr="s13_484.jpg"/>
          <p:cNvPicPr>
            <a:picLocks noChangeAspect="1"/>
          </p:cNvPicPr>
          <p:nvPr/>
        </p:nvPicPr>
        <p:blipFill>
          <a:blip r:embed="rId8"/>
          <a:stretch>
            <a:fillRect/>
          </a:stretch>
        </p:blipFill>
        <p:spPr>
          <a:xfrm>
            <a:off x="853886" y="3127248"/>
            <a:ext cx="1712083" cy="1554480"/>
          </a:xfrm>
          <a:prstGeom prst="rect">
            <a:avLst/>
          </a:prstGeom>
          <a:ln w="9525">
            <a:solidFill>
              <a:srgbClr val="DADCE0"/>
            </a:solidFill>
          </a:ln>
        </p:spPr>
      </p:pic>
      <p:sp>
        <p:nvSpPr>
          <p:cNvPr id="144" name="TextBox 143"/>
          <p:cNvSpPr txBox="1"/>
          <p:nvPr/>
        </p:nvSpPr>
        <p:spPr>
          <a:xfrm>
            <a:off x="347472" y="4700016"/>
            <a:ext cx="2724912" cy="182880"/>
          </a:xfrm>
          <a:prstGeom prst="rect">
            <a:avLst/>
          </a:prstGeom>
          <a:noFill/>
        </p:spPr>
        <p:txBody>
          <a:bodyPr wrap="square" lIns="0" rIns="0" tIns="0" bIns="0" anchor="t">
            <a:noAutofit/>
          </a:bodyPr>
          <a:lstStyle/>
          <a:p>
            <a:pPr algn="ctr">
              <a:spcAft>
                <a:spcPts val="200"/>
              </a:spcAft>
            </a:pPr>
            <a:r>
              <a:rPr sz="750" b="0" i="1">
                <a:solidFill>
                  <a:srgbClr val="5F6368"/>
                </a:solidFill>
                <a:latin typeface="Google Sans Flex"/>
                <a:ea typeface="Google Sans Flex"/>
                <a:cs typeface="Google Sans Flex"/>
              </a:rPr>
              <a:t>Phone video → clean 3D model (GLB)</a:t>
            </a:r>
          </a:p>
        </p:txBody>
      </p:sp>
      <p:pic>
        <p:nvPicPr>
          <p:cNvPr id="145" name="Picture 144" descr="s14_524.jpg"/>
          <p:cNvPicPr>
            <a:picLocks noChangeAspect="1"/>
          </p:cNvPicPr>
          <p:nvPr/>
        </p:nvPicPr>
        <p:blipFill>
          <a:blip r:embed="rId9"/>
          <a:stretch>
            <a:fillRect/>
          </a:stretch>
        </p:blipFill>
        <p:spPr>
          <a:xfrm>
            <a:off x="3769517" y="3127248"/>
            <a:ext cx="1550101" cy="1554480"/>
          </a:xfrm>
          <a:prstGeom prst="rect">
            <a:avLst/>
          </a:prstGeom>
          <a:ln w="9525">
            <a:solidFill>
              <a:srgbClr val="DADCE0"/>
            </a:solidFill>
          </a:ln>
        </p:spPr>
      </p:pic>
      <p:sp>
        <p:nvSpPr>
          <p:cNvPr id="146" name="TextBox 145"/>
          <p:cNvSpPr txBox="1"/>
          <p:nvPr/>
        </p:nvSpPr>
        <p:spPr>
          <a:xfrm>
            <a:off x="3182112" y="4700016"/>
            <a:ext cx="2724912" cy="182880"/>
          </a:xfrm>
          <a:prstGeom prst="rect">
            <a:avLst/>
          </a:prstGeom>
          <a:noFill/>
        </p:spPr>
        <p:txBody>
          <a:bodyPr wrap="square" lIns="0" rIns="0" tIns="0" bIns="0" anchor="t">
            <a:noAutofit/>
          </a:bodyPr>
          <a:lstStyle/>
          <a:p>
            <a:pPr algn="ctr">
              <a:spcAft>
                <a:spcPts val="200"/>
              </a:spcAft>
            </a:pPr>
            <a:r>
              <a:rPr sz="750" b="0" i="1">
                <a:solidFill>
                  <a:srgbClr val="5F6368"/>
                </a:solidFill>
                <a:latin typeface="Google Sans Flex"/>
                <a:ea typeface="Google Sans Flex"/>
                <a:cs typeface="Google Sans Flex"/>
              </a:rPr>
              <a:t>Coverage map: what to film again</a:t>
            </a:r>
          </a:p>
        </p:txBody>
      </p:sp>
      <p:pic>
        <p:nvPicPr>
          <p:cNvPr id="147" name="Picture 146" descr="s15_550.jpg"/>
          <p:cNvPicPr>
            <a:picLocks noChangeAspect="1"/>
          </p:cNvPicPr>
          <p:nvPr/>
        </p:nvPicPr>
        <p:blipFill>
          <a:blip r:embed="rId10"/>
          <a:stretch>
            <a:fillRect/>
          </a:stretch>
        </p:blipFill>
        <p:spPr>
          <a:xfrm>
            <a:off x="6016752" y="3298310"/>
            <a:ext cx="2724912" cy="1212354"/>
          </a:xfrm>
          <a:prstGeom prst="rect">
            <a:avLst/>
          </a:prstGeom>
          <a:ln w="9525">
            <a:solidFill>
              <a:srgbClr val="DADCE0"/>
            </a:solidFill>
          </a:ln>
        </p:spPr>
      </p:pic>
      <p:sp>
        <p:nvSpPr>
          <p:cNvPr id="148" name="TextBox 147"/>
          <p:cNvSpPr txBox="1"/>
          <p:nvPr/>
        </p:nvSpPr>
        <p:spPr>
          <a:xfrm>
            <a:off x="6016752" y="4700016"/>
            <a:ext cx="2724912" cy="182880"/>
          </a:xfrm>
          <a:prstGeom prst="rect">
            <a:avLst/>
          </a:prstGeom>
          <a:noFill/>
        </p:spPr>
        <p:txBody>
          <a:bodyPr wrap="square" lIns="0" rIns="0" tIns="0" bIns="0" anchor="t">
            <a:noAutofit/>
          </a:bodyPr>
          <a:lstStyle/>
          <a:p>
            <a:pPr algn="ctr">
              <a:spcAft>
                <a:spcPts val="200"/>
              </a:spcAft>
            </a:pPr>
            <a:r>
              <a:rPr sz="750" b="0" i="1">
                <a:solidFill>
                  <a:srgbClr val="5F6368"/>
                </a:solidFill>
                <a:latin typeface="Google Sans Flex"/>
                <a:ea typeface="Google Sans Flex"/>
                <a:cs typeface="Google Sans Flex"/>
              </a:rPr>
              <a:t>Gemini property analysis (co-pilot)</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Measured on a real 20-second walkthrough, plus a fair 4-pipeline evaluation</a:t>
            </a:r>
          </a:p>
        </p:txBody>
      </p:sp>
      <p:sp>
        <p:nvSpPr>
          <p:cNvPr id="145" name="TextBox 144"/>
          <p:cNvSpPr txBox="1"/>
          <p:nvPr/>
        </p:nvSpPr>
        <p:spPr>
          <a:xfrm>
            <a:off x="347472" y="1325880"/>
            <a:ext cx="4114800" cy="164592"/>
          </a:xfrm>
          <a:prstGeom prst="rect">
            <a:avLst/>
          </a:prstGeom>
          <a:noFill/>
        </p:spPr>
        <p:txBody>
          <a:bodyPr wrap="square" lIns="0" rIns="0" tIns="0" bIns="0" anchor="t">
            <a:noAutofit/>
          </a:bodyPr>
          <a:lstStyle/>
          <a:p>
            <a:pPr algn="l">
              <a:spcAft>
                <a:spcPts val="200"/>
              </a:spcAft>
            </a:pPr>
            <a:r>
              <a:rPr sz="700" b="1" i="0">
                <a:solidFill>
                  <a:srgbClr val="1A73E8"/>
                </a:solidFill>
                <a:latin typeface="Google Sans Flex"/>
                <a:ea typeface="Google Sans Flex"/>
                <a:cs typeface="Google Sans Flex"/>
              </a:rPr>
              <a:t>CASE STUDY: REAL HOME WALKTHROUGH (MEASURED)</a:t>
            </a:r>
          </a:p>
        </p:txBody>
      </p:sp>
      <p:sp>
        <p:nvSpPr>
          <p:cNvPr id="146" name="Rounded Rectangle 145"/>
          <p:cNvSpPr/>
          <p:nvPr/>
        </p:nvSpPr>
        <p:spPr>
          <a:xfrm>
            <a:off x="3474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438912" y="1581912"/>
            <a:ext cx="1124712" cy="365760"/>
          </a:xfrm>
          <a:prstGeom prst="rect">
            <a:avLst/>
          </a:prstGeom>
          <a:noFill/>
        </p:spPr>
        <p:txBody>
          <a:bodyPr wrap="square" lIns="0" rIns="0" tIns="0" bIns="0" anchor="t">
            <a:noAutofit/>
          </a:bodyPr>
          <a:lstStyle/>
          <a:p>
            <a:pPr algn="l">
              <a:spcAft>
                <a:spcPts val="200"/>
              </a:spcAft>
            </a:pPr>
            <a:r>
              <a:rPr sz="1200" b="1" i="0">
                <a:solidFill>
                  <a:srgbClr val="1A73E8"/>
                </a:solidFill>
                <a:latin typeface="Google Sans Flex"/>
                <a:ea typeface="Google Sans Flex"/>
                <a:cs typeface="Google Sans Flex"/>
              </a:rPr>
              <a:t>19.6 s</a:t>
            </a:r>
          </a:p>
        </p:txBody>
      </p:sp>
      <p:sp>
        <p:nvSpPr>
          <p:cNvPr id="148" name="TextBox 147"/>
          <p:cNvSpPr txBox="1"/>
          <p:nvPr/>
        </p:nvSpPr>
        <p:spPr>
          <a:xfrm>
            <a:off x="438912" y="1772412"/>
            <a:ext cx="1124712" cy="54864"/>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phone video</a:t>
            </a:r>
          </a:p>
        </p:txBody>
      </p:sp>
      <p:sp>
        <p:nvSpPr>
          <p:cNvPr id="149" name="Rounded Rectangle 148"/>
          <p:cNvSpPr/>
          <p:nvPr/>
        </p:nvSpPr>
        <p:spPr>
          <a:xfrm>
            <a:off x="17190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1810512" y="1581912"/>
            <a:ext cx="1124712" cy="365760"/>
          </a:xfrm>
          <a:prstGeom prst="rect">
            <a:avLst/>
          </a:prstGeom>
          <a:noFill/>
        </p:spPr>
        <p:txBody>
          <a:bodyPr wrap="square" lIns="0" rIns="0" tIns="0" bIns="0" anchor="t">
            <a:noAutofit/>
          </a:bodyPr>
          <a:lstStyle/>
          <a:p>
            <a:pPr algn="l">
              <a:spcAft>
                <a:spcPts val="200"/>
              </a:spcAft>
            </a:pPr>
            <a:r>
              <a:rPr sz="1200" b="1" i="0">
                <a:solidFill>
                  <a:srgbClr val="D93025"/>
                </a:solidFill>
                <a:latin typeface="Google Sans Flex"/>
                <a:ea typeface="Google Sans Flex"/>
                <a:cs typeface="Google Sans Flex"/>
              </a:rPr>
              <a:t>197</a:t>
            </a:r>
          </a:p>
        </p:txBody>
      </p:sp>
      <p:sp>
        <p:nvSpPr>
          <p:cNvPr id="151" name="TextBox 150"/>
          <p:cNvSpPr txBox="1"/>
          <p:nvPr/>
        </p:nvSpPr>
        <p:spPr>
          <a:xfrm>
            <a:off x="1810512" y="1772412"/>
            <a:ext cx="1124712" cy="54864"/>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SLAM frames</a:t>
            </a:r>
          </a:p>
        </p:txBody>
      </p:sp>
      <p:sp>
        <p:nvSpPr>
          <p:cNvPr id="152" name="Rounded Rectangle 151"/>
          <p:cNvSpPr/>
          <p:nvPr/>
        </p:nvSpPr>
        <p:spPr>
          <a:xfrm>
            <a:off x="30906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3182112" y="1581912"/>
            <a:ext cx="1124712" cy="365760"/>
          </a:xfrm>
          <a:prstGeom prst="rect">
            <a:avLst/>
          </a:prstGeom>
          <a:noFill/>
        </p:spPr>
        <p:txBody>
          <a:bodyPr wrap="square" lIns="0" rIns="0" tIns="0" bIns="0" anchor="t">
            <a:noAutofit/>
          </a:bodyPr>
          <a:lstStyle/>
          <a:p>
            <a:pPr algn="l">
              <a:spcAft>
                <a:spcPts val="200"/>
              </a:spcAft>
            </a:pPr>
            <a:r>
              <a:rPr sz="1200" b="1" i="0">
                <a:solidFill>
                  <a:srgbClr val="E37400"/>
                </a:solidFill>
                <a:latin typeface="Google Sans Flex"/>
                <a:ea typeface="Google Sans Flex"/>
                <a:cs typeface="Google Sans Flex"/>
              </a:rPr>
              <a:t>15</a:t>
            </a:r>
          </a:p>
        </p:txBody>
      </p:sp>
      <p:sp>
        <p:nvSpPr>
          <p:cNvPr id="154" name="TextBox 153"/>
          <p:cNvSpPr txBox="1"/>
          <p:nvPr/>
        </p:nvSpPr>
        <p:spPr>
          <a:xfrm>
            <a:off x="3182112" y="1772412"/>
            <a:ext cx="1124712" cy="54864"/>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AI keyframes</a:t>
            </a:r>
          </a:p>
        </p:txBody>
      </p:sp>
      <p:sp>
        <p:nvSpPr>
          <p:cNvPr id="155" name="Rounded Rectangle 154"/>
          <p:cNvSpPr/>
          <p:nvPr/>
        </p:nvSpPr>
        <p:spPr>
          <a:xfrm>
            <a:off x="3474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8912" y="2148839"/>
            <a:ext cx="1124712" cy="365760"/>
          </a:xfrm>
          <a:prstGeom prst="rect">
            <a:avLst/>
          </a:prstGeom>
          <a:noFill/>
        </p:spPr>
        <p:txBody>
          <a:bodyPr wrap="square" lIns="0" rIns="0" tIns="0" bIns="0" anchor="t">
            <a:noAutofit/>
          </a:bodyPr>
          <a:lstStyle/>
          <a:p>
            <a:pPr algn="l">
              <a:spcAft>
                <a:spcPts val="200"/>
              </a:spcAft>
            </a:pPr>
            <a:r>
              <a:rPr sz="1200" b="1" i="0">
                <a:solidFill>
                  <a:srgbClr val="188038"/>
                </a:solidFill>
                <a:latin typeface="Google Sans Flex"/>
                <a:ea typeface="Google Sans Flex"/>
                <a:cs typeface="Google Sans Flex"/>
              </a:rPr>
              <a:t>24.5 m²</a:t>
            </a:r>
          </a:p>
        </p:txBody>
      </p:sp>
      <p:sp>
        <p:nvSpPr>
          <p:cNvPr id="157" name="TextBox 156"/>
          <p:cNvSpPr txBox="1"/>
          <p:nvPr/>
        </p:nvSpPr>
        <p:spPr>
          <a:xfrm>
            <a:off x="438912" y="2339340"/>
            <a:ext cx="1124712" cy="54864"/>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2 rooms measured</a:t>
            </a:r>
          </a:p>
        </p:txBody>
      </p:sp>
      <p:sp>
        <p:nvSpPr>
          <p:cNvPr id="158" name="Rounded Rectangle 157"/>
          <p:cNvSpPr/>
          <p:nvPr/>
        </p:nvSpPr>
        <p:spPr>
          <a:xfrm>
            <a:off x="17190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1810512" y="2148839"/>
            <a:ext cx="1124712" cy="365760"/>
          </a:xfrm>
          <a:prstGeom prst="rect">
            <a:avLst/>
          </a:prstGeom>
          <a:noFill/>
        </p:spPr>
        <p:txBody>
          <a:bodyPr wrap="square" lIns="0" rIns="0" tIns="0" bIns="0" anchor="t">
            <a:noAutofit/>
          </a:bodyPr>
          <a:lstStyle/>
          <a:p>
            <a:pPr algn="l">
              <a:spcAft>
                <a:spcPts val="200"/>
              </a:spcAft>
            </a:pPr>
            <a:r>
              <a:rPr sz="1200" b="1" i="0">
                <a:solidFill>
                  <a:srgbClr val="1A73E8"/>
                </a:solidFill>
                <a:latin typeface="Google Sans Flex"/>
                <a:ea typeface="Google Sans Flex"/>
                <a:cs typeface="Google Sans Flex"/>
              </a:rPr>
              <a:t>95.7 · A</a:t>
            </a:r>
          </a:p>
        </p:txBody>
      </p:sp>
      <p:sp>
        <p:nvSpPr>
          <p:cNvPr id="160" name="TextBox 159"/>
          <p:cNvSpPr txBox="1"/>
          <p:nvPr/>
        </p:nvSpPr>
        <p:spPr>
          <a:xfrm>
            <a:off x="1810512" y="2339340"/>
            <a:ext cx="1124712" cy="54864"/>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condition score</a:t>
            </a:r>
          </a:p>
        </p:txBody>
      </p:sp>
      <p:sp>
        <p:nvSpPr>
          <p:cNvPr id="161" name="Rounded Rectangle 160"/>
          <p:cNvSpPr/>
          <p:nvPr/>
        </p:nvSpPr>
        <p:spPr>
          <a:xfrm>
            <a:off x="30906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3182112" y="2148839"/>
            <a:ext cx="1124712" cy="365760"/>
          </a:xfrm>
          <a:prstGeom prst="rect">
            <a:avLst/>
          </a:prstGeom>
          <a:noFill/>
        </p:spPr>
        <p:txBody>
          <a:bodyPr wrap="square" lIns="0" rIns="0" tIns="0" bIns="0" anchor="t">
            <a:noAutofit/>
          </a:bodyPr>
          <a:lstStyle/>
          <a:p>
            <a:pPr algn="l">
              <a:spcAft>
                <a:spcPts val="200"/>
              </a:spcAft>
            </a:pPr>
            <a:r>
              <a:rPr sz="1200" b="1" i="0">
                <a:solidFill>
                  <a:srgbClr val="D93025"/>
                </a:solidFill>
                <a:latin typeface="Google Sans Flex"/>
                <a:ea typeface="Google Sans Flex"/>
                <a:cs typeface="Google Sans Flex"/>
              </a:rPr>
              <a:t>$405–2,775</a:t>
            </a:r>
          </a:p>
        </p:txBody>
      </p:sp>
      <p:sp>
        <p:nvSpPr>
          <p:cNvPr id="163" name="TextBox 162"/>
          <p:cNvSpPr txBox="1"/>
          <p:nvPr/>
        </p:nvSpPr>
        <p:spPr>
          <a:xfrm>
            <a:off x="3182112" y="2339340"/>
            <a:ext cx="1124712" cy="54864"/>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indicative repairs</a:t>
            </a:r>
          </a:p>
        </p:txBody>
      </p:sp>
      <p:sp>
        <p:nvSpPr>
          <p:cNvPr id="164" name="Rounded Rectangle 163"/>
          <p:cNvSpPr/>
          <p:nvPr/>
        </p:nvSpPr>
        <p:spPr>
          <a:xfrm>
            <a:off x="347472" y="2688336"/>
            <a:ext cx="4050791"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58521" bIns="58521">
            <a:noAutofit/>
          </a:bodyPr>
          <a:lstStyle/>
          <a:p>
            <a:pPr algn="l">
              <a:spcAft>
                <a:spcPts val="200"/>
              </a:spcAft>
            </a:pPr>
            <a:r>
              <a:rPr sz="850" b="1" i="0">
                <a:solidFill>
                  <a:srgbClr val="D93025"/>
                </a:solidFill>
                <a:latin typeface="Google Sans Flex"/>
                <a:ea typeface="Google Sans Flex"/>
                <a:cs typeface="Google Sans Flex"/>
              </a:rPr>
              <a:t>Decision: REFER, additional evidence required</a:t>
            </a:r>
          </a:p>
          <a:p>
            <a:pPr algn="l">
              <a:spcAft>
                <a:spcPts val="200"/>
              </a:spcAft>
            </a:pPr>
            <a:r>
              <a:rPr sz="720" b="0" i="0">
                <a:solidFill>
                  <a:srgbClr val="202124"/>
                </a:solidFill>
                <a:latin typeface="Google Sans Flex"/>
                <a:ea typeface="Google Sans Flex"/>
                <a:cs typeface="Google Sans Flex"/>
              </a:rPr>
              <a:t>Only 42.5% of surfaces were AI-inspected (min 60%), so the app lists the walls and ceilings to film again. 7 possible defects pinned in 3D (Needs review).</a:t>
            </a:r>
          </a:p>
        </p:txBody>
      </p:sp>
      <p:sp>
        <p:nvSpPr>
          <p:cNvPr id="165" name="TextBox 164"/>
          <p:cNvSpPr txBox="1"/>
          <p:nvPr/>
        </p:nvSpPr>
        <p:spPr>
          <a:xfrm>
            <a:off x="347472" y="3438144"/>
            <a:ext cx="4050791" cy="164592"/>
          </a:xfrm>
          <a:prstGeom prst="rect">
            <a:avLst/>
          </a:prstGeom>
          <a:noFill/>
        </p:spPr>
        <p:txBody>
          <a:bodyPr wrap="square" lIns="0" rIns="0" tIns="0" bIns="0" anchor="t">
            <a:noAutofit/>
          </a:bodyPr>
          <a:lstStyle/>
          <a:p>
            <a:pPr algn="l">
              <a:spcAft>
                <a:spcPts val="200"/>
              </a:spcAft>
            </a:pPr>
            <a:r>
              <a:rPr sz="700" b="1" i="0">
                <a:solidFill>
                  <a:srgbClr val="1A73E8"/>
                </a:solidFill>
                <a:latin typeface="Google Sans Flex"/>
                <a:ea typeface="Google Sans Flex"/>
                <a:cs typeface="Google Sans Flex"/>
              </a:rPr>
              <a:t>SPEED &amp; COST (FROM THE PROTOTYPE)</a:t>
            </a:r>
          </a:p>
        </p:txBody>
      </p:sp>
      <p:sp>
        <p:nvSpPr>
          <p:cNvPr id="166" name="Rounded Rectangle 165"/>
          <p:cNvSpPr/>
          <p:nvPr/>
        </p:nvSpPr>
        <p:spPr>
          <a:xfrm>
            <a:off x="347472" y="362102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438912" y="3685032"/>
            <a:ext cx="1810512" cy="365760"/>
          </a:xfrm>
          <a:prstGeom prst="rect">
            <a:avLst/>
          </a:prstGeom>
          <a:noFill/>
        </p:spPr>
        <p:txBody>
          <a:bodyPr wrap="square" lIns="0" rIns="0" tIns="0" bIns="0" anchor="t">
            <a:noAutofit/>
          </a:bodyPr>
          <a:lstStyle/>
          <a:p>
            <a:pPr algn="l">
              <a:spcAft>
                <a:spcPts val="200"/>
              </a:spcAft>
            </a:pPr>
            <a:r>
              <a:rPr sz="1200" b="1" i="0">
                <a:solidFill>
                  <a:srgbClr val="1A73E8"/>
                </a:solidFill>
                <a:latin typeface="Google Sans Flex"/>
                <a:ea typeface="Google Sans Flex"/>
                <a:cs typeface="Google Sans Flex"/>
              </a:rPr>
              <a:t>10.6 min</a:t>
            </a:r>
          </a:p>
        </p:txBody>
      </p:sp>
      <p:sp>
        <p:nvSpPr>
          <p:cNvPr id="168" name="TextBox 167"/>
          <p:cNvSpPr txBox="1"/>
          <p:nvPr/>
        </p:nvSpPr>
        <p:spPr>
          <a:xfrm>
            <a:off x="438912" y="3875532"/>
            <a:ext cx="1810512" cy="128016"/>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end to end, 20 s video, laptop GPU</a:t>
            </a:r>
          </a:p>
        </p:txBody>
      </p:sp>
      <p:sp>
        <p:nvSpPr>
          <p:cNvPr id="169" name="Rounded Rectangle 168"/>
          <p:cNvSpPr/>
          <p:nvPr/>
        </p:nvSpPr>
        <p:spPr>
          <a:xfrm>
            <a:off x="2404872" y="362102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2496312" y="3685032"/>
            <a:ext cx="1810512" cy="365760"/>
          </a:xfrm>
          <a:prstGeom prst="rect">
            <a:avLst/>
          </a:prstGeom>
          <a:noFill/>
        </p:spPr>
        <p:txBody>
          <a:bodyPr wrap="square" lIns="0" rIns="0" tIns="0" bIns="0" anchor="t">
            <a:noAutofit/>
          </a:bodyPr>
          <a:lstStyle/>
          <a:p>
            <a:pPr algn="l">
              <a:spcAft>
                <a:spcPts val="200"/>
              </a:spcAft>
            </a:pPr>
            <a:r>
              <a:rPr sz="1200" b="1" i="0">
                <a:solidFill>
                  <a:srgbClr val="D93025"/>
                </a:solidFill>
                <a:latin typeface="Google Sans Flex"/>
                <a:ea typeface="Google Sans Flex"/>
                <a:cs typeface="Google Sans Flex"/>
              </a:rPr>
              <a:t>11.1 / 26.9 min</a:t>
            </a:r>
          </a:p>
        </p:txBody>
      </p:sp>
      <p:sp>
        <p:nvSpPr>
          <p:cNvPr id="171" name="TextBox 170"/>
          <p:cNvSpPr txBox="1"/>
          <p:nvPr/>
        </p:nvSpPr>
        <p:spPr>
          <a:xfrm>
            <a:off x="2496312" y="3875532"/>
            <a:ext cx="1810512" cy="128016"/>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3D build, Lite / Advanced</a:t>
            </a:r>
          </a:p>
        </p:txBody>
      </p:sp>
      <p:sp>
        <p:nvSpPr>
          <p:cNvPr id="172" name="Rounded Rectangle 171"/>
          <p:cNvSpPr/>
          <p:nvPr/>
        </p:nvSpPr>
        <p:spPr>
          <a:xfrm>
            <a:off x="347472" y="426110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438912" y="4325112"/>
            <a:ext cx="1810512" cy="365760"/>
          </a:xfrm>
          <a:prstGeom prst="rect">
            <a:avLst/>
          </a:prstGeom>
          <a:noFill/>
        </p:spPr>
        <p:txBody>
          <a:bodyPr wrap="square" lIns="0" rIns="0" tIns="0" bIns="0" anchor="t">
            <a:noAutofit/>
          </a:bodyPr>
          <a:lstStyle/>
          <a:p>
            <a:pPr algn="l">
              <a:spcAft>
                <a:spcPts val="200"/>
              </a:spcAft>
            </a:pPr>
            <a:r>
              <a:rPr sz="1200" b="1" i="0">
                <a:solidFill>
                  <a:srgbClr val="E37400"/>
                </a:solidFill>
                <a:latin typeface="Google Sans Flex"/>
                <a:ea typeface="Google Sans Flex"/>
                <a:cs typeface="Google Sans Flex"/>
              </a:rPr>
              <a:t>21.8 / 21.6 dB</a:t>
            </a:r>
          </a:p>
        </p:txBody>
      </p:sp>
      <p:sp>
        <p:nvSpPr>
          <p:cNvPr id="174" name="TextBox 173"/>
          <p:cNvSpPr txBox="1"/>
          <p:nvPr/>
        </p:nvSpPr>
        <p:spPr>
          <a:xfrm>
            <a:off x="438912" y="4515612"/>
            <a:ext cx="1810512" cy="128016"/>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PSNR, Lite / Advanced</a:t>
            </a:r>
          </a:p>
        </p:txBody>
      </p:sp>
      <p:sp>
        <p:nvSpPr>
          <p:cNvPr id="175" name="Rounded Rectangle 174"/>
          <p:cNvSpPr/>
          <p:nvPr/>
        </p:nvSpPr>
        <p:spPr>
          <a:xfrm>
            <a:off x="2404872" y="426110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496312" y="4325112"/>
            <a:ext cx="1810512" cy="365760"/>
          </a:xfrm>
          <a:prstGeom prst="rect">
            <a:avLst/>
          </a:prstGeom>
          <a:noFill/>
        </p:spPr>
        <p:txBody>
          <a:bodyPr wrap="square" lIns="0" rIns="0" tIns="0" bIns="0" anchor="t">
            <a:noAutofit/>
          </a:bodyPr>
          <a:lstStyle/>
          <a:p>
            <a:pPr algn="l">
              <a:spcAft>
                <a:spcPts val="200"/>
              </a:spcAft>
            </a:pPr>
            <a:r>
              <a:rPr sz="1200" b="1" i="0">
                <a:solidFill>
                  <a:srgbClr val="188038"/>
                </a:solidFill>
                <a:latin typeface="Google Sans Flex"/>
                <a:ea typeface="Google Sans Flex"/>
                <a:cs typeface="Google Sans Flex"/>
              </a:rPr>
              <a:t>≈ $0.35</a:t>
            </a:r>
          </a:p>
        </p:txBody>
      </p:sp>
      <p:sp>
        <p:nvSpPr>
          <p:cNvPr id="177" name="TextBox 176"/>
          <p:cNvSpPr txBox="1"/>
          <p:nvPr/>
        </p:nvSpPr>
        <p:spPr>
          <a:xfrm>
            <a:off x="2496312" y="4515612"/>
            <a:ext cx="1810512" cy="128016"/>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Gemini per walkthrough</a:t>
            </a:r>
          </a:p>
        </p:txBody>
      </p:sp>
      <p:sp>
        <p:nvSpPr>
          <p:cNvPr id="178" name="TextBox 177"/>
          <p:cNvSpPr txBox="1"/>
          <p:nvPr/>
        </p:nvSpPr>
        <p:spPr>
          <a:xfrm>
            <a:off x="4572000" y="1325880"/>
            <a:ext cx="4206240" cy="164592"/>
          </a:xfrm>
          <a:prstGeom prst="rect">
            <a:avLst/>
          </a:prstGeom>
          <a:noFill/>
        </p:spPr>
        <p:txBody>
          <a:bodyPr wrap="square" lIns="0" rIns="0" tIns="0" bIns="0" anchor="t">
            <a:noAutofit/>
          </a:bodyPr>
          <a:lstStyle/>
          <a:p>
            <a:pPr algn="l">
              <a:spcAft>
                <a:spcPts val="200"/>
              </a:spcAft>
            </a:pPr>
            <a:r>
              <a:rPr sz="700" b="1" i="0">
                <a:solidFill>
                  <a:srgbClr val="1A73E8"/>
                </a:solidFill>
                <a:latin typeface="Google Sans Flex"/>
                <a:ea typeface="Google Sans Flex"/>
                <a:cs typeface="Google Sans Flex"/>
              </a:rPr>
              <a:t>EVALUATION: 4 PIPELINES · 10 ROOMS · 100 REGIONS</a:t>
            </a:r>
          </a:p>
        </p:txBody>
      </p:sp>
      <p:graphicFrame>
        <p:nvGraphicFramePr>
          <p:cNvPr id="179" name="Chart 178"/>
          <p:cNvGraphicFramePr>
            <a:graphicFrameLocks noGrp="1"/>
          </p:cNvGraphicFramePr>
          <p:nvPr/>
        </p:nvGraphicFramePr>
        <p:xfrm>
          <a:off x="4572000" y="1481328"/>
          <a:ext cx="4224528" cy="2240280"/>
        </p:xfrm>
        <a:graphic>
          <a:graphicData uri="http://schemas.openxmlformats.org/drawingml/2006/chart">
            <c:chart r:id="rId5"/>
          </a:graphicData>
        </a:graphic>
      </p:graphicFrame>
      <p:sp>
        <p:nvSpPr>
          <p:cNvPr id="180" name="Rounded Rectangle 179"/>
          <p:cNvSpPr/>
          <p:nvPr/>
        </p:nvSpPr>
        <p:spPr>
          <a:xfrm>
            <a:off x="4572000" y="3794760"/>
            <a:ext cx="4224528" cy="1097280"/>
          </a:xfrm>
          <a:prstGeom prst="roundRect">
            <a:avLst>
              <a:gd name="adj" fmla="val 5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58521" bIns="58521">
            <a:noAutofit/>
          </a:bodyPr>
          <a:lstStyle/>
          <a:p>
            <a:pPr algn="l">
              <a:spcAft>
                <a:spcPts val="200"/>
              </a:spcAft>
            </a:pPr>
            <a:r>
              <a:rPr sz="660" b="1" i="0">
                <a:solidFill>
                  <a:srgbClr val="E37400"/>
                </a:solidFill>
                <a:latin typeface="Google Sans Flex"/>
                <a:ea typeface="Google Sans Flex"/>
                <a:cs typeface="Google Sans Flex"/>
              </a:rPr>
              <a:t>Simulated illustration, not yet measured: </a:t>
            </a:r>
            <a:r>
              <a:rPr sz="660" b="0" i="0">
                <a:solidFill>
                  <a:srgbClr val="202124"/>
                </a:solidFill>
                <a:latin typeface="Google Sans Flex"/>
                <a:ea typeface="Google Sans Flex"/>
                <a:cs typeface="Google Sans Flex"/>
              </a:rPr>
              <a:t>values show the report format and the expected gain; they will be replaced after running the protocol on D.</a:t>
            </a:r>
          </a:p>
          <a:p>
            <a:pPr algn="l">
              <a:spcAft>
                <a:spcPts val="200"/>
              </a:spcAft>
            </a:pPr>
            <a:r>
              <a:rPr sz="660" b="1" i="0">
                <a:solidFill>
                  <a:srgbClr val="202124"/>
                </a:solidFill>
                <a:latin typeface="Google Sans Flex"/>
                <a:ea typeface="Google Sans Flex"/>
                <a:cs typeface="Google Sans Flex"/>
              </a:rPr>
              <a:t>Fair test: </a:t>
            </a:r>
            <a:r>
              <a:rPr sz="660" b="0" i="0">
                <a:solidFill>
                  <a:srgbClr val="202124"/>
                </a:solidFill>
                <a:latin typeface="Google Sans Flex"/>
                <a:ea typeface="Google Sans Flex"/>
                <a:cs typeface="Google Sans Flex"/>
              </a:rPr>
              <a:t>same images, schema, Gemini settings and decision rule; test set frozen; 5 living rooms + 5 bedrooms incl. 2 clean controls; 40 defective / 60 clean regions.</a:t>
            </a:r>
          </a:p>
          <a:p>
            <a:pPr algn="l">
              <a:spcAft>
                <a:spcPts val="200"/>
              </a:spcAft>
            </a:pPr>
            <a:r>
              <a:rPr sz="660" b="1" i="0">
                <a:solidFill>
                  <a:srgbClr val="202124"/>
                </a:solidFill>
                <a:latin typeface="Google Sans Flex"/>
                <a:ea typeface="Google Sans Flex"/>
                <a:cs typeface="Google Sans Flex"/>
              </a:rPr>
              <a:t>Targets for D: </a:t>
            </a:r>
            <a:r>
              <a:rPr sz="660" b="0" i="0">
                <a:solidFill>
                  <a:srgbClr val="202124"/>
                </a:solidFill>
                <a:latin typeface="Google Sans Flex"/>
                <a:ea typeface="Google Sans Flex"/>
                <a:cs typeface="Google Sans Flex"/>
              </a:rPr>
              <a:t>≥ 85% accuracy, precision, recall, F1; ≤ 1 false alarm on clean rooms; beat A on every metric.</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Roadmap: documents, policies and predictive portfolio risk</a:t>
            </a:r>
          </a:p>
        </p:txBody>
      </p:sp>
      <p:sp>
        <p:nvSpPr>
          <p:cNvPr id="153" name="Rounded Rectangle 152"/>
          <p:cNvSpPr/>
          <p:nvPr/>
        </p:nvSpPr>
        <p:spPr>
          <a:xfrm>
            <a:off x="347472" y="1325880"/>
            <a:ext cx="2724912" cy="1691640"/>
          </a:xfrm>
          <a:prstGeom prst="roundRect">
            <a:avLst>
              <a:gd name="adj" fmla="val 3243"/>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457200" y="1399032"/>
            <a:ext cx="2514600" cy="219456"/>
          </a:xfrm>
          <a:prstGeom prst="rect">
            <a:avLst/>
          </a:prstGeom>
          <a:noFill/>
        </p:spPr>
        <p:txBody>
          <a:bodyPr wrap="square" lIns="0" rIns="0" tIns="0" bIns="0" anchor="t">
            <a:noAutofit/>
          </a:bodyPr>
          <a:lstStyle/>
          <a:p>
            <a:pPr algn="l">
              <a:spcAft>
                <a:spcPts val="200"/>
              </a:spcAft>
            </a:pPr>
            <a:r>
              <a:rPr sz="950" b="1" i="0">
                <a:solidFill>
                  <a:srgbClr val="188038"/>
                </a:solidFill>
                <a:latin typeface="Google Sans Flex"/>
                <a:ea typeface="Google Sans Flex"/>
                <a:cs typeface="Google Sans Flex"/>
              </a:rPr>
              <a:t>NOW · v1.0.0</a:t>
            </a:r>
          </a:p>
        </p:txBody>
      </p:sp>
      <p:sp>
        <p:nvSpPr>
          <p:cNvPr id="155" name="TextBox 154"/>
          <p:cNvSpPr txBox="1"/>
          <p:nvPr/>
        </p:nvSpPr>
        <p:spPr>
          <a:xfrm>
            <a:off x="457200" y="1664208"/>
            <a:ext cx="2542032" cy="1325880"/>
          </a:xfrm>
          <a:prstGeom prst="rect">
            <a:avLst/>
          </a:prstGeom>
          <a:noFill/>
        </p:spPr>
        <p:txBody>
          <a:bodyPr wrap="square" lIns="0" rIns="0" tIns="0" bIns="0" anchor="t">
            <a:noAutofit/>
          </a:bodyPr>
          <a:lstStyle/>
          <a:p>
            <a:pPr algn="l" marL="128016" indent="-128016">
              <a:spcAft>
                <a:spcPts val="600"/>
              </a:spcAft>
              <a:buClr>
                <a:srgbClr val="188038"/>
              </a:buClr>
              <a:buFont typeface="Arial"/>
              <a:buChar char="•"/>
            </a:pPr>
            <a:r>
              <a:rPr sz="900" b="0" i="0">
                <a:solidFill>
                  <a:srgbClr val="202124"/>
                </a:solidFill>
                <a:latin typeface="Google Sans Flex"/>
                <a:ea typeface="Google Sans Flex"/>
                <a:cs typeface="Google Sans Flex"/>
              </a:rPr>
              <a:t>Video walkthrough inspection</a:t>
            </a:r>
          </a:p>
          <a:p>
            <a:pPr algn="l" marL="128016" indent="-128016">
              <a:spcAft>
                <a:spcPts val="600"/>
              </a:spcAft>
              <a:buClr>
                <a:srgbClr val="188038"/>
              </a:buClr>
              <a:buFont typeface="Arial"/>
              <a:buChar char="•"/>
            </a:pPr>
            <a:r>
              <a:rPr sz="900" b="0" i="0">
                <a:solidFill>
                  <a:srgbClr val="202124"/>
                </a:solidFill>
                <a:latin typeface="Google Sans Flex"/>
                <a:ea typeface="Google Sans Flex"/>
                <a:cs typeface="Google Sans Flex"/>
              </a:rPr>
              <a:t>Risk and valuation engine</a:t>
            </a:r>
          </a:p>
          <a:p>
            <a:pPr algn="l" marL="128016" indent="-128016">
              <a:spcAft>
                <a:spcPts val="600"/>
              </a:spcAft>
              <a:buClr>
                <a:srgbClr val="188038"/>
              </a:buClr>
              <a:buFont typeface="Arial"/>
              <a:buChar char="•"/>
            </a:pPr>
            <a:r>
              <a:rPr sz="900" b="0" i="0">
                <a:solidFill>
                  <a:srgbClr val="202124"/>
                </a:solidFill>
                <a:latin typeface="Google Sans Flex"/>
                <a:ea typeface="Google Sans Flex"/>
                <a:cs typeface="Google Sans Flex"/>
              </a:rPr>
              <a:t>Fraud and coverage checks</a:t>
            </a:r>
          </a:p>
          <a:p>
            <a:pPr algn="l" marL="128016" indent="-128016">
              <a:spcAft>
                <a:spcPts val="600"/>
              </a:spcAft>
              <a:buClr>
                <a:srgbClr val="188038"/>
              </a:buClr>
              <a:buFont typeface="Arial"/>
              <a:buChar char="•"/>
            </a:pPr>
            <a:r>
              <a:rPr sz="900" b="0" i="0">
                <a:solidFill>
                  <a:srgbClr val="202124"/>
                </a:solidFill>
                <a:latin typeface="Google Sans Flex"/>
                <a:ea typeface="Google Sans Flex"/>
                <a:cs typeface="Google Sans Flex"/>
              </a:rPr>
              <a:t>Gemini analysis and Q&amp;A</a:t>
            </a:r>
          </a:p>
          <a:p>
            <a:pPr algn="l" marL="128016" indent="-128016">
              <a:spcAft>
                <a:spcPts val="600"/>
              </a:spcAft>
              <a:buClr>
                <a:srgbClr val="188038"/>
              </a:buClr>
              <a:buFont typeface="Arial"/>
              <a:buChar char="•"/>
            </a:pPr>
            <a:r>
              <a:rPr sz="900" b="0" i="0">
                <a:solidFill>
                  <a:srgbClr val="202124"/>
                </a:solidFill>
                <a:latin typeface="Google Sans Flex"/>
                <a:ea typeface="Google Sans Flex"/>
                <a:cs typeface="Google Sans Flex"/>
              </a:rPr>
              <a:t>Cloud Run, BigQuery, Pub/Sub</a:t>
            </a:r>
          </a:p>
        </p:txBody>
      </p:sp>
      <p:cxnSp>
        <p:nvCxnSpPr>
          <p:cNvPr id="156" name="Connector 155"/>
          <p:cNvCxnSpPr/>
          <p:nvPr/>
        </p:nvCxnSpPr>
        <p:spPr>
          <a:xfrm>
            <a:off x="3081528" y="2167128"/>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3182112" y="1325880"/>
            <a:ext cx="2724912" cy="1691640"/>
          </a:xfrm>
          <a:prstGeom prst="roundRect">
            <a:avLst>
              <a:gd name="adj" fmla="val 324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3291840" y="1399032"/>
            <a:ext cx="2514600" cy="219456"/>
          </a:xfrm>
          <a:prstGeom prst="rect">
            <a:avLst/>
          </a:prstGeom>
          <a:noFill/>
        </p:spPr>
        <p:txBody>
          <a:bodyPr wrap="square" lIns="0" rIns="0" tIns="0" bIns="0" anchor="t">
            <a:noAutofit/>
          </a:bodyPr>
          <a:lstStyle/>
          <a:p>
            <a:pPr algn="l">
              <a:spcAft>
                <a:spcPts val="200"/>
              </a:spcAft>
            </a:pPr>
            <a:r>
              <a:rPr sz="950" b="1" i="0">
                <a:solidFill>
                  <a:srgbClr val="1A73E8"/>
                </a:solidFill>
                <a:latin typeface="Google Sans Flex"/>
                <a:ea typeface="Google Sans Flex"/>
                <a:cs typeface="Google Sans Flex"/>
              </a:rPr>
              <a:t>NEXT · 3 months</a:t>
            </a:r>
          </a:p>
        </p:txBody>
      </p:sp>
      <p:sp>
        <p:nvSpPr>
          <p:cNvPr id="159" name="TextBox 158"/>
          <p:cNvSpPr txBox="1"/>
          <p:nvPr/>
        </p:nvSpPr>
        <p:spPr>
          <a:xfrm>
            <a:off x="3291840" y="1664208"/>
            <a:ext cx="2542032" cy="1325880"/>
          </a:xfrm>
          <a:prstGeom prst="rect">
            <a:avLst/>
          </a:prstGeom>
          <a:noFill/>
        </p:spPr>
        <p:txBody>
          <a:bodyPr wrap="square" lIns="0" rIns="0" tIns="0" bIns="0" anchor="t">
            <a:noAutofit/>
          </a:bodyPr>
          <a:lstStyle/>
          <a:p>
            <a:pPr algn="l" marL="128016" indent="-128016">
              <a:spcAft>
                <a:spcPts val="600"/>
              </a:spcAft>
              <a:buClr>
                <a:srgbClr val="1A73E8"/>
              </a:buClr>
              <a:buFont typeface="Arial"/>
              <a:buChar char="•"/>
            </a:pPr>
            <a:r>
              <a:rPr sz="900" b="0" i="0">
                <a:solidFill>
                  <a:srgbClr val="202124"/>
                </a:solidFill>
                <a:latin typeface="Google Sans Flex"/>
                <a:ea typeface="Google Sans Flex"/>
                <a:cs typeface="Google Sans Flex"/>
              </a:rPr>
              <a:t>Mobile guided capture with live coverage</a:t>
            </a:r>
          </a:p>
          <a:p>
            <a:pPr algn="l" marL="128016" indent="-128016">
              <a:spcAft>
                <a:spcPts val="600"/>
              </a:spcAft>
              <a:buClr>
                <a:srgbClr val="1A73E8"/>
              </a:buClr>
              <a:buFont typeface="Arial"/>
              <a:buChar char="•"/>
            </a:pPr>
            <a:r>
              <a:rPr sz="900" b="0" i="0">
                <a:solidFill>
                  <a:srgbClr val="202124"/>
                </a:solidFill>
                <a:latin typeface="Google Sans Flex"/>
                <a:ea typeface="Google Sans Flex"/>
                <a:cs typeface="Google Sans Flex"/>
              </a:rPr>
              <a:t>Document AI: deeds, valuations, invoices</a:t>
            </a:r>
          </a:p>
          <a:p>
            <a:pPr algn="l" marL="128016" indent="-128016">
              <a:spcAft>
                <a:spcPts val="600"/>
              </a:spcAft>
              <a:buClr>
                <a:srgbClr val="1A73E8"/>
              </a:buClr>
              <a:buFont typeface="Arial"/>
              <a:buChar char="•"/>
            </a:pPr>
            <a:r>
              <a:rPr sz="900" b="0" i="0">
                <a:solidFill>
                  <a:srgbClr val="202124"/>
                </a:solidFill>
                <a:latin typeface="Google Sans Flex"/>
                <a:ea typeface="Google Sans Flex"/>
                <a:cs typeface="Google Sans Flex"/>
              </a:rPr>
              <a:t>Vertex AI Search over policy wording</a:t>
            </a:r>
          </a:p>
          <a:p>
            <a:pPr algn="l" marL="128016" indent="-128016">
              <a:spcAft>
                <a:spcPts val="600"/>
              </a:spcAft>
              <a:buClr>
                <a:srgbClr val="1A73E8"/>
              </a:buClr>
              <a:buFont typeface="Arial"/>
              <a:buChar char="•"/>
            </a:pPr>
            <a:r>
              <a:rPr sz="900" b="0" i="0">
                <a:solidFill>
                  <a:srgbClr val="202124"/>
                </a:solidFill>
                <a:latin typeface="Google Sans Flex"/>
                <a:ea typeface="Google Sans Flex"/>
                <a:cs typeface="Google Sans Flex"/>
              </a:rPr>
              <a:t>Commercial localiser (Gemini / Vertex-tuned)</a:t>
            </a:r>
          </a:p>
        </p:txBody>
      </p:sp>
      <p:cxnSp>
        <p:nvCxnSpPr>
          <p:cNvPr id="160" name="Connector 159"/>
          <p:cNvCxnSpPr/>
          <p:nvPr/>
        </p:nvCxnSpPr>
        <p:spPr>
          <a:xfrm>
            <a:off x="5916168" y="2167128"/>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6016752" y="1325880"/>
            <a:ext cx="2724912" cy="1691640"/>
          </a:xfrm>
          <a:prstGeom prst="roundRect">
            <a:avLst>
              <a:gd name="adj" fmla="val 3243"/>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126480" y="1399032"/>
            <a:ext cx="2514600" cy="219456"/>
          </a:xfrm>
          <a:prstGeom prst="rect">
            <a:avLst/>
          </a:prstGeom>
          <a:noFill/>
        </p:spPr>
        <p:txBody>
          <a:bodyPr wrap="square" lIns="0" rIns="0" tIns="0" bIns="0" anchor="t">
            <a:noAutofit/>
          </a:bodyPr>
          <a:lstStyle/>
          <a:p>
            <a:pPr algn="l">
              <a:spcAft>
                <a:spcPts val="200"/>
              </a:spcAft>
            </a:pPr>
            <a:r>
              <a:rPr sz="950" b="1" i="0">
                <a:solidFill>
                  <a:srgbClr val="E37400"/>
                </a:solidFill>
                <a:latin typeface="Google Sans Flex"/>
                <a:ea typeface="Google Sans Flex"/>
                <a:cs typeface="Google Sans Flex"/>
              </a:rPr>
              <a:t>LATER · 6–12 months</a:t>
            </a:r>
          </a:p>
        </p:txBody>
      </p:sp>
      <p:sp>
        <p:nvSpPr>
          <p:cNvPr id="163" name="TextBox 162"/>
          <p:cNvSpPr txBox="1"/>
          <p:nvPr/>
        </p:nvSpPr>
        <p:spPr>
          <a:xfrm>
            <a:off x="6126480" y="1664208"/>
            <a:ext cx="2542032" cy="1325880"/>
          </a:xfrm>
          <a:prstGeom prst="rect">
            <a:avLst/>
          </a:prstGeom>
          <a:noFill/>
        </p:spPr>
        <p:txBody>
          <a:bodyPr wrap="square" lIns="0" rIns="0" tIns="0" bIns="0" anchor="t">
            <a:noAutofit/>
          </a:bodyPr>
          <a:lstStyle/>
          <a:p>
            <a:pPr algn="l" marL="128016" indent="-128016">
              <a:spcAft>
                <a:spcPts val="600"/>
              </a:spcAft>
              <a:buClr>
                <a:srgbClr val="E37400"/>
              </a:buClr>
              <a:buFont typeface="Arial"/>
              <a:buChar char="•"/>
            </a:pPr>
            <a:r>
              <a:rPr sz="900" b="0" i="0">
                <a:solidFill>
                  <a:srgbClr val="202124"/>
                </a:solidFill>
                <a:latin typeface="Google Sans Flex"/>
                <a:ea typeface="Google Sans Flex"/>
                <a:cs typeface="Google Sans Flex"/>
              </a:rPr>
              <a:t>BigQuery ML claim &amp; collateral-risk scoring</a:t>
            </a:r>
          </a:p>
          <a:p>
            <a:pPr algn="l" marL="128016" indent="-128016">
              <a:spcAft>
                <a:spcPts val="600"/>
              </a:spcAft>
              <a:buClr>
                <a:srgbClr val="E37400"/>
              </a:buClr>
              <a:buFont typeface="Arial"/>
              <a:buChar char="•"/>
            </a:pPr>
            <a:r>
              <a:rPr sz="900" b="0" i="0">
                <a:solidFill>
                  <a:srgbClr val="202124"/>
                </a:solidFill>
                <a:latin typeface="Google Sans Flex"/>
                <a:ea typeface="Google Sans Flex"/>
                <a:cs typeface="Google Sans Flex"/>
              </a:rPr>
              <a:t>Before/after claim comparison in 3D</a:t>
            </a:r>
          </a:p>
          <a:p>
            <a:pPr algn="l" marL="128016" indent="-128016">
              <a:spcAft>
                <a:spcPts val="600"/>
              </a:spcAft>
              <a:buClr>
                <a:srgbClr val="E37400"/>
              </a:buClr>
              <a:buFont typeface="Arial"/>
              <a:buChar char="•"/>
            </a:pPr>
            <a:r>
              <a:rPr sz="900" b="0" i="0">
                <a:solidFill>
                  <a:srgbClr val="202124"/>
                </a:solidFill>
                <a:latin typeface="Google Sans Flex"/>
                <a:ea typeface="Google Sans Flex"/>
                <a:cs typeface="Google Sans Flex"/>
              </a:rPr>
              <a:t>Multilingual reports (Gemini)</a:t>
            </a:r>
          </a:p>
          <a:p>
            <a:pPr algn="l" marL="128016" indent="-128016">
              <a:spcAft>
                <a:spcPts val="600"/>
              </a:spcAft>
              <a:buClr>
                <a:srgbClr val="E37400"/>
              </a:buClr>
              <a:buFont typeface="Arial"/>
              <a:buChar char="•"/>
            </a:pPr>
            <a:r>
              <a:rPr sz="900" b="0" i="0">
                <a:solidFill>
                  <a:srgbClr val="202124"/>
                </a:solidFill>
                <a:latin typeface="Google Sans Flex"/>
                <a:ea typeface="Google Sans Flex"/>
                <a:cs typeface="Google Sans Flex"/>
              </a:rPr>
              <a:t>AlloyDB multi-tenant case management</a:t>
            </a:r>
          </a:p>
        </p:txBody>
      </p:sp>
      <p:sp>
        <p:nvSpPr>
          <p:cNvPr id="164" name="TextBox 163"/>
          <p:cNvSpPr txBox="1"/>
          <p:nvPr/>
        </p:nvSpPr>
        <p:spPr>
          <a:xfrm>
            <a:off x="347472" y="3108960"/>
            <a:ext cx="8449056" cy="164592"/>
          </a:xfrm>
          <a:prstGeom prst="rect">
            <a:avLst/>
          </a:prstGeom>
          <a:noFill/>
        </p:spPr>
        <p:txBody>
          <a:bodyPr wrap="square" lIns="0" rIns="0" tIns="0" bIns="0" anchor="t">
            <a:noAutofit/>
          </a:bodyPr>
          <a:lstStyle/>
          <a:p>
            <a:pPr algn="l">
              <a:spcAft>
                <a:spcPts val="200"/>
              </a:spcAft>
            </a:pPr>
            <a:r>
              <a:rPr sz="700" b="1" i="0">
                <a:solidFill>
                  <a:srgbClr val="1A73E8"/>
                </a:solidFill>
                <a:latin typeface="Google Sans Flex"/>
                <a:ea typeface="Google Sans Flex"/>
                <a:cs typeface="Google Sans Flex"/>
              </a:rPr>
              <a:t>WHAT WE BUILT: FROM DEPTH RESEARCH TO A DEPLOYABLE PRODUCT</a:t>
            </a:r>
          </a:p>
        </p:txBody>
      </p:sp>
      <p:sp>
        <p:nvSpPr>
          <p:cNvPr id="165" name="Rounded Rectangle 164"/>
          <p:cNvSpPr/>
          <p:nvPr/>
        </p:nvSpPr>
        <p:spPr>
          <a:xfrm>
            <a:off x="34747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51206" bIns="51206">
            <a:noAutofit/>
          </a:bodyPr>
          <a:lstStyle/>
          <a:p>
            <a:pPr algn="l">
              <a:spcAft>
                <a:spcPts val="200"/>
              </a:spcAft>
            </a:pPr>
            <a:r>
              <a:rPr sz="660" b="1" i="0">
                <a:solidFill>
                  <a:srgbClr val="1A73E8"/>
                </a:solidFill>
                <a:latin typeface="Google Sans Flex"/>
                <a:ea typeface="Google Sans Flex"/>
                <a:cs typeface="Google Sans Flex"/>
              </a:rPr>
              <a:t>01  </a:t>
            </a:r>
            <a:r>
              <a:rPr sz="660" b="1" i="0">
                <a:solidFill>
                  <a:srgbClr val="202124"/>
                </a:solidFill>
                <a:latin typeface="Google Sans Flex"/>
                <a:ea typeface="Google Sans Flex"/>
                <a:cs typeface="Google Sans Flex"/>
              </a:rPr>
              <a:t>Depth + SLAM</a:t>
            </a:r>
          </a:p>
          <a:p>
            <a:pPr algn="l">
              <a:spcAft>
                <a:spcPts val="200"/>
              </a:spcAft>
            </a:pPr>
            <a:r>
              <a:rPr sz="660" b="0" i="0">
                <a:solidFill>
                  <a:srgbClr val="202124"/>
                </a:solidFill>
                <a:latin typeface="Google Sans Flex"/>
                <a:ea typeface="Google Sans Flex"/>
                <a:cs typeface="Google Sans Flex"/>
              </a:rPr>
              <a:t>Depth Anything 3 visual SLAM, occupancy grid, A* path</a:t>
            </a:r>
          </a:p>
        </p:txBody>
      </p:sp>
      <p:sp>
        <p:nvSpPr>
          <p:cNvPr id="166" name="Rounded Rectangle 165"/>
          <p:cNvSpPr/>
          <p:nvPr/>
        </p:nvSpPr>
        <p:spPr>
          <a:xfrm>
            <a:off x="176479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51206" bIns="51206">
            <a:noAutofit/>
          </a:bodyPr>
          <a:lstStyle/>
          <a:p>
            <a:pPr algn="l">
              <a:spcAft>
                <a:spcPts val="200"/>
              </a:spcAft>
            </a:pPr>
            <a:r>
              <a:rPr sz="660" b="1" i="0">
                <a:solidFill>
                  <a:srgbClr val="1A73E8"/>
                </a:solidFill>
                <a:latin typeface="Google Sans Flex"/>
                <a:ea typeface="Google Sans Flex"/>
                <a:cs typeface="Google Sans Flex"/>
              </a:rPr>
              <a:t>02  </a:t>
            </a:r>
            <a:r>
              <a:rPr sz="660" b="1" i="0">
                <a:solidFill>
                  <a:srgbClr val="202124"/>
                </a:solidFill>
                <a:latin typeface="Google Sans Flex"/>
                <a:ea typeface="Google Sans Flex"/>
                <a:cs typeface="Google Sans Flex"/>
              </a:rPr>
              <a:t>Hybrid SLAM</a:t>
            </a:r>
          </a:p>
          <a:p>
            <a:pPr algn="l">
              <a:spcAft>
                <a:spcPts val="200"/>
              </a:spcAft>
            </a:pPr>
            <a:r>
              <a:rPr sz="660" b="0" i="0">
                <a:solidFill>
                  <a:srgbClr val="202124"/>
                </a:solidFill>
                <a:latin typeface="Google Sans Flex"/>
                <a:ea typeface="Google Sans Flex"/>
                <a:cs typeface="Google Sans Flex"/>
              </a:rPr>
              <a:t>OpenCV 5 tracking, ICP, Manhattan planes</a:t>
            </a:r>
          </a:p>
        </p:txBody>
      </p:sp>
      <p:sp>
        <p:nvSpPr>
          <p:cNvPr id="167" name="Rounded Rectangle 166"/>
          <p:cNvSpPr/>
          <p:nvPr/>
        </p:nvSpPr>
        <p:spPr>
          <a:xfrm>
            <a:off x="318211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51206" bIns="51206">
            <a:noAutofit/>
          </a:bodyPr>
          <a:lstStyle/>
          <a:p>
            <a:pPr algn="l">
              <a:spcAft>
                <a:spcPts val="200"/>
              </a:spcAft>
            </a:pPr>
            <a:r>
              <a:rPr sz="660" b="1" i="0">
                <a:solidFill>
                  <a:srgbClr val="1A73E8"/>
                </a:solidFill>
                <a:latin typeface="Google Sans Flex"/>
                <a:ea typeface="Google Sans Flex"/>
                <a:cs typeface="Google Sans Flex"/>
              </a:rPr>
              <a:t>03  </a:t>
            </a:r>
            <a:r>
              <a:rPr sz="660" b="1" i="0">
                <a:solidFill>
                  <a:srgbClr val="202124"/>
                </a:solidFill>
                <a:latin typeface="Google Sans Flex"/>
                <a:ea typeface="Google Sans Flex"/>
                <a:cs typeface="Google Sans Flex"/>
              </a:rPr>
              <a:t>Photo-real 3D</a:t>
            </a:r>
          </a:p>
          <a:p>
            <a:pPr algn="l">
              <a:spcAft>
                <a:spcPts val="200"/>
              </a:spcAft>
            </a:pPr>
            <a:r>
              <a:rPr sz="660" b="0" i="0">
                <a:solidFill>
                  <a:srgbClr val="202124"/>
                </a:solidFill>
                <a:latin typeface="Google Sans Flex"/>
                <a:ea typeface="Google Sans Flex"/>
                <a:cs typeface="Google Sans Flex"/>
              </a:rPr>
              <a:t>Gaussian Splatting experiment (gsplat)</a:t>
            </a:r>
          </a:p>
        </p:txBody>
      </p:sp>
      <p:sp>
        <p:nvSpPr>
          <p:cNvPr id="168" name="Rounded Rectangle 167"/>
          <p:cNvSpPr/>
          <p:nvPr/>
        </p:nvSpPr>
        <p:spPr>
          <a:xfrm>
            <a:off x="459943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51206" bIns="51206">
            <a:noAutofit/>
          </a:bodyPr>
          <a:lstStyle/>
          <a:p>
            <a:pPr algn="l">
              <a:spcAft>
                <a:spcPts val="200"/>
              </a:spcAft>
            </a:pPr>
            <a:r>
              <a:rPr sz="660" b="1" i="0">
                <a:solidFill>
                  <a:srgbClr val="1A73E8"/>
                </a:solidFill>
                <a:latin typeface="Google Sans Flex"/>
                <a:ea typeface="Google Sans Flex"/>
                <a:cs typeface="Google Sans Flex"/>
              </a:rPr>
              <a:t>04  </a:t>
            </a:r>
            <a:r>
              <a:rPr sz="660" b="1" i="0">
                <a:solidFill>
                  <a:srgbClr val="202124"/>
                </a:solidFill>
                <a:latin typeface="Google Sans Flex"/>
                <a:ea typeface="Google Sans Flex"/>
                <a:cs typeface="Google Sans Flex"/>
              </a:rPr>
              <a:t>Production 3D</a:t>
            </a:r>
          </a:p>
          <a:p>
            <a:pPr algn="l">
              <a:spcAft>
                <a:spcPts val="200"/>
              </a:spcAft>
            </a:pPr>
            <a:r>
              <a:rPr sz="660" b="0" i="0">
                <a:solidFill>
                  <a:srgbClr val="202124"/>
                </a:solidFill>
                <a:latin typeface="Google Sans Flex"/>
                <a:ea typeface="Google Sans Flex"/>
                <a:cs typeface="Google Sans Flex"/>
              </a:rPr>
              <a:t>Video → GLB models, floor plan (+SVG)</a:t>
            </a:r>
          </a:p>
        </p:txBody>
      </p:sp>
      <p:sp>
        <p:nvSpPr>
          <p:cNvPr id="169" name="Rounded Rectangle 168"/>
          <p:cNvSpPr/>
          <p:nvPr/>
        </p:nvSpPr>
        <p:spPr>
          <a:xfrm>
            <a:off x="601675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51206" bIns="51206">
            <a:noAutofit/>
          </a:bodyPr>
          <a:lstStyle/>
          <a:p>
            <a:pPr algn="l">
              <a:spcAft>
                <a:spcPts val="200"/>
              </a:spcAft>
            </a:pPr>
            <a:r>
              <a:rPr sz="660" b="1" i="0">
                <a:solidFill>
                  <a:srgbClr val="1A73E8"/>
                </a:solidFill>
                <a:latin typeface="Google Sans Flex"/>
                <a:ea typeface="Google Sans Flex"/>
                <a:cs typeface="Google Sans Flex"/>
              </a:rPr>
              <a:t>05  </a:t>
            </a:r>
            <a:r>
              <a:rPr sz="660" b="1" i="0">
                <a:solidFill>
                  <a:srgbClr val="202124"/>
                </a:solidFill>
                <a:latin typeface="Google Sans Flex"/>
                <a:ea typeface="Google Sans Flex"/>
                <a:cs typeface="Google Sans Flex"/>
              </a:rPr>
              <a:t>Inspection AI</a:t>
            </a:r>
          </a:p>
          <a:p>
            <a:pPr algn="l">
              <a:spcAft>
                <a:spcPts val="200"/>
              </a:spcAft>
            </a:pPr>
            <a:r>
              <a:rPr sz="660" b="0" i="0">
                <a:solidFill>
                  <a:srgbClr val="202124"/>
                </a:solidFill>
                <a:latin typeface="Google Sans Flex"/>
                <a:ea typeface="Google Sans Flex"/>
                <a:cs typeface="Google Sans Flex"/>
              </a:rPr>
              <a:t>Taxonomy, locate + verify, risk engine, fraud</a:t>
            </a:r>
          </a:p>
        </p:txBody>
      </p:sp>
      <p:sp>
        <p:nvSpPr>
          <p:cNvPr id="170" name="Rounded Rectangle 169"/>
          <p:cNvSpPr/>
          <p:nvPr/>
        </p:nvSpPr>
        <p:spPr>
          <a:xfrm>
            <a:off x="743407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51206" bIns="51206">
            <a:noAutofit/>
          </a:bodyPr>
          <a:lstStyle/>
          <a:p>
            <a:pPr algn="l">
              <a:spcAft>
                <a:spcPts val="200"/>
              </a:spcAft>
            </a:pPr>
            <a:r>
              <a:rPr sz="660" b="1" i="0">
                <a:solidFill>
                  <a:srgbClr val="E37400"/>
                </a:solidFill>
                <a:latin typeface="Google Sans Flex"/>
                <a:ea typeface="Google Sans Flex"/>
                <a:cs typeface="Google Sans Flex"/>
              </a:rPr>
              <a:t>06  </a:t>
            </a:r>
            <a:r>
              <a:rPr sz="660" b="1" i="0">
                <a:solidFill>
                  <a:srgbClr val="202124"/>
                </a:solidFill>
                <a:latin typeface="Google Sans Flex"/>
                <a:ea typeface="Google Sans Flex"/>
                <a:cs typeface="Google Sans Flex"/>
              </a:rPr>
              <a:t>Google Cloud v1.0.0</a:t>
            </a:r>
          </a:p>
          <a:p>
            <a:pPr algn="l">
              <a:spcAft>
                <a:spcPts val="200"/>
              </a:spcAft>
            </a:pPr>
            <a:r>
              <a:rPr sz="660" b="0" i="0">
                <a:solidFill>
                  <a:srgbClr val="202124"/>
                </a:solidFill>
                <a:latin typeface="Google Sans Flex"/>
                <a:ea typeface="Google Sans Flex"/>
                <a:cs typeface="Google Sans Flex"/>
              </a:rPr>
              <a:t>Gemini, Cloud Run + L4, BigQuery, Pub/Sub</a:t>
            </a:r>
          </a:p>
        </p:txBody>
      </p:sp>
      <p:sp>
        <p:nvSpPr>
          <p:cNvPr id="171" name="Rounded Rectangle 170"/>
          <p:cNvSpPr/>
          <p:nvPr/>
        </p:nvSpPr>
        <p:spPr>
          <a:xfrm>
            <a:off x="347472"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438912" y="4087368"/>
            <a:ext cx="1463040" cy="365760"/>
          </a:xfrm>
          <a:prstGeom prst="rect">
            <a:avLst/>
          </a:prstGeom>
          <a:noFill/>
        </p:spPr>
        <p:txBody>
          <a:bodyPr wrap="square" lIns="0" rIns="0" tIns="0" bIns="0" anchor="t">
            <a:noAutofit/>
          </a:bodyPr>
          <a:lstStyle/>
          <a:p>
            <a:pPr algn="l">
              <a:spcAft>
                <a:spcPts val="200"/>
              </a:spcAft>
            </a:pPr>
            <a:r>
              <a:rPr sz="1800" b="1" i="0">
                <a:solidFill>
                  <a:srgbClr val="1A73E8"/>
                </a:solidFill>
                <a:latin typeface="Google Sans Flex"/>
                <a:ea typeface="Google Sans Flex"/>
                <a:cs typeface="Google Sans Flex"/>
              </a:rPr>
              <a:t>18</a:t>
            </a:r>
          </a:p>
        </p:txBody>
      </p:sp>
      <p:sp>
        <p:nvSpPr>
          <p:cNvPr id="173" name="TextBox 172"/>
          <p:cNvSpPr txBox="1"/>
          <p:nvPr/>
        </p:nvSpPr>
        <p:spPr>
          <a:xfrm>
            <a:off x="438912" y="4480560"/>
            <a:ext cx="1463040" cy="36576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defect types, 12 components</a:t>
            </a:r>
          </a:p>
        </p:txBody>
      </p:sp>
      <p:sp>
        <p:nvSpPr>
          <p:cNvPr id="174" name="Rounded Rectangle 173"/>
          <p:cNvSpPr/>
          <p:nvPr/>
        </p:nvSpPr>
        <p:spPr>
          <a:xfrm>
            <a:off x="2048256"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Box 174"/>
          <p:cNvSpPr txBox="1"/>
          <p:nvPr/>
        </p:nvSpPr>
        <p:spPr>
          <a:xfrm>
            <a:off x="2139696" y="4087368"/>
            <a:ext cx="1463040" cy="365760"/>
          </a:xfrm>
          <a:prstGeom prst="rect">
            <a:avLst/>
          </a:prstGeom>
          <a:noFill/>
        </p:spPr>
        <p:txBody>
          <a:bodyPr wrap="square" lIns="0" rIns="0" tIns="0" bIns="0" anchor="t">
            <a:noAutofit/>
          </a:bodyPr>
          <a:lstStyle/>
          <a:p>
            <a:pPr algn="l">
              <a:spcAft>
                <a:spcPts val="200"/>
              </a:spcAft>
            </a:pPr>
            <a:r>
              <a:rPr sz="1800" b="1" i="0">
                <a:solidFill>
                  <a:srgbClr val="D93025"/>
                </a:solidFill>
                <a:latin typeface="Google Sans Flex"/>
                <a:ea typeface="Google Sans Flex"/>
                <a:cs typeface="Google Sans Flex"/>
              </a:rPr>
              <a:t>8</a:t>
            </a:r>
          </a:p>
        </p:txBody>
      </p:sp>
      <p:sp>
        <p:nvSpPr>
          <p:cNvPr id="176" name="TextBox 175"/>
          <p:cNvSpPr txBox="1"/>
          <p:nvPr/>
        </p:nvSpPr>
        <p:spPr>
          <a:xfrm>
            <a:off x="2139696" y="4480560"/>
            <a:ext cx="1463040" cy="36576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room types</a:t>
            </a:r>
          </a:p>
        </p:txBody>
      </p:sp>
      <p:sp>
        <p:nvSpPr>
          <p:cNvPr id="177" name="Rounded Rectangle 176"/>
          <p:cNvSpPr/>
          <p:nvPr/>
        </p:nvSpPr>
        <p:spPr>
          <a:xfrm>
            <a:off x="3749040"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840480" y="4087368"/>
            <a:ext cx="1463040" cy="365760"/>
          </a:xfrm>
          <a:prstGeom prst="rect">
            <a:avLst/>
          </a:prstGeom>
          <a:noFill/>
        </p:spPr>
        <p:txBody>
          <a:bodyPr wrap="square" lIns="0" rIns="0" tIns="0" bIns="0" anchor="t">
            <a:noAutofit/>
          </a:bodyPr>
          <a:lstStyle/>
          <a:p>
            <a:pPr algn="l">
              <a:spcAft>
                <a:spcPts val="200"/>
              </a:spcAft>
            </a:pPr>
            <a:r>
              <a:rPr sz="1800" b="1" i="0">
                <a:solidFill>
                  <a:srgbClr val="E37400"/>
                </a:solidFill>
                <a:latin typeface="Google Sans Flex"/>
                <a:ea typeface="Google Sans Flex"/>
                <a:cs typeface="Google Sans Flex"/>
              </a:rPr>
              <a:t>18</a:t>
            </a:r>
          </a:p>
        </p:txBody>
      </p:sp>
      <p:sp>
        <p:nvSpPr>
          <p:cNvPr id="179" name="TextBox 178"/>
          <p:cNvSpPr txBox="1"/>
          <p:nvPr/>
        </p:nvSpPr>
        <p:spPr>
          <a:xfrm>
            <a:off x="3840480" y="4480560"/>
            <a:ext cx="1463040" cy="36576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REST API endpoints</a:t>
            </a:r>
          </a:p>
        </p:txBody>
      </p:sp>
      <p:sp>
        <p:nvSpPr>
          <p:cNvPr id="180" name="Rounded Rectangle 179"/>
          <p:cNvSpPr/>
          <p:nvPr/>
        </p:nvSpPr>
        <p:spPr>
          <a:xfrm>
            <a:off x="5449824"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Box 180"/>
          <p:cNvSpPr txBox="1"/>
          <p:nvPr/>
        </p:nvSpPr>
        <p:spPr>
          <a:xfrm>
            <a:off x="5541264" y="4087368"/>
            <a:ext cx="1463040" cy="365760"/>
          </a:xfrm>
          <a:prstGeom prst="rect">
            <a:avLst/>
          </a:prstGeom>
          <a:noFill/>
        </p:spPr>
        <p:txBody>
          <a:bodyPr wrap="square" lIns="0" rIns="0" tIns="0" bIns="0" anchor="t">
            <a:noAutofit/>
          </a:bodyPr>
          <a:lstStyle/>
          <a:p>
            <a:pPr algn="l">
              <a:spcAft>
                <a:spcPts val="200"/>
              </a:spcAft>
            </a:pPr>
            <a:r>
              <a:rPr sz="1800" b="1" i="0">
                <a:solidFill>
                  <a:srgbClr val="188038"/>
                </a:solidFill>
                <a:latin typeface="Google Sans Flex"/>
                <a:ea typeface="Google Sans Flex"/>
                <a:cs typeface="Google Sans Flex"/>
              </a:rPr>
              <a:t>2</a:t>
            </a:r>
          </a:p>
        </p:txBody>
      </p:sp>
      <p:sp>
        <p:nvSpPr>
          <p:cNvPr id="182" name="TextBox 181"/>
          <p:cNvSpPr txBox="1"/>
          <p:nvPr/>
        </p:nvSpPr>
        <p:spPr>
          <a:xfrm>
            <a:off x="5541264" y="4480560"/>
            <a:ext cx="1463040" cy="36576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3D modes (Lite / Advanced)</a:t>
            </a:r>
          </a:p>
        </p:txBody>
      </p:sp>
      <p:sp>
        <p:nvSpPr>
          <p:cNvPr id="183" name="Rounded Rectangle 182"/>
          <p:cNvSpPr/>
          <p:nvPr/>
        </p:nvSpPr>
        <p:spPr>
          <a:xfrm>
            <a:off x="7150608"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7242048" y="4087368"/>
            <a:ext cx="1463040" cy="365760"/>
          </a:xfrm>
          <a:prstGeom prst="rect">
            <a:avLst/>
          </a:prstGeom>
          <a:noFill/>
        </p:spPr>
        <p:txBody>
          <a:bodyPr wrap="square" lIns="0" rIns="0" tIns="0" bIns="0" anchor="t">
            <a:noAutofit/>
          </a:bodyPr>
          <a:lstStyle/>
          <a:p>
            <a:pPr algn="l">
              <a:spcAft>
                <a:spcPts val="200"/>
              </a:spcAft>
            </a:pPr>
            <a:r>
              <a:rPr sz="1800" b="1" i="0">
                <a:solidFill>
                  <a:srgbClr val="1A73E8"/>
                </a:solidFill>
                <a:latin typeface="Google Sans Flex"/>
                <a:ea typeface="Google Sans Flex"/>
                <a:cs typeface="Google Sans Flex"/>
              </a:rPr>
              <a:t>1</a:t>
            </a:r>
          </a:p>
        </p:txBody>
      </p:sp>
      <p:sp>
        <p:nvSpPr>
          <p:cNvPr id="185" name="TextBox 184"/>
          <p:cNvSpPr txBox="1"/>
          <p:nvPr/>
        </p:nvSpPr>
        <p:spPr>
          <a:xfrm>
            <a:off x="7242048" y="4480560"/>
            <a:ext cx="1463040" cy="365760"/>
          </a:xfrm>
          <a:prstGeom prst="rect">
            <a:avLst/>
          </a:prstGeom>
          <a:noFill/>
        </p:spPr>
        <p:txBody>
          <a:bodyPr wrap="square" lIns="0" rIns="0" tIns="0" bIns="0" anchor="t">
            <a:noAutofit/>
          </a:bodyPr>
          <a:lstStyle/>
          <a:p>
            <a:pPr algn="l">
              <a:spcAft>
                <a:spcPts val="200"/>
              </a:spcAft>
            </a:pPr>
            <a:r>
              <a:rPr sz="700" b="0" i="0">
                <a:solidFill>
                  <a:srgbClr val="5F6368"/>
                </a:solidFill>
                <a:latin typeface="Google Sans Flex"/>
                <a:ea typeface="Google Sans Flex"/>
                <a:cs typeface="Google Sans Flex"/>
              </a:rPr>
              <a:t>command to deploy on GCP</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  </a:t>
            </a:r>
            <a:r>
              <a:rPr sz="1300" b="1" i="0">
                <a:solidFill>
                  <a:srgbClr val="1A73E8"/>
                </a:solidFill>
                <a:latin typeface="Google Sans Flex"/>
                <a:ea typeface="Google Sans Flex"/>
                <a:cs typeface="Google Sans Flex"/>
              </a:rPr>
              <a:t>github.com/XCore-Lab/property-inspection-ai</a:t>
            </a:r>
            <a:endParaRPr>
              <a:latin typeface="Google Sans Flex Medium"/>
              <a:ea typeface="Google Sans Flex Medium"/>
              <a:cs typeface="Google Sans Flex Medium"/>
              <a:sym typeface="Google Sans Flex Medium"/>
            </a:endParaRPr>
          </a:p>
          <a:p>
            <a:pPr indent="-317500" lvl="0" marL="457200" rtl="0" algn="l">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  </a:t>
            </a:r>
            <a:r>
              <a:rPr sz="1300" b="1" i="0">
                <a:solidFill>
                  <a:srgbClr val="D93025"/>
                </a:solidFill>
                <a:latin typeface="Google Sans Flex"/>
                <a:ea typeface="Google Sans Flex"/>
                <a:cs typeface="Google Sans Flex"/>
              </a:rPr>
              <a:t>[paste link here]</a:t>
            </a:r>
            <a:endParaRPr>
              <a:latin typeface="Google Sans Flex Medium"/>
              <a:ea typeface="Google Sans Flex Medium"/>
              <a:cs typeface="Google Sans Flex Medium"/>
              <a:sym typeface="Google Sans Flex Medium"/>
            </a:endParaRPr>
          </a:p>
          <a:p>
            <a:pPr indent="-317500" lvl="0" marL="457200" rtl="0" algn="l">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Final Product Link:  </a:t>
            </a:r>
            <a:r>
              <a:rPr sz="1300" b="1" i="0">
                <a:solidFill>
                  <a:srgbClr val="D93025"/>
                </a:solidFill>
                <a:latin typeface="Google Sans Flex"/>
                <a:ea typeface="Google Sans Flex"/>
                <a:cs typeface="Google Sans Flex"/>
              </a:rPr>
              <a:t>[paste link here]</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pic>
        <p:nvPicPr>
          <p:cNvPr id="160" name="Picture 159" descr="s26_908.jpg"/>
          <p:cNvPicPr>
            <a:picLocks noChangeAspect="1"/>
          </p:cNvPicPr>
          <p:nvPr/>
        </p:nvPicPr>
        <p:blipFill>
          <a:blip r:embed="rId5"/>
          <a:stretch>
            <a:fillRect/>
          </a:stretch>
        </p:blipFill>
        <p:spPr>
          <a:xfrm>
            <a:off x="5166878" y="2148840"/>
            <a:ext cx="3565122" cy="2514600"/>
          </a:xfrm>
          <a:prstGeom prst="rect">
            <a:avLst/>
          </a:prstGeom>
          <a:ln w="9525">
            <a:solidFill>
              <a:srgbClr val="DADCE0"/>
            </a:solidFill>
          </a:ln>
        </p:spPr>
      </p:pic>
      <p:sp>
        <p:nvSpPr>
          <p:cNvPr id="161" name="TextBox 160"/>
          <p:cNvSpPr txBox="1"/>
          <p:nvPr/>
        </p:nvSpPr>
        <p:spPr>
          <a:xfrm>
            <a:off x="5120640" y="4690872"/>
            <a:ext cx="3657600" cy="182880"/>
          </a:xfrm>
          <a:prstGeom prst="rect">
            <a:avLst/>
          </a:prstGeom>
          <a:noFill/>
        </p:spPr>
        <p:txBody>
          <a:bodyPr wrap="square" lIns="0" rIns="0" tIns="0" bIns="0" anchor="t">
            <a:noAutofit/>
          </a:bodyPr>
          <a:lstStyle/>
          <a:p>
            <a:pPr algn="ctr">
              <a:spcAft>
                <a:spcPts val="200"/>
              </a:spcAft>
            </a:pPr>
            <a:r>
              <a:rPr sz="750" b="0" i="1">
                <a:solidFill>
                  <a:srgbClr val="5F6368"/>
                </a:solidFill>
                <a:latin typeface="Google Sans Flex"/>
                <a:ea typeface="Google Sans Flex"/>
                <a:cs typeface="Google Sans Flex"/>
              </a:rPr>
              <a:t>Property Inspection AI · Prototype v1.0.0 · one-command Cloud Run deploy</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TextBox 166"/>
          <p:cNvSpPr txBox="1"/>
          <p:nvPr/>
        </p:nvSpPr>
        <p:spPr>
          <a:xfrm>
            <a:off x="356616" y="758952"/>
            <a:ext cx="8229600" cy="274320"/>
          </a:xfrm>
          <a:prstGeom prst="rect">
            <a:avLst/>
          </a:prstGeom>
          <a:noFill/>
        </p:spPr>
        <p:txBody>
          <a:bodyPr wrap="square" lIns="0" rIns="0" tIns="0" bIns="0" anchor="t">
            <a:noAutofit/>
          </a:bodyPr>
          <a:lstStyle/>
          <a:p>
            <a:pPr algn="l">
              <a:spcAft>
                <a:spcPts val="200"/>
              </a:spcAft>
            </a:pPr>
            <a:r>
              <a:rPr sz="1600" b="0" i="0">
                <a:solidFill>
                  <a:srgbClr val="202124"/>
                </a:solidFill>
                <a:latin typeface="Google Sans Flex SemiBold"/>
                <a:ea typeface="Google Sans Flex SemiBold"/>
                <a:cs typeface="Google Sans Flex SemiBold"/>
              </a:rPr>
              <a:t>Additional Details/Future Development (contd.)</a:t>
            </a:r>
          </a:p>
        </p:txBody>
      </p:sp>
      <p:sp>
        <p:nvSpPr>
          <p:cNvPr id="168" name="Key message"/>
          <p:cNvSpPr txBox="1"/>
          <p:nvPr/>
        </p:nvSpPr>
        <p:spPr>
          <a:xfrm>
            <a:off x="347472" y="1024128"/>
            <a:ext cx="8449056" cy="256032"/>
          </a:xfrm>
          <a:prstGeom prst="rect">
            <a:avLst/>
          </a:prstGeom>
          <a:noFill/>
        </p:spPr>
        <p:txBody>
          <a:bodyPr wrap="square" lIns="0" rIns="0" tIns="0" bIns="0" anchor="t">
            <a:noAutofit/>
          </a:bodyPr>
          <a:lstStyle/>
          <a:p>
            <a:pPr algn="l">
              <a:spcAft>
                <a:spcPts val="200"/>
              </a:spcAft>
            </a:pPr>
            <a:r>
              <a:rPr sz="1150" b="1" i="0">
                <a:solidFill>
                  <a:srgbClr val="1A73E8"/>
                </a:solidFill>
                <a:latin typeface="Google Sans Flex"/>
                <a:ea typeface="Google Sans Flex"/>
                <a:cs typeface="Google Sans Flex"/>
              </a:rPr>
              <a:t>Responsible AI, go-to-market and the team behind it</a:t>
            </a:r>
          </a:p>
        </p:txBody>
      </p:sp>
      <p:sp>
        <p:nvSpPr>
          <p:cNvPr id="169" name="TextBox 168"/>
          <p:cNvSpPr txBox="1"/>
          <p:nvPr/>
        </p:nvSpPr>
        <p:spPr>
          <a:xfrm>
            <a:off x="347472" y="1325880"/>
            <a:ext cx="4572000" cy="164592"/>
          </a:xfrm>
          <a:prstGeom prst="rect">
            <a:avLst/>
          </a:prstGeom>
          <a:noFill/>
        </p:spPr>
        <p:txBody>
          <a:bodyPr wrap="square" lIns="0" rIns="0" tIns="0" bIns="0" anchor="t">
            <a:noAutofit/>
          </a:bodyPr>
          <a:lstStyle/>
          <a:p>
            <a:pPr algn="l">
              <a:spcAft>
                <a:spcPts val="200"/>
              </a:spcAft>
            </a:pPr>
            <a:r>
              <a:rPr sz="700" b="1" i="0">
                <a:solidFill>
                  <a:srgbClr val="1A73E8"/>
                </a:solidFill>
                <a:latin typeface="Google Sans Flex"/>
                <a:ea typeface="Google Sans Flex"/>
                <a:cs typeface="Google Sans Flex"/>
              </a:rPr>
              <a:t>RESPONSIBLE AI: HUMANS DECIDE, AI SHOWS EVIDENCE</a:t>
            </a:r>
          </a:p>
        </p:txBody>
      </p:sp>
      <p:sp>
        <p:nvSpPr>
          <p:cNvPr id="170" name="Rounded Rectangle 169"/>
          <p:cNvSpPr/>
          <p:nvPr/>
        </p:nvSpPr>
        <p:spPr>
          <a:xfrm>
            <a:off x="347472" y="1517904"/>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420624" y="160020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1</a:t>
            </a:r>
          </a:p>
        </p:txBody>
      </p:sp>
      <p:sp>
        <p:nvSpPr>
          <p:cNvPr id="172" name="TextBox 171"/>
          <p:cNvSpPr txBox="1"/>
          <p:nvPr/>
        </p:nvSpPr>
        <p:spPr>
          <a:xfrm>
            <a:off x="713232" y="1591056"/>
            <a:ext cx="1783080"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Human in the loop</a:t>
            </a:r>
          </a:p>
        </p:txBody>
      </p:sp>
      <p:sp>
        <p:nvSpPr>
          <p:cNvPr id="173" name="TextBox 172"/>
          <p:cNvSpPr txBox="1"/>
          <p:nvPr/>
        </p:nvSpPr>
        <p:spPr>
          <a:xfrm>
            <a:off x="713232" y="1792224"/>
            <a:ext cx="1792224" cy="411480"/>
          </a:xfrm>
          <a:prstGeom prst="rect">
            <a:avLst/>
          </a:prstGeom>
          <a:noFill/>
        </p:spPr>
        <p:txBody>
          <a:bodyPr wrap="square" lIns="0" rIns="0" tIns="0" bIns="0" anchor="t">
            <a:noAutofit/>
          </a:bodyPr>
          <a:lstStyle/>
          <a:p>
            <a:pPr algn="l">
              <a:spcAft>
                <a:spcPts val="200"/>
              </a:spcAft>
            </a:pPr>
            <a:r>
              <a:rPr sz="660" b="0" i="0">
                <a:solidFill>
                  <a:srgbClr val="5F6368"/>
                </a:solidFill>
                <a:latin typeface="Google Sans Flex"/>
                <a:ea typeface="Google Sans Flex"/>
                <a:cs typeface="Google Sans Flex"/>
              </a:rPr>
              <a:t>Decision support only; a qualified surveyor or underwriter makes the final call.</a:t>
            </a:r>
          </a:p>
        </p:txBody>
      </p:sp>
      <p:sp>
        <p:nvSpPr>
          <p:cNvPr id="174" name="Rounded Rectangle 173"/>
          <p:cNvSpPr/>
          <p:nvPr/>
        </p:nvSpPr>
        <p:spPr>
          <a:xfrm>
            <a:off x="2633472" y="1517904"/>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2706624" y="1600200"/>
            <a:ext cx="219456" cy="219456"/>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2</a:t>
            </a:r>
          </a:p>
        </p:txBody>
      </p:sp>
      <p:sp>
        <p:nvSpPr>
          <p:cNvPr id="176" name="TextBox 175"/>
          <p:cNvSpPr txBox="1"/>
          <p:nvPr/>
        </p:nvSpPr>
        <p:spPr>
          <a:xfrm>
            <a:off x="2999232" y="1591056"/>
            <a:ext cx="1783080"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Explainable</a:t>
            </a:r>
          </a:p>
        </p:txBody>
      </p:sp>
      <p:sp>
        <p:nvSpPr>
          <p:cNvPr id="177" name="TextBox 176"/>
          <p:cNvSpPr txBox="1"/>
          <p:nvPr/>
        </p:nvSpPr>
        <p:spPr>
          <a:xfrm>
            <a:off x="2999232" y="1792224"/>
            <a:ext cx="1792224" cy="411480"/>
          </a:xfrm>
          <a:prstGeom prst="rect">
            <a:avLst/>
          </a:prstGeom>
          <a:noFill/>
        </p:spPr>
        <p:txBody>
          <a:bodyPr wrap="square" lIns="0" rIns="0" tIns="0" bIns="0" anchor="t">
            <a:noAutofit/>
          </a:bodyPr>
          <a:lstStyle/>
          <a:p>
            <a:pPr algn="l">
              <a:spcAft>
                <a:spcPts val="200"/>
              </a:spcAft>
            </a:pPr>
            <a:r>
              <a:rPr sz="660" b="0" i="0">
                <a:solidFill>
                  <a:srgbClr val="5F6368"/>
                </a:solidFill>
                <a:latin typeface="Google Sans Flex"/>
                <a:ea typeface="Google Sans Flex"/>
                <a:cs typeface="Google Sans Flex"/>
              </a:rPr>
              <a:t>Deterministic YAML rules; every decision lists its reasons and risk points.</a:t>
            </a:r>
          </a:p>
        </p:txBody>
      </p:sp>
      <p:sp>
        <p:nvSpPr>
          <p:cNvPr id="178" name="Rounded Rectangle 177"/>
          <p:cNvSpPr/>
          <p:nvPr/>
        </p:nvSpPr>
        <p:spPr>
          <a:xfrm>
            <a:off x="347472" y="2267712"/>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420624" y="2350008"/>
            <a:ext cx="219456" cy="219456"/>
          </a:xfrm>
          <a:prstGeom prst="ellipse">
            <a:avLst/>
          </a:prstGeom>
          <a:solidFill>
            <a:srgbClr val="E374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3</a:t>
            </a:r>
          </a:p>
        </p:txBody>
      </p:sp>
      <p:sp>
        <p:nvSpPr>
          <p:cNvPr id="180" name="TextBox 179"/>
          <p:cNvSpPr txBox="1"/>
          <p:nvPr/>
        </p:nvSpPr>
        <p:spPr>
          <a:xfrm>
            <a:off x="713232" y="2340864"/>
            <a:ext cx="1783080"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Auditable</a:t>
            </a:r>
          </a:p>
        </p:txBody>
      </p:sp>
      <p:sp>
        <p:nvSpPr>
          <p:cNvPr id="181" name="TextBox 180"/>
          <p:cNvSpPr txBox="1"/>
          <p:nvPr/>
        </p:nvSpPr>
        <p:spPr>
          <a:xfrm>
            <a:off x="713232" y="2542032"/>
            <a:ext cx="1792224" cy="411480"/>
          </a:xfrm>
          <a:prstGeom prst="rect">
            <a:avLst/>
          </a:prstGeom>
          <a:noFill/>
        </p:spPr>
        <p:txBody>
          <a:bodyPr wrap="square" lIns="0" rIns="0" tIns="0" bIns="0" anchor="t">
            <a:noAutofit/>
          </a:bodyPr>
          <a:lstStyle/>
          <a:p>
            <a:pPr algn="l">
              <a:spcAft>
                <a:spcPts val="200"/>
              </a:spcAft>
            </a:pPr>
            <a:r>
              <a:rPr sz="660" b="0" i="0">
                <a:solidFill>
                  <a:srgbClr val="5F6368"/>
                </a:solidFill>
                <a:latin typeface="Google Sans Flex"/>
                <a:ea typeface="Google Sans Flex"/>
                <a:cs typeface="Google Sans Flex"/>
              </a:rPr>
              <a:t>Raw outputs archived; each inspection a BigQuery record; versioned config.</a:t>
            </a:r>
          </a:p>
        </p:txBody>
      </p:sp>
      <p:sp>
        <p:nvSpPr>
          <p:cNvPr id="182" name="Rounded Rectangle 181"/>
          <p:cNvSpPr/>
          <p:nvPr/>
        </p:nvSpPr>
        <p:spPr>
          <a:xfrm>
            <a:off x="2633472" y="2267712"/>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2706624" y="2350008"/>
            <a:ext cx="219456" cy="219456"/>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4</a:t>
            </a:r>
          </a:p>
        </p:txBody>
      </p:sp>
      <p:sp>
        <p:nvSpPr>
          <p:cNvPr id="184" name="TextBox 183"/>
          <p:cNvSpPr txBox="1"/>
          <p:nvPr/>
        </p:nvSpPr>
        <p:spPr>
          <a:xfrm>
            <a:off x="2999232" y="2340864"/>
            <a:ext cx="1783080"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Safe wording</a:t>
            </a:r>
          </a:p>
        </p:txBody>
      </p:sp>
      <p:sp>
        <p:nvSpPr>
          <p:cNvPr id="185" name="TextBox 184"/>
          <p:cNvSpPr txBox="1"/>
          <p:nvPr/>
        </p:nvSpPr>
        <p:spPr>
          <a:xfrm>
            <a:off x="2999232" y="2542032"/>
            <a:ext cx="1792224" cy="411480"/>
          </a:xfrm>
          <a:prstGeom prst="rect">
            <a:avLst/>
          </a:prstGeom>
          <a:noFill/>
        </p:spPr>
        <p:txBody>
          <a:bodyPr wrap="square" lIns="0" rIns="0" tIns="0" bIns="0" anchor="t">
            <a:noAutofit/>
          </a:bodyPr>
          <a:lstStyle/>
          <a:p>
            <a:pPr algn="l">
              <a:spcAft>
                <a:spcPts val="200"/>
              </a:spcAft>
            </a:pPr>
            <a:r>
              <a:rPr sz="660" b="0" i="0">
                <a:solidFill>
                  <a:srgbClr val="5F6368"/>
                </a:solidFill>
                <a:latin typeface="Google Sans Flex"/>
                <a:ea typeface="Google Sans Flex"/>
                <a:cs typeface="Google Sans Flex"/>
              </a:rPr>
              <a:t>No structural-safety or root-cause claims; locks, fans, windows stay manual.</a:t>
            </a:r>
          </a:p>
        </p:txBody>
      </p:sp>
      <p:sp>
        <p:nvSpPr>
          <p:cNvPr id="186" name="Rounded Rectangle 185"/>
          <p:cNvSpPr/>
          <p:nvPr/>
        </p:nvSpPr>
        <p:spPr>
          <a:xfrm>
            <a:off x="347472" y="3017520"/>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420624" y="3099815"/>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5</a:t>
            </a:r>
          </a:p>
        </p:txBody>
      </p:sp>
      <p:sp>
        <p:nvSpPr>
          <p:cNvPr id="188" name="TextBox 187"/>
          <p:cNvSpPr txBox="1"/>
          <p:nvPr/>
        </p:nvSpPr>
        <p:spPr>
          <a:xfrm>
            <a:off x="713232" y="3090672"/>
            <a:ext cx="1783080"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Secure</a:t>
            </a:r>
          </a:p>
        </p:txBody>
      </p:sp>
      <p:sp>
        <p:nvSpPr>
          <p:cNvPr id="189" name="TextBox 188"/>
          <p:cNvSpPr txBox="1"/>
          <p:nvPr/>
        </p:nvSpPr>
        <p:spPr>
          <a:xfrm>
            <a:off x="713232" y="3291839"/>
            <a:ext cx="1792224" cy="411480"/>
          </a:xfrm>
          <a:prstGeom prst="rect">
            <a:avLst/>
          </a:prstGeom>
          <a:noFill/>
        </p:spPr>
        <p:txBody>
          <a:bodyPr wrap="square" lIns="0" rIns="0" tIns="0" bIns="0" anchor="t">
            <a:noAutofit/>
          </a:bodyPr>
          <a:lstStyle/>
          <a:p>
            <a:pPr algn="l">
              <a:spcAft>
                <a:spcPts val="200"/>
              </a:spcAft>
            </a:pPr>
            <a:r>
              <a:rPr sz="660" b="0" i="0">
                <a:solidFill>
                  <a:srgbClr val="5F6368"/>
                </a:solidFill>
                <a:latin typeface="Google Sans Flex"/>
                <a:ea typeface="Google Sans Flex"/>
                <a:cs typeface="Google Sans Flex"/>
              </a:rPr>
              <a:t>Service account, no API keys in files, data stays in the client's project.</a:t>
            </a:r>
          </a:p>
        </p:txBody>
      </p:sp>
      <p:sp>
        <p:nvSpPr>
          <p:cNvPr id="190" name="Rounded Rectangle 189"/>
          <p:cNvSpPr/>
          <p:nvPr/>
        </p:nvSpPr>
        <p:spPr>
          <a:xfrm>
            <a:off x="2633472" y="3017520"/>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Oval 190"/>
          <p:cNvSpPr/>
          <p:nvPr/>
        </p:nvSpPr>
        <p:spPr>
          <a:xfrm>
            <a:off x="2706624" y="3099815"/>
            <a:ext cx="219456" cy="219456"/>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200"/>
              </a:spcAft>
            </a:pPr>
            <a:r>
              <a:rPr sz="750" b="1" i="0">
                <a:solidFill>
                  <a:srgbClr val="FFFFFF"/>
                </a:solidFill>
                <a:latin typeface="Google Sans Flex"/>
                <a:ea typeface="Google Sans Flex"/>
                <a:cs typeface="Google Sans Flex"/>
              </a:rPr>
              <a:t>6</a:t>
            </a:r>
          </a:p>
        </p:txBody>
      </p:sp>
      <p:sp>
        <p:nvSpPr>
          <p:cNvPr id="192" name="TextBox 191"/>
          <p:cNvSpPr txBox="1"/>
          <p:nvPr/>
        </p:nvSpPr>
        <p:spPr>
          <a:xfrm>
            <a:off x="2999232" y="3090672"/>
            <a:ext cx="1783080" cy="182880"/>
          </a:xfrm>
          <a:prstGeom prst="rect">
            <a:avLst/>
          </a:prstGeom>
          <a:noFill/>
        </p:spPr>
        <p:txBody>
          <a:bodyPr wrap="square" lIns="0" rIns="0" tIns="0" bIns="0" anchor="t">
            <a:noAutofit/>
          </a:bodyPr>
          <a:lstStyle/>
          <a:p>
            <a:pPr algn="l">
              <a:spcAft>
                <a:spcPts val="200"/>
              </a:spcAft>
            </a:pPr>
            <a:r>
              <a:rPr sz="800" b="1" i="0">
                <a:solidFill>
                  <a:srgbClr val="202124"/>
                </a:solidFill>
                <a:latin typeface="Google Sans Flex"/>
                <a:ea typeface="Google Sans Flex"/>
                <a:cs typeface="Google Sans Flex"/>
              </a:rPr>
              <a:t>Licence-aware</a:t>
            </a:r>
          </a:p>
        </p:txBody>
      </p:sp>
      <p:sp>
        <p:nvSpPr>
          <p:cNvPr id="193" name="TextBox 192"/>
          <p:cNvSpPr txBox="1"/>
          <p:nvPr/>
        </p:nvSpPr>
        <p:spPr>
          <a:xfrm>
            <a:off x="2999232" y="3291839"/>
            <a:ext cx="1792224" cy="411480"/>
          </a:xfrm>
          <a:prstGeom prst="rect">
            <a:avLst/>
          </a:prstGeom>
          <a:noFill/>
        </p:spPr>
        <p:txBody>
          <a:bodyPr wrap="square" lIns="0" rIns="0" tIns="0" bIns="0" anchor="t">
            <a:noAutofit/>
          </a:bodyPr>
          <a:lstStyle/>
          <a:p>
            <a:pPr algn="l">
              <a:spcAft>
                <a:spcPts val="200"/>
              </a:spcAft>
            </a:pPr>
            <a:r>
              <a:rPr sz="660" b="0" i="0">
                <a:solidFill>
                  <a:srgbClr val="5F6368"/>
                </a:solidFill>
                <a:latin typeface="Google Sans Flex"/>
                <a:ea typeface="Google Sans Flex"/>
                <a:cs typeface="Google Sans Flex"/>
              </a:rPr>
              <a:t>LocateAnything is non-commercial; Gemini localisation is the drop-in swap.</a:t>
            </a:r>
          </a:p>
        </p:txBody>
      </p:sp>
      <p:sp>
        <p:nvSpPr>
          <p:cNvPr id="194" name="TextBox 193"/>
          <p:cNvSpPr txBox="1"/>
          <p:nvPr/>
        </p:nvSpPr>
        <p:spPr>
          <a:xfrm>
            <a:off x="5029200" y="1325880"/>
            <a:ext cx="3749039" cy="164592"/>
          </a:xfrm>
          <a:prstGeom prst="rect">
            <a:avLst/>
          </a:prstGeom>
          <a:noFill/>
        </p:spPr>
        <p:txBody>
          <a:bodyPr wrap="square" lIns="0" rIns="0" tIns="0" bIns="0" anchor="t">
            <a:noAutofit/>
          </a:bodyPr>
          <a:lstStyle/>
          <a:p>
            <a:pPr algn="l">
              <a:spcAft>
                <a:spcPts val="200"/>
              </a:spcAft>
            </a:pPr>
            <a:r>
              <a:rPr sz="700" b="1" i="0">
                <a:solidFill>
                  <a:srgbClr val="1A73E8"/>
                </a:solidFill>
                <a:latin typeface="Google Sans Flex"/>
                <a:ea typeface="Google Sans Flex"/>
                <a:cs typeface="Google Sans Flex"/>
              </a:rPr>
              <a:t>GO-TO-MARKET: HOUSING FINANCE &amp; HOME INSURANCE, APAC</a:t>
            </a:r>
          </a:p>
        </p:txBody>
      </p:sp>
      <p:sp>
        <p:nvSpPr>
          <p:cNvPr id="195" name="Rounded Rectangle 194"/>
          <p:cNvSpPr/>
          <p:nvPr/>
        </p:nvSpPr>
        <p:spPr>
          <a:xfrm>
            <a:off x="5029200" y="1517904"/>
            <a:ext cx="3767328" cy="512064"/>
          </a:xfrm>
          <a:prstGeom prst="roundRect">
            <a:avLst>
              <a:gd name="adj" fmla="val 10714"/>
            </a:avLst>
          </a:prstGeom>
          <a:solidFill>
            <a:srgbClr val="FFFFFF"/>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5120640" y="1563624"/>
            <a:ext cx="3611880" cy="182880"/>
          </a:xfrm>
          <a:prstGeom prst="rect">
            <a:avLst/>
          </a:prstGeom>
          <a:noFill/>
        </p:spPr>
        <p:txBody>
          <a:bodyPr wrap="square" lIns="0" rIns="0" tIns="0" bIns="0" anchor="t">
            <a:noAutofit/>
          </a:bodyPr>
          <a:lstStyle/>
          <a:p>
            <a:pPr algn="l">
              <a:spcAft>
                <a:spcPts val="200"/>
              </a:spcAft>
            </a:pPr>
            <a:r>
              <a:rPr sz="800" b="1" i="0">
                <a:solidFill>
                  <a:srgbClr val="1A73E8"/>
                </a:solidFill>
                <a:latin typeface="Google Sans Flex"/>
                <a:ea typeface="Google Sans Flex"/>
                <a:cs typeface="Google Sans Flex"/>
              </a:rPr>
              <a:t>PILOT · 0–3 months</a:t>
            </a:r>
          </a:p>
        </p:txBody>
      </p:sp>
      <p:sp>
        <p:nvSpPr>
          <p:cNvPr id="197" name="TextBox 196"/>
          <p:cNvSpPr txBox="1"/>
          <p:nvPr/>
        </p:nvSpPr>
        <p:spPr>
          <a:xfrm>
            <a:off x="5120640" y="1746504"/>
            <a:ext cx="3611880" cy="274320"/>
          </a:xfrm>
          <a:prstGeom prst="rect">
            <a:avLst/>
          </a:prstGeom>
          <a:noFill/>
        </p:spPr>
        <p:txBody>
          <a:bodyPr wrap="square" lIns="0" rIns="0" tIns="0" bIns="0" anchor="t">
            <a:noAutofit/>
          </a:bodyPr>
          <a:lstStyle/>
          <a:p>
            <a:pPr algn="l">
              <a:spcAft>
                <a:spcPts val="200"/>
              </a:spcAft>
            </a:pPr>
            <a:r>
              <a:rPr sz="680" b="0" i="0">
                <a:solidFill>
                  <a:srgbClr val="202124"/>
                </a:solidFill>
                <a:latin typeface="Google Sans Flex"/>
                <a:ea typeface="Google Sans Flex"/>
                <a:cs typeface="Google Sans Flex"/>
              </a:rPr>
              <a:t>1 housing-finance lender + 1 home insurer; AI alongside existing inspections on ~500 cases.</a:t>
            </a:r>
          </a:p>
        </p:txBody>
      </p:sp>
      <p:sp>
        <p:nvSpPr>
          <p:cNvPr id="198" name="Rounded Rectangle 197"/>
          <p:cNvSpPr/>
          <p:nvPr/>
        </p:nvSpPr>
        <p:spPr>
          <a:xfrm>
            <a:off x="5029200" y="2084831"/>
            <a:ext cx="3767328" cy="512064"/>
          </a:xfrm>
          <a:prstGeom prst="roundRect">
            <a:avLst>
              <a:gd name="adj" fmla="val 10714"/>
            </a:avLst>
          </a:prstGeom>
          <a:solidFill>
            <a:srgbClr val="FFFFFF"/>
          </a:solidFill>
          <a:ln w="1587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TextBox 198"/>
          <p:cNvSpPr txBox="1"/>
          <p:nvPr/>
        </p:nvSpPr>
        <p:spPr>
          <a:xfrm>
            <a:off x="5120640" y="2130551"/>
            <a:ext cx="3611880" cy="182880"/>
          </a:xfrm>
          <a:prstGeom prst="rect">
            <a:avLst/>
          </a:prstGeom>
          <a:noFill/>
        </p:spPr>
        <p:txBody>
          <a:bodyPr wrap="square" lIns="0" rIns="0" tIns="0" bIns="0" anchor="t">
            <a:noAutofit/>
          </a:bodyPr>
          <a:lstStyle/>
          <a:p>
            <a:pPr algn="l">
              <a:spcAft>
                <a:spcPts val="200"/>
              </a:spcAft>
            </a:pPr>
            <a:r>
              <a:rPr sz="800" b="1" i="0">
                <a:solidFill>
                  <a:srgbClr val="188038"/>
                </a:solidFill>
                <a:latin typeface="Google Sans Flex"/>
                <a:ea typeface="Google Sans Flex"/>
                <a:cs typeface="Google Sans Flex"/>
              </a:rPr>
              <a:t>INTEGRATE · 3–6 months</a:t>
            </a:r>
          </a:p>
        </p:txBody>
      </p:sp>
      <p:sp>
        <p:nvSpPr>
          <p:cNvPr id="200" name="TextBox 199"/>
          <p:cNvSpPr txBox="1"/>
          <p:nvPr/>
        </p:nvSpPr>
        <p:spPr>
          <a:xfrm>
            <a:off x="5120640" y="2313432"/>
            <a:ext cx="3611880" cy="274320"/>
          </a:xfrm>
          <a:prstGeom prst="rect">
            <a:avLst/>
          </a:prstGeom>
          <a:noFill/>
        </p:spPr>
        <p:txBody>
          <a:bodyPr wrap="square" lIns="0" rIns="0" tIns="0" bIns="0" anchor="t">
            <a:noAutofit/>
          </a:bodyPr>
          <a:lstStyle/>
          <a:p>
            <a:pPr algn="l">
              <a:spcAft>
                <a:spcPts val="200"/>
              </a:spcAft>
            </a:pPr>
            <a:r>
              <a:rPr sz="680" b="0" i="0">
                <a:solidFill>
                  <a:srgbClr val="202124"/>
                </a:solidFill>
                <a:latin typeface="Google Sans Flex"/>
                <a:ea typeface="Google Sans Flex"/>
                <a:cs typeface="Google Sans Flex"/>
              </a:rPr>
              <a:t>Pub/Sub into loan-origination and claims; BigQuery dashboards; custom rules per client.</a:t>
            </a:r>
          </a:p>
        </p:txBody>
      </p:sp>
      <p:sp>
        <p:nvSpPr>
          <p:cNvPr id="201" name="Rounded Rectangle 200"/>
          <p:cNvSpPr/>
          <p:nvPr/>
        </p:nvSpPr>
        <p:spPr>
          <a:xfrm>
            <a:off x="5029200" y="2651760"/>
            <a:ext cx="3767328" cy="512064"/>
          </a:xfrm>
          <a:prstGeom prst="roundRect">
            <a:avLst>
              <a:gd name="adj" fmla="val 10714"/>
            </a:avLst>
          </a:prstGeom>
          <a:solidFill>
            <a:srgbClr val="FFFFFF"/>
          </a:solidFill>
          <a:ln w="15875">
            <a:solidFill>
              <a:srgbClr val="E374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5120640" y="2697479"/>
            <a:ext cx="3611880" cy="182880"/>
          </a:xfrm>
          <a:prstGeom prst="rect">
            <a:avLst/>
          </a:prstGeom>
          <a:noFill/>
        </p:spPr>
        <p:txBody>
          <a:bodyPr wrap="square" lIns="0" rIns="0" tIns="0" bIns="0" anchor="t">
            <a:noAutofit/>
          </a:bodyPr>
          <a:lstStyle/>
          <a:p>
            <a:pPr algn="l">
              <a:spcAft>
                <a:spcPts val="200"/>
              </a:spcAft>
            </a:pPr>
            <a:r>
              <a:rPr sz="800" b="1" i="0">
                <a:solidFill>
                  <a:srgbClr val="E37400"/>
                </a:solidFill>
                <a:latin typeface="Google Sans Flex"/>
                <a:ea typeface="Google Sans Flex"/>
                <a:cs typeface="Google Sans Flex"/>
              </a:rPr>
              <a:t>SCALE · 6–18 months</a:t>
            </a:r>
          </a:p>
        </p:txBody>
      </p:sp>
      <p:sp>
        <p:nvSpPr>
          <p:cNvPr id="203" name="TextBox 202"/>
          <p:cNvSpPr txBox="1"/>
          <p:nvPr/>
        </p:nvSpPr>
        <p:spPr>
          <a:xfrm>
            <a:off x="5120640" y="2880360"/>
            <a:ext cx="3611880" cy="274320"/>
          </a:xfrm>
          <a:prstGeom prst="rect">
            <a:avLst/>
          </a:prstGeom>
          <a:noFill/>
        </p:spPr>
        <p:txBody>
          <a:bodyPr wrap="square" lIns="0" rIns="0" tIns="0" bIns="0" anchor="t">
            <a:noAutofit/>
          </a:bodyPr>
          <a:lstStyle/>
          <a:p>
            <a:pPr algn="l">
              <a:spcAft>
                <a:spcPts val="200"/>
              </a:spcAft>
            </a:pPr>
            <a:r>
              <a:rPr sz="680" b="0" i="0">
                <a:solidFill>
                  <a:srgbClr val="202124"/>
                </a:solidFill>
                <a:latin typeface="Google Sans Flex"/>
                <a:ea typeface="Google Sans Flex"/>
                <a:cs typeface="Google Sans Flex"/>
              </a:rPr>
              <a:t>Google Cloud Marketplace, valuer &amp; inspector networks, commercial property and claims.</a:t>
            </a:r>
          </a:p>
        </p:txBody>
      </p:sp>
      <p:sp>
        <p:nvSpPr>
          <p:cNvPr id="204" name="TextBox 203"/>
          <p:cNvSpPr txBox="1"/>
          <p:nvPr/>
        </p:nvSpPr>
        <p:spPr>
          <a:xfrm>
            <a:off x="5029200" y="3255264"/>
            <a:ext cx="3767328" cy="329184"/>
          </a:xfrm>
          <a:prstGeom prst="rect">
            <a:avLst/>
          </a:prstGeom>
          <a:noFill/>
        </p:spPr>
        <p:txBody>
          <a:bodyPr wrap="square" lIns="0" rIns="0" tIns="0" bIns="0" anchor="t">
            <a:noAutofit/>
          </a:bodyPr>
          <a:lstStyle/>
          <a:p>
            <a:pPr algn="l">
              <a:spcAft>
                <a:spcPts val="200"/>
              </a:spcAft>
            </a:pPr>
            <a:r>
              <a:rPr sz="700" b="1" i="0">
                <a:solidFill>
                  <a:srgbClr val="202124"/>
                </a:solidFill>
                <a:latin typeface="Google Sans Flex"/>
                <a:ea typeface="Google Sans Flex"/>
                <a:cs typeface="Google Sans Flex"/>
              </a:rPr>
              <a:t>Pilot KPIs: </a:t>
            </a:r>
            <a:r>
              <a:rPr sz="700" b="0" i="0">
                <a:solidFill>
                  <a:srgbClr val="5F6368"/>
                </a:solidFill>
                <a:latin typeface="Google Sans Flex"/>
                <a:ea typeface="Google Sans Flex"/>
                <a:cs typeface="Google Sans Flex"/>
              </a:rPr>
              <a:t>turnaround · cost per inspection · % auto-cleared vs referred · fraud flags confirmed · re-inspection rate</a:t>
            </a:r>
          </a:p>
        </p:txBody>
      </p:sp>
      <p:sp>
        <p:nvSpPr>
          <p:cNvPr id="205" name="Rounded Rectangle 204"/>
          <p:cNvSpPr/>
          <p:nvPr/>
        </p:nvSpPr>
        <p:spPr>
          <a:xfrm>
            <a:off x="347472" y="3840480"/>
            <a:ext cx="8449056" cy="457200"/>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noAutofit/>
          </a:bodyPr>
          <a:lstStyle/>
          <a:p>
            <a:pPr algn="l">
              <a:spcAft>
                <a:spcPts val="200"/>
              </a:spcAft>
            </a:pPr>
            <a:r>
              <a:rPr sz="950" b="1" i="1">
                <a:solidFill>
                  <a:srgbClr val="FFFFFF"/>
                </a:solidFill>
                <a:latin typeface="Google Sans Flex"/>
                <a:ea typeface="Google Sans Flex"/>
                <a:cs typeface="Google Sans Flex"/>
              </a:rPr>
              <a:t>“Every lender and insurer already asks for photos. We replace them with a short phone video that is trustworthy, explainable and ready for a decision.”</a:t>
            </a:r>
          </a:p>
        </p:txBody>
      </p:sp>
      <p:sp>
        <p:nvSpPr>
          <p:cNvPr id="206" name="Rounded Rectangle 205"/>
          <p:cNvSpPr/>
          <p:nvPr/>
        </p:nvSpPr>
        <p:spPr>
          <a:xfrm>
            <a:off x="347472" y="4389120"/>
            <a:ext cx="8449056" cy="502920"/>
          </a:xfrm>
          <a:prstGeom prst="roundRect">
            <a:avLst>
              <a:gd name="adj" fmla="val 10909"/>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l">
              <a:spcAft>
                <a:spcPts val="200"/>
              </a:spcAft>
            </a:pPr>
            <a:r>
              <a:rPr sz="700" b="1" i="0">
                <a:solidFill>
                  <a:srgbClr val="202124"/>
                </a:solidFill>
                <a:latin typeface="Google Sans Flex"/>
                <a:ea typeface="Google Sans Flex"/>
                <a:cs typeface="Google Sans Flex"/>
              </a:rPr>
              <a:t>Team Xcore: </a:t>
            </a:r>
            <a:r>
              <a:rPr sz="700" b="0" i="0">
                <a:solidFill>
                  <a:srgbClr val="202124"/>
                </a:solidFill>
                <a:latin typeface="Google Sans Flex"/>
                <a:ea typeface="Google Sans Flex"/>
                <a:cs typeface="Google Sans Flex"/>
              </a:rPr>
              <a:t>Thanveer Ahamed (Team Leader, Gen AI: Gemini &amp; Gemma reasoning, verification, underwriting assistant) · Janitha Prathapa (Vision AI: defect detection, Depth Anything 3, SLAM, 3D, coverage map) · Dinal Fernando (Solution Architect: Cloud Run, Vertex AI, BigQuery, Pub/Sub, deployment)</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